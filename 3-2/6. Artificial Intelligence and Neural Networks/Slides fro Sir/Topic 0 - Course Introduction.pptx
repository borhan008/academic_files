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0"/>
  </p:notesMasterIdLst>
  <p:handoutMasterIdLst>
    <p:handoutMasterId r:id="rId21"/>
  </p:handoutMasterIdLst>
  <p:sldIdLst>
    <p:sldId id="292" r:id="rId5"/>
    <p:sldId id="296" r:id="rId6"/>
    <p:sldId id="293" r:id="rId7"/>
    <p:sldId id="294" r:id="rId8"/>
    <p:sldId id="295" r:id="rId9"/>
    <p:sldId id="297" r:id="rId10"/>
    <p:sldId id="300" r:id="rId11"/>
    <p:sldId id="299" r:id="rId12"/>
    <p:sldId id="301" r:id="rId13"/>
    <p:sldId id="302" r:id="rId14"/>
    <p:sldId id="303" r:id="rId15"/>
    <p:sldId id="298" r:id="rId16"/>
    <p:sldId id="305" r:id="rId17"/>
    <p:sldId id="306" r:id="rId18"/>
    <p:sldId id="304"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6992"/>
    <a:srgbClr val="AEC2D8"/>
    <a:srgbClr val="98432A"/>
    <a:srgbClr val="D84400"/>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634"/>
  </p:normalViewPr>
  <p:slideViewPr>
    <p:cSldViewPr snapToGrid="0" showGuides="1">
      <p:cViewPr>
        <p:scale>
          <a:sx n="66" d="100"/>
          <a:sy n="66" d="100"/>
        </p:scale>
        <p:origin x="-106" y="283"/>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13766"/>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5/12/2024</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ED2950FC-64C0-50D7-5101-884A13ED2F1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CEA88831-A930-596B-0685-672024BE2711}"/>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2A3FD0A0-F4FB-BC20-358F-C4F179AA8980}"/>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2D389891-233D-6282-224F-6B8EC0182D20}"/>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D61DD8-56E8-44DB-8D68-9188DEA50502}" type="datetimeFigureOut">
              <a:rPr lang="en-US" smtClean="0"/>
              <a:t>5/12/2024</a:t>
            </a:fld>
            <a:endParaRPr lang="en-US"/>
          </a:p>
        </p:txBody>
      </p:sp>
      <p:sp>
        <p:nvSpPr>
          <p:cNvPr id="12" name="Notes Placeholder 11">
            <a:extLst>
              <a:ext uri="{FF2B5EF4-FFF2-40B4-BE49-F238E27FC236}">
                <a16:creationId xmlns:a16="http://schemas.microsoft.com/office/drawing/2014/main" id="{F2A2D99A-04B6-3AD9-B6DA-EEE29FB0DDFD}"/>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EF4F81C-C1F0-7738-A271-96AF417D7F89}"/>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84C781-2765-427A-A960-385CE0D0CAB9}"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2014797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dirty="0"/>
              <a:t>Click to edit Master title style</a:t>
            </a:r>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Presentation title</a:t>
            </a:r>
            <a:endParaRPr lang="en-US" noProof="0" dirty="0"/>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Presentation title</a:t>
            </a:r>
            <a:endParaRPr lang="en-US" dirty="0"/>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p:txBody>
          <a:bodyPr/>
          <a:lstStyle/>
          <a:p>
            <a:r>
              <a:rPr lang="en-US" altLang="zh-CN" dirty="0"/>
              <a:t>Introduction to AI</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601366" y="4172084"/>
            <a:ext cx="3087366" cy="760288"/>
          </a:xfrm>
        </p:spPr>
        <p:txBody>
          <a:bodyPr/>
          <a:lstStyle/>
          <a:p>
            <a:r>
              <a:rPr lang="en-US" dirty="0"/>
              <a:t>Iftekhar Mahmud Towhid,</a:t>
            </a:r>
          </a:p>
          <a:p>
            <a:r>
              <a:rPr lang="en-US" dirty="0"/>
              <a:t>CSTE, NSTU</a:t>
            </a:r>
          </a:p>
        </p:txBody>
      </p:sp>
      <p:pic>
        <p:nvPicPr>
          <p:cNvPr id="30" name="Picture placeholder 29">
            <a:extLst>
              <a:ext uri="{FF2B5EF4-FFF2-40B4-BE49-F238E27FC236}">
                <a16:creationId xmlns:a16="http://schemas.microsoft.com/office/drawing/2014/main" id="{18C88B4D-F554-49C2-A23C-DFE94D4C835B}"/>
              </a:ext>
            </a:extLst>
          </p:cNvPr>
          <p:cNvPicPr>
            <a:picLocks noGrp="1" noChangeAspect="1"/>
          </p:cNvPicPr>
          <p:nvPr>
            <p:ph type="pic" sz="quarter" idx="47"/>
          </p:nvPr>
        </p:nvPicPr>
        <p:blipFill>
          <a:blip r:embed="rId3"/>
          <a:srcRect l="15218" r="15218"/>
          <a:stretch/>
        </p:blipFill>
        <p:spPr>
          <a:xfrm>
            <a:off x="6742557" y="821836"/>
            <a:ext cx="4405503" cy="5066346"/>
          </a:xfrm>
        </p:spPr>
      </p:pic>
      <p:sp>
        <p:nvSpPr>
          <p:cNvPr id="10" name="Freeform: Shape 11">
            <a:extLst>
              <a:ext uri="{FF2B5EF4-FFF2-40B4-BE49-F238E27FC236}">
                <a16:creationId xmlns:a16="http://schemas.microsoft.com/office/drawing/2014/main" id="{01A79B69-242C-3AEB-4A42-7A606A54C63A}"/>
              </a:ext>
              <a:ext uri="{C183D7F6-B498-43B3-948B-1728B52AA6E4}">
                <adec:decorative xmlns:adec="http://schemas.microsoft.com/office/drawing/2017/decorative" val="1"/>
              </a:ext>
            </a:extLst>
          </p:cNvPr>
          <p:cNvSpPr/>
          <p:nvPr/>
        </p:nvSpPr>
        <p:spPr>
          <a:xfrm>
            <a:off x="9857505" y="838985"/>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tx2">
                <a:lumMod val="50000"/>
                <a:lumOff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4" name="Freeform: Shape 11">
            <a:extLst>
              <a:ext uri="{FF2B5EF4-FFF2-40B4-BE49-F238E27FC236}">
                <a16:creationId xmlns:a16="http://schemas.microsoft.com/office/drawing/2014/main" id="{E5D4DE6D-89C8-6FFF-287D-3F3BAD416CA1}"/>
              </a:ext>
              <a:ext uri="{C183D7F6-B498-43B3-948B-1728B52AA6E4}">
                <adec:decorative xmlns:adec="http://schemas.microsoft.com/office/drawing/2017/decorative" val="1"/>
              </a:ext>
            </a:extLst>
          </p:cNvPr>
          <p:cNvSpPr/>
          <p:nvPr/>
        </p:nvSpPr>
        <p:spPr>
          <a:xfrm>
            <a:off x="5974436" y="3694919"/>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alpha val="50196"/>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0A553A8-2CC4-61C5-6801-7E107F8034BA}"/>
              </a:ext>
            </a:extLst>
          </p:cNvPr>
          <p:cNvSpPr>
            <a:spLocks noGrp="1"/>
          </p:cNvSpPr>
          <p:nvPr>
            <p:ph type="title"/>
          </p:nvPr>
        </p:nvSpPr>
        <p:spPr/>
        <p:txBody>
          <a:bodyPr/>
          <a:lstStyle/>
          <a:p>
            <a:r>
              <a:rPr lang="en-US" dirty="0"/>
              <a:t>Course outlines</a:t>
            </a:r>
          </a:p>
        </p:txBody>
      </p:sp>
      <p:sp>
        <p:nvSpPr>
          <p:cNvPr id="11" name="Table Placeholder 10">
            <a:extLst>
              <a:ext uri="{FF2B5EF4-FFF2-40B4-BE49-F238E27FC236}">
                <a16:creationId xmlns:a16="http://schemas.microsoft.com/office/drawing/2014/main" id="{F056ED45-7B54-EEC1-2BE2-C87B5501BAE4}"/>
              </a:ext>
            </a:extLst>
          </p:cNvPr>
          <p:cNvSpPr>
            <a:spLocks noGrp="1"/>
          </p:cNvSpPr>
          <p:nvPr>
            <p:ph type="tbl" sz="quarter" idx="27"/>
          </p:nvPr>
        </p:nvSpPr>
        <p:spPr/>
        <p:txBody>
          <a:bodyPr/>
          <a:lstStyle/>
          <a:p>
            <a:pPr marL="0" indent="0">
              <a:buNone/>
            </a:pPr>
            <a:r>
              <a:rPr lang="en-US" sz="2800" dirty="0"/>
              <a:t>This course will be divided into two parts: </a:t>
            </a:r>
          </a:p>
          <a:p>
            <a:pPr lvl="1"/>
            <a:r>
              <a:rPr lang="en-US" sz="2400" dirty="0"/>
              <a:t>Classical Artificial Intelligence (1/3 of this course)</a:t>
            </a:r>
          </a:p>
          <a:p>
            <a:pPr lvl="1"/>
            <a:r>
              <a:rPr lang="en-US" sz="2400" dirty="0"/>
              <a:t>Machine Learning (2/3 of this course)</a:t>
            </a:r>
          </a:p>
          <a:p>
            <a:pPr marL="457200" lvl="1" indent="0">
              <a:buNone/>
            </a:pPr>
            <a:endParaRPr lang="en-US" dirty="0"/>
          </a:p>
          <a:p>
            <a:pPr marL="0" indent="0">
              <a:buNone/>
            </a:pPr>
            <a:endParaRPr lang="en-US" dirty="0"/>
          </a:p>
          <a:p>
            <a:endParaRPr lang="en-US" dirty="0"/>
          </a:p>
        </p:txBody>
      </p:sp>
      <p:sp>
        <p:nvSpPr>
          <p:cNvPr id="8" name="Footer Placeholder 7">
            <a:extLst>
              <a:ext uri="{FF2B5EF4-FFF2-40B4-BE49-F238E27FC236}">
                <a16:creationId xmlns:a16="http://schemas.microsoft.com/office/drawing/2014/main" id="{96B9DD30-BD10-0B7E-9208-24A59A68A3CB}"/>
              </a:ext>
            </a:extLst>
          </p:cNvPr>
          <p:cNvSpPr>
            <a:spLocks noGrp="1"/>
          </p:cNvSpPr>
          <p:nvPr>
            <p:ph type="ftr" sz="quarter" idx="28"/>
          </p:nvPr>
        </p:nvSpPr>
        <p:spPr/>
        <p:txBody>
          <a:bodyPr/>
          <a:lstStyle/>
          <a:p>
            <a:r>
              <a:rPr lang="en-US" dirty="0"/>
              <a:t>Introduction to AI</a:t>
            </a:r>
          </a:p>
        </p:txBody>
      </p:sp>
      <p:sp>
        <p:nvSpPr>
          <p:cNvPr id="9" name="Slide Number Placeholder 8">
            <a:extLst>
              <a:ext uri="{FF2B5EF4-FFF2-40B4-BE49-F238E27FC236}">
                <a16:creationId xmlns:a16="http://schemas.microsoft.com/office/drawing/2014/main" id="{42B628B0-6C31-DE29-0F57-1412CB1B833C}"/>
              </a:ext>
            </a:extLst>
          </p:cNvPr>
          <p:cNvSpPr>
            <a:spLocks noGrp="1"/>
          </p:cNvSpPr>
          <p:nvPr>
            <p:ph type="sldNum" sz="quarter" idx="29"/>
          </p:nvPr>
        </p:nvSpPr>
        <p:spPr/>
        <p:txBody>
          <a:bodyPr/>
          <a:lstStyle/>
          <a:p>
            <a:fld id="{47FEACEE-25B4-4A2D-B147-27296E36371D}" type="slidenum">
              <a:rPr lang="en-US" altLang="zh-CN" smtClean="0"/>
              <a:pPr/>
              <a:t>2</a:t>
            </a:fld>
            <a:endParaRPr lang="en-US" altLang="zh-CN" dirty="0"/>
          </a:p>
        </p:txBody>
      </p:sp>
    </p:spTree>
    <p:extLst>
      <p:ext uri="{BB962C8B-B14F-4D97-AF65-F5344CB8AC3E}">
        <p14:creationId xmlns:p14="http://schemas.microsoft.com/office/powerpoint/2010/main" val="4178228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0A553A8-2CC4-61C5-6801-7E107F8034BA}"/>
              </a:ext>
            </a:extLst>
          </p:cNvPr>
          <p:cNvSpPr>
            <a:spLocks noGrp="1"/>
          </p:cNvSpPr>
          <p:nvPr>
            <p:ph type="title"/>
          </p:nvPr>
        </p:nvSpPr>
        <p:spPr/>
        <p:txBody>
          <a:bodyPr/>
          <a:lstStyle/>
          <a:p>
            <a:r>
              <a:rPr lang="en-US" dirty="0"/>
              <a:t>Topics we will cover</a:t>
            </a:r>
          </a:p>
        </p:txBody>
      </p:sp>
      <p:sp>
        <p:nvSpPr>
          <p:cNvPr id="11" name="Table Placeholder 10">
            <a:extLst>
              <a:ext uri="{FF2B5EF4-FFF2-40B4-BE49-F238E27FC236}">
                <a16:creationId xmlns:a16="http://schemas.microsoft.com/office/drawing/2014/main" id="{F056ED45-7B54-EEC1-2BE2-C87B5501BAE4}"/>
              </a:ext>
            </a:extLst>
          </p:cNvPr>
          <p:cNvSpPr>
            <a:spLocks noGrp="1"/>
          </p:cNvSpPr>
          <p:nvPr>
            <p:ph type="tbl" sz="quarter" idx="27"/>
          </p:nvPr>
        </p:nvSpPr>
        <p:spPr/>
        <p:txBody>
          <a:bodyPr/>
          <a:lstStyle/>
          <a:p>
            <a:r>
              <a:rPr lang="en-US" sz="2400" dirty="0"/>
              <a:t>Introduction to AI (This class)</a:t>
            </a:r>
          </a:p>
          <a:p>
            <a:r>
              <a:rPr lang="en-US" sz="2400" dirty="0"/>
              <a:t>Search (3 lectures)</a:t>
            </a:r>
          </a:p>
          <a:p>
            <a:pPr lvl="1"/>
            <a:r>
              <a:rPr lang="en-US" sz="2400" dirty="0"/>
              <a:t>State Space Search</a:t>
            </a:r>
          </a:p>
          <a:p>
            <a:r>
              <a:rPr lang="en-US" sz="2400" dirty="0"/>
              <a:t>Game theory (2 lectures)</a:t>
            </a:r>
          </a:p>
          <a:p>
            <a:pPr lvl="1"/>
            <a:r>
              <a:rPr lang="en-US" sz="2400" dirty="0"/>
              <a:t>Minimax algorithm</a:t>
            </a:r>
          </a:p>
          <a:p>
            <a:r>
              <a:rPr lang="en-US" sz="2400" dirty="0"/>
              <a:t>Genetic algorithm (GA)</a:t>
            </a:r>
          </a:p>
          <a:p>
            <a:r>
              <a:rPr lang="en-US" sz="2400" dirty="0"/>
              <a:t>Probabilistic models (3 Lectures)</a:t>
            </a:r>
          </a:p>
          <a:p>
            <a:pPr lvl="1"/>
            <a:r>
              <a:rPr lang="en-US" sz="2400" dirty="0"/>
              <a:t>Bayesian Network</a:t>
            </a:r>
          </a:p>
          <a:p>
            <a:pPr lvl="1"/>
            <a:r>
              <a:rPr lang="en-US" sz="2400" dirty="0"/>
              <a:t>Decision Tree</a:t>
            </a:r>
          </a:p>
          <a:p>
            <a:pPr lvl="1"/>
            <a:r>
              <a:rPr lang="en-US" sz="2400" dirty="0"/>
              <a:t>Ant colony optimization (ACO)</a:t>
            </a:r>
          </a:p>
          <a:p>
            <a:pPr lvl="1"/>
            <a:endParaRPr lang="en-US" sz="2400" dirty="0"/>
          </a:p>
          <a:p>
            <a:pPr marL="457200" lvl="1" indent="0">
              <a:buNone/>
            </a:pPr>
            <a:endParaRPr lang="en-US" dirty="0"/>
          </a:p>
          <a:p>
            <a:pPr marL="0" indent="0">
              <a:buNone/>
            </a:pPr>
            <a:endParaRPr lang="en-US" dirty="0"/>
          </a:p>
          <a:p>
            <a:endParaRPr lang="en-US" dirty="0"/>
          </a:p>
        </p:txBody>
      </p:sp>
      <p:sp>
        <p:nvSpPr>
          <p:cNvPr id="8" name="Footer Placeholder 7">
            <a:extLst>
              <a:ext uri="{FF2B5EF4-FFF2-40B4-BE49-F238E27FC236}">
                <a16:creationId xmlns:a16="http://schemas.microsoft.com/office/drawing/2014/main" id="{96B9DD30-BD10-0B7E-9208-24A59A68A3CB}"/>
              </a:ext>
            </a:extLst>
          </p:cNvPr>
          <p:cNvSpPr>
            <a:spLocks noGrp="1"/>
          </p:cNvSpPr>
          <p:nvPr>
            <p:ph type="ftr" sz="quarter" idx="28"/>
          </p:nvPr>
        </p:nvSpPr>
        <p:spPr/>
        <p:txBody>
          <a:bodyPr/>
          <a:lstStyle/>
          <a:p>
            <a:r>
              <a:rPr lang="en-US" dirty="0"/>
              <a:t>Introduction to AI</a:t>
            </a:r>
          </a:p>
        </p:txBody>
      </p:sp>
      <p:sp>
        <p:nvSpPr>
          <p:cNvPr id="9" name="Slide Number Placeholder 8">
            <a:extLst>
              <a:ext uri="{FF2B5EF4-FFF2-40B4-BE49-F238E27FC236}">
                <a16:creationId xmlns:a16="http://schemas.microsoft.com/office/drawing/2014/main" id="{42B628B0-6C31-DE29-0F57-1412CB1B833C}"/>
              </a:ext>
            </a:extLst>
          </p:cNvPr>
          <p:cNvSpPr>
            <a:spLocks noGrp="1"/>
          </p:cNvSpPr>
          <p:nvPr>
            <p:ph type="sldNum" sz="quarter" idx="29"/>
          </p:nvPr>
        </p:nvSpPr>
        <p:spPr/>
        <p:txBody>
          <a:bodyPr/>
          <a:lstStyle/>
          <a:p>
            <a:fld id="{47FEACEE-25B4-4A2D-B147-27296E36371D}" type="slidenum">
              <a:rPr lang="en-US" altLang="zh-CN" smtClean="0"/>
              <a:pPr/>
              <a:t>3</a:t>
            </a:fld>
            <a:endParaRPr lang="en-US" altLang="zh-CN" dirty="0"/>
          </a:p>
        </p:txBody>
      </p:sp>
    </p:spTree>
    <p:extLst>
      <p:ext uri="{BB962C8B-B14F-4D97-AF65-F5344CB8AC3E}">
        <p14:creationId xmlns:p14="http://schemas.microsoft.com/office/powerpoint/2010/main" val="1407816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0A553A8-2CC4-61C5-6801-7E107F8034BA}"/>
              </a:ext>
            </a:extLst>
          </p:cNvPr>
          <p:cNvSpPr>
            <a:spLocks noGrp="1"/>
          </p:cNvSpPr>
          <p:nvPr>
            <p:ph type="title"/>
          </p:nvPr>
        </p:nvSpPr>
        <p:spPr/>
        <p:txBody>
          <a:bodyPr/>
          <a:lstStyle/>
          <a:p>
            <a:r>
              <a:rPr lang="en-US" dirty="0"/>
              <a:t>Topics we will cover (cont.)</a:t>
            </a:r>
          </a:p>
        </p:txBody>
      </p:sp>
      <p:sp>
        <p:nvSpPr>
          <p:cNvPr id="11" name="Table Placeholder 10">
            <a:extLst>
              <a:ext uri="{FF2B5EF4-FFF2-40B4-BE49-F238E27FC236}">
                <a16:creationId xmlns:a16="http://schemas.microsoft.com/office/drawing/2014/main" id="{F056ED45-7B54-EEC1-2BE2-C87B5501BAE4}"/>
              </a:ext>
            </a:extLst>
          </p:cNvPr>
          <p:cNvSpPr>
            <a:spLocks noGrp="1"/>
          </p:cNvSpPr>
          <p:nvPr>
            <p:ph type="tbl" sz="quarter" idx="27"/>
          </p:nvPr>
        </p:nvSpPr>
        <p:spPr>
          <a:xfrm>
            <a:off x="581709" y="1614198"/>
            <a:ext cx="10889796" cy="4603722"/>
          </a:xfrm>
        </p:spPr>
        <p:txBody>
          <a:bodyPr/>
          <a:lstStyle/>
          <a:p>
            <a:r>
              <a:rPr lang="en-US" sz="2400" dirty="0"/>
              <a:t>Machine Learning</a:t>
            </a:r>
          </a:p>
          <a:p>
            <a:pPr lvl="1"/>
            <a:r>
              <a:rPr lang="en-US" sz="2400" dirty="0"/>
              <a:t>Supervised, Unsupervised, Reinforcement Learning</a:t>
            </a:r>
          </a:p>
          <a:p>
            <a:r>
              <a:rPr lang="en-US" sz="2400" dirty="0"/>
              <a:t>Introduction to Neural Networks</a:t>
            </a:r>
          </a:p>
          <a:p>
            <a:pPr lvl="1"/>
            <a:r>
              <a:rPr lang="en-US" sz="2400" dirty="0"/>
              <a:t>Neural networks</a:t>
            </a:r>
          </a:p>
          <a:p>
            <a:pPr lvl="1"/>
            <a:r>
              <a:rPr lang="en-US" sz="2400" dirty="0"/>
              <a:t>Backpropagation algorithm</a:t>
            </a:r>
          </a:p>
          <a:p>
            <a:pPr lvl="1"/>
            <a:r>
              <a:rPr lang="en-US" sz="2400" dirty="0"/>
              <a:t>Activation functions</a:t>
            </a:r>
          </a:p>
          <a:p>
            <a:pPr lvl="1"/>
            <a:r>
              <a:rPr lang="en-US" sz="2400" dirty="0"/>
              <a:t>Multi-layer Perceptron (MLP) network</a:t>
            </a:r>
          </a:p>
          <a:p>
            <a:r>
              <a:rPr lang="en-US" sz="2400" dirty="0"/>
              <a:t>Dataset management</a:t>
            </a:r>
          </a:p>
          <a:p>
            <a:pPr lvl="1"/>
            <a:r>
              <a:rPr lang="en-US" sz="2400" dirty="0"/>
              <a:t>Creation and curation</a:t>
            </a:r>
          </a:p>
          <a:p>
            <a:r>
              <a:rPr lang="en-US" sz="2400" dirty="0"/>
              <a:t>Convolutional Neural Network (CNN)</a:t>
            </a:r>
          </a:p>
          <a:p>
            <a:pPr marL="457200" lvl="1" indent="0">
              <a:buNone/>
            </a:pPr>
            <a:endParaRPr lang="en-US" sz="2400" dirty="0"/>
          </a:p>
          <a:p>
            <a:pPr lvl="1"/>
            <a:endParaRPr lang="en-US" sz="2400" dirty="0"/>
          </a:p>
          <a:p>
            <a:pPr lvl="1"/>
            <a:endParaRPr lang="en-US" dirty="0"/>
          </a:p>
          <a:p>
            <a:pPr marL="0" indent="0">
              <a:buNone/>
            </a:pPr>
            <a:endParaRPr lang="en-US" dirty="0"/>
          </a:p>
          <a:p>
            <a:endParaRPr lang="en-US" dirty="0"/>
          </a:p>
        </p:txBody>
      </p:sp>
      <p:sp>
        <p:nvSpPr>
          <p:cNvPr id="8" name="Footer Placeholder 7">
            <a:extLst>
              <a:ext uri="{FF2B5EF4-FFF2-40B4-BE49-F238E27FC236}">
                <a16:creationId xmlns:a16="http://schemas.microsoft.com/office/drawing/2014/main" id="{96B9DD30-BD10-0B7E-9208-24A59A68A3CB}"/>
              </a:ext>
            </a:extLst>
          </p:cNvPr>
          <p:cNvSpPr>
            <a:spLocks noGrp="1"/>
          </p:cNvSpPr>
          <p:nvPr>
            <p:ph type="ftr" sz="quarter" idx="28"/>
          </p:nvPr>
        </p:nvSpPr>
        <p:spPr/>
        <p:txBody>
          <a:bodyPr/>
          <a:lstStyle/>
          <a:p>
            <a:r>
              <a:rPr lang="en-US" dirty="0"/>
              <a:t>Introduction to AI</a:t>
            </a:r>
          </a:p>
        </p:txBody>
      </p:sp>
      <p:sp>
        <p:nvSpPr>
          <p:cNvPr id="9" name="Slide Number Placeholder 8">
            <a:extLst>
              <a:ext uri="{FF2B5EF4-FFF2-40B4-BE49-F238E27FC236}">
                <a16:creationId xmlns:a16="http://schemas.microsoft.com/office/drawing/2014/main" id="{42B628B0-6C31-DE29-0F57-1412CB1B833C}"/>
              </a:ext>
            </a:extLst>
          </p:cNvPr>
          <p:cNvSpPr>
            <a:spLocks noGrp="1"/>
          </p:cNvSpPr>
          <p:nvPr>
            <p:ph type="sldNum" sz="quarter" idx="29"/>
          </p:nvPr>
        </p:nvSpPr>
        <p:spPr/>
        <p:txBody>
          <a:bodyPr/>
          <a:lstStyle/>
          <a:p>
            <a:fld id="{47FEACEE-25B4-4A2D-B147-27296E36371D}" type="slidenum">
              <a:rPr lang="en-US" altLang="zh-CN" smtClean="0"/>
              <a:pPr/>
              <a:t>4</a:t>
            </a:fld>
            <a:endParaRPr lang="en-US" altLang="zh-CN" dirty="0"/>
          </a:p>
        </p:txBody>
      </p:sp>
    </p:spTree>
    <p:extLst>
      <p:ext uri="{BB962C8B-B14F-4D97-AF65-F5344CB8AC3E}">
        <p14:creationId xmlns:p14="http://schemas.microsoft.com/office/powerpoint/2010/main" val="276302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0A553A8-2CC4-61C5-6801-7E107F8034BA}"/>
              </a:ext>
            </a:extLst>
          </p:cNvPr>
          <p:cNvSpPr>
            <a:spLocks noGrp="1"/>
          </p:cNvSpPr>
          <p:nvPr>
            <p:ph type="title"/>
          </p:nvPr>
        </p:nvSpPr>
        <p:spPr/>
        <p:txBody>
          <a:bodyPr/>
          <a:lstStyle/>
          <a:p>
            <a:r>
              <a:rPr lang="en-US" dirty="0"/>
              <a:t>Topics we will cover (cont.)</a:t>
            </a:r>
          </a:p>
        </p:txBody>
      </p:sp>
      <p:sp>
        <p:nvSpPr>
          <p:cNvPr id="11" name="Table Placeholder 10">
            <a:extLst>
              <a:ext uri="{FF2B5EF4-FFF2-40B4-BE49-F238E27FC236}">
                <a16:creationId xmlns:a16="http://schemas.microsoft.com/office/drawing/2014/main" id="{F056ED45-7B54-EEC1-2BE2-C87B5501BAE4}"/>
              </a:ext>
            </a:extLst>
          </p:cNvPr>
          <p:cNvSpPr>
            <a:spLocks noGrp="1"/>
          </p:cNvSpPr>
          <p:nvPr>
            <p:ph type="tbl" sz="quarter" idx="27"/>
          </p:nvPr>
        </p:nvSpPr>
        <p:spPr/>
        <p:txBody>
          <a:bodyPr/>
          <a:lstStyle/>
          <a:p>
            <a:r>
              <a:rPr lang="en-US" sz="2400" dirty="0"/>
              <a:t>Recurrent Neural Network (RNN)</a:t>
            </a:r>
          </a:p>
          <a:p>
            <a:pPr lvl="1"/>
            <a:r>
              <a:rPr lang="en-US" sz="2400" dirty="0"/>
              <a:t>Long Short Term Memory (LSTM)</a:t>
            </a:r>
          </a:p>
          <a:p>
            <a:pPr lvl="1"/>
            <a:r>
              <a:rPr lang="en-US" sz="2400" dirty="0"/>
              <a:t>Gated Recurrent Unit (GRU)</a:t>
            </a:r>
          </a:p>
          <a:p>
            <a:r>
              <a:rPr lang="en-US" sz="2400" dirty="0"/>
              <a:t>Generative AI</a:t>
            </a:r>
          </a:p>
          <a:p>
            <a:pPr lvl="1"/>
            <a:r>
              <a:rPr lang="en-US" sz="2400" dirty="0"/>
              <a:t>Autoencoders</a:t>
            </a:r>
          </a:p>
          <a:p>
            <a:pPr lvl="1"/>
            <a:r>
              <a:rPr lang="en-US" sz="2400" dirty="0"/>
              <a:t>Variational Autoencoder (VA)</a:t>
            </a:r>
          </a:p>
          <a:p>
            <a:pPr lvl="1"/>
            <a:r>
              <a:rPr lang="en-US" sz="2400" dirty="0"/>
              <a:t>Generative Adversarial Network (GAN)</a:t>
            </a:r>
          </a:p>
          <a:p>
            <a:r>
              <a:rPr lang="en-US" sz="2400" dirty="0"/>
              <a:t>Transformer Architecture</a:t>
            </a:r>
          </a:p>
          <a:p>
            <a:pPr lvl="1"/>
            <a:r>
              <a:rPr lang="en-US" sz="2400" dirty="0"/>
              <a:t>Application in Large Language Models (LLMs)</a:t>
            </a:r>
          </a:p>
          <a:p>
            <a:r>
              <a:rPr lang="en-US" sz="2400" dirty="0"/>
              <a:t>Diffusion model</a:t>
            </a:r>
          </a:p>
          <a:p>
            <a:pPr lvl="1"/>
            <a:endParaRPr lang="en-US" sz="2400" dirty="0"/>
          </a:p>
          <a:p>
            <a:pPr lvl="1"/>
            <a:endParaRPr lang="en-US" sz="2400" dirty="0"/>
          </a:p>
          <a:p>
            <a:pPr lvl="1"/>
            <a:endParaRPr lang="en-US" dirty="0"/>
          </a:p>
          <a:p>
            <a:pPr marL="0" indent="0">
              <a:buNone/>
            </a:pPr>
            <a:endParaRPr lang="en-US" dirty="0"/>
          </a:p>
          <a:p>
            <a:endParaRPr lang="en-US" dirty="0"/>
          </a:p>
        </p:txBody>
      </p:sp>
      <p:sp>
        <p:nvSpPr>
          <p:cNvPr id="8" name="Footer Placeholder 7">
            <a:extLst>
              <a:ext uri="{FF2B5EF4-FFF2-40B4-BE49-F238E27FC236}">
                <a16:creationId xmlns:a16="http://schemas.microsoft.com/office/drawing/2014/main" id="{96B9DD30-BD10-0B7E-9208-24A59A68A3CB}"/>
              </a:ext>
            </a:extLst>
          </p:cNvPr>
          <p:cNvSpPr>
            <a:spLocks noGrp="1"/>
          </p:cNvSpPr>
          <p:nvPr>
            <p:ph type="ftr" sz="quarter" idx="28"/>
          </p:nvPr>
        </p:nvSpPr>
        <p:spPr/>
        <p:txBody>
          <a:bodyPr/>
          <a:lstStyle/>
          <a:p>
            <a:r>
              <a:rPr lang="en-US" dirty="0"/>
              <a:t>Introduction to AI</a:t>
            </a:r>
          </a:p>
        </p:txBody>
      </p:sp>
      <p:sp>
        <p:nvSpPr>
          <p:cNvPr id="9" name="Slide Number Placeholder 8">
            <a:extLst>
              <a:ext uri="{FF2B5EF4-FFF2-40B4-BE49-F238E27FC236}">
                <a16:creationId xmlns:a16="http://schemas.microsoft.com/office/drawing/2014/main" id="{42B628B0-6C31-DE29-0F57-1412CB1B833C}"/>
              </a:ext>
            </a:extLst>
          </p:cNvPr>
          <p:cNvSpPr>
            <a:spLocks noGrp="1"/>
          </p:cNvSpPr>
          <p:nvPr>
            <p:ph type="sldNum" sz="quarter" idx="29"/>
          </p:nvPr>
        </p:nvSpPr>
        <p:spPr/>
        <p:txBody>
          <a:bodyPr/>
          <a:lstStyle/>
          <a:p>
            <a:fld id="{47FEACEE-25B4-4A2D-B147-27296E36371D}" type="slidenum">
              <a:rPr lang="en-US" altLang="zh-CN" smtClean="0"/>
              <a:pPr/>
              <a:t>5</a:t>
            </a:fld>
            <a:endParaRPr lang="en-US" altLang="zh-CN" dirty="0"/>
          </a:p>
        </p:txBody>
      </p:sp>
    </p:spTree>
    <p:extLst>
      <p:ext uri="{BB962C8B-B14F-4D97-AF65-F5344CB8AC3E}">
        <p14:creationId xmlns:p14="http://schemas.microsoft.com/office/powerpoint/2010/main" val="2263644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33E8-724F-E5DC-F86D-79C5BD5B57A5}"/>
              </a:ext>
            </a:extLst>
          </p:cNvPr>
          <p:cNvSpPr>
            <a:spLocks noGrp="1"/>
          </p:cNvSpPr>
          <p:nvPr>
            <p:ph type="title"/>
          </p:nvPr>
        </p:nvSpPr>
        <p:spPr/>
        <p:txBody>
          <a:bodyPr/>
          <a:lstStyle/>
          <a:p>
            <a:r>
              <a:rPr lang="en-US" dirty="0"/>
              <a:t>What is Artificial Intelligence?</a:t>
            </a:r>
          </a:p>
        </p:txBody>
      </p:sp>
      <p:sp>
        <p:nvSpPr>
          <p:cNvPr id="3" name="Table Placeholder 2">
            <a:extLst>
              <a:ext uri="{FF2B5EF4-FFF2-40B4-BE49-F238E27FC236}">
                <a16:creationId xmlns:a16="http://schemas.microsoft.com/office/drawing/2014/main" id="{A295F7AC-8A4C-9803-22D0-C5FF7A61BC57}"/>
              </a:ext>
            </a:extLst>
          </p:cNvPr>
          <p:cNvSpPr>
            <a:spLocks noGrp="1"/>
          </p:cNvSpPr>
          <p:nvPr>
            <p:ph type="tbl" sz="quarter" idx="27"/>
          </p:nvPr>
        </p:nvSpPr>
        <p:spPr/>
        <p:txBody>
          <a:bodyPr/>
          <a:lstStyle/>
          <a:p>
            <a:r>
              <a:rPr lang="en-US" dirty="0"/>
              <a:t>Intelligence should be described in the context of biology</a:t>
            </a:r>
          </a:p>
          <a:p>
            <a:pPr lvl="1"/>
            <a:r>
              <a:rPr lang="en-US" dirty="0"/>
              <a:t>Intelligence connects perception to action to help organisms survive.</a:t>
            </a:r>
          </a:p>
          <a:p>
            <a:r>
              <a:rPr lang="en-US" dirty="0"/>
              <a:t>Intelligence does not imply perfect understanding, every intelligent being has limited perception, memory and computation.</a:t>
            </a:r>
          </a:p>
          <a:p>
            <a:r>
              <a:rPr lang="en-US" dirty="0"/>
              <a:t>AI seeks to understand the computations required for intelligent behavior and to produce computer systems that </a:t>
            </a:r>
            <a:r>
              <a:rPr lang="en-US" b="1" dirty="0"/>
              <a:t>exhibit intelligence</a:t>
            </a:r>
            <a:r>
              <a:rPr lang="en-US" dirty="0"/>
              <a:t>.</a:t>
            </a:r>
          </a:p>
          <a:p>
            <a:r>
              <a:rPr lang="en-US" dirty="0"/>
              <a:t>Aspects of intelligence studied by AI include perception, motor control, communication using human languages, reasoning, planning, learning and memory.</a:t>
            </a:r>
          </a:p>
        </p:txBody>
      </p:sp>
      <p:sp>
        <p:nvSpPr>
          <p:cNvPr id="4" name="Footer Placeholder 3">
            <a:extLst>
              <a:ext uri="{FF2B5EF4-FFF2-40B4-BE49-F238E27FC236}">
                <a16:creationId xmlns:a16="http://schemas.microsoft.com/office/drawing/2014/main" id="{C3A1473D-E51D-1D5D-7668-881B7027C3FE}"/>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DB90E195-3862-0E7F-FB64-A418BB62A4EA}"/>
              </a:ext>
            </a:extLst>
          </p:cNvPr>
          <p:cNvSpPr>
            <a:spLocks noGrp="1"/>
          </p:cNvSpPr>
          <p:nvPr>
            <p:ph type="sldNum" sz="quarter" idx="29"/>
          </p:nvPr>
        </p:nvSpPr>
        <p:spPr/>
        <p:txBody>
          <a:bodyPr/>
          <a:lstStyle/>
          <a:p>
            <a:fld id="{47FEACEE-25B4-4A2D-B147-27296E36371D}" type="slidenum">
              <a:rPr lang="en-US" altLang="zh-CN" smtClean="0"/>
              <a:pPr/>
              <a:t>6</a:t>
            </a:fld>
            <a:endParaRPr lang="en-US" altLang="zh-CN" dirty="0"/>
          </a:p>
        </p:txBody>
      </p:sp>
    </p:spTree>
    <p:extLst>
      <p:ext uri="{BB962C8B-B14F-4D97-AF65-F5344CB8AC3E}">
        <p14:creationId xmlns:p14="http://schemas.microsoft.com/office/powerpoint/2010/main" val="263314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33E8-724F-E5DC-F86D-79C5BD5B57A5}"/>
              </a:ext>
            </a:extLst>
          </p:cNvPr>
          <p:cNvSpPr>
            <a:spLocks noGrp="1"/>
          </p:cNvSpPr>
          <p:nvPr>
            <p:ph type="title"/>
          </p:nvPr>
        </p:nvSpPr>
        <p:spPr/>
        <p:txBody>
          <a:bodyPr/>
          <a:lstStyle/>
          <a:p>
            <a:r>
              <a:rPr lang="en-US" dirty="0"/>
              <a:t>What is Artificial Intelligence?</a:t>
            </a:r>
          </a:p>
        </p:txBody>
      </p:sp>
      <p:sp>
        <p:nvSpPr>
          <p:cNvPr id="3" name="Table Placeholder 2">
            <a:extLst>
              <a:ext uri="{FF2B5EF4-FFF2-40B4-BE49-F238E27FC236}">
                <a16:creationId xmlns:a16="http://schemas.microsoft.com/office/drawing/2014/main" id="{A295F7AC-8A4C-9803-22D0-C5FF7A61BC57}"/>
              </a:ext>
            </a:extLst>
          </p:cNvPr>
          <p:cNvSpPr>
            <a:spLocks noGrp="1"/>
          </p:cNvSpPr>
          <p:nvPr>
            <p:ph type="tbl" sz="quarter" idx="27"/>
          </p:nvPr>
        </p:nvSpPr>
        <p:spPr/>
        <p:txBody>
          <a:bodyPr/>
          <a:lstStyle/>
          <a:p>
            <a:pPr marL="0" indent="0">
              <a:buNone/>
            </a:pPr>
            <a:r>
              <a:rPr lang="en-US" dirty="0"/>
              <a:t>Formal definition: </a:t>
            </a:r>
            <a:r>
              <a:rPr lang="en-GB" i="1" dirty="0"/>
              <a:t>Artificial Intelligence (AI) is a branch of computer science and engineering that deals with intelligent </a:t>
            </a:r>
            <a:r>
              <a:rPr lang="en-GB" i="1" dirty="0" err="1"/>
              <a:t>behavior</a:t>
            </a:r>
            <a:r>
              <a:rPr lang="en-GB" i="1" dirty="0"/>
              <a:t>, learning, and adaptation in machines.</a:t>
            </a:r>
          </a:p>
          <a:p>
            <a:pPr marL="0" indent="0">
              <a:buNone/>
            </a:pPr>
            <a:endParaRPr lang="en-GB" i="1" dirty="0"/>
          </a:p>
          <a:p>
            <a:pPr marL="457200" marR="474345" algn="just">
              <a:lnSpc>
                <a:spcPct val="115000"/>
              </a:lnSpc>
              <a:spcBef>
                <a:spcPts val="0"/>
              </a:spcBef>
              <a:spcAft>
                <a:spcPts val="1000"/>
              </a:spcAft>
            </a:pPr>
            <a:r>
              <a:rPr lang="en-US" sz="1800" dirty="0">
                <a:solidFill>
                  <a:srgbClr val="C45911"/>
                </a:solidFill>
                <a:effectLst/>
                <a:latin typeface="Times New Roman" panose="02020603050405020304" pitchFamily="18" charset="0"/>
                <a:ea typeface="Times New Roman" panose="02020603050405020304" pitchFamily="18" charset="0"/>
                <a:cs typeface="Vrinda" panose="020B0502040204020203" pitchFamily="34" charset="0"/>
              </a:rPr>
              <a:t>“Artificial Intelligence (AI) is the study of how to make computers do things which, at the moment, people do better.”</a:t>
            </a:r>
            <a:endParaRPr lang="en-US" sz="1800" dirty="0">
              <a:effectLst/>
              <a:latin typeface="Calibri" panose="020F0502020204030204" pitchFamily="34" charset="0"/>
              <a:ea typeface="Times New Roman" panose="02020603050405020304" pitchFamily="18" charset="0"/>
              <a:cs typeface="Vrinda" panose="020B0502040204020203" pitchFamily="34" charset="0"/>
            </a:endParaRPr>
          </a:p>
          <a:p>
            <a:pPr marL="457200" marR="474345" algn="r">
              <a:lnSpc>
                <a:spcPct val="115000"/>
              </a:lnSpc>
              <a:spcBef>
                <a:spcPts val="0"/>
              </a:spcBef>
              <a:spcAft>
                <a:spcPts val="1000"/>
              </a:spcAft>
            </a:pPr>
            <a:r>
              <a:rPr lang="en-US" sz="1800" dirty="0">
                <a:effectLst/>
                <a:latin typeface="Times New Roman" panose="02020603050405020304" pitchFamily="18" charset="0"/>
                <a:ea typeface="Times New Roman" panose="02020603050405020304" pitchFamily="18" charset="0"/>
                <a:cs typeface="Vrinda" panose="020B0502040204020203" pitchFamily="34" charset="0"/>
              </a:rPr>
              <a:t>--  Elaine Rich, 1991</a:t>
            </a:r>
            <a:endParaRPr lang="en-US" sz="1800" dirty="0">
              <a:effectLst/>
              <a:latin typeface="Calibri" panose="020F0502020204030204" pitchFamily="34" charset="0"/>
              <a:ea typeface="Times New Roman" panose="02020603050405020304" pitchFamily="18" charset="0"/>
              <a:cs typeface="Vrinda" panose="020B0502040204020203" pitchFamily="34" charset="0"/>
            </a:endParaRPr>
          </a:p>
          <a:p>
            <a:pPr marL="457200" marR="474345" algn="r">
              <a:lnSpc>
                <a:spcPct val="115000"/>
              </a:lnSpc>
              <a:spcBef>
                <a:spcPts val="0"/>
              </a:spcBef>
              <a:spcAft>
                <a:spcPts val="1000"/>
              </a:spcAft>
            </a:pPr>
            <a:r>
              <a:rPr lang="en-US" sz="1800" dirty="0">
                <a:effectLst/>
                <a:latin typeface="Times New Roman" panose="02020603050405020304" pitchFamily="18" charset="0"/>
                <a:ea typeface="Times New Roman" panose="02020603050405020304" pitchFamily="18" charset="0"/>
                <a:cs typeface="Vrinda" panose="020B0502040204020203" pitchFamily="34" charset="0"/>
              </a:rPr>
              <a:t> </a:t>
            </a:r>
            <a:endParaRPr lang="en-US" sz="1800" dirty="0">
              <a:effectLst/>
              <a:latin typeface="Calibri" panose="020F0502020204030204" pitchFamily="34" charset="0"/>
              <a:ea typeface="Times New Roman" panose="02020603050405020304" pitchFamily="18" charset="0"/>
              <a:cs typeface="Vrinda" panose="020B0502040204020203" pitchFamily="34" charset="0"/>
            </a:endParaRPr>
          </a:p>
          <a:p>
            <a:pPr marL="514350" marR="474345" algn="just">
              <a:lnSpc>
                <a:spcPct val="115000"/>
              </a:lnSpc>
              <a:spcBef>
                <a:spcPts val="0"/>
              </a:spcBef>
              <a:spcAft>
                <a:spcPts val="1000"/>
              </a:spcAft>
            </a:pPr>
            <a:r>
              <a:rPr lang="en-US" sz="1800" dirty="0">
                <a:solidFill>
                  <a:srgbClr val="C45911"/>
                </a:solidFill>
                <a:effectLst/>
                <a:latin typeface="Times New Roman" panose="02020603050405020304" pitchFamily="18" charset="0"/>
                <a:ea typeface="Times New Roman" panose="02020603050405020304" pitchFamily="18" charset="0"/>
                <a:cs typeface="Vrinda" panose="020B0502040204020203" pitchFamily="34" charset="0"/>
              </a:rPr>
              <a:t>“AI is the art of creating machines that perform functions that require intelligence when performed by people” </a:t>
            </a:r>
            <a:endParaRPr lang="en-US" sz="1800" dirty="0">
              <a:effectLst/>
              <a:latin typeface="Calibri" panose="020F0502020204030204" pitchFamily="34" charset="0"/>
              <a:ea typeface="Times New Roman" panose="02020603050405020304" pitchFamily="18" charset="0"/>
              <a:cs typeface="Vrinda" panose="020B0502040204020203" pitchFamily="34" charset="0"/>
            </a:endParaRPr>
          </a:p>
          <a:p>
            <a:pPr marL="514350" marR="474345" algn="r">
              <a:lnSpc>
                <a:spcPct val="115000"/>
              </a:lnSpc>
              <a:spcBef>
                <a:spcPts val="0"/>
              </a:spcBef>
              <a:spcAft>
                <a:spcPts val="1000"/>
              </a:spcAft>
            </a:pPr>
            <a:r>
              <a:rPr lang="en-US" sz="1800" dirty="0">
                <a:effectLst/>
                <a:latin typeface="Times New Roman" panose="02020603050405020304" pitchFamily="18" charset="0"/>
                <a:ea typeface="Times New Roman" panose="02020603050405020304" pitchFamily="18" charset="0"/>
                <a:cs typeface="Vrinda" panose="020B0502040204020203" pitchFamily="34" charset="0"/>
              </a:rPr>
              <a:t>-- Kurzweil, 1990</a:t>
            </a:r>
            <a:endParaRPr lang="en-US" sz="1800" dirty="0">
              <a:effectLst/>
              <a:latin typeface="Calibri" panose="020F0502020204030204" pitchFamily="34" charset="0"/>
              <a:ea typeface="Times New Roman" panose="02020603050405020304" pitchFamily="18" charset="0"/>
              <a:cs typeface="Vrinda" panose="020B0502040204020203" pitchFamily="34" charset="0"/>
            </a:endParaRPr>
          </a:p>
          <a:p>
            <a:pPr marL="0" indent="0">
              <a:buNone/>
            </a:pPr>
            <a:endParaRPr lang="en-US" i="1" dirty="0"/>
          </a:p>
        </p:txBody>
      </p:sp>
      <p:sp>
        <p:nvSpPr>
          <p:cNvPr id="4" name="Footer Placeholder 3">
            <a:extLst>
              <a:ext uri="{FF2B5EF4-FFF2-40B4-BE49-F238E27FC236}">
                <a16:creationId xmlns:a16="http://schemas.microsoft.com/office/drawing/2014/main" id="{C3A1473D-E51D-1D5D-7668-881B7027C3FE}"/>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DB90E195-3862-0E7F-FB64-A418BB62A4EA}"/>
              </a:ext>
            </a:extLst>
          </p:cNvPr>
          <p:cNvSpPr>
            <a:spLocks noGrp="1"/>
          </p:cNvSpPr>
          <p:nvPr>
            <p:ph type="sldNum" sz="quarter" idx="29"/>
          </p:nvPr>
        </p:nvSpPr>
        <p:spPr/>
        <p:txBody>
          <a:bodyPr/>
          <a:lstStyle/>
          <a:p>
            <a:fld id="{47FEACEE-25B4-4A2D-B147-27296E36371D}" type="slidenum">
              <a:rPr lang="en-US" altLang="zh-CN" smtClean="0"/>
              <a:pPr/>
              <a:t>7</a:t>
            </a:fld>
            <a:endParaRPr lang="en-US" altLang="zh-CN" dirty="0"/>
          </a:p>
        </p:txBody>
      </p:sp>
    </p:spTree>
    <p:extLst>
      <p:ext uri="{BB962C8B-B14F-4D97-AF65-F5344CB8AC3E}">
        <p14:creationId xmlns:p14="http://schemas.microsoft.com/office/powerpoint/2010/main" val="3752181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33E8-724F-E5DC-F86D-79C5BD5B57A5}"/>
              </a:ext>
            </a:extLst>
          </p:cNvPr>
          <p:cNvSpPr>
            <a:spLocks noGrp="1"/>
          </p:cNvSpPr>
          <p:nvPr>
            <p:ph type="title"/>
          </p:nvPr>
        </p:nvSpPr>
        <p:spPr/>
        <p:txBody>
          <a:bodyPr/>
          <a:lstStyle/>
          <a:p>
            <a:r>
              <a:rPr lang="en-US" dirty="0"/>
              <a:t>What is Artificial Intelligence?</a:t>
            </a:r>
          </a:p>
        </p:txBody>
      </p:sp>
      <p:sp>
        <p:nvSpPr>
          <p:cNvPr id="3" name="Table Placeholder 2">
            <a:extLst>
              <a:ext uri="{FF2B5EF4-FFF2-40B4-BE49-F238E27FC236}">
                <a16:creationId xmlns:a16="http://schemas.microsoft.com/office/drawing/2014/main" id="{A295F7AC-8A4C-9803-22D0-C5FF7A61BC57}"/>
              </a:ext>
            </a:extLst>
          </p:cNvPr>
          <p:cNvSpPr>
            <a:spLocks noGrp="1"/>
          </p:cNvSpPr>
          <p:nvPr>
            <p:ph type="tbl" sz="quarter" idx="27"/>
          </p:nvPr>
        </p:nvSpPr>
        <p:spPr/>
        <p:txBody>
          <a:bodyPr/>
          <a:lstStyle/>
          <a:p>
            <a:pPr marL="285750" marR="474345" indent="0">
              <a:lnSpc>
                <a:spcPct val="115000"/>
              </a:lnSpc>
              <a:spcBef>
                <a:spcPts val="0"/>
              </a:spcBef>
              <a:spcAft>
                <a:spcPts val="1000"/>
              </a:spcAft>
              <a:buNone/>
            </a:pPr>
            <a:endParaRPr lang="en-US" sz="1800" dirty="0">
              <a:effectLst/>
              <a:latin typeface="Calibri" panose="020F0502020204030204" pitchFamily="34" charset="0"/>
              <a:ea typeface="Times New Roman" panose="02020603050405020304" pitchFamily="18" charset="0"/>
              <a:cs typeface="Vrinda" panose="020B0502040204020203" pitchFamily="34" charset="0"/>
            </a:endParaRPr>
          </a:p>
          <a:p>
            <a:pPr marL="514350" marR="474345" algn="just">
              <a:lnSpc>
                <a:spcPct val="115000"/>
              </a:lnSpc>
              <a:spcBef>
                <a:spcPts val="0"/>
              </a:spcBef>
              <a:spcAft>
                <a:spcPts val="1000"/>
              </a:spcAft>
            </a:pPr>
            <a:r>
              <a:rPr lang="en-US" sz="1800" dirty="0">
                <a:solidFill>
                  <a:srgbClr val="C45911"/>
                </a:solidFill>
                <a:effectLst/>
                <a:latin typeface="Times New Roman" panose="02020603050405020304" pitchFamily="18" charset="0"/>
                <a:ea typeface="Times New Roman" panose="02020603050405020304" pitchFamily="18" charset="0"/>
                <a:cs typeface="Vrinda" panose="020B0502040204020203" pitchFamily="34" charset="0"/>
              </a:rPr>
              <a:t>“AI is the branch of computer science that is concerned with the automation of intelligent behavior.” </a:t>
            </a:r>
            <a:endParaRPr lang="en-US" sz="1800" dirty="0">
              <a:effectLst/>
              <a:latin typeface="Calibri" panose="020F0502020204030204" pitchFamily="34" charset="0"/>
              <a:ea typeface="Times New Roman" panose="02020603050405020304" pitchFamily="18" charset="0"/>
              <a:cs typeface="Vrinda" panose="020B0502040204020203" pitchFamily="34" charset="0"/>
            </a:endParaRPr>
          </a:p>
          <a:p>
            <a:pPr marL="514350" marR="474345" algn="r">
              <a:lnSpc>
                <a:spcPct val="115000"/>
              </a:lnSpc>
              <a:spcBef>
                <a:spcPts val="0"/>
              </a:spcBef>
              <a:spcAft>
                <a:spcPts val="1000"/>
              </a:spcAft>
            </a:pPr>
            <a:r>
              <a:rPr lang="en-US" sz="1800" dirty="0">
                <a:effectLst/>
                <a:latin typeface="Times New Roman" panose="02020603050405020304" pitchFamily="18" charset="0"/>
                <a:ea typeface="Times New Roman" panose="02020603050405020304" pitchFamily="18" charset="0"/>
                <a:cs typeface="Vrinda" panose="020B0502040204020203" pitchFamily="34" charset="0"/>
              </a:rPr>
              <a:t>-- Luger and </a:t>
            </a:r>
            <a:r>
              <a:rPr lang="en-US" sz="1800" dirty="0" err="1">
                <a:effectLst/>
                <a:latin typeface="Times New Roman" panose="02020603050405020304" pitchFamily="18" charset="0"/>
                <a:ea typeface="Times New Roman" panose="02020603050405020304" pitchFamily="18" charset="0"/>
                <a:cs typeface="Vrinda" panose="020B0502040204020203" pitchFamily="34" charset="0"/>
              </a:rPr>
              <a:t>Stublefield</a:t>
            </a:r>
            <a:r>
              <a:rPr lang="en-US" sz="1800" dirty="0">
                <a:effectLst/>
                <a:latin typeface="Times New Roman" panose="02020603050405020304" pitchFamily="18" charset="0"/>
                <a:ea typeface="Times New Roman" panose="02020603050405020304" pitchFamily="18" charset="0"/>
                <a:cs typeface="Vrinda" panose="020B0502040204020203" pitchFamily="34" charset="0"/>
              </a:rPr>
              <a:t>, 1993</a:t>
            </a:r>
            <a:endParaRPr lang="en-US" sz="1800" dirty="0">
              <a:effectLst/>
              <a:latin typeface="Calibri" panose="020F0502020204030204" pitchFamily="34" charset="0"/>
              <a:ea typeface="Times New Roman" panose="02020603050405020304" pitchFamily="18" charset="0"/>
              <a:cs typeface="Vrinda" panose="020B0502040204020203" pitchFamily="34" charset="0"/>
            </a:endParaRPr>
          </a:p>
          <a:p>
            <a:pPr marL="514350" marR="474345">
              <a:lnSpc>
                <a:spcPct val="115000"/>
              </a:lnSpc>
              <a:spcBef>
                <a:spcPts val="0"/>
              </a:spcBef>
              <a:spcAft>
                <a:spcPts val="1000"/>
              </a:spcAft>
            </a:pPr>
            <a:endParaRPr lang="en-US" sz="1800" dirty="0">
              <a:effectLst/>
              <a:latin typeface="Calibri" panose="020F0502020204030204" pitchFamily="34" charset="0"/>
              <a:ea typeface="Times New Roman" panose="02020603050405020304" pitchFamily="18" charset="0"/>
              <a:cs typeface="Vrinda" panose="020B0502040204020203" pitchFamily="34" charset="0"/>
            </a:endParaRPr>
          </a:p>
          <a:p>
            <a:pPr marL="514350" marR="474345" algn="just">
              <a:lnSpc>
                <a:spcPct val="115000"/>
              </a:lnSpc>
              <a:spcBef>
                <a:spcPts val="0"/>
              </a:spcBef>
              <a:spcAft>
                <a:spcPts val="1000"/>
              </a:spcAft>
            </a:pPr>
            <a:r>
              <a:rPr lang="en-US" sz="1800" dirty="0">
                <a:solidFill>
                  <a:srgbClr val="C45911"/>
                </a:solidFill>
                <a:effectLst/>
                <a:latin typeface="Times New Roman" panose="02020603050405020304" pitchFamily="18" charset="0"/>
                <a:ea typeface="Times New Roman" panose="02020603050405020304" pitchFamily="18" charset="0"/>
                <a:cs typeface="Vrinda" panose="020B0502040204020203" pitchFamily="34" charset="0"/>
              </a:rPr>
              <a:t>"AI is a field of study that seeks to explain and emulate intelligent behavior in terms of computational processes" </a:t>
            </a:r>
            <a:endParaRPr lang="en-US" sz="1800" dirty="0">
              <a:effectLst/>
              <a:latin typeface="Calibri" panose="020F0502020204030204" pitchFamily="34" charset="0"/>
              <a:ea typeface="Times New Roman" panose="02020603050405020304" pitchFamily="18" charset="0"/>
              <a:cs typeface="Vrinda" panose="020B0502040204020203" pitchFamily="34" charset="0"/>
            </a:endParaRPr>
          </a:p>
          <a:p>
            <a:pPr marL="514350" marR="474345" algn="r">
              <a:lnSpc>
                <a:spcPct val="115000"/>
              </a:lnSpc>
              <a:spcBef>
                <a:spcPts val="0"/>
              </a:spcBef>
              <a:spcAft>
                <a:spcPts val="1000"/>
              </a:spcAft>
            </a:pPr>
            <a:r>
              <a:rPr lang="en-US" sz="1800" dirty="0">
                <a:effectLst/>
                <a:latin typeface="Times New Roman" panose="02020603050405020304" pitchFamily="18" charset="0"/>
                <a:ea typeface="Times New Roman" panose="02020603050405020304" pitchFamily="18" charset="0"/>
                <a:cs typeface="Vrinda" panose="020B0502040204020203" pitchFamily="34" charset="0"/>
              </a:rPr>
              <a:t>--</a:t>
            </a:r>
            <a:r>
              <a:rPr lang="en-US" sz="1800" dirty="0" err="1">
                <a:effectLst/>
                <a:latin typeface="Times New Roman" panose="02020603050405020304" pitchFamily="18" charset="0"/>
                <a:ea typeface="Times New Roman" panose="02020603050405020304" pitchFamily="18" charset="0"/>
                <a:cs typeface="Vrinda" panose="020B0502040204020203" pitchFamily="34" charset="0"/>
              </a:rPr>
              <a:t>Schalkoff</a:t>
            </a:r>
            <a:r>
              <a:rPr lang="en-US" sz="1800" dirty="0">
                <a:effectLst/>
                <a:latin typeface="Times New Roman" panose="02020603050405020304" pitchFamily="18" charset="0"/>
                <a:ea typeface="Times New Roman" panose="02020603050405020304" pitchFamily="18" charset="0"/>
                <a:cs typeface="Vrinda" panose="020B0502040204020203" pitchFamily="34" charset="0"/>
              </a:rPr>
              <a:t>, 1990</a:t>
            </a:r>
            <a:endParaRPr lang="en-US" sz="1800" dirty="0">
              <a:effectLst/>
              <a:latin typeface="Calibri" panose="020F0502020204030204" pitchFamily="34" charset="0"/>
              <a:ea typeface="Times New Roman" panose="02020603050405020304" pitchFamily="18" charset="0"/>
              <a:cs typeface="Vrinda" panose="020B0502040204020203" pitchFamily="34" charset="0"/>
            </a:endParaRPr>
          </a:p>
          <a:p>
            <a:pPr marL="0" indent="0">
              <a:buNone/>
            </a:pPr>
            <a:endParaRPr lang="en-US" i="1" dirty="0"/>
          </a:p>
        </p:txBody>
      </p:sp>
      <p:sp>
        <p:nvSpPr>
          <p:cNvPr id="4" name="Footer Placeholder 3">
            <a:extLst>
              <a:ext uri="{FF2B5EF4-FFF2-40B4-BE49-F238E27FC236}">
                <a16:creationId xmlns:a16="http://schemas.microsoft.com/office/drawing/2014/main" id="{C3A1473D-E51D-1D5D-7668-881B7027C3FE}"/>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DB90E195-3862-0E7F-FB64-A418BB62A4EA}"/>
              </a:ext>
            </a:extLst>
          </p:cNvPr>
          <p:cNvSpPr>
            <a:spLocks noGrp="1"/>
          </p:cNvSpPr>
          <p:nvPr>
            <p:ph type="sldNum" sz="quarter" idx="29"/>
          </p:nvPr>
        </p:nvSpPr>
        <p:spPr/>
        <p:txBody>
          <a:bodyPr/>
          <a:lstStyle/>
          <a:p>
            <a:fld id="{47FEACEE-25B4-4A2D-B147-27296E36371D}" type="slidenum">
              <a:rPr lang="en-US" altLang="zh-CN" smtClean="0"/>
              <a:pPr/>
              <a:t>8</a:t>
            </a:fld>
            <a:endParaRPr lang="en-US" altLang="zh-CN" dirty="0"/>
          </a:p>
        </p:txBody>
      </p:sp>
    </p:spTree>
    <p:extLst>
      <p:ext uri="{BB962C8B-B14F-4D97-AF65-F5344CB8AC3E}">
        <p14:creationId xmlns:p14="http://schemas.microsoft.com/office/powerpoint/2010/main" val="4091094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33E8-724F-E5DC-F86D-79C5BD5B57A5}"/>
              </a:ext>
            </a:extLst>
          </p:cNvPr>
          <p:cNvSpPr>
            <a:spLocks noGrp="1"/>
          </p:cNvSpPr>
          <p:nvPr>
            <p:ph type="title"/>
          </p:nvPr>
        </p:nvSpPr>
        <p:spPr/>
        <p:txBody>
          <a:bodyPr/>
          <a:lstStyle/>
          <a:p>
            <a:r>
              <a:rPr lang="en-US" dirty="0"/>
              <a:t>What is Artificial Intelligence?</a:t>
            </a:r>
          </a:p>
        </p:txBody>
      </p:sp>
      <p:sp>
        <p:nvSpPr>
          <p:cNvPr id="3" name="Table Placeholder 2">
            <a:extLst>
              <a:ext uri="{FF2B5EF4-FFF2-40B4-BE49-F238E27FC236}">
                <a16:creationId xmlns:a16="http://schemas.microsoft.com/office/drawing/2014/main" id="{A295F7AC-8A4C-9803-22D0-C5FF7A61BC57}"/>
              </a:ext>
            </a:extLst>
          </p:cNvPr>
          <p:cNvSpPr>
            <a:spLocks noGrp="1"/>
          </p:cNvSpPr>
          <p:nvPr>
            <p:ph type="tbl" sz="quarter" idx="27"/>
          </p:nvPr>
        </p:nvSpPr>
        <p:spPr/>
        <p:txBody>
          <a:bodyPr/>
          <a:lstStyle/>
          <a:p>
            <a:pPr marL="0" indent="0">
              <a:buNone/>
            </a:pPr>
            <a:r>
              <a:rPr lang="en-US" dirty="0"/>
              <a:t>My definition:</a:t>
            </a:r>
          </a:p>
          <a:p>
            <a:pPr marL="0" indent="0">
              <a:buNone/>
            </a:pPr>
            <a:r>
              <a:rPr lang="en-US" dirty="0"/>
              <a:t>AI deals with a class of algorithms which generate solution which (appears to be) non-deterministic, thus looks intelligent.</a:t>
            </a:r>
          </a:p>
        </p:txBody>
      </p:sp>
      <p:sp>
        <p:nvSpPr>
          <p:cNvPr id="4" name="Footer Placeholder 3">
            <a:extLst>
              <a:ext uri="{FF2B5EF4-FFF2-40B4-BE49-F238E27FC236}">
                <a16:creationId xmlns:a16="http://schemas.microsoft.com/office/drawing/2014/main" id="{C3A1473D-E51D-1D5D-7668-881B7027C3FE}"/>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DB90E195-3862-0E7F-FB64-A418BB62A4EA}"/>
              </a:ext>
            </a:extLst>
          </p:cNvPr>
          <p:cNvSpPr>
            <a:spLocks noGrp="1"/>
          </p:cNvSpPr>
          <p:nvPr>
            <p:ph type="sldNum" sz="quarter" idx="29"/>
          </p:nvPr>
        </p:nvSpPr>
        <p:spPr/>
        <p:txBody>
          <a:bodyPr/>
          <a:lstStyle/>
          <a:p>
            <a:fld id="{47FEACEE-25B4-4A2D-B147-27296E36371D}" type="slidenum">
              <a:rPr lang="en-US" altLang="zh-CN" smtClean="0"/>
              <a:pPr/>
              <a:t>9</a:t>
            </a:fld>
            <a:endParaRPr lang="en-US" altLang="zh-CN" dirty="0"/>
          </a:p>
        </p:txBody>
      </p:sp>
    </p:spTree>
    <p:extLst>
      <p:ext uri="{BB962C8B-B14F-4D97-AF65-F5344CB8AC3E}">
        <p14:creationId xmlns:p14="http://schemas.microsoft.com/office/powerpoint/2010/main" val="26857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3E5A4-EFDC-EFC9-8F66-044F6140C07C}"/>
              </a:ext>
            </a:extLst>
          </p:cNvPr>
          <p:cNvSpPr>
            <a:spLocks noGrp="1"/>
          </p:cNvSpPr>
          <p:nvPr>
            <p:ph type="title"/>
          </p:nvPr>
        </p:nvSpPr>
        <p:spPr/>
        <p:txBody>
          <a:bodyPr/>
          <a:lstStyle/>
          <a:p>
            <a:r>
              <a:rPr lang="en-US" dirty="0"/>
              <a:t>Aims of AI</a:t>
            </a:r>
          </a:p>
        </p:txBody>
      </p:sp>
      <p:sp>
        <p:nvSpPr>
          <p:cNvPr id="3" name="Table Placeholder 2">
            <a:extLst>
              <a:ext uri="{FF2B5EF4-FFF2-40B4-BE49-F238E27FC236}">
                <a16:creationId xmlns:a16="http://schemas.microsoft.com/office/drawing/2014/main" id="{E6C1509C-98F6-9D77-9AE6-DC8C791B2F44}"/>
              </a:ext>
            </a:extLst>
          </p:cNvPr>
          <p:cNvSpPr>
            <a:spLocks noGrp="1"/>
          </p:cNvSpPr>
          <p:nvPr>
            <p:ph type="tbl" sz="quarter" idx="27"/>
          </p:nvPr>
        </p:nvSpPr>
        <p:spPr/>
        <p:txBody>
          <a:bodyPr/>
          <a:lstStyle/>
          <a:p>
            <a:r>
              <a:rPr lang="en-US" dirty="0"/>
              <a:t>AI trying to exhibit behavior like –</a:t>
            </a:r>
          </a:p>
          <a:p>
            <a:pPr lvl="1"/>
            <a:r>
              <a:rPr lang="en-US" dirty="0"/>
              <a:t>Thinking humanly</a:t>
            </a:r>
          </a:p>
          <a:p>
            <a:pPr lvl="1"/>
            <a:r>
              <a:rPr lang="en-US" dirty="0"/>
              <a:t>Acting humanly</a:t>
            </a:r>
          </a:p>
          <a:p>
            <a:pPr lvl="1"/>
            <a:r>
              <a:rPr lang="en-US" dirty="0"/>
              <a:t>Thinking rationally</a:t>
            </a:r>
          </a:p>
          <a:p>
            <a:pPr lvl="1"/>
            <a:r>
              <a:rPr lang="en-US" dirty="0"/>
              <a:t>Acting rationally</a:t>
            </a:r>
          </a:p>
        </p:txBody>
      </p:sp>
      <p:sp>
        <p:nvSpPr>
          <p:cNvPr id="4" name="Footer Placeholder 3">
            <a:extLst>
              <a:ext uri="{FF2B5EF4-FFF2-40B4-BE49-F238E27FC236}">
                <a16:creationId xmlns:a16="http://schemas.microsoft.com/office/drawing/2014/main" id="{BE7E1A3B-A625-C465-75A6-BCB6B8B5C314}"/>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1560D011-ED02-1948-D561-B54A38D92F4E}"/>
              </a:ext>
            </a:extLst>
          </p:cNvPr>
          <p:cNvSpPr>
            <a:spLocks noGrp="1"/>
          </p:cNvSpPr>
          <p:nvPr>
            <p:ph type="sldNum" sz="quarter" idx="29"/>
          </p:nvPr>
        </p:nvSpPr>
        <p:spPr/>
        <p:txBody>
          <a:bodyPr/>
          <a:lstStyle/>
          <a:p>
            <a:fld id="{47FEACEE-25B4-4A2D-B147-27296E36371D}" type="slidenum">
              <a:rPr lang="en-US" altLang="zh-CN" smtClean="0"/>
              <a:pPr/>
              <a:t>10</a:t>
            </a:fld>
            <a:endParaRPr lang="en-US" altLang="zh-CN" dirty="0"/>
          </a:p>
        </p:txBody>
      </p:sp>
    </p:spTree>
    <p:extLst>
      <p:ext uri="{BB962C8B-B14F-4D97-AF65-F5344CB8AC3E}">
        <p14:creationId xmlns:p14="http://schemas.microsoft.com/office/powerpoint/2010/main" val="1330975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62AC3-1D71-6C93-8538-1C2A53C4F351}"/>
              </a:ext>
            </a:extLst>
          </p:cNvPr>
          <p:cNvSpPr>
            <a:spLocks noGrp="1"/>
          </p:cNvSpPr>
          <p:nvPr>
            <p:ph type="title"/>
          </p:nvPr>
        </p:nvSpPr>
        <p:spPr/>
        <p:txBody>
          <a:bodyPr/>
          <a:lstStyle/>
          <a:p>
            <a:r>
              <a:rPr lang="en-US" dirty="0"/>
              <a:t>Acting humanly: The Turing Test</a:t>
            </a:r>
          </a:p>
        </p:txBody>
      </p:sp>
      <p:sp>
        <p:nvSpPr>
          <p:cNvPr id="3" name="Table Placeholder 2">
            <a:extLst>
              <a:ext uri="{FF2B5EF4-FFF2-40B4-BE49-F238E27FC236}">
                <a16:creationId xmlns:a16="http://schemas.microsoft.com/office/drawing/2014/main" id="{A15D9823-CD69-08E9-76E3-2E1550857307}"/>
              </a:ext>
            </a:extLst>
          </p:cNvPr>
          <p:cNvSpPr>
            <a:spLocks noGrp="1"/>
          </p:cNvSpPr>
          <p:nvPr>
            <p:ph type="tbl" sz="quarter" idx="27"/>
          </p:nvPr>
        </p:nvSpPr>
        <p:spPr/>
        <p:txBody>
          <a:bodyPr/>
          <a:lstStyle/>
          <a:p>
            <a:r>
              <a:rPr lang="en-GB" dirty="0"/>
              <a:t>The Turing Test, proposed by Alan Turing (1950), was designed to provide a satisfactory operational definition of intelligence. Turing defined intelligent </a:t>
            </a:r>
            <a:r>
              <a:rPr lang="en-GB" dirty="0" err="1"/>
              <a:t>behavior</a:t>
            </a:r>
            <a:r>
              <a:rPr lang="en-GB" dirty="0"/>
              <a:t> as the ability to achieve human-level performance in all cognitive tasks, sufficient to fool an interrogator. Roughly speaking, the test he proposed is that the computer should be interrogated by a human via a teletype, and passes the test if the interrogator cannot tell if there is a computer or a human at the other end.</a:t>
            </a:r>
          </a:p>
          <a:p>
            <a:endParaRPr lang="en-US" dirty="0"/>
          </a:p>
        </p:txBody>
      </p:sp>
      <p:sp>
        <p:nvSpPr>
          <p:cNvPr id="4" name="Footer Placeholder 3">
            <a:extLst>
              <a:ext uri="{FF2B5EF4-FFF2-40B4-BE49-F238E27FC236}">
                <a16:creationId xmlns:a16="http://schemas.microsoft.com/office/drawing/2014/main" id="{F8755EAE-530C-0E87-6824-8786D5BC3B07}"/>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EA5659C-A9C5-953A-7EEB-792BF40E1E24}"/>
              </a:ext>
            </a:extLst>
          </p:cNvPr>
          <p:cNvSpPr>
            <a:spLocks noGrp="1"/>
          </p:cNvSpPr>
          <p:nvPr>
            <p:ph type="sldNum" sz="quarter" idx="29"/>
          </p:nvPr>
        </p:nvSpPr>
        <p:spPr/>
        <p:txBody>
          <a:bodyPr/>
          <a:lstStyle/>
          <a:p>
            <a:fld id="{47FEACEE-25B4-4A2D-B147-27296E36371D}" type="slidenum">
              <a:rPr lang="en-US" altLang="zh-CN" smtClean="0"/>
              <a:pPr/>
              <a:t>11</a:t>
            </a:fld>
            <a:endParaRPr lang="en-US" altLang="zh-CN" dirty="0"/>
          </a:p>
        </p:txBody>
      </p:sp>
      <p:pic>
        <p:nvPicPr>
          <p:cNvPr id="6" name="Picture 5" descr="turing">
            <a:extLst>
              <a:ext uri="{FF2B5EF4-FFF2-40B4-BE49-F238E27FC236}">
                <a16:creationId xmlns:a16="http://schemas.microsoft.com/office/drawing/2014/main" id="{4966B4CF-C863-C818-9D5B-570D8BDD34C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74720" y="3647440"/>
            <a:ext cx="483616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9355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F2C56-F61C-050E-2A68-FCEA1C4B5E7A}"/>
              </a:ext>
            </a:extLst>
          </p:cNvPr>
          <p:cNvSpPr>
            <a:spLocks noGrp="1"/>
          </p:cNvSpPr>
          <p:nvPr>
            <p:ph type="title"/>
          </p:nvPr>
        </p:nvSpPr>
        <p:spPr/>
        <p:txBody>
          <a:bodyPr/>
          <a:lstStyle/>
          <a:p>
            <a:r>
              <a:rPr lang="en-US" dirty="0"/>
              <a:t>Problems we try to solve by AI</a:t>
            </a:r>
          </a:p>
        </p:txBody>
      </p:sp>
      <p:sp>
        <p:nvSpPr>
          <p:cNvPr id="3" name="Table Placeholder 2">
            <a:extLst>
              <a:ext uri="{FF2B5EF4-FFF2-40B4-BE49-F238E27FC236}">
                <a16:creationId xmlns:a16="http://schemas.microsoft.com/office/drawing/2014/main" id="{DE4DC0AA-AB9D-6148-0B46-8037678DB5C4}"/>
              </a:ext>
            </a:extLst>
          </p:cNvPr>
          <p:cNvSpPr>
            <a:spLocks noGrp="1"/>
          </p:cNvSpPr>
          <p:nvPr>
            <p:ph type="tbl" sz="quarter" idx="27"/>
          </p:nvPr>
        </p:nvSpPr>
        <p:spPr/>
        <p:txBody>
          <a:bodyPr/>
          <a:lstStyle/>
          <a:p>
            <a:r>
              <a:rPr lang="en-US" dirty="0"/>
              <a:t>Finding solution to problems:</a:t>
            </a:r>
          </a:p>
          <a:p>
            <a:pPr lvl="1"/>
            <a:r>
              <a:rPr lang="en-US" dirty="0"/>
              <a:t>Path finding</a:t>
            </a:r>
          </a:p>
          <a:p>
            <a:pPr lvl="1"/>
            <a:r>
              <a:rPr lang="en-US" dirty="0"/>
              <a:t>Solution to a puzzle</a:t>
            </a:r>
          </a:p>
          <a:p>
            <a:r>
              <a:rPr lang="en-US" dirty="0"/>
              <a:t>Reasoning</a:t>
            </a:r>
          </a:p>
          <a:p>
            <a:r>
              <a:rPr lang="en-US" dirty="0"/>
              <a:t>Planning</a:t>
            </a:r>
          </a:p>
          <a:p>
            <a:r>
              <a:rPr lang="en-US" dirty="0"/>
              <a:t>Decision making</a:t>
            </a:r>
          </a:p>
          <a:p>
            <a:r>
              <a:rPr lang="en-US" dirty="0"/>
              <a:t>Inference</a:t>
            </a:r>
          </a:p>
          <a:p>
            <a:r>
              <a:rPr lang="en-US" dirty="0"/>
              <a:t>Classification</a:t>
            </a:r>
          </a:p>
          <a:p>
            <a:r>
              <a:rPr lang="en-US" dirty="0"/>
              <a:t>Pattern recognition</a:t>
            </a:r>
          </a:p>
          <a:p>
            <a:r>
              <a:rPr lang="en-US" dirty="0"/>
              <a:t>Regression</a:t>
            </a:r>
          </a:p>
          <a:p>
            <a:r>
              <a:rPr lang="en-US" dirty="0"/>
              <a:t>Synthesis</a:t>
            </a:r>
          </a:p>
          <a:p>
            <a:pPr lvl="1"/>
            <a:endParaRPr lang="en-US" dirty="0"/>
          </a:p>
        </p:txBody>
      </p:sp>
      <p:sp>
        <p:nvSpPr>
          <p:cNvPr id="4" name="Footer Placeholder 3">
            <a:extLst>
              <a:ext uri="{FF2B5EF4-FFF2-40B4-BE49-F238E27FC236}">
                <a16:creationId xmlns:a16="http://schemas.microsoft.com/office/drawing/2014/main" id="{98563A42-64BF-B741-06ED-7BA9C7737B36}"/>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7F2673C-30F5-34DD-C98E-3751533A6D41}"/>
              </a:ext>
            </a:extLst>
          </p:cNvPr>
          <p:cNvSpPr>
            <a:spLocks noGrp="1"/>
          </p:cNvSpPr>
          <p:nvPr>
            <p:ph type="sldNum" sz="quarter" idx="29"/>
          </p:nvPr>
        </p:nvSpPr>
        <p:spPr/>
        <p:txBody>
          <a:bodyPr/>
          <a:lstStyle/>
          <a:p>
            <a:fld id="{47FEACEE-25B4-4A2D-B147-27296E36371D}" type="slidenum">
              <a:rPr lang="en-US" altLang="zh-CN" smtClean="0"/>
              <a:pPr/>
              <a:t>12</a:t>
            </a:fld>
            <a:endParaRPr lang="en-US" altLang="zh-CN" dirty="0"/>
          </a:p>
        </p:txBody>
      </p:sp>
    </p:spTree>
    <p:extLst>
      <p:ext uri="{BB962C8B-B14F-4D97-AF65-F5344CB8AC3E}">
        <p14:creationId xmlns:p14="http://schemas.microsoft.com/office/powerpoint/2010/main" val="2984148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5DE79-34F1-293D-8232-9B020F671016}"/>
              </a:ext>
            </a:extLst>
          </p:cNvPr>
          <p:cNvSpPr>
            <a:spLocks noGrp="1"/>
          </p:cNvSpPr>
          <p:nvPr>
            <p:ph type="title"/>
          </p:nvPr>
        </p:nvSpPr>
        <p:spPr/>
        <p:txBody>
          <a:bodyPr/>
          <a:lstStyle/>
          <a:p>
            <a:r>
              <a:rPr lang="en-US" dirty="0"/>
              <a:t>History of AI</a:t>
            </a:r>
          </a:p>
        </p:txBody>
      </p:sp>
      <p:sp>
        <p:nvSpPr>
          <p:cNvPr id="3" name="Table Placeholder 2">
            <a:extLst>
              <a:ext uri="{FF2B5EF4-FFF2-40B4-BE49-F238E27FC236}">
                <a16:creationId xmlns:a16="http://schemas.microsoft.com/office/drawing/2014/main" id="{3811473B-942A-4D5F-FD73-3E0BCE4DF9B7}"/>
              </a:ext>
            </a:extLst>
          </p:cNvPr>
          <p:cNvSpPr>
            <a:spLocks noGrp="1"/>
          </p:cNvSpPr>
          <p:nvPr>
            <p:ph type="tbl" sz="quarter" idx="27"/>
          </p:nvPr>
        </p:nvSpPr>
        <p:spPr/>
        <p:txBody>
          <a:bodyPr/>
          <a:lstStyle/>
          <a:p>
            <a:r>
              <a:rPr lang="en-GB" sz="1800" dirty="0"/>
              <a:t>Antiquity to 1940s: The concept of AI began with myths and stories of artificial beings. Philosophers attempted to describe human thinking as the mechanical manipulation of symbols, which led to the invention of the programmable digital computer.</a:t>
            </a:r>
          </a:p>
          <a:p>
            <a:r>
              <a:rPr lang="en-GB" sz="1800" dirty="0"/>
              <a:t>1956: The field of AI research was officially founded at a workshop at Dartmouth College. Early predictions were optimistic about the potential of AI.</a:t>
            </a:r>
          </a:p>
          <a:p>
            <a:r>
              <a:rPr lang="en-GB" sz="1800" dirty="0"/>
              <a:t>1974-1980: The first AI winter occurred due to a lack of progress, leading to reduced funding and interest in AI research.</a:t>
            </a:r>
          </a:p>
          <a:p>
            <a:r>
              <a:rPr lang="en-GB" sz="1800" dirty="0"/>
              <a:t>1980-1987: A resurgence of interest and funding in AI, particularly in expert systems.</a:t>
            </a:r>
          </a:p>
          <a:p>
            <a:r>
              <a:rPr lang="en-GB" sz="1800" dirty="0"/>
              <a:t>1987-1993: The second AI winter happened as investors became disillusioned with the lack of practical returns.</a:t>
            </a:r>
          </a:p>
          <a:p>
            <a:r>
              <a:rPr lang="en-GB" sz="1800" dirty="0"/>
              <a:t>1993-2011: Gradual progress in AI, with the development of machine learning and data-driven approaches.</a:t>
            </a:r>
          </a:p>
          <a:p>
            <a:r>
              <a:rPr lang="en-GB" sz="1800" dirty="0"/>
              <a:t>2011-2020: Significant advancements due to deep learning, big data, and increased computational power.</a:t>
            </a:r>
          </a:p>
          <a:p>
            <a:r>
              <a:rPr lang="en-GB" sz="1800" dirty="0"/>
              <a:t>2020-Present: The era of large language models and widespread AI applications in various industries.</a:t>
            </a:r>
            <a:endParaRPr lang="en-US" sz="1800" dirty="0"/>
          </a:p>
        </p:txBody>
      </p:sp>
      <p:sp>
        <p:nvSpPr>
          <p:cNvPr id="4" name="Footer Placeholder 3">
            <a:extLst>
              <a:ext uri="{FF2B5EF4-FFF2-40B4-BE49-F238E27FC236}">
                <a16:creationId xmlns:a16="http://schemas.microsoft.com/office/drawing/2014/main" id="{3985E06D-C34E-240E-445C-F2502018271B}"/>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7820E93F-4ABD-A6CD-7AEE-665A92DD7751}"/>
              </a:ext>
            </a:extLst>
          </p:cNvPr>
          <p:cNvSpPr>
            <a:spLocks noGrp="1"/>
          </p:cNvSpPr>
          <p:nvPr>
            <p:ph type="sldNum" sz="quarter" idx="29"/>
          </p:nvPr>
        </p:nvSpPr>
        <p:spPr/>
        <p:txBody>
          <a:bodyPr/>
          <a:lstStyle/>
          <a:p>
            <a:fld id="{47FEACEE-25B4-4A2D-B147-27296E36371D}" type="slidenum">
              <a:rPr lang="en-US" altLang="zh-CN" smtClean="0"/>
              <a:pPr/>
              <a:t>13</a:t>
            </a:fld>
            <a:endParaRPr lang="en-US" altLang="zh-CN" dirty="0"/>
          </a:p>
        </p:txBody>
      </p:sp>
    </p:spTree>
    <p:extLst>
      <p:ext uri="{BB962C8B-B14F-4D97-AF65-F5344CB8AC3E}">
        <p14:creationId xmlns:p14="http://schemas.microsoft.com/office/powerpoint/2010/main" val="2865256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03D74-60D5-49AF-A3F3-9AEC48B0678C}"/>
              </a:ext>
            </a:extLst>
          </p:cNvPr>
          <p:cNvSpPr>
            <a:spLocks noGrp="1"/>
          </p:cNvSpPr>
          <p:nvPr>
            <p:ph type="title"/>
          </p:nvPr>
        </p:nvSpPr>
        <p:spPr/>
        <p:txBody>
          <a:bodyPr/>
          <a:lstStyle/>
          <a:p>
            <a:r>
              <a:rPr lang="en-US" dirty="0"/>
              <a:t>Applications of AI</a:t>
            </a:r>
          </a:p>
        </p:txBody>
      </p:sp>
      <p:sp>
        <p:nvSpPr>
          <p:cNvPr id="3" name="Table Placeholder 2">
            <a:extLst>
              <a:ext uri="{FF2B5EF4-FFF2-40B4-BE49-F238E27FC236}">
                <a16:creationId xmlns:a16="http://schemas.microsoft.com/office/drawing/2014/main" id="{D393A479-638D-CB78-6BD9-0DE8F9C7127B}"/>
              </a:ext>
            </a:extLst>
          </p:cNvPr>
          <p:cNvSpPr>
            <a:spLocks noGrp="1"/>
          </p:cNvSpPr>
          <p:nvPr>
            <p:ph type="tbl" sz="quarter" idx="27"/>
          </p:nvPr>
        </p:nvSpPr>
        <p:spPr/>
        <p:txBody>
          <a:bodyPr/>
          <a:lstStyle/>
          <a:p>
            <a:pPr marL="0" indent="0">
              <a:buNone/>
            </a:pPr>
            <a:r>
              <a:rPr lang="en-GB" dirty="0"/>
              <a:t>AI has found extensive applications across various sectors, transforming industries and daily life:</a:t>
            </a:r>
          </a:p>
          <a:p>
            <a:endParaRPr lang="en-GB" dirty="0"/>
          </a:p>
          <a:p>
            <a:r>
              <a:rPr lang="en-GB" b="1" dirty="0"/>
              <a:t>E-commerce</a:t>
            </a:r>
            <a:r>
              <a:rPr lang="en-GB" dirty="0"/>
              <a:t>: AI provides personalized shopping experiences and recommendation systems.</a:t>
            </a:r>
          </a:p>
          <a:p>
            <a:r>
              <a:rPr lang="en-GB" b="1" dirty="0"/>
              <a:t>Healthcare</a:t>
            </a:r>
            <a:r>
              <a:rPr lang="en-GB" dirty="0"/>
              <a:t>: AI assists in diagnostics, treatment planning, and personalized medicine.</a:t>
            </a:r>
          </a:p>
          <a:p>
            <a:r>
              <a:rPr lang="en-GB" b="1" dirty="0"/>
              <a:t>Finance</a:t>
            </a:r>
            <a:r>
              <a:rPr lang="en-GB" dirty="0"/>
              <a:t>: AI is used for fraud detection, algorithmic trading, and customer service.</a:t>
            </a:r>
          </a:p>
          <a:p>
            <a:r>
              <a:rPr lang="en-GB" b="1" dirty="0"/>
              <a:t>Transportation</a:t>
            </a:r>
            <a:r>
              <a:rPr lang="en-GB" dirty="0"/>
              <a:t>: Autonomous vehicles and traffic management systems are powered by AI.</a:t>
            </a:r>
          </a:p>
          <a:p>
            <a:r>
              <a:rPr lang="en-GB" b="1" dirty="0"/>
              <a:t>Manufacturing</a:t>
            </a:r>
            <a:r>
              <a:rPr lang="en-GB" dirty="0"/>
              <a:t>: AI enhances production efficiency through predictive maintenance and robotics.</a:t>
            </a:r>
          </a:p>
          <a:p>
            <a:r>
              <a:rPr lang="en-GB" b="1" dirty="0"/>
              <a:t>Education</a:t>
            </a:r>
            <a:r>
              <a:rPr lang="en-GB" dirty="0"/>
              <a:t>: AI offers personalized learning experiences and automates administrative tasks.</a:t>
            </a:r>
          </a:p>
          <a:p>
            <a:r>
              <a:rPr lang="en-GB" b="1" dirty="0"/>
              <a:t>Entertainment</a:t>
            </a:r>
            <a:r>
              <a:rPr lang="en-GB" dirty="0"/>
              <a:t>: AI generates music, art, and video games, and personalizes content delivery.</a:t>
            </a:r>
          </a:p>
          <a:p>
            <a:r>
              <a:rPr lang="en-GB" b="1" dirty="0"/>
              <a:t>Customer Service</a:t>
            </a:r>
            <a:r>
              <a:rPr lang="en-GB" dirty="0"/>
              <a:t>: AI powers chatbots and virtual assistants for improved user interactions.</a:t>
            </a:r>
            <a:endParaRPr lang="en-US" dirty="0"/>
          </a:p>
        </p:txBody>
      </p:sp>
      <p:sp>
        <p:nvSpPr>
          <p:cNvPr id="4" name="Footer Placeholder 3">
            <a:extLst>
              <a:ext uri="{FF2B5EF4-FFF2-40B4-BE49-F238E27FC236}">
                <a16:creationId xmlns:a16="http://schemas.microsoft.com/office/drawing/2014/main" id="{0B391215-672D-AD92-89CB-FADC8931F6B1}"/>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8F42A0-9EDC-7B51-0570-03275433CD8B}"/>
              </a:ext>
            </a:extLst>
          </p:cNvPr>
          <p:cNvSpPr>
            <a:spLocks noGrp="1"/>
          </p:cNvSpPr>
          <p:nvPr>
            <p:ph type="sldNum" sz="quarter" idx="29"/>
          </p:nvPr>
        </p:nvSpPr>
        <p:spPr/>
        <p:txBody>
          <a:bodyPr/>
          <a:lstStyle/>
          <a:p>
            <a:fld id="{47FEACEE-25B4-4A2D-B147-27296E36371D}" type="slidenum">
              <a:rPr lang="en-US" altLang="zh-CN" smtClean="0"/>
              <a:pPr/>
              <a:t>14</a:t>
            </a:fld>
            <a:endParaRPr lang="en-US" altLang="zh-CN" dirty="0"/>
          </a:p>
        </p:txBody>
      </p:sp>
    </p:spTree>
    <p:extLst>
      <p:ext uri="{BB962C8B-B14F-4D97-AF65-F5344CB8AC3E}">
        <p14:creationId xmlns:p14="http://schemas.microsoft.com/office/powerpoint/2010/main" val="4177920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E629-B42D-F463-52DC-DC7E98107C29}"/>
              </a:ext>
            </a:extLst>
          </p:cNvPr>
          <p:cNvSpPr>
            <a:spLocks noGrp="1"/>
          </p:cNvSpPr>
          <p:nvPr>
            <p:ph type="title"/>
          </p:nvPr>
        </p:nvSpPr>
        <p:spPr/>
        <p:txBody>
          <a:bodyPr/>
          <a:lstStyle/>
          <a:p>
            <a:r>
              <a:rPr lang="en-US" dirty="0"/>
              <a:t>Machine learning</a:t>
            </a:r>
          </a:p>
        </p:txBody>
      </p:sp>
      <p:sp>
        <p:nvSpPr>
          <p:cNvPr id="3" name="Table Placeholder 2">
            <a:extLst>
              <a:ext uri="{FF2B5EF4-FFF2-40B4-BE49-F238E27FC236}">
                <a16:creationId xmlns:a16="http://schemas.microsoft.com/office/drawing/2014/main" id="{1C951AAD-2791-9CA8-8DE0-A47B40B71575}"/>
              </a:ext>
            </a:extLst>
          </p:cNvPr>
          <p:cNvSpPr>
            <a:spLocks noGrp="1"/>
          </p:cNvSpPr>
          <p:nvPr>
            <p:ph type="tbl" sz="quarter" idx="27"/>
          </p:nvPr>
        </p:nvSpPr>
        <p:spPr/>
        <p:txBody>
          <a:bodyPr/>
          <a:lstStyle/>
          <a:p>
            <a:r>
              <a:rPr lang="en-GB" dirty="0"/>
              <a:t>Machine learning is a branch of artificial intelligence that focuses on the development of algorithms and models that allow computers to learn and make predictions or decisions without being explicitly programmed.</a:t>
            </a:r>
          </a:p>
          <a:p>
            <a:r>
              <a:rPr lang="en-GB" dirty="0"/>
              <a:t>Machine learning algorithms learn from data by identifying patterns and relationships. They use this knowledge to make predictions or decisions on new, unseen data.</a:t>
            </a:r>
          </a:p>
          <a:p>
            <a:r>
              <a:rPr lang="en-GB" dirty="0"/>
              <a:t>The main types of machine learning are supervised learning, unsupervised learning, and reinforcement learning. Supervised learning uses </a:t>
            </a:r>
            <a:r>
              <a:rPr lang="en-GB" dirty="0" err="1"/>
              <a:t>labeled</a:t>
            </a:r>
            <a:r>
              <a:rPr lang="en-GB" dirty="0"/>
              <a:t> data to train models, unsupervised learning finds patterns in </a:t>
            </a:r>
            <a:r>
              <a:rPr lang="en-GB" dirty="0" err="1"/>
              <a:t>unlabeled</a:t>
            </a:r>
            <a:r>
              <a:rPr lang="en-GB" dirty="0"/>
              <a:t> data, and reinforcement learning learns through trial and error based on rewards or punishments.</a:t>
            </a:r>
          </a:p>
          <a:p>
            <a:r>
              <a:rPr lang="en-GB" dirty="0"/>
              <a:t>Machine learning is used in various domains, including healthcare (diagnosis and treatment prediction), finance (fraud detection), marketing (customer segmentation), and autonomous vehicles (object recognition and decision-making).</a:t>
            </a:r>
            <a:endParaRPr lang="en-US" dirty="0"/>
          </a:p>
        </p:txBody>
      </p:sp>
      <p:sp>
        <p:nvSpPr>
          <p:cNvPr id="4" name="Footer Placeholder 3">
            <a:extLst>
              <a:ext uri="{FF2B5EF4-FFF2-40B4-BE49-F238E27FC236}">
                <a16:creationId xmlns:a16="http://schemas.microsoft.com/office/drawing/2014/main" id="{F2C5C4E0-8BB1-ADFF-2332-B83366A98C77}"/>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D8923F33-29B0-F760-A42A-72CDDB540320}"/>
              </a:ext>
            </a:extLst>
          </p:cNvPr>
          <p:cNvSpPr>
            <a:spLocks noGrp="1"/>
          </p:cNvSpPr>
          <p:nvPr>
            <p:ph type="sldNum" sz="quarter" idx="29"/>
          </p:nvPr>
        </p:nvSpPr>
        <p:spPr/>
        <p:txBody>
          <a:bodyPr/>
          <a:lstStyle/>
          <a:p>
            <a:fld id="{47FEACEE-25B4-4A2D-B147-27296E36371D}" type="slidenum">
              <a:rPr lang="en-US" altLang="zh-CN" smtClean="0"/>
              <a:pPr/>
              <a:t>15</a:t>
            </a:fld>
            <a:endParaRPr lang="en-US" altLang="zh-CN" dirty="0"/>
          </a:p>
        </p:txBody>
      </p:sp>
    </p:spTree>
    <p:extLst>
      <p:ext uri="{BB962C8B-B14F-4D97-AF65-F5344CB8AC3E}">
        <p14:creationId xmlns:p14="http://schemas.microsoft.com/office/powerpoint/2010/main" val="2517203772"/>
      </p:ext>
    </p:extLst>
  </p:cSld>
  <p:clrMapOvr>
    <a:masterClrMapping/>
  </p:clrMapOvr>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presentation light - tm89027928_Win22_jx_v15" id="{E4F720B1-AC3A-441F-B00A-6ECF71D2AB0C}" vid="{71933BEE-9DD7-4D62-B50F-A654080E9C9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511997D-2559-4D54-8469-327570B187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0D8C9A-C895-482B-B501-694996FFDE4D}">
  <ds:schemaRefs>
    <ds:schemaRef ds:uri="http://schemas.microsoft.com/sharepoint/v3/contenttype/forms"/>
  </ds:schemaRefs>
</ds:datastoreItem>
</file>

<file path=customXml/itemProps3.xml><?xml version="1.0" encoding="utf-8"?>
<ds:datastoreItem xmlns:ds="http://schemas.openxmlformats.org/officeDocument/2006/customXml" ds:itemID="{F4AD51DF-C727-4608-B606-5D6C957D4C4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light</Template>
  <TotalTime>0</TotalTime>
  <Words>1075</Words>
  <Application>Microsoft Office PowerPoint</Application>
  <PresentationFormat>Widescreen</PresentationFormat>
  <Paragraphs>147</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等线</vt:lpstr>
      <vt:lpstr>Abadi</vt:lpstr>
      <vt:lpstr>Arial</vt:lpstr>
      <vt:lpstr>Calibri</vt:lpstr>
      <vt:lpstr>Posterama Text Black</vt:lpstr>
      <vt:lpstr>Posterama Text SemiBold</vt:lpstr>
      <vt:lpstr>Times New Roman</vt:lpstr>
      <vt:lpstr>Custom</vt:lpstr>
      <vt:lpstr>Introduction to AI</vt:lpstr>
      <vt:lpstr>Course outlines</vt:lpstr>
      <vt:lpstr>Topics we will cover</vt:lpstr>
      <vt:lpstr>Topics we will cover (cont.)</vt:lpstr>
      <vt:lpstr>Topics we will cover (cont.)</vt:lpstr>
      <vt:lpstr>What is Artificial Intelligence?</vt:lpstr>
      <vt:lpstr>What is Artificial Intelligence?</vt:lpstr>
      <vt:lpstr>What is Artificial Intelligence?</vt:lpstr>
      <vt:lpstr>What is Artificial Intelligence?</vt:lpstr>
      <vt:lpstr>Aims of AI</vt:lpstr>
      <vt:lpstr>Acting humanly: The Turing Test</vt:lpstr>
      <vt:lpstr>Problems we try to solve by AI</vt:lpstr>
      <vt:lpstr>History of AI</vt:lpstr>
      <vt:lpstr>Applications of AI</vt:lpstr>
      <vt:lpstr>Machine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2023-09-14T06:03:51Z</dcterms:created>
  <dcterms:modified xsi:type="dcterms:W3CDTF">2024-05-12T08:10:07Z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