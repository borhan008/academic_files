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0" r:id="rId7"/>
    <p:sldId id="261" r:id="rId8"/>
    <p:sldId id="263" r:id="rId9"/>
    <p:sldId id="264" r:id="rId10"/>
    <p:sldId id="265" r:id="rId11"/>
    <p:sldId id="266" r:id="rId12"/>
    <p:sldId id="267" r:id="rId13"/>
    <p:sldId id="268" r:id="rId14"/>
    <p:sldId id="269" r:id="rId15"/>
    <p:sldId id="270" r:id="rId16"/>
    <p:sldId id="279" r:id="rId17"/>
    <p:sldId id="280" r:id="rId18"/>
    <p:sldId id="281" r:id="rId19"/>
    <p:sldId id="285" r:id="rId20"/>
    <p:sldId id="271" r:id="rId21"/>
    <p:sldId id="287" r:id="rId22"/>
    <p:sldId id="275" r:id="rId23"/>
    <p:sldId id="276" r:id="rId24"/>
    <p:sldId id="277" r:id="rId25"/>
    <p:sldId id="278" r:id="rId26"/>
    <p:sldId id="283" r:id="rId27"/>
    <p:sldId id="286" r:id="rId28"/>
    <p:sldId id="288" r:id="rId29"/>
    <p:sldId id="28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22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741FD-6F55-BAAE-9105-5CE1221E05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2BD5FD1-3D24-23F4-EF28-22A1779E3A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59F920-1E80-4564-74FC-D69C26A97993}"/>
              </a:ext>
            </a:extLst>
          </p:cNvPr>
          <p:cNvSpPr>
            <a:spLocks noGrp="1"/>
          </p:cNvSpPr>
          <p:nvPr>
            <p:ph type="dt" sz="half" idx="10"/>
          </p:nvPr>
        </p:nvSpPr>
        <p:spPr/>
        <p:txBody>
          <a:bodyPr/>
          <a:lstStyle/>
          <a:p>
            <a:fld id="{5EECE08B-2874-41A6-9C74-F75782109AE4}" type="datetimeFigureOut">
              <a:rPr lang="en-US" smtClean="0"/>
              <a:t>10/15/2024</a:t>
            </a:fld>
            <a:endParaRPr lang="en-US"/>
          </a:p>
        </p:txBody>
      </p:sp>
      <p:sp>
        <p:nvSpPr>
          <p:cNvPr id="5" name="Footer Placeholder 4">
            <a:extLst>
              <a:ext uri="{FF2B5EF4-FFF2-40B4-BE49-F238E27FC236}">
                <a16:creationId xmlns:a16="http://schemas.microsoft.com/office/drawing/2014/main" id="{602CBDE3-924D-6048-4E63-A822322389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F6A3A6-9A07-C265-56F8-DF01C010BF97}"/>
              </a:ext>
            </a:extLst>
          </p:cNvPr>
          <p:cNvSpPr>
            <a:spLocks noGrp="1"/>
          </p:cNvSpPr>
          <p:nvPr>
            <p:ph type="sldNum" sz="quarter" idx="12"/>
          </p:nvPr>
        </p:nvSpPr>
        <p:spPr/>
        <p:txBody>
          <a:bodyPr/>
          <a:lstStyle/>
          <a:p>
            <a:fld id="{ABEA3C81-B34B-4ED9-9F2A-A3C4C28B4F09}" type="slidenum">
              <a:rPr lang="en-US" smtClean="0"/>
              <a:t>‹#›</a:t>
            </a:fld>
            <a:endParaRPr lang="en-US"/>
          </a:p>
        </p:txBody>
      </p:sp>
    </p:spTree>
    <p:extLst>
      <p:ext uri="{BB962C8B-B14F-4D97-AF65-F5344CB8AC3E}">
        <p14:creationId xmlns:p14="http://schemas.microsoft.com/office/powerpoint/2010/main" val="2256047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7A83F-3312-1367-7D84-38D6B66458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72556B-C568-F7DD-DAB7-AB239050B3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9A50DE-86CD-ADCC-AD7C-8363B72E2EDD}"/>
              </a:ext>
            </a:extLst>
          </p:cNvPr>
          <p:cNvSpPr>
            <a:spLocks noGrp="1"/>
          </p:cNvSpPr>
          <p:nvPr>
            <p:ph type="dt" sz="half" idx="10"/>
          </p:nvPr>
        </p:nvSpPr>
        <p:spPr/>
        <p:txBody>
          <a:bodyPr/>
          <a:lstStyle/>
          <a:p>
            <a:fld id="{5EECE08B-2874-41A6-9C74-F75782109AE4}" type="datetimeFigureOut">
              <a:rPr lang="en-US" smtClean="0"/>
              <a:t>10/15/2024</a:t>
            </a:fld>
            <a:endParaRPr lang="en-US"/>
          </a:p>
        </p:txBody>
      </p:sp>
      <p:sp>
        <p:nvSpPr>
          <p:cNvPr id="5" name="Footer Placeholder 4">
            <a:extLst>
              <a:ext uri="{FF2B5EF4-FFF2-40B4-BE49-F238E27FC236}">
                <a16:creationId xmlns:a16="http://schemas.microsoft.com/office/drawing/2014/main" id="{2847CF9F-0EA2-0268-E66F-0CA125EE39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A7FED2-4234-779E-1486-17026901C8EA}"/>
              </a:ext>
            </a:extLst>
          </p:cNvPr>
          <p:cNvSpPr>
            <a:spLocks noGrp="1"/>
          </p:cNvSpPr>
          <p:nvPr>
            <p:ph type="sldNum" sz="quarter" idx="12"/>
          </p:nvPr>
        </p:nvSpPr>
        <p:spPr/>
        <p:txBody>
          <a:bodyPr/>
          <a:lstStyle/>
          <a:p>
            <a:fld id="{ABEA3C81-B34B-4ED9-9F2A-A3C4C28B4F09}" type="slidenum">
              <a:rPr lang="en-US" smtClean="0"/>
              <a:t>‹#›</a:t>
            </a:fld>
            <a:endParaRPr lang="en-US"/>
          </a:p>
        </p:txBody>
      </p:sp>
    </p:spTree>
    <p:extLst>
      <p:ext uri="{BB962C8B-B14F-4D97-AF65-F5344CB8AC3E}">
        <p14:creationId xmlns:p14="http://schemas.microsoft.com/office/powerpoint/2010/main" val="2462389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14318-414F-305D-9A45-F57A0AAEF3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A0AD2E-30FE-8DBE-F87B-5E1E41DC53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64F7D-86C6-CCE8-5712-321E873C347E}"/>
              </a:ext>
            </a:extLst>
          </p:cNvPr>
          <p:cNvSpPr>
            <a:spLocks noGrp="1"/>
          </p:cNvSpPr>
          <p:nvPr>
            <p:ph type="dt" sz="half" idx="10"/>
          </p:nvPr>
        </p:nvSpPr>
        <p:spPr/>
        <p:txBody>
          <a:bodyPr/>
          <a:lstStyle/>
          <a:p>
            <a:fld id="{5EECE08B-2874-41A6-9C74-F75782109AE4}" type="datetimeFigureOut">
              <a:rPr lang="en-US" smtClean="0"/>
              <a:t>10/15/2024</a:t>
            </a:fld>
            <a:endParaRPr lang="en-US"/>
          </a:p>
        </p:txBody>
      </p:sp>
      <p:sp>
        <p:nvSpPr>
          <p:cNvPr id="5" name="Footer Placeholder 4">
            <a:extLst>
              <a:ext uri="{FF2B5EF4-FFF2-40B4-BE49-F238E27FC236}">
                <a16:creationId xmlns:a16="http://schemas.microsoft.com/office/drawing/2014/main" id="{E52294AF-CDD1-48AB-FC8C-D7A901794F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B03C4F-3372-E892-2190-F2A417C331F6}"/>
              </a:ext>
            </a:extLst>
          </p:cNvPr>
          <p:cNvSpPr>
            <a:spLocks noGrp="1"/>
          </p:cNvSpPr>
          <p:nvPr>
            <p:ph type="sldNum" sz="quarter" idx="12"/>
          </p:nvPr>
        </p:nvSpPr>
        <p:spPr/>
        <p:txBody>
          <a:bodyPr/>
          <a:lstStyle/>
          <a:p>
            <a:fld id="{ABEA3C81-B34B-4ED9-9F2A-A3C4C28B4F09}" type="slidenum">
              <a:rPr lang="en-US" smtClean="0"/>
              <a:t>‹#›</a:t>
            </a:fld>
            <a:endParaRPr lang="en-US"/>
          </a:p>
        </p:txBody>
      </p:sp>
    </p:spTree>
    <p:extLst>
      <p:ext uri="{BB962C8B-B14F-4D97-AF65-F5344CB8AC3E}">
        <p14:creationId xmlns:p14="http://schemas.microsoft.com/office/powerpoint/2010/main" val="2332674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2A1B6-3CD9-F5C4-66FB-3BA9A80570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B1F030-161F-16B4-B377-62CB9482B1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59C98D-D0B8-E192-0E1E-8EB8D83908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0EAE64-255B-2E6C-5584-8972749F27A5}"/>
              </a:ext>
            </a:extLst>
          </p:cNvPr>
          <p:cNvSpPr>
            <a:spLocks noGrp="1"/>
          </p:cNvSpPr>
          <p:nvPr>
            <p:ph type="dt" sz="half" idx="10"/>
          </p:nvPr>
        </p:nvSpPr>
        <p:spPr/>
        <p:txBody>
          <a:bodyPr/>
          <a:lstStyle/>
          <a:p>
            <a:fld id="{5EECE08B-2874-41A6-9C74-F75782109AE4}" type="datetimeFigureOut">
              <a:rPr lang="en-US" smtClean="0"/>
              <a:t>10/15/2024</a:t>
            </a:fld>
            <a:endParaRPr lang="en-US"/>
          </a:p>
        </p:txBody>
      </p:sp>
      <p:sp>
        <p:nvSpPr>
          <p:cNvPr id="6" name="Footer Placeholder 5">
            <a:extLst>
              <a:ext uri="{FF2B5EF4-FFF2-40B4-BE49-F238E27FC236}">
                <a16:creationId xmlns:a16="http://schemas.microsoft.com/office/drawing/2014/main" id="{7BCDD300-627F-C16C-A34D-6968EDFB1D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D3E88F-C629-CA6E-B899-5E6B7D1A8B69}"/>
              </a:ext>
            </a:extLst>
          </p:cNvPr>
          <p:cNvSpPr>
            <a:spLocks noGrp="1"/>
          </p:cNvSpPr>
          <p:nvPr>
            <p:ph type="sldNum" sz="quarter" idx="12"/>
          </p:nvPr>
        </p:nvSpPr>
        <p:spPr/>
        <p:txBody>
          <a:bodyPr/>
          <a:lstStyle/>
          <a:p>
            <a:fld id="{ABEA3C81-B34B-4ED9-9F2A-A3C4C28B4F09}" type="slidenum">
              <a:rPr lang="en-US" smtClean="0"/>
              <a:t>‹#›</a:t>
            </a:fld>
            <a:endParaRPr lang="en-US"/>
          </a:p>
        </p:txBody>
      </p:sp>
    </p:spTree>
    <p:extLst>
      <p:ext uri="{BB962C8B-B14F-4D97-AF65-F5344CB8AC3E}">
        <p14:creationId xmlns:p14="http://schemas.microsoft.com/office/powerpoint/2010/main" val="502052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F4C94-51BD-BFC3-2AA8-77DD1ED35D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6AD81E-1A00-D105-A9C6-93580B3185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0CF239-A436-5D22-EE79-D6D8AB33AA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85B5D8-096D-3559-3EA1-C36D16AA46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13DBBC-9396-1D9A-C730-A0CC6D10D7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592542-D5B4-2B8A-F540-5CDDECD7386E}"/>
              </a:ext>
            </a:extLst>
          </p:cNvPr>
          <p:cNvSpPr>
            <a:spLocks noGrp="1"/>
          </p:cNvSpPr>
          <p:nvPr>
            <p:ph type="dt" sz="half" idx="10"/>
          </p:nvPr>
        </p:nvSpPr>
        <p:spPr/>
        <p:txBody>
          <a:bodyPr/>
          <a:lstStyle/>
          <a:p>
            <a:fld id="{5EECE08B-2874-41A6-9C74-F75782109AE4}" type="datetimeFigureOut">
              <a:rPr lang="en-US" smtClean="0"/>
              <a:t>10/15/2024</a:t>
            </a:fld>
            <a:endParaRPr lang="en-US"/>
          </a:p>
        </p:txBody>
      </p:sp>
      <p:sp>
        <p:nvSpPr>
          <p:cNvPr id="8" name="Footer Placeholder 7">
            <a:extLst>
              <a:ext uri="{FF2B5EF4-FFF2-40B4-BE49-F238E27FC236}">
                <a16:creationId xmlns:a16="http://schemas.microsoft.com/office/drawing/2014/main" id="{F1DE47A9-C75C-EBF6-B060-CFEE934F51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FC0E17-3BAC-EBAC-73F0-8B7A09D1CC3C}"/>
              </a:ext>
            </a:extLst>
          </p:cNvPr>
          <p:cNvSpPr>
            <a:spLocks noGrp="1"/>
          </p:cNvSpPr>
          <p:nvPr>
            <p:ph type="sldNum" sz="quarter" idx="12"/>
          </p:nvPr>
        </p:nvSpPr>
        <p:spPr/>
        <p:txBody>
          <a:bodyPr/>
          <a:lstStyle/>
          <a:p>
            <a:fld id="{ABEA3C81-B34B-4ED9-9F2A-A3C4C28B4F09}" type="slidenum">
              <a:rPr lang="en-US" smtClean="0"/>
              <a:t>‹#›</a:t>
            </a:fld>
            <a:endParaRPr lang="en-US"/>
          </a:p>
        </p:txBody>
      </p:sp>
    </p:spTree>
    <p:extLst>
      <p:ext uri="{BB962C8B-B14F-4D97-AF65-F5344CB8AC3E}">
        <p14:creationId xmlns:p14="http://schemas.microsoft.com/office/powerpoint/2010/main" val="3748580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923EC-2BB1-B136-1BAA-911E465E40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AEC36C-A5F8-A68A-FF2E-B60DDF36F839}"/>
              </a:ext>
            </a:extLst>
          </p:cNvPr>
          <p:cNvSpPr>
            <a:spLocks noGrp="1"/>
          </p:cNvSpPr>
          <p:nvPr>
            <p:ph type="dt" sz="half" idx="10"/>
          </p:nvPr>
        </p:nvSpPr>
        <p:spPr/>
        <p:txBody>
          <a:bodyPr/>
          <a:lstStyle/>
          <a:p>
            <a:fld id="{5EECE08B-2874-41A6-9C74-F75782109AE4}" type="datetimeFigureOut">
              <a:rPr lang="en-US" smtClean="0"/>
              <a:t>10/15/2024</a:t>
            </a:fld>
            <a:endParaRPr lang="en-US"/>
          </a:p>
        </p:txBody>
      </p:sp>
      <p:sp>
        <p:nvSpPr>
          <p:cNvPr id="4" name="Footer Placeholder 3">
            <a:extLst>
              <a:ext uri="{FF2B5EF4-FFF2-40B4-BE49-F238E27FC236}">
                <a16:creationId xmlns:a16="http://schemas.microsoft.com/office/drawing/2014/main" id="{C1346A9E-E47C-141A-549C-1C1C099309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29019A-82C8-A7E9-332B-4980A4888879}"/>
              </a:ext>
            </a:extLst>
          </p:cNvPr>
          <p:cNvSpPr>
            <a:spLocks noGrp="1"/>
          </p:cNvSpPr>
          <p:nvPr>
            <p:ph type="sldNum" sz="quarter" idx="12"/>
          </p:nvPr>
        </p:nvSpPr>
        <p:spPr/>
        <p:txBody>
          <a:bodyPr/>
          <a:lstStyle/>
          <a:p>
            <a:fld id="{ABEA3C81-B34B-4ED9-9F2A-A3C4C28B4F09}" type="slidenum">
              <a:rPr lang="en-US" smtClean="0"/>
              <a:t>‹#›</a:t>
            </a:fld>
            <a:endParaRPr lang="en-US"/>
          </a:p>
        </p:txBody>
      </p:sp>
    </p:spTree>
    <p:extLst>
      <p:ext uri="{BB962C8B-B14F-4D97-AF65-F5344CB8AC3E}">
        <p14:creationId xmlns:p14="http://schemas.microsoft.com/office/powerpoint/2010/main" val="4105472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F74A1A-6830-E338-D3CD-44CC4AB40177}"/>
              </a:ext>
            </a:extLst>
          </p:cNvPr>
          <p:cNvSpPr>
            <a:spLocks noGrp="1"/>
          </p:cNvSpPr>
          <p:nvPr>
            <p:ph type="dt" sz="half" idx="10"/>
          </p:nvPr>
        </p:nvSpPr>
        <p:spPr/>
        <p:txBody>
          <a:bodyPr/>
          <a:lstStyle/>
          <a:p>
            <a:fld id="{5EECE08B-2874-41A6-9C74-F75782109AE4}" type="datetimeFigureOut">
              <a:rPr lang="en-US" smtClean="0"/>
              <a:t>10/15/2024</a:t>
            </a:fld>
            <a:endParaRPr lang="en-US"/>
          </a:p>
        </p:txBody>
      </p:sp>
      <p:sp>
        <p:nvSpPr>
          <p:cNvPr id="3" name="Footer Placeholder 2">
            <a:extLst>
              <a:ext uri="{FF2B5EF4-FFF2-40B4-BE49-F238E27FC236}">
                <a16:creationId xmlns:a16="http://schemas.microsoft.com/office/drawing/2014/main" id="{07E4F2E1-9894-BDA8-64CA-E179718D5C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05ED11-B79E-6239-9BF0-79DF61A35181}"/>
              </a:ext>
            </a:extLst>
          </p:cNvPr>
          <p:cNvSpPr>
            <a:spLocks noGrp="1"/>
          </p:cNvSpPr>
          <p:nvPr>
            <p:ph type="sldNum" sz="quarter" idx="12"/>
          </p:nvPr>
        </p:nvSpPr>
        <p:spPr/>
        <p:txBody>
          <a:bodyPr/>
          <a:lstStyle/>
          <a:p>
            <a:fld id="{ABEA3C81-B34B-4ED9-9F2A-A3C4C28B4F09}" type="slidenum">
              <a:rPr lang="en-US" smtClean="0"/>
              <a:t>‹#›</a:t>
            </a:fld>
            <a:endParaRPr lang="en-US"/>
          </a:p>
        </p:txBody>
      </p:sp>
    </p:spTree>
    <p:extLst>
      <p:ext uri="{BB962C8B-B14F-4D97-AF65-F5344CB8AC3E}">
        <p14:creationId xmlns:p14="http://schemas.microsoft.com/office/powerpoint/2010/main" val="3192913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EE54-5715-7ED9-6DFB-1C89DFED35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F44FEE-C2CB-8DCD-BCFF-AE1A9761BA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6E2A5F-76A7-8AC4-9FAE-2DC94ECD67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53DAEA-CA7B-B2BF-4F10-5DBC356A32F6}"/>
              </a:ext>
            </a:extLst>
          </p:cNvPr>
          <p:cNvSpPr>
            <a:spLocks noGrp="1"/>
          </p:cNvSpPr>
          <p:nvPr>
            <p:ph type="dt" sz="half" idx="10"/>
          </p:nvPr>
        </p:nvSpPr>
        <p:spPr/>
        <p:txBody>
          <a:bodyPr/>
          <a:lstStyle/>
          <a:p>
            <a:fld id="{5EECE08B-2874-41A6-9C74-F75782109AE4}" type="datetimeFigureOut">
              <a:rPr lang="en-US" smtClean="0"/>
              <a:t>10/15/2024</a:t>
            </a:fld>
            <a:endParaRPr lang="en-US"/>
          </a:p>
        </p:txBody>
      </p:sp>
      <p:sp>
        <p:nvSpPr>
          <p:cNvPr id="6" name="Footer Placeholder 5">
            <a:extLst>
              <a:ext uri="{FF2B5EF4-FFF2-40B4-BE49-F238E27FC236}">
                <a16:creationId xmlns:a16="http://schemas.microsoft.com/office/drawing/2014/main" id="{D5926AF2-EAED-FE96-80C8-D77949B064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7757B9-3BE8-FD5B-A343-8F0F7550DAD7}"/>
              </a:ext>
            </a:extLst>
          </p:cNvPr>
          <p:cNvSpPr>
            <a:spLocks noGrp="1"/>
          </p:cNvSpPr>
          <p:nvPr>
            <p:ph type="sldNum" sz="quarter" idx="12"/>
          </p:nvPr>
        </p:nvSpPr>
        <p:spPr/>
        <p:txBody>
          <a:bodyPr/>
          <a:lstStyle/>
          <a:p>
            <a:fld id="{ABEA3C81-B34B-4ED9-9F2A-A3C4C28B4F09}" type="slidenum">
              <a:rPr lang="en-US" smtClean="0"/>
              <a:t>‹#›</a:t>
            </a:fld>
            <a:endParaRPr lang="en-US"/>
          </a:p>
        </p:txBody>
      </p:sp>
    </p:spTree>
    <p:extLst>
      <p:ext uri="{BB962C8B-B14F-4D97-AF65-F5344CB8AC3E}">
        <p14:creationId xmlns:p14="http://schemas.microsoft.com/office/powerpoint/2010/main" val="238659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9B9FD-C983-5128-EDEE-2076CB5D88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5311A2-76FF-A080-52E8-2806F343ED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53DC7F-3A66-A5B0-11AC-7DCE6E54FA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B71D25-2DC9-9A36-4929-C777873084FA}"/>
              </a:ext>
            </a:extLst>
          </p:cNvPr>
          <p:cNvSpPr>
            <a:spLocks noGrp="1"/>
          </p:cNvSpPr>
          <p:nvPr>
            <p:ph type="dt" sz="half" idx="10"/>
          </p:nvPr>
        </p:nvSpPr>
        <p:spPr/>
        <p:txBody>
          <a:bodyPr/>
          <a:lstStyle/>
          <a:p>
            <a:fld id="{5EECE08B-2874-41A6-9C74-F75782109AE4}" type="datetimeFigureOut">
              <a:rPr lang="en-US" smtClean="0"/>
              <a:t>10/15/2024</a:t>
            </a:fld>
            <a:endParaRPr lang="en-US"/>
          </a:p>
        </p:txBody>
      </p:sp>
      <p:sp>
        <p:nvSpPr>
          <p:cNvPr id="6" name="Footer Placeholder 5">
            <a:extLst>
              <a:ext uri="{FF2B5EF4-FFF2-40B4-BE49-F238E27FC236}">
                <a16:creationId xmlns:a16="http://schemas.microsoft.com/office/drawing/2014/main" id="{9D08BF8D-6C10-2FD6-0C33-4EBFD8F2CB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C4D7A6-D797-5D30-BD3A-5039DDA58D9E}"/>
              </a:ext>
            </a:extLst>
          </p:cNvPr>
          <p:cNvSpPr>
            <a:spLocks noGrp="1"/>
          </p:cNvSpPr>
          <p:nvPr>
            <p:ph type="sldNum" sz="quarter" idx="12"/>
          </p:nvPr>
        </p:nvSpPr>
        <p:spPr/>
        <p:txBody>
          <a:bodyPr/>
          <a:lstStyle/>
          <a:p>
            <a:fld id="{ABEA3C81-B34B-4ED9-9F2A-A3C4C28B4F09}" type="slidenum">
              <a:rPr lang="en-US" smtClean="0"/>
              <a:t>‹#›</a:t>
            </a:fld>
            <a:endParaRPr lang="en-US"/>
          </a:p>
        </p:txBody>
      </p:sp>
    </p:spTree>
    <p:extLst>
      <p:ext uri="{BB962C8B-B14F-4D97-AF65-F5344CB8AC3E}">
        <p14:creationId xmlns:p14="http://schemas.microsoft.com/office/powerpoint/2010/main" val="2745599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20504-B6DE-A5DE-D7B7-8B4BE5638F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360D5C-CC5B-8D77-4DE2-146BF5A400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6EDD7F-7E34-323C-D846-37FDD91448EB}"/>
              </a:ext>
            </a:extLst>
          </p:cNvPr>
          <p:cNvSpPr>
            <a:spLocks noGrp="1"/>
          </p:cNvSpPr>
          <p:nvPr>
            <p:ph type="dt" sz="half" idx="10"/>
          </p:nvPr>
        </p:nvSpPr>
        <p:spPr/>
        <p:txBody>
          <a:bodyPr/>
          <a:lstStyle/>
          <a:p>
            <a:fld id="{5EECE08B-2874-41A6-9C74-F75782109AE4}" type="datetimeFigureOut">
              <a:rPr lang="en-US" smtClean="0"/>
              <a:t>10/15/2024</a:t>
            </a:fld>
            <a:endParaRPr lang="en-US"/>
          </a:p>
        </p:txBody>
      </p:sp>
      <p:sp>
        <p:nvSpPr>
          <p:cNvPr id="5" name="Footer Placeholder 4">
            <a:extLst>
              <a:ext uri="{FF2B5EF4-FFF2-40B4-BE49-F238E27FC236}">
                <a16:creationId xmlns:a16="http://schemas.microsoft.com/office/drawing/2014/main" id="{6CE94785-776D-6A3F-470B-09371E5028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F14120-9F82-57E5-DC8C-9C2118ABB1D8}"/>
              </a:ext>
            </a:extLst>
          </p:cNvPr>
          <p:cNvSpPr>
            <a:spLocks noGrp="1"/>
          </p:cNvSpPr>
          <p:nvPr>
            <p:ph type="sldNum" sz="quarter" idx="12"/>
          </p:nvPr>
        </p:nvSpPr>
        <p:spPr/>
        <p:txBody>
          <a:bodyPr/>
          <a:lstStyle/>
          <a:p>
            <a:fld id="{ABEA3C81-B34B-4ED9-9F2A-A3C4C28B4F09}" type="slidenum">
              <a:rPr lang="en-US" smtClean="0"/>
              <a:t>‹#›</a:t>
            </a:fld>
            <a:endParaRPr lang="en-US"/>
          </a:p>
        </p:txBody>
      </p:sp>
    </p:spTree>
    <p:extLst>
      <p:ext uri="{BB962C8B-B14F-4D97-AF65-F5344CB8AC3E}">
        <p14:creationId xmlns:p14="http://schemas.microsoft.com/office/powerpoint/2010/main" val="1693456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9D963C-E99F-4185-2DE0-E3BA6A90C7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B25381-8D3F-46B5-1646-CD7C3A9B4A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3A560A-EE75-240E-406E-3BEBF82D728D}"/>
              </a:ext>
            </a:extLst>
          </p:cNvPr>
          <p:cNvSpPr>
            <a:spLocks noGrp="1"/>
          </p:cNvSpPr>
          <p:nvPr>
            <p:ph type="dt" sz="half" idx="10"/>
          </p:nvPr>
        </p:nvSpPr>
        <p:spPr/>
        <p:txBody>
          <a:bodyPr/>
          <a:lstStyle/>
          <a:p>
            <a:fld id="{5EECE08B-2874-41A6-9C74-F75782109AE4}" type="datetimeFigureOut">
              <a:rPr lang="en-US" smtClean="0"/>
              <a:t>10/15/2024</a:t>
            </a:fld>
            <a:endParaRPr lang="en-US"/>
          </a:p>
        </p:txBody>
      </p:sp>
      <p:sp>
        <p:nvSpPr>
          <p:cNvPr id="5" name="Footer Placeholder 4">
            <a:extLst>
              <a:ext uri="{FF2B5EF4-FFF2-40B4-BE49-F238E27FC236}">
                <a16:creationId xmlns:a16="http://schemas.microsoft.com/office/drawing/2014/main" id="{402183FD-D118-7DA3-750B-D1A87AFCA4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6C66DE-5F00-C7B9-58C4-80F02002C44F}"/>
              </a:ext>
            </a:extLst>
          </p:cNvPr>
          <p:cNvSpPr>
            <a:spLocks noGrp="1"/>
          </p:cNvSpPr>
          <p:nvPr>
            <p:ph type="sldNum" sz="quarter" idx="12"/>
          </p:nvPr>
        </p:nvSpPr>
        <p:spPr/>
        <p:txBody>
          <a:bodyPr/>
          <a:lstStyle/>
          <a:p>
            <a:fld id="{ABEA3C81-B34B-4ED9-9F2A-A3C4C28B4F09}" type="slidenum">
              <a:rPr lang="en-US" smtClean="0"/>
              <a:t>‹#›</a:t>
            </a:fld>
            <a:endParaRPr lang="en-US"/>
          </a:p>
        </p:txBody>
      </p:sp>
    </p:spTree>
    <p:extLst>
      <p:ext uri="{BB962C8B-B14F-4D97-AF65-F5344CB8AC3E}">
        <p14:creationId xmlns:p14="http://schemas.microsoft.com/office/powerpoint/2010/main" val="2581893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4E6FFE-9591-1219-0184-F391903B22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D86343-E804-1705-E121-FE094975A4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F84139-B09A-33F4-68CC-1ED898FCAF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ECE08B-2874-41A6-9C74-F75782109AE4}" type="datetimeFigureOut">
              <a:rPr lang="en-US" smtClean="0"/>
              <a:t>10/15/2024</a:t>
            </a:fld>
            <a:endParaRPr lang="en-US"/>
          </a:p>
        </p:txBody>
      </p:sp>
      <p:sp>
        <p:nvSpPr>
          <p:cNvPr id="5" name="Footer Placeholder 4">
            <a:extLst>
              <a:ext uri="{FF2B5EF4-FFF2-40B4-BE49-F238E27FC236}">
                <a16:creationId xmlns:a16="http://schemas.microsoft.com/office/drawing/2014/main" id="{C16FD140-28A6-60A1-1252-244092E24F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2C6483-2DB4-3C9D-B4D4-7F625289B8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EA3C81-B34B-4ED9-9F2A-A3C4C28B4F09}" type="slidenum">
              <a:rPr lang="en-US" smtClean="0"/>
              <a:t>‹#›</a:t>
            </a:fld>
            <a:endParaRPr lang="en-US"/>
          </a:p>
        </p:txBody>
      </p:sp>
    </p:spTree>
    <p:extLst>
      <p:ext uri="{BB962C8B-B14F-4D97-AF65-F5344CB8AC3E}">
        <p14:creationId xmlns:p14="http://schemas.microsoft.com/office/powerpoint/2010/main" val="175399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dictionary.com/browse/datum"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kaggle.com/code/patrickparsa/boston-housing-linear-regression"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en.wikipedia.org/wiki/Type_I_and_type_II_error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D0685-0998-917D-CFA3-886027861F72}"/>
              </a:ext>
            </a:extLst>
          </p:cNvPr>
          <p:cNvSpPr>
            <a:spLocks noGrp="1"/>
          </p:cNvSpPr>
          <p:nvPr>
            <p:ph type="ctrTitle"/>
          </p:nvPr>
        </p:nvSpPr>
        <p:spPr/>
        <p:txBody>
          <a:bodyPr/>
          <a:lstStyle/>
          <a:p>
            <a:r>
              <a:rPr lang="en-GB" dirty="0"/>
              <a:t>Performance Metrics in Machine Learning</a:t>
            </a:r>
            <a:endParaRPr lang="en-US" dirty="0"/>
          </a:p>
        </p:txBody>
      </p:sp>
      <p:sp>
        <p:nvSpPr>
          <p:cNvPr id="3" name="Subtitle 2">
            <a:extLst>
              <a:ext uri="{FF2B5EF4-FFF2-40B4-BE49-F238E27FC236}">
                <a16:creationId xmlns:a16="http://schemas.microsoft.com/office/drawing/2014/main" id="{BB806456-1E7B-1BB1-4A0C-9A7E08AE06DD}"/>
              </a:ext>
            </a:extLst>
          </p:cNvPr>
          <p:cNvSpPr>
            <a:spLocks noGrp="1"/>
          </p:cNvSpPr>
          <p:nvPr>
            <p:ph type="subTitle" idx="1"/>
          </p:nvPr>
        </p:nvSpPr>
        <p:spPr/>
        <p:txBody>
          <a:bodyPr/>
          <a:lstStyle/>
          <a:p>
            <a:r>
              <a:rPr lang="en-US" dirty="0"/>
              <a:t>Iftekhar Mahmud Towhid</a:t>
            </a:r>
          </a:p>
        </p:txBody>
      </p:sp>
    </p:spTree>
    <p:extLst>
      <p:ext uri="{BB962C8B-B14F-4D97-AF65-F5344CB8AC3E}">
        <p14:creationId xmlns:p14="http://schemas.microsoft.com/office/powerpoint/2010/main" val="3441213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5AC11-3A65-30B5-6E5D-06F6A189C1CE}"/>
              </a:ext>
            </a:extLst>
          </p:cNvPr>
          <p:cNvSpPr>
            <a:spLocks noGrp="1"/>
          </p:cNvSpPr>
          <p:nvPr>
            <p:ph type="title"/>
          </p:nvPr>
        </p:nvSpPr>
        <p:spPr/>
        <p:txBody>
          <a:bodyPr/>
          <a:lstStyle/>
          <a:p>
            <a:r>
              <a:rPr lang="en-GB" dirty="0"/>
              <a:t>Performance metrics</a:t>
            </a:r>
            <a:endParaRPr lang="en-US" dirty="0"/>
          </a:p>
        </p:txBody>
      </p:sp>
      <p:sp>
        <p:nvSpPr>
          <p:cNvPr id="3" name="Content Placeholder 2">
            <a:extLst>
              <a:ext uri="{FF2B5EF4-FFF2-40B4-BE49-F238E27FC236}">
                <a16:creationId xmlns:a16="http://schemas.microsoft.com/office/drawing/2014/main" id="{E8FB3B75-2391-A783-F83D-56FAC2E647AA}"/>
              </a:ext>
            </a:extLst>
          </p:cNvPr>
          <p:cNvSpPr>
            <a:spLocks noGrp="1"/>
          </p:cNvSpPr>
          <p:nvPr>
            <p:ph idx="1"/>
          </p:nvPr>
        </p:nvSpPr>
        <p:spPr/>
        <p:txBody>
          <a:bodyPr>
            <a:normAutofit fontScale="92500" lnSpcReduction="20000"/>
          </a:bodyPr>
          <a:lstStyle/>
          <a:p>
            <a:r>
              <a:rPr lang="en-GB" dirty="0"/>
              <a:t>Performance metrics are a part of every machine learning pipeline. They tell you if you’re making progress, and put a number on it. All machine learning models, whether it’s linear regression, or a SOTA (State Of The Art) technique like BERT, need a metric to judge performance.</a:t>
            </a:r>
          </a:p>
          <a:p>
            <a:r>
              <a:rPr lang="en-GB" dirty="0"/>
              <a:t>Every machine learning task can be broken down to either Regression or Classification, just like the performance metrics. There are dozens of metrics for both problems, but we’re gonna discuss popular ones along with what information they provide about model performance. </a:t>
            </a:r>
          </a:p>
          <a:p>
            <a:r>
              <a:rPr lang="en-GB" dirty="0"/>
              <a:t>If you ever participated in a Kaggle competition, you probably noticed the evaluation section. More often than not, there’s a metric on which they judge your performance.</a:t>
            </a:r>
            <a:endParaRPr lang="en-US" dirty="0"/>
          </a:p>
        </p:txBody>
      </p:sp>
    </p:spTree>
    <p:extLst>
      <p:ext uri="{BB962C8B-B14F-4D97-AF65-F5344CB8AC3E}">
        <p14:creationId xmlns:p14="http://schemas.microsoft.com/office/powerpoint/2010/main" val="2698533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57-FA49-24F1-CEDC-00E22AAE730F}"/>
              </a:ext>
            </a:extLst>
          </p:cNvPr>
          <p:cNvSpPr>
            <a:spLocks noGrp="1"/>
          </p:cNvSpPr>
          <p:nvPr>
            <p:ph type="title"/>
          </p:nvPr>
        </p:nvSpPr>
        <p:spPr/>
        <p:txBody>
          <a:bodyPr/>
          <a:lstStyle/>
          <a:p>
            <a:r>
              <a:rPr lang="en-US" dirty="0"/>
              <a:t>Performance metrics vs. Loss functions</a:t>
            </a:r>
          </a:p>
        </p:txBody>
      </p:sp>
      <p:sp>
        <p:nvSpPr>
          <p:cNvPr id="3" name="Content Placeholder 2">
            <a:extLst>
              <a:ext uri="{FF2B5EF4-FFF2-40B4-BE49-F238E27FC236}">
                <a16:creationId xmlns:a16="http://schemas.microsoft.com/office/drawing/2014/main" id="{021E39A7-6B11-C320-6794-7F89A46DFB86}"/>
              </a:ext>
            </a:extLst>
          </p:cNvPr>
          <p:cNvSpPr>
            <a:spLocks noGrp="1"/>
          </p:cNvSpPr>
          <p:nvPr>
            <p:ph idx="1"/>
          </p:nvPr>
        </p:nvSpPr>
        <p:spPr/>
        <p:txBody>
          <a:bodyPr>
            <a:normAutofit fontScale="92500" lnSpcReduction="10000"/>
          </a:bodyPr>
          <a:lstStyle/>
          <a:p>
            <a:r>
              <a:rPr lang="en-GB" dirty="0"/>
              <a:t>Metrics are different from loss functions. Loss functions show a measure of model performance. They’re used to train a machine learning model (using some kind of optimization like Gradient Descent), and they’re usually differentiable in the model’s parameters. </a:t>
            </a:r>
          </a:p>
          <a:p>
            <a:pPr marL="0" indent="0">
              <a:buNone/>
            </a:pPr>
            <a:r>
              <a:rPr lang="en-GB" i="1" dirty="0">
                <a:solidFill>
                  <a:schemeClr val="accent2"/>
                </a:solidFill>
              </a:rPr>
              <a:t>[We will learn more about loss functions and differentiability later]</a:t>
            </a:r>
          </a:p>
          <a:p>
            <a:r>
              <a:rPr lang="en-GB" dirty="0"/>
              <a:t>Metrics are used to monitor and measure the performance of a model (during training and testing), and don’t need to be differentiable. </a:t>
            </a:r>
          </a:p>
          <a:p>
            <a:r>
              <a:rPr lang="en-GB" dirty="0"/>
              <a:t>However, if, for some tasks, the performance metric is differentiable, it can also be used as a loss function (perhaps with some regularizations added to it), such as MSE.</a:t>
            </a:r>
            <a:endParaRPr lang="en-US" dirty="0"/>
          </a:p>
        </p:txBody>
      </p:sp>
    </p:spTree>
    <p:extLst>
      <p:ext uri="{BB962C8B-B14F-4D97-AF65-F5344CB8AC3E}">
        <p14:creationId xmlns:p14="http://schemas.microsoft.com/office/powerpoint/2010/main" val="1100112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C25D7-62B0-0448-532D-47A769642D0E}"/>
              </a:ext>
            </a:extLst>
          </p:cNvPr>
          <p:cNvSpPr>
            <a:spLocks noGrp="1"/>
          </p:cNvSpPr>
          <p:nvPr>
            <p:ph type="title"/>
          </p:nvPr>
        </p:nvSpPr>
        <p:spPr/>
        <p:txBody>
          <a:bodyPr/>
          <a:lstStyle/>
          <a:p>
            <a:r>
              <a:rPr lang="en-US" dirty="0"/>
              <a:t>Regression metrics</a:t>
            </a:r>
          </a:p>
        </p:txBody>
      </p:sp>
      <p:sp>
        <p:nvSpPr>
          <p:cNvPr id="3" name="Content Placeholder 2">
            <a:extLst>
              <a:ext uri="{FF2B5EF4-FFF2-40B4-BE49-F238E27FC236}">
                <a16:creationId xmlns:a16="http://schemas.microsoft.com/office/drawing/2014/main" id="{69EA2EEE-BD38-E186-DB86-F54A4D9202E7}"/>
              </a:ext>
            </a:extLst>
          </p:cNvPr>
          <p:cNvSpPr>
            <a:spLocks noGrp="1"/>
          </p:cNvSpPr>
          <p:nvPr>
            <p:ph idx="1"/>
          </p:nvPr>
        </p:nvSpPr>
        <p:spPr/>
        <p:txBody>
          <a:bodyPr>
            <a:normAutofit/>
          </a:bodyPr>
          <a:lstStyle/>
          <a:p>
            <a:r>
              <a:rPr lang="en-GB" dirty="0"/>
              <a:t>Regression models have continuous output. So, we need a metric based on calculating some sort of distance between predicted and ground truth.</a:t>
            </a:r>
          </a:p>
          <a:p>
            <a:r>
              <a:rPr lang="en-GB" dirty="0"/>
              <a:t>In order to evaluate Regression models, we’ll discuss these metrics in detail:</a:t>
            </a:r>
          </a:p>
          <a:p>
            <a:pPr lvl="1"/>
            <a:r>
              <a:rPr lang="en-GB" dirty="0"/>
              <a:t>Mean Absolute Error (MAE),</a:t>
            </a:r>
          </a:p>
          <a:p>
            <a:pPr lvl="1"/>
            <a:r>
              <a:rPr lang="en-GB" dirty="0"/>
              <a:t>Mean Squared Error (MSE),</a:t>
            </a:r>
          </a:p>
          <a:p>
            <a:pPr lvl="1"/>
            <a:r>
              <a:rPr lang="en-GB" dirty="0"/>
              <a:t>Root Mean Squared Error (RMSE),</a:t>
            </a:r>
          </a:p>
          <a:p>
            <a:pPr lvl="1"/>
            <a:r>
              <a:rPr lang="en-GB" dirty="0"/>
              <a:t>R² (R-Squared).</a:t>
            </a:r>
            <a:endParaRPr lang="en-US" dirty="0"/>
          </a:p>
        </p:txBody>
      </p:sp>
    </p:spTree>
    <p:extLst>
      <p:ext uri="{BB962C8B-B14F-4D97-AF65-F5344CB8AC3E}">
        <p14:creationId xmlns:p14="http://schemas.microsoft.com/office/powerpoint/2010/main" val="102677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B9E06-F7F9-020B-5565-8E191A09EFD0}"/>
              </a:ext>
            </a:extLst>
          </p:cNvPr>
          <p:cNvSpPr>
            <a:spLocks noGrp="1"/>
          </p:cNvSpPr>
          <p:nvPr>
            <p:ph type="title"/>
          </p:nvPr>
        </p:nvSpPr>
        <p:spPr/>
        <p:txBody>
          <a:bodyPr/>
          <a:lstStyle/>
          <a:p>
            <a:r>
              <a:rPr lang="en-US" dirty="0"/>
              <a:t>Regression error</a:t>
            </a:r>
          </a:p>
        </p:txBody>
      </p:sp>
      <p:pic>
        <p:nvPicPr>
          <p:cNvPr id="5" name="Content Placeholder 4">
            <a:extLst>
              <a:ext uri="{FF2B5EF4-FFF2-40B4-BE49-F238E27FC236}">
                <a16:creationId xmlns:a16="http://schemas.microsoft.com/office/drawing/2014/main" id="{DEB56258-E2A7-86E7-6A16-6E0F8F900842}"/>
              </a:ext>
            </a:extLst>
          </p:cNvPr>
          <p:cNvPicPr>
            <a:picLocks noGrp="1" noChangeAspect="1"/>
          </p:cNvPicPr>
          <p:nvPr>
            <p:ph idx="1"/>
          </p:nvPr>
        </p:nvPicPr>
        <p:blipFill>
          <a:blip r:embed="rId2"/>
          <a:stretch>
            <a:fillRect/>
          </a:stretch>
        </p:blipFill>
        <p:spPr>
          <a:xfrm>
            <a:off x="3025165" y="1690688"/>
            <a:ext cx="6141670" cy="4927759"/>
          </a:xfrm>
          <a:prstGeom prst="rect">
            <a:avLst/>
          </a:prstGeom>
        </p:spPr>
      </p:pic>
    </p:spTree>
    <p:extLst>
      <p:ext uri="{BB962C8B-B14F-4D97-AF65-F5344CB8AC3E}">
        <p14:creationId xmlns:p14="http://schemas.microsoft.com/office/powerpoint/2010/main" val="4124609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2F182-2226-21A1-054B-9327666FF8F2}"/>
              </a:ext>
            </a:extLst>
          </p:cNvPr>
          <p:cNvSpPr>
            <a:spLocks noGrp="1"/>
          </p:cNvSpPr>
          <p:nvPr>
            <p:ph type="title"/>
          </p:nvPr>
        </p:nvSpPr>
        <p:spPr/>
        <p:txBody>
          <a:bodyPr/>
          <a:lstStyle/>
          <a:p>
            <a:r>
              <a:rPr lang="en-US" dirty="0"/>
              <a:t>Mean Squared Error (MSE)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301250-298D-3782-A385-461933B5EB5F}"/>
                  </a:ext>
                </a:extLst>
              </p:cNvPr>
              <p:cNvSpPr>
                <a:spLocks noGrp="1"/>
              </p:cNvSpPr>
              <p:nvPr>
                <p:ph idx="1"/>
              </p:nvPr>
            </p:nvSpPr>
            <p:spPr/>
            <p:txBody>
              <a:bodyPr>
                <a:normAutofit fontScale="92500" lnSpcReduction="10000"/>
              </a:bodyPr>
              <a:lstStyle/>
              <a:p>
                <a:r>
                  <a:rPr lang="en-GB" dirty="0"/>
                  <a:t>Mean squared error is perhaps the most popular metric used for regression problems. It essentially finds the average of the squared difference between the target value and the value predicted by the regression model.</a:t>
                </a:r>
              </a:p>
              <a:p>
                <a:endParaRPr lang="en-GB" dirty="0"/>
              </a:p>
              <a:p>
                <a:endParaRPr lang="en-GB" dirty="0"/>
              </a:p>
              <a:p>
                <a:endParaRPr lang="en-GB" dirty="0"/>
              </a:p>
              <a:p>
                <a:pPr marL="0" indent="0">
                  <a:buNone/>
                </a:pPr>
                <a:r>
                  <a:rPr lang="en-GB" dirty="0"/>
                  <a:t>	Where:</a:t>
                </a:r>
              </a:p>
              <a:p>
                <a:pPr lvl="2"/>
                <a14:m>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oMath>
                </a14:m>
                <a:r>
                  <a:rPr lang="en-GB" dirty="0"/>
                  <a:t>: ground-truth value</a:t>
                </a:r>
              </a:p>
              <a:p>
                <a:pPr lvl="2"/>
                <a14:m>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𝑦</m:t>
                        </m:r>
                      </m:e>
                    </m:acc>
                  </m:oMath>
                </a14:m>
                <a:r>
                  <a:rPr lang="en-GB" dirty="0"/>
                  <a:t>: predicted value from the regression model</a:t>
                </a:r>
              </a:p>
              <a:p>
                <a:pPr lvl="2"/>
                <a:r>
                  <a:rPr lang="en-GB" i="1" dirty="0"/>
                  <a:t>N</a:t>
                </a:r>
                <a:r>
                  <a:rPr lang="en-GB" dirty="0"/>
                  <a:t>: number of </a:t>
                </a:r>
                <a:r>
                  <a:rPr lang="en-GB" dirty="0">
                    <a:hlinkClick r:id="rId2"/>
                  </a:rPr>
                  <a:t>datums</a:t>
                </a:r>
                <a:endParaRPr lang="en-US" dirty="0"/>
              </a:p>
            </p:txBody>
          </p:sp>
        </mc:Choice>
        <mc:Fallback xmlns="">
          <p:sp>
            <p:nvSpPr>
              <p:cNvPr id="3" name="Content Placeholder 2">
                <a:extLst>
                  <a:ext uri="{FF2B5EF4-FFF2-40B4-BE49-F238E27FC236}">
                    <a16:creationId xmlns:a16="http://schemas.microsoft.com/office/drawing/2014/main" id="{48301250-298D-3782-A385-461933B5EB5F}"/>
                  </a:ext>
                </a:extLst>
              </p:cNvPr>
              <p:cNvSpPr>
                <a:spLocks noGrp="1" noRot="1" noChangeAspect="1" noMove="1" noResize="1" noEditPoints="1" noAdjustHandles="1" noChangeArrowheads="1" noChangeShapeType="1" noTextEdit="1"/>
              </p:cNvSpPr>
              <p:nvPr>
                <p:ph idx="1"/>
              </p:nvPr>
            </p:nvSpPr>
            <p:spPr>
              <a:blipFill>
                <a:blip r:embed="rId3"/>
                <a:stretch>
                  <a:fillRect l="-928" t="-308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31C4041-A683-3F16-ED75-1FA1EE487B38}"/>
              </a:ext>
            </a:extLst>
          </p:cNvPr>
          <p:cNvPicPr>
            <a:picLocks noChangeAspect="1"/>
          </p:cNvPicPr>
          <p:nvPr/>
        </p:nvPicPr>
        <p:blipFill>
          <a:blip r:embed="rId4"/>
          <a:stretch>
            <a:fillRect/>
          </a:stretch>
        </p:blipFill>
        <p:spPr>
          <a:xfrm>
            <a:off x="4222432" y="3429000"/>
            <a:ext cx="3076575" cy="923925"/>
          </a:xfrm>
          <a:prstGeom prst="rect">
            <a:avLst/>
          </a:prstGeom>
        </p:spPr>
      </p:pic>
    </p:spTree>
    <p:extLst>
      <p:ext uri="{BB962C8B-B14F-4D97-AF65-F5344CB8AC3E}">
        <p14:creationId xmlns:p14="http://schemas.microsoft.com/office/powerpoint/2010/main" val="2055365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45F32-7AFE-96A6-F83E-272EDBD0C613}"/>
              </a:ext>
            </a:extLst>
          </p:cNvPr>
          <p:cNvSpPr>
            <a:spLocks noGrp="1"/>
          </p:cNvSpPr>
          <p:nvPr>
            <p:ph type="title"/>
          </p:nvPr>
        </p:nvSpPr>
        <p:spPr/>
        <p:txBody>
          <a:bodyPr/>
          <a:lstStyle/>
          <a:p>
            <a:r>
              <a:rPr lang="en-US" dirty="0"/>
              <a:t>Mean Squared Error (MSE)</a:t>
            </a:r>
          </a:p>
        </p:txBody>
      </p:sp>
      <p:sp>
        <p:nvSpPr>
          <p:cNvPr id="3" name="Content Placeholder 2">
            <a:extLst>
              <a:ext uri="{FF2B5EF4-FFF2-40B4-BE49-F238E27FC236}">
                <a16:creationId xmlns:a16="http://schemas.microsoft.com/office/drawing/2014/main" id="{F933DDAD-9A66-8BA7-A321-F41CDC0F5220}"/>
              </a:ext>
            </a:extLst>
          </p:cNvPr>
          <p:cNvSpPr>
            <a:spLocks noGrp="1"/>
          </p:cNvSpPr>
          <p:nvPr>
            <p:ph idx="1"/>
          </p:nvPr>
        </p:nvSpPr>
        <p:spPr>
          <a:xfrm>
            <a:off x="838200" y="1825625"/>
            <a:ext cx="4871720" cy="4351338"/>
          </a:xfrm>
        </p:spPr>
        <p:txBody>
          <a:bodyPr>
            <a:normAutofit fontScale="85000" lnSpcReduction="20000"/>
          </a:bodyPr>
          <a:lstStyle/>
          <a:p>
            <a:r>
              <a:rPr lang="en-GB" dirty="0"/>
              <a:t>Few key points related to MSE:</a:t>
            </a:r>
          </a:p>
          <a:p>
            <a:pPr lvl="1"/>
            <a:r>
              <a:rPr lang="en-GB" dirty="0"/>
              <a:t>It’s differentiable, so it can be optimized better.</a:t>
            </a:r>
          </a:p>
          <a:p>
            <a:pPr lvl="1"/>
            <a:r>
              <a:rPr lang="en-GB" dirty="0"/>
              <a:t>It penalizes even small errors by squaring them, which essentially leads to an overestimation of how bad the model is.</a:t>
            </a:r>
          </a:p>
          <a:p>
            <a:pPr lvl="1"/>
            <a:r>
              <a:rPr lang="en-GB" dirty="0"/>
              <a:t>Error interpretation has to be done with squaring factor(scale) in mind. For example, in our </a:t>
            </a:r>
            <a:r>
              <a:rPr lang="en-GB" dirty="0">
                <a:hlinkClick r:id="rId2"/>
              </a:rPr>
              <a:t>Boston Housing regression problem</a:t>
            </a:r>
            <a:r>
              <a:rPr lang="en-GB" dirty="0"/>
              <a:t>, we got MSE=21.89 which primarily corresponds to (Prices)².</a:t>
            </a:r>
          </a:p>
          <a:p>
            <a:pPr lvl="1"/>
            <a:r>
              <a:rPr lang="en-GB" dirty="0"/>
              <a:t>Due to the squaring factor, it’s fundamentally more prone to outliers than other metrics.</a:t>
            </a:r>
            <a:endParaRPr lang="en-US" dirty="0"/>
          </a:p>
        </p:txBody>
      </p:sp>
      <p:grpSp>
        <p:nvGrpSpPr>
          <p:cNvPr id="12" name="Group 11">
            <a:extLst>
              <a:ext uri="{FF2B5EF4-FFF2-40B4-BE49-F238E27FC236}">
                <a16:creationId xmlns:a16="http://schemas.microsoft.com/office/drawing/2014/main" id="{2350986C-B015-57D6-D61B-9D320DC80258}"/>
              </a:ext>
            </a:extLst>
          </p:cNvPr>
          <p:cNvGrpSpPr/>
          <p:nvPr/>
        </p:nvGrpSpPr>
        <p:grpSpPr>
          <a:xfrm>
            <a:off x="5974399" y="2123440"/>
            <a:ext cx="5379401" cy="3417640"/>
            <a:chOff x="5974399" y="2123440"/>
            <a:chExt cx="5379401" cy="3417640"/>
          </a:xfrm>
        </p:grpSpPr>
        <p:pic>
          <p:nvPicPr>
            <p:cNvPr id="7" name="Picture 6">
              <a:extLst>
                <a:ext uri="{FF2B5EF4-FFF2-40B4-BE49-F238E27FC236}">
                  <a16:creationId xmlns:a16="http://schemas.microsoft.com/office/drawing/2014/main" id="{B59141B4-26FE-C022-0282-DA115FF633DB}"/>
                </a:ext>
              </a:extLst>
            </p:cNvPr>
            <p:cNvPicPr>
              <a:picLocks noChangeAspect="1"/>
            </p:cNvPicPr>
            <p:nvPr/>
          </p:nvPicPr>
          <p:blipFill>
            <a:blip r:embed="rId3"/>
            <a:stretch>
              <a:fillRect/>
            </a:stretch>
          </p:blipFill>
          <p:spPr>
            <a:xfrm>
              <a:off x="6171563" y="2123440"/>
              <a:ext cx="5182237" cy="3417640"/>
            </a:xfrm>
            <a:prstGeom prst="rect">
              <a:avLst/>
            </a:prstGeom>
          </p:spPr>
        </p:pic>
        <p:sp>
          <p:nvSpPr>
            <p:cNvPr id="8" name="TextBox 7">
              <a:extLst>
                <a:ext uri="{FF2B5EF4-FFF2-40B4-BE49-F238E27FC236}">
                  <a16:creationId xmlns:a16="http://schemas.microsoft.com/office/drawing/2014/main" id="{52DA2813-6E8E-7C56-9C1F-4E4286CE094F}"/>
                </a:ext>
              </a:extLst>
            </p:cNvPr>
            <p:cNvSpPr txBox="1"/>
            <p:nvPr/>
          </p:nvSpPr>
          <p:spPr>
            <a:xfrm>
              <a:off x="8178800" y="4826000"/>
              <a:ext cx="1946367" cy="369332"/>
            </a:xfrm>
            <a:prstGeom prst="rect">
              <a:avLst/>
            </a:prstGeom>
            <a:noFill/>
          </p:spPr>
          <p:txBody>
            <a:bodyPr wrap="none" rtlCol="0">
              <a:spAutoFit/>
            </a:bodyPr>
            <a:lstStyle/>
            <a:p>
              <a:r>
                <a:rPr lang="en-US" dirty="0"/>
                <a:t>House size (</a:t>
              </a:r>
              <a:r>
                <a:rPr lang="en-US" dirty="0" err="1"/>
                <a:t>sqft</a:t>
              </a:r>
              <a:r>
                <a:rPr lang="en-US" dirty="0"/>
                <a:t>)</a:t>
              </a:r>
            </a:p>
          </p:txBody>
        </p:sp>
        <p:sp>
          <p:nvSpPr>
            <p:cNvPr id="9" name="TextBox 8">
              <a:extLst>
                <a:ext uri="{FF2B5EF4-FFF2-40B4-BE49-F238E27FC236}">
                  <a16:creationId xmlns:a16="http://schemas.microsoft.com/office/drawing/2014/main" id="{238868CF-66A5-4A55-6186-72A7F697B66B}"/>
                </a:ext>
              </a:extLst>
            </p:cNvPr>
            <p:cNvSpPr txBox="1"/>
            <p:nvPr/>
          </p:nvSpPr>
          <p:spPr>
            <a:xfrm>
              <a:off x="5974399" y="3244334"/>
              <a:ext cx="1239201" cy="646331"/>
            </a:xfrm>
            <a:prstGeom prst="rect">
              <a:avLst/>
            </a:prstGeom>
            <a:noFill/>
          </p:spPr>
          <p:txBody>
            <a:bodyPr wrap="square" rtlCol="0">
              <a:spAutoFit/>
            </a:bodyPr>
            <a:lstStyle/>
            <a:p>
              <a:pPr algn="r"/>
              <a:r>
                <a:rPr lang="en-US" dirty="0"/>
                <a:t>House price ($)</a:t>
              </a:r>
            </a:p>
          </p:txBody>
        </p:sp>
        <p:sp>
          <p:nvSpPr>
            <p:cNvPr id="10" name="Right Brace 9">
              <a:extLst>
                <a:ext uri="{FF2B5EF4-FFF2-40B4-BE49-F238E27FC236}">
                  <a16:creationId xmlns:a16="http://schemas.microsoft.com/office/drawing/2014/main" id="{85A7CB96-97A1-FCC4-4AF9-7B13AAE50147}"/>
                </a:ext>
              </a:extLst>
            </p:cNvPr>
            <p:cNvSpPr/>
            <p:nvPr/>
          </p:nvSpPr>
          <p:spPr>
            <a:xfrm>
              <a:off x="7957552" y="3138238"/>
              <a:ext cx="221248" cy="946082"/>
            </a:xfrm>
            <a:prstGeom prst="rightBrace">
              <a:avLst>
                <a:gd name="adj1" fmla="val 73717"/>
                <a:gd name="adj2" fmla="val 1818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1199485C-2624-23EB-28B2-36CEA2B53400}"/>
                    </a:ext>
                  </a:extLst>
                </p:cNvPr>
                <p:cNvSpPr txBox="1"/>
                <p:nvPr/>
              </p:nvSpPr>
              <p:spPr>
                <a:xfrm>
                  <a:off x="8178800" y="3095261"/>
                  <a:ext cx="1097281" cy="430054"/>
                </a:xfrm>
                <a:prstGeom prst="roundRect">
                  <a:avLst>
                    <a:gd name="adj" fmla="val 25242"/>
                  </a:avLst>
                </a:prstGeom>
                <a:solidFill>
                  <a:schemeClr val="tx1">
                    <a:lumMod val="95000"/>
                    <a:lumOff val="5000"/>
                    <a:alpha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i="1" smtClean="0">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𝑦</m:t>
                            </m:r>
                            <m:r>
                              <a:rPr lang="en-US" i="1">
                                <a:solidFill>
                                  <a:schemeClr val="bg1"/>
                                </a:solidFill>
                                <a:latin typeface="Cambria Math" panose="02040503050406030204" pitchFamily="18" charset="0"/>
                              </a:rPr>
                              <m:t> − </m:t>
                            </m:r>
                            <m:acc>
                              <m:accPr>
                                <m:chr m:val="̂"/>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𝑦</m:t>
                                </m:r>
                              </m:e>
                            </m:acc>
                            <m:r>
                              <a:rPr lang="en-US" b="0" i="1" smtClean="0">
                                <a:solidFill>
                                  <a:schemeClr val="bg1"/>
                                </a:solidFill>
                                <a:latin typeface="Cambria Math" panose="02040503050406030204" pitchFamily="18" charset="0"/>
                              </a:rPr>
                              <m:t>)</m:t>
                            </m:r>
                          </m:e>
                          <m:sup>
                            <m:r>
                              <a:rPr lang="en-US" b="0" i="1" smtClean="0">
                                <a:solidFill>
                                  <a:schemeClr val="bg1"/>
                                </a:solidFill>
                                <a:latin typeface="Cambria Math" panose="02040503050406030204" pitchFamily="18" charset="0"/>
                              </a:rPr>
                              <m:t>2</m:t>
                            </m:r>
                          </m:sup>
                        </m:sSup>
                      </m:oMath>
                    </m:oMathPara>
                  </a14:m>
                  <a:endParaRPr lang="en-US" dirty="0"/>
                </a:p>
              </p:txBody>
            </p:sp>
          </mc:Choice>
          <mc:Fallback>
            <p:sp>
              <p:nvSpPr>
                <p:cNvPr id="11" name="TextBox 10">
                  <a:extLst>
                    <a:ext uri="{FF2B5EF4-FFF2-40B4-BE49-F238E27FC236}">
                      <a16:creationId xmlns:a16="http://schemas.microsoft.com/office/drawing/2014/main" id="{1199485C-2624-23EB-28B2-36CEA2B53400}"/>
                    </a:ext>
                  </a:extLst>
                </p:cNvPr>
                <p:cNvSpPr txBox="1">
                  <a:spLocks noRot="1" noChangeAspect="1" noMove="1" noResize="1" noEditPoints="1" noAdjustHandles="1" noChangeArrowheads="1" noChangeShapeType="1" noTextEdit="1"/>
                </p:cNvSpPr>
                <p:nvPr/>
              </p:nvSpPr>
              <p:spPr>
                <a:xfrm>
                  <a:off x="8178800" y="3095261"/>
                  <a:ext cx="1097281" cy="430054"/>
                </a:xfrm>
                <a:prstGeom prst="roundRect">
                  <a:avLst>
                    <a:gd name="adj" fmla="val 25242"/>
                  </a:avLst>
                </a:prstGeom>
                <a:blipFill>
                  <a:blip r:embed="rId4"/>
                  <a:stretch>
                    <a:fillRect r="-9444" b="-10000"/>
                  </a:stretch>
                </a:blipFill>
              </p:spPr>
              <p:txBody>
                <a:bodyPr/>
                <a:lstStyle/>
                <a:p>
                  <a:r>
                    <a:rPr lang="en-US">
                      <a:noFill/>
                    </a:rPr>
                    <a:t> </a:t>
                  </a:r>
                </a:p>
              </p:txBody>
            </p:sp>
          </mc:Fallback>
        </mc:AlternateContent>
      </p:grpSp>
    </p:spTree>
    <p:extLst>
      <p:ext uri="{BB962C8B-B14F-4D97-AF65-F5344CB8AC3E}">
        <p14:creationId xmlns:p14="http://schemas.microsoft.com/office/powerpoint/2010/main" val="3122391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40006-30F9-15C5-4C80-9F2A1C8CFE85}"/>
              </a:ext>
            </a:extLst>
          </p:cNvPr>
          <p:cNvSpPr>
            <a:spLocks noGrp="1"/>
          </p:cNvSpPr>
          <p:nvPr>
            <p:ph type="title"/>
          </p:nvPr>
        </p:nvSpPr>
        <p:spPr/>
        <p:txBody>
          <a:bodyPr/>
          <a:lstStyle/>
          <a:p>
            <a:r>
              <a:rPr lang="en-US" dirty="0"/>
              <a:t>Mean Absolute Error (MAE)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63ACCE-85E8-2B9B-C67D-BBF02DB2E6C9}"/>
                  </a:ext>
                </a:extLst>
              </p:cNvPr>
              <p:cNvSpPr>
                <a:spLocks noGrp="1"/>
              </p:cNvSpPr>
              <p:nvPr>
                <p:ph idx="1"/>
              </p:nvPr>
            </p:nvSpPr>
            <p:spPr/>
            <p:txBody>
              <a:bodyPr/>
              <a:lstStyle/>
              <a:p>
                <a:r>
                  <a:rPr lang="en-GB" dirty="0"/>
                  <a:t>Mean Absolute Error is the average of the difference between the ground truth and the predicted values. Mathematically, its represented as :</a:t>
                </a:r>
              </a:p>
              <a:p>
                <a:endParaRPr lang="en-GB" dirty="0"/>
              </a:p>
              <a:p>
                <a:endParaRPr lang="en-GB" dirty="0"/>
              </a:p>
              <a:p>
                <a:endParaRPr lang="en-GB" dirty="0"/>
              </a:p>
              <a:p>
                <a:pPr marL="0" indent="0">
                  <a:buNone/>
                </a:pPr>
                <a:r>
                  <a:rPr lang="en-GB" dirty="0"/>
                  <a:t>	Where:</a:t>
                </a:r>
              </a:p>
              <a:p>
                <a:pPr lvl="2"/>
                <a14:m>
                  <m:oMath xmlns:m="http://schemas.openxmlformats.org/officeDocument/2006/math">
                    <m:sSub>
                      <m:sSubPr>
                        <m:ctrlPr>
                          <a:rPr lang="en-GB"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oMath>
                </a14:m>
                <a:r>
                  <a:rPr lang="en-GB" dirty="0"/>
                  <a:t>: ground-truth value</a:t>
                </a:r>
              </a:p>
              <a:p>
                <a:pPr lvl="2"/>
                <a14:m>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𝑦</m:t>
                        </m:r>
                      </m:e>
                    </m:acc>
                  </m:oMath>
                </a14:m>
                <a:r>
                  <a:rPr lang="en-GB" dirty="0"/>
                  <a:t>: predicted value from the regression model</a:t>
                </a:r>
              </a:p>
              <a:p>
                <a:pPr lvl="2"/>
                <a:r>
                  <a:rPr lang="en-GB" i="1" dirty="0"/>
                  <a:t>N</a:t>
                </a:r>
                <a:r>
                  <a:rPr lang="en-GB" dirty="0"/>
                  <a:t>: number of datums</a:t>
                </a:r>
                <a:endParaRPr lang="en-US" dirty="0"/>
              </a:p>
              <a:p>
                <a:endParaRPr lang="en-US" dirty="0"/>
              </a:p>
            </p:txBody>
          </p:sp>
        </mc:Choice>
        <mc:Fallback>
          <p:sp>
            <p:nvSpPr>
              <p:cNvPr id="3" name="Content Placeholder 2">
                <a:extLst>
                  <a:ext uri="{FF2B5EF4-FFF2-40B4-BE49-F238E27FC236}">
                    <a16:creationId xmlns:a16="http://schemas.microsoft.com/office/drawing/2014/main" id="{6263ACCE-85E8-2B9B-C67D-BBF02DB2E6C9}"/>
                  </a:ext>
                </a:extLst>
              </p:cNvPr>
              <p:cNvSpPr>
                <a:spLocks noGrp="1" noRot="1" noChangeAspect="1" noMove="1" noResize="1" noEditPoints="1" noAdjustHandles="1" noChangeArrowheads="1" noChangeShapeType="1" noTextEdit="1"/>
              </p:cNvSpPr>
              <p:nvPr>
                <p:ph idx="1"/>
              </p:nvPr>
            </p:nvSpPr>
            <p:spPr>
              <a:blipFill>
                <a:blip r:embed="rId2"/>
                <a:stretch>
                  <a:fillRect l="-1043" t="-2381" r="-1913" b="-182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A7A0FDD5-6DB7-D508-B18A-3D4171DCF68F}"/>
              </a:ext>
            </a:extLst>
          </p:cNvPr>
          <p:cNvPicPr>
            <a:picLocks noChangeAspect="1"/>
          </p:cNvPicPr>
          <p:nvPr/>
        </p:nvPicPr>
        <p:blipFill>
          <a:blip r:embed="rId3"/>
          <a:stretch>
            <a:fillRect/>
          </a:stretch>
        </p:blipFill>
        <p:spPr>
          <a:xfrm>
            <a:off x="4605337" y="3200717"/>
            <a:ext cx="2981325" cy="923925"/>
          </a:xfrm>
          <a:prstGeom prst="rect">
            <a:avLst/>
          </a:prstGeom>
        </p:spPr>
      </p:pic>
    </p:spTree>
    <p:extLst>
      <p:ext uri="{BB962C8B-B14F-4D97-AF65-F5344CB8AC3E}">
        <p14:creationId xmlns:p14="http://schemas.microsoft.com/office/powerpoint/2010/main" val="194707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94B1C-48C6-CA3D-8F50-E8DAFA064928}"/>
              </a:ext>
            </a:extLst>
          </p:cNvPr>
          <p:cNvSpPr>
            <a:spLocks noGrp="1"/>
          </p:cNvSpPr>
          <p:nvPr>
            <p:ph type="title"/>
          </p:nvPr>
        </p:nvSpPr>
        <p:spPr/>
        <p:txBody>
          <a:bodyPr/>
          <a:lstStyle/>
          <a:p>
            <a:r>
              <a:rPr lang="en-US" dirty="0"/>
              <a:t>Mean Absolute Error (MAE)</a:t>
            </a:r>
          </a:p>
        </p:txBody>
      </p:sp>
      <p:sp>
        <p:nvSpPr>
          <p:cNvPr id="3" name="Content Placeholder 2">
            <a:extLst>
              <a:ext uri="{FF2B5EF4-FFF2-40B4-BE49-F238E27FC236}">
                <a16:creationId xmlns:a16="http://schemas.microsoft.com/office/drawing/2014/main" id="{8E8300BD-7BA7-5AD8-B2B2-244D44767181}"/>
              </a:ext>
            </a:extLst>
          </p:cNvPr>
          <p:cNvSpPr>
            <a:spLocks noGrp="1"/>
          </p:cNvSpPr>
          <p:nvPr>
            <p:ph idx="1"/>
          </p:nvPr>
        </p:nvSpPr>
        <p:spPr>
          <a:xfrm>
            <a:off x="838200" y="1825625"/>
            <a:ext cx="5182237" cy="4351338"/>
          </a:xfrm>
        </p:spPr>
        <p:txBody>
          <a:bodyPr>
            <a:normAutofit fontScale="77500" lnSpcReduction="20000"/>
          </a:bodyPr>
          <a:lstStyle/>
          <a:p>
            <a:r>
              <a:rPr lang="en-GB" dirty="0"/>
              <a:t>Few key points for MAE:</a:t>
            </a:r>
          </a:p>
          <a:p>
            <a:pPr lvl="1"/>
            <a:r>
              <a:rPr lang="en-GB" dirty="0"/>
              <a:t>It’s more robust towards outliers than MAE, since it doesn’t exaggerate errors.</a:t>
            </a:r>
          </a:p>
          <a:p>
            <a:pPr lvl="1"/>
            <a:r>
              <a:rPr lang="en-GB" dirty="0"/>
              <a:t>It gives us a measure of how far the predictions were from the actual output. However, since MAE uses absolute value of the residual, it doesn’t give us an idea of the direction of the error, i.e. whether we’re under-predicting or over-predicting the data.</a:t>
            </a:r>
          </a:p>
          <a:p>
            <a:pPr lvl="1"/>
            <a:r>
              <a:rPr lang="en-GB" dirty="0"/>
              <a:t>Error interpretation needs no second thoughts, as it perfectly aligns with the original degree of the variable.</a:t>
            </a:r>
          </a:p>
          <a:p>
            <a:pPr lvl="1"/>
            <a:r>
              <a:rPr lang="en-GB" dirty="0"/>
              <a:t>MAE is non-differentiable as opposed to MSE, which is differentiable.</a:t>
            </a:r>
            <a:endParaRPr lang="en-US" dirty="0"/>
          </a:p>
        </p:txBody>
      </p:sp>
      <p:grpSp>
        <p:nvGrpSpPr>
          <p:cNvPr id="6" name="Group 5">
            <a:extLst>
              <a:ext uri="{FF2B5EF4-FFF2-40B4-BE49-F238E27FC236}">
                <a16:creationId xmlns:a16="http://schemas.microsoft.com/office/drawing/2014/main" id="{006A341D-C745-107B-42C3-293F8C7B9738}"/>
              </a:ext>
            </a:extLst>
          </p:cNvPr>
          <p:cNvGrpSpPr/>
          <p:nvPr/>
        </p:nvGrpSpPr>
        <p:grpSpPr>
          <a:xfrm>
            <a:off x="5974399" y="2123440"/>
            <a:ext cx="5379401" cy="3417640"/>
            <a:chOff x="5974399" y="2123440"/>
            <a:chExt cx="5379401" cy="3417640"/>
          </a:xfrm>
        </p:grpSpPr>
        <p:pic>
          <p:nvPicPr>
            <p:cNvPr id="7" name="Picture 6">
              <a:extLst>
                <a:ext uri="{FF2B5EF4-FFF2-40B4-BE49-F238E27FC236}">
                  <a16:creationId xmlns:a16="http://schemas.microsoft.com/office/drawing/2014/main" id="{37D4914F-6DC3-4807-B29F-1C8060963E8C}"/>
                </a:ext>
              </a:extLst>
            </p:cNvPr>
            <p:cNvPicPr>
              <a:picLocks noChangeAspect="1"/>
            </p:cNvPicPr>
            <p:nvPr/>
          </p:nvPicPr>
          <p:blipFill>
            <a:blip r:embed="rId2"/>
            <a:stretch>
              <a:fillRect/>
            </a:stretch>
          </p:blipFill>
          <p:spPr>
            <a:xfrm>
              <a:off x="6171563" y="2123440"/>
              <a:ext cx="5182237" cy="3417640"/>
            </a:xfrm>
            <a:prstGeom prst="rect">
              <a:avLst/>
            </a:prstGeom>
          </p:spPr>
        </p:pic>
        <p:sp>
          <p:nvSpPr>
            <p:cNvPr id="8" name="TextBox 7">
              <a:extLst>
                <a:ext uri="{FF2B5EF4-FFF2-40B4-BE49-F238E27FC236}">
                  <a16:creationId xmlns:a16="http://schemas.microsoft.com/office/drawing/2014/main" id="{992B7350-6C13-86AA-7394-89EDE85DD466}"/>
                </a:ext>
              </a:extLst>
            </p:cNvPr>
            <p:cNvSpPr txBox="1"/>
            <p:nvPr/>
          </p:nvSpPr>
          <p:spPr>
            <a:xfrm>
              <a:off x="8178800" y="4826000"/>
              <a:ext cx="1946367" cy="369332"/>
            </a:xfrm>
            <a:prstGeom prst="rect">
              <a:avLst/>
            </a:prstGeom>
            <a:noFill/>
          </p:spPr>
          <p:txBody>
            <a:bodyPr wrap="none" rtlCol="0">
              <a:spAutoFit/>
            </a:bodyPr>
            <a:lstStyle/>
            <a:p>
              <a:r>
                <a:rPr lang="en-US" dirty="0"/>
                <a:t>House size (</a:t>
              </a:r>
              <a:r>
                <a:rPr lang="en-US" dirty="0" err="1"/>
                <a:t>sqft</a:t>
              </a:r>
              <a:r>
                <a:rPr lang="en-US" dirty="0"/>
                <a:t>)</a:t>
              </a:r>
            </a:p>
          </p:txBody>
        </p:sp>
        <p:sp>
          <p:nvSpPr>
            <p:cNvPr id="9" name="TextBox 8">
              <a:extLst>
                <a:ext uri="{FF2B5EF4-FFF2-40B4-BE49-F238E27FC236}">
                  <a16:creationId xmlns:a16="http://schemas.microsoft.com/office/drawing/2014/main" id="{336CDCE0-31FE-EF07-5646-CCB3FF9EE4D6}"/>
                </a:ext>
              </a:extLst>
            </p:cNvPr>
            <p:cNvSpPr txBox="1"/>
            <p:nvPr/>
          </p:nvSpPr>
          <p:spPr>
            <a:xfrm>
              <a:off x="5974399" y="3244334"/>
              <a:ext cx="1239201" cy="646331"/>
            </a:xfrm>
            <a:prstGeom prst="rect">
              <a:avLst/>
            </a:prstGeom>
            <a:noFill/>
          </p:spPr>
          <p:txBody>
            <a:bodyPr wrap="square" rtlCol="0">
              <a:spAutoFit/>
            </a:bodyPr>
            <a:lstStyle/>
            <a:p>
              <a:pPr algn="r"/>
              <a:r>
                <a:rPr lang="en-US" dirty="0"/>
                <a:t>House price ($)</a:t>
              </a:r>
            </a:p>
          </p:txBody>
        </p:sp>
        <p:sp>
          <p:nvSpPr>
            <p:cNvPr id="10" name="Right Brace 9">
              <a:extLst>
                <a:ext uri="{FF2B5EF4-FFF2-40B4-BE49-F238E27FC236}">
                  <a16:creationId xmlns:a16="http://schemas.microsoft.com/office/drawing/2014/main" id="{509B2482-EF02-80CC-C3FB-118BC602B930}"/>
                </a:ext>
              </a:extLst>
            </p:cNvPr>
            <p:cNvSpPr/>
            <p:nvPr/>
          </p:nvSpPr>
          <p:spPr>
            <a:xfrm>
              <a:off x="7957552" y="3138238"/>
              <a:ext cx="221248" cy="946082"/>
            </a:xfrm>
            <a:prstGeom prst="rightBrace">
              <a:avLst>
                <a:gd name="adj1" fmla="val 73717"/>
                <a:gd name="adj2" fmla="val 1818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0B40F472-9EA7-7465-5E6F-65A9DCD9FD22}"/>
                    </a:ext>
                  </a:extLst>
                </p:cNvPr>
                <p:cNvSpPr txBox="1"/>
                <p:nvPr/>
              </p:nvSpPr>
              <p:spPr>
                <a:xfrm>
                  <a:off x="8178800" y="3095261"/>
                  <a:ext cx="1097281" cy="430054"/>
                </a:xfrm>
                <a:prstGeom prst="roundRect">
                  <a:avLst>
                    <a:gd name="adj" fmla="val 25242"/>
                  </a:avLst>
                </a:prstGeom>
                <a:solidFill>
                  <a:schemeClr val="tx1">
                    <a:lumMod val="95000"/>
                    <a:lumOff val="5000"/>
                    <a:alpha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𝑦</m:t>
                            </m:r>
                            <m:r>
                              <a:rPr lang="en-US" i="1">
                                <a:solidFill>
                                  <a:schemeClr val="bg1"/>
                                </a:solidFill>
                                <a:latin typeface="Cambria Math" panose="02040503050406030204" pitchFamily="18" charset="0"/>
                              </a:rPr>
                              <m:t> − </m:t>
                            </m:r>
                            <m:acc>
                              <m:accPr>
                                <m:chr m:val="̂"/>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𝑦</m:t>
                                </m:r>
                              </m:e>
                            </m:acc>
                          </m:e>
                        </m:d>
                      </m:oMath>
                    </m:oMathPara>
                  </a14:m>
                  <a:endParaRPr lang="en-US" dirty="0"/>
                </a:p>
              </p:txBody>
            </p:sp>
          </mc:Choice>
          <mc:Fallback>
            <p:sp>
              <p:nvSpPr>
                <p:cNvPr id="11" name="TextBox 10">
                  <a:extLst>
                    <a:ext uri="{FF2B5EF4-FFF2-40B4-BE49-F238E27FC236}">
                      <a16:creationId xmlns:a16="http://schemas.microsoft.com/office/drawing/2014/main" id="{0B40F472-9EA7-7465-5E6F-65A9DCD9FD22}"/>
                    </a:ext>
                  </a:extLst>
                </p:cNvPr>
                <p:cNvSpPr txBox="1">
                  <a:spLocks noRot="1" noChangeAspect="1" noMove="1" noResize="1" noEditPoints="1" noAdjustHandles="1" noChangeArrowheads="1" noChangeShapeType="1" noTextEdit="1"/>
                </p:cNvSpPr>
                <p:nvPr/>
              </p:nvSpPr>
              <p:spPr>
                <a:xfrm>
                  <a:off x="8178800" y="3095261"/>
                  <a:ext cx="1097281" cy="430054"/>
                </a:xfrm>
                <a:prstGeom prst="roundRect">
                  <a:avLst>
                    <a:gd name="adj" fmla="val 25242"/>
                  </a:avLst>
                </a:prstGeom>
                <a:blipFill>
                  <a:blip r:embed="rId3"/>
                  <a:stretch>
                    <a:fillRect r="-10000" b="-10000"/>
                  </a:stretch>
                </a:blipFill>
              </p:spPr>
              <p:txBody>
                <a:bodyPr/>
                <a:lstStyle/>
                <a:p>
                  <a:r>
                    <a:rPr lang="en-US">
                      <a:noFill/>
                    </a:rPr>
                    <a:t> </a:t>
                  </a:r>
                </a:p>
              </p:txBody>
            </p:sp>
          </mc:Fallback>
        </mc:AlternateContent>
      </p:grpSp>
    </p:spTree>
    <p:extLst>
      <p:ext uri="{BB962C8B-B14F-4D97-AF65-F5344CB8AC3E}">
        <p14:creationId xmlns:p14="http://schemas.microsoft.com/office/powerpoint/2010/main" val="3107485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4B7C2-679B-ECD8-FF55-6AD5047FCD74}"/>
              </a:ext>
            </a:extLst>
          </p:cNvPr>
          <p:cNvSpPr>
            <a:spLocks noGrp="1"/>
          </p:cNvSpPr>
          <p:nvPr>
            <p:ph type="title"/>
          </p:nvPr>
        </p:nvSpPr>
        <p:spPr/>
        <p:txBody>
          <a:bodyPr/>
          <a:lstStyle/>
          <a:p>
            <a:r>
              <a:rPr lang="en-GB" dirty="0"/>
              <a:t>Root Mean Squared Error (RMSE)</a:t>
            </a:r>
            <a:endParaRPr lang="en-US" dirty="0"/>
          </a:p>
        </p:txBody>
      </p:sp>
      <p:sp>
        <p:nvSpPr>
          <p:cNvPr id="3" name="Content Placeholder 2">
            <a:extLst>
              <a:ext uri="{FF2B5EF4-FFF2-40B4-BE49-F238E27FC236}">
                <a16:creationId xmlns:a16="http://schemas.microsoft.com/office/drawing/2014/main" id="{D01E23FA-4F52-AA16-F0CE-9CCFAD0438FB}"/>
              </a:ext>
            </a:extLst>
          </p:cNvPr>
          <p:cNvSpPr>
            <a:spLocks noGrp="1"/>
          </p:cNvSpPr>
          <p:nvPr>
            <p:ph idx="1"/>
          </p:nvPr>
        </p:nvSpPr>
        <p:spPr/>
        <p:txBody>
          <a:bodyPr/>
          <a:lstStyle/>
          <a:p>
            <a:r>
              <a:rPr lang="en-GB" dirty="0"/>
              <a:t>Root Mean Squared Error corresponds to the square root of the average of the squared difference between the target value and the value predicted by the regression model. Basically, sqrt(MSE). Mathematically it can be represented as:</a:t>
            </a:r>
            <a:endParaRPr lang="en-US" dirty="0"/>
          </a:p>
        </p:txBody>
      </p:sp>
      <p:pic>
        <p:nvPicPr>
          <p:cNvPr id="4" name="Picture 3">
            <a:extLst>
              <a:ext uri="{FF2B5EF4-FFF2-40B4-BE49-F238E27FC236}">
                <a16:creationId xmlns:a16="http://schemas.microsoft.com/office/drawing/2014/main" id="{34410F17-0F07-6930-8480-0E2B57F98708}"/>
              </a:ext>
            </a:extLst>
          </p:cNvPr>
          <p:cNvPicPr>
            <a:picLocks noChangeAspect="1"/>
          </p:cNvPicPr>
          <p:nvPr/>
        </p:nvPicPr>
        <p:blipFill>
          <a:blip r:embed="rId2"/>
          <a:stretch>
            <a:fillRect/>
          </a:stretch>
        </p:blipFill>
        <p:spPr>
          <a:xfrm>
            <a:off x="4045231" y="4001294"/>
            <a:ext cx="3638550" cy="1076325"/>
          </a:xfrm>
          <a:prstGeom prst="rect">
            <a:avLst/>
          </a:prstGeom>
        </p:spPr>
      </p:pic>
    </p:spTree>
    <p:extLst>
      <p:ext uri="{BB962C8B-B14F-4D97-AF65-F5344CB8AC3E}">
        <p14:creationId xmlns:p14="http://schemas.microsoft.com/office/powerpoint/2010/main" val="2471723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348B3-A376-5806-856C-216C9257D222}"/>
              </a:ext>
            </a:extLst>
          </p:cNvPr>
          <p:cNvSpPr>
            <a:spLocks noGrp="1"/>
          </p:cNvSpPr>
          <p:nvPr>
            <p:ph type="title"/>
          </p:nvPr>
        </p:nvSpPr>
        <p:spPr/>
        <p:txBody>
          <a:bodyPr/>
          <a:lstStyle/>
          <a:p>
            <a:r>
              <a:rPr lang="en-GB" dirty="0"/>
              <a:t>Root Mean Squared Error (RMSE)</a:t>
            </a:r>
            <a:endParaRPr lang="en-US" dirty="0"/>
          </a:p>
        </p:txBody>
      </p:sp>
      <p:sp>
        <p:nvSpPr>
          <p:cNvPr id="3" name="Content Placeholder 2">
            <a:extLst>
              <a:ext uri="{FF2B5EF4-FFF2-40B4-BE49-F238E27FC236}">
                <a16:creationId xmlns:a16="http://schemas.microsoft.com/office/drawing/2014/main" id="{EAB194D3-6636-EC82-8D50-5E48BFA37828}"/>
              </a:ext>
            </a:extLst>
          </p:cNvPr>
          <p:cNvSpPr>
            <a:spLocks noGrp="1"/>
          </p:cNvSpPr>
          <p:nvPr>
            <p:ph idx="1"/>
          </p:nvPr>
        </p:nvSpPr>
        <p:spPr/>
        <p:txBody>
          <a:bodyPr>
            <a:normAutofit/>
          </a:bodyPr>
          <a:lstStyle/>
          <a:p>
            <a:r>
              <a:rPr lang="en-GB" dirty="0"/>
              <a:t>It addresses a few downsides in MSE.</a:t>
            </a:r>
          </a:p>
          <a:p>
            <a:r>
              <a:rPr lang="en-GB" dirty="0"/>
              <a:t>Few key points related to RMSE:</a:t>
            </a:r>
          </a:p>
          <a:p>
            <a:pPr lvl="1"/>
            <a:r>
              <a:rPr lang="en-GB" dirty="0"/>
              <a:t>It retains the differentiable property of MSE.</a:t>
            </a:r>
          </a:p>
          <a:p>
            <a:pPr lvl="1"/>
            <a:r>
              <a:rPr lang="en-GB" dirty="0"/>
              <a:t>It handles the penalization of smaller errors done by MSE by square rooting it.</a:t>
            </a:r>
          </a:p>
          <a:p>
            <a:pPr lvl="1"/>
            <a:r>
              <a:rPr lang="en-GB" dirty="0"/>
              <a:t>Error interpretation can be done smoothly, since the scale is now the same as the random variable.</a:t>
            </a:r>
          </a:p>
          <a:p>
            <a:pPr lvl="1"/>
            <a:r>
              <a:rPr lang="en-GB" dirty="0"/>
              <a:t>Since scale factors are essentially normalized, it’s less prone to struggle in the case of outliers.</a:t>
            </a:r>
            <a:endParaRPr lang="en-US" dirty="0"/>
          </a:p>
        </p:txBody>
      </p:sp>
    </p:spTree>
    <p:extLst>
      <p:ext uri="{BB962C8B-B14F-4D97-AF65-F5344CB8AC3E}">
        <p14:creationId xmlns:p14="http://schemas.microsoft.com/office/powerpoint/2010/main" val="3079290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9FEF0-4539-6359-AD60-9EFDA8925BC1}"/>
              </a:ext>
            </a:extLst>
          </p:cNvPr>
          <p:cNvSpPr>
            <a:spLocks noGrp="1"/>
          </p:cNvSpPr>
          <p:nvPr>
            <p:ph type="title"/>
          </p:nvPr>
        </p:nvSpPr>
        <p:spPr/>
        <p:txBody>
          <a:bodyPr/>
          <a:lstStyle/>
          <a:p>
            <a:r>
              <a:rPr lang="en-US" dirty="0"/>
              <a:t>Classification Metrics</a:t>
            </a:r>
          </a:p>
        </p:txBody>
      </p:sp>
      <p:sp>
        <p:nvSpPr>
          <p:cNvPr id="3" name="Content Placeholder 2">
            <a:extLst>
              <a:ext uri="{FF2B5EF4-FFF2-40B4-BE49-F238E27FC236}">
                <a16:creationId xmlns:a16="http://schemas.microsoft.com/office/drawing/2014/main" id="{A8AFC138-1589-247B-5B53-F5969F9E18C5}"/>
              </a:ext>
            </a:extLst>
          </p:cNvPr>
          <p:cNvSpPr>
            <a:spLocks noGrp="1"/>
          </p:cNvSpPr>
          <p:nvPr>
            <p:ph idx="1"/>
          </p:nvPr>
        </p:nvSpPr>
        <p:spPr/>
        <p:txBody>
          <a:bodyPr/>
          <a:lstStyle/>
          <a:p>
            <a:r>
              <a:rPr lang="en-GB" dirty="0"/>
              <a:t>Classification problems are one of the world’s most widely researched areas. Use cases are present in almost all production and industrial environments. Speech recognition, face recognition, text classification – the list is endless. </a:t>
            </a:r>
          </a:p>
          <a:p>
            <a:r>
              <a:rPr lang="en-GB" dirty="0"/>
              <a:t>Classification models have discrete output, so we need a metric that compares discrete classes in some form. Classification Metrics evaluate a model’s performance and tell you how good or bad the classification is, but each of them evaluates it in a different way.</a:t>
            </a:r>
            <a:endParaRPr lang="en-US" dirty="0"/>
          </a:p>
        </p:txBody>
      </p:sp>
    </p:spTree>
    <p:extLst>
      <p:ext uri="{BB962C8B-B14F-4D97-AF65-F5344CB8AC3E}">
        <p14:creationId xmlns:p14="http://schemas.microsoft.com/office/powerpoint/2010/main" val="2300723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B494-B27B-23DF-164A-1762FB30BECB}"/>
              </a:ext>
            </a:extLst>
          </p:cNvPr>
          <p:cNvSpPr>
            <a:spLocks noGrp="1"/>
          </p:cNvSpPr>
          <p:nvPr>
            <p:ph type="title"/>
          </p:nvPr>
        </p:nvSpPr>
        <p:spPr/>
        <p:txBody>
          <a:bodyPr/>
          <a:lstStyle/>
          <a:p>
            <a:r>
              <a:rPr lang="en-GB" dirty="0"/>
              <a:t>Metrics to Evaluate Machine Learning Classification Algorithms</a:t>
            </a:r>
            <a:endParaRPr lang="en-US" dirty="0"/>
          </a:p>
        </p:txBody>
      </p:sp>
      <p:sp>
        <p:nvSpPr>
          <p:cNvPr id="3" name="Content Placeholder 2">
            <a:extLst>
              <a:ext uri="{FF2B5EF4-FFF2-40B4-BE49-F238E27FC236}">
                <a16:creationId xmlns:a16="http://schemas.microsoft.com/office/drawing/2014/main" id="{971F6251-A263-4892-D7ED-3E067A6EA70F}"/>
              </a:ext>
            </a:extLst>
          </p:cNvPr>
          <p:cNvSpPr>
            <a:spLocks noGrp="1"/>
          </p:cNvSpPr>
          <p:nvPr>
            <p:ph idx="1"/>
          </p:nvPr>
        </p:nvSpPr>
        <p:spPr/>
        <p:txBody>
          <a:bodyPr>
            <a:normAutofit/>
          </a:bodyPr>
          <a:lstStyle/>
          <a:p>
            <a:r>
              <a:rPr lang="en-GB" dirty="0"/>
              <a:t>These are the most used metrics for evaluating classification algorithms: </a:t>
            </a:r>
          </a:p>
          <a:p>
            <a:pPr lvl="1"/>
            <a:r>
              <a:rPr lang="en-GB" dirty="0"/>
              <a:t>Accuracy, </a:t>
            </a:r>
          </a:p>
          <a:p>
            <a:pPr lvl="1"/>
            <a:r>
              <a:rPr lang="en-GB" dirty="0"/>
              <a:t>Precision, </a:t>
            </a:r>
          </a:p>
          <a:p>
            <a:pPr lvl="1"/>
            <a:r>
              <a:rPr lang="en-GB" dirty="0"/>
              <a:t>Recall, </a:t>
            </a:r>
          </a:p>
          <a:p>
            <a:pPr lvl="1"/>
            <a:r>
              <a:rPr lang="en-GB" dirty="0"/>
              <a:t>F1 score, and </a:t>
            </a:r>
          </a:p>
          <a:p>
            <a:pPr lvl="1"/>
            <a:r>
              <a:rPr lang="en-GB" dirty="0"/>
              <a:t>Area under the ROC (Receiver Operating Characteristic) curve and AUC (Area Under the Curve). </a:t>
            </a:r>
            <a:endParaRPr lang="en-US" dirty="0"/>
          </a:p>
        </p:txBody>
      </p:sp>
    </p:spTree>
    <p:extLst>
      <p:ext uri="{BB962C8B-B14F-4D97-AF65-F5344CB8AC3E}">
        <p14:creationId xmlns:p14="http://schemas.microsoft.com/office/powerpoint/2010/main" val="2854668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F06A0-AF7F-1E7D-324C-FF6E517C6954}"/>
              </a:ext>
            </a:extLst>
          </p:cNvPr>
          <p:cNvSpPr>
            <a:spLocks noGrp="1"/>
          </p:cNvSpPr>
          <p:nvPr>
            <p:ph type="title"/>
          </p:nvPr>
        </p:nvSpPr>
        <p:spPr/>
        <p:txBody>
          <a:bodyPr/>
          <a:lstStyle/>
          <a:p>
            <a:r>
              <a:rPr lang="en-US" dirty="0"/>
              <a:t>Context for understanding metrics</a:t>
            </a:r>
          </a:p>
        </p:txBody>
      </p:sp>
      <p:sp>
        <p:nvSpPr>
          <p:cNvPr id="3" name="Content Placeholder 2">
            <a:extLst>
              <a:ext uri="{FF2B5EF4-FFF2-40B4-BE49-F238E27FC236}">
                <a16:creationId xmlns:a16="http://schemas.microsoft.com/office/drawing/2014/main" id="{8D8BD45F-A958-E07B-C648-FC283A26D3E2}"/>
              </a:ext>
            </a:extLst>
          </p:cNvPr>
          <p:cNvSpPr>
            <a:spLocks noGrp="1"/>
          </p:cNvSpPr>
          <p:nvPr>
            <p:ph idx="1"/>
          </p:nvPr>
        </p:nvSpPr>
        <p:spPr/>
        <p:txBody>
          <a:bodyPr/>
          <a:lstStyle/>
          <a:p>
            <a:r>
              <a:rPr lang="en-GB" dirty="0"/>
              <a:t>Imagine you are a healthcare startup and want an Al assistant able to predict whether a given patient has a heart disease or not based on its health record. This is a binary classification problem where the model will predict</a:t>
            </a:r>
          </a:p>
          <a:p>
            <a:pPr lvl="1"/>
            <a:r>
              <a:rPr lang="en-GB" dirty="0"/>
              <a:t>1, True or Yes if the patient has heart disease</a:t>
            </a:r>
          </a:p>
          <a:p>
            <a:pPr lvl="1"/>
            <a:r>
              <a:rPr lang="en-GB" dirty="0"/>
              <a:t>0, False or No otherwise</a:t>
            </a:r>
            <a:endParaRPr lang="en-US" dirty="0"/>
          </a:p>
        </p:txBody>
      </p:sp>
    </p:spTree>
    <p:extLst>
      <p:ext uri="{BB962C8B-B14F-4D97-AF65-F5344CB8AC3E}">
        <p14:creationId xmlns:p14="http://schemas.microsoft.com/office/powerpoint/2010/main" val="3322187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DBFD9-76DD-486B-3827-19C41C53AE3F}"/>
              </a:ext>
            </a:extLst>
          </p:cNvPr>
          <p:cNvSpPr>
            <a:spLocks noGrp="1"/>
          </p:cNvSpPr>
          <p:nvPr>
            <p:ph type="title"/>
          </p:nvPr>
        </p:nvSpPr>
        <p:spPr/>
        <p:txBody>
          <a:bodyPr/>
          <a:lstStyle/>
          <a:p>
            <a:r>
              <a:rPr lang="en-US" dirty="0"/>
              <a:t>Confusion Matrix</a:t>
            </a:r>
          </a:p>
        </p:txBody>
      </p:sp>
      <p:sp>
        <p:nvSpPr>
          <p:cNvPr id="3" name="Content Placeholder 2">
            <a:extLst>
              <a:ext uri="{FF2B5EF4-FFF2-40B4-BE49-F238E27FC236}">
                <a16:creationId xmlns:a16="http://schemas.microsoft.com/office/drawing/2014/main" id="{B21497B4-61E1-9093-59AC-8C9C6E6183DC}"/>
              </a:ext>
            </a:extLst>
          </p:cNvPr>
          <p:cNvSpPr>
            <a:spLocks noGrp="1"/>
          </p:cNvSpPr>
          <p:nvPr>
            <p:ph idx="1"/>
          </p:nvPr>
        </p:nvSpPr>
        <p:spPr/>
        <p:txBody>
          <a:bodyPr/>
          <a:lstStyle/>
          <a:p>
            <a:r>
              <a:rPr lang="en-GB" dirty="0"/>
              <a:t>A 2X2 matrix that nicely summarizes the number of correct predictions of the model. It also helps in computing different other performance metrics.</a:t>
            </a:r>
            <a:endParaRPr lang="en-US" dirty="0"/>
          </a:p>
        </p:txBody>
      </p:sp>
      <p:pic>
        <p:nvPicPr>
          <p:cNvPr id="5" name="Picture 4">
            <a:extLst>
              <a:ext uri="{FF2B5EF4-FFF2-40B4-BE49-F238E27FC236}">
                <a16:creationId xmlns:a16="http://schemas.microsoft.com/office/drawing/2014/main" id="{4F019CD1-17B4-CD0A-22DF-8D967B628C2F}"/>
              </a:ext>
            </a:extLst>
          </p:cNvPr>
          <p:cNvPicPr>
            <a:picLocks noChangeAspect="1"/>
          </p:cNvPicPr>
          <p:nvPr/>
        </p:nvPicPr>
        <p:blipFill>
          <a:blip r:embed="rId2"/>
          <a:stretch>
            <a:fillRect/>
          </a:stretch>
        </p:blipFill>
        <p:spPr>
          <a:xfrm>
            <a:off x="1402080" y="3197302"/>
            <a:ext cx="9387840" cy="3114598"/>
          </a:xfrm>
          <a:prstGeom prst="rect">
            <a:avLst/>
          </a:prstGeom>
        </p:spPr>
      </p:pic>
    </p:spTree>
    <p:extLst>
      <p:ext uri="{BB962C8B-B14F-4D97-AF65-F5344CB8AC3E}">
        <p14:creationId xmlns:p14="http://schemas.microsoft.com/office/powerpoint/2010/main" val="998172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1A95E-0676-DD87-34F5-401C7CC7891B}"/>
              </a:ext>
            </a:extLst>
          </p:cNvPr>
          <p:cNvSpPr>
            <a:spLocks noGrp="1"/>
          </p:cNvSpPr>
          <p:nvPr>
            <p:ph type="title"/>
          </p:nvPr>
        </p:nvSpPr>
        <p:spPr/>
        <p:txBody>
          <a:bodyPr/>
          <a:lstStyle/>
          <a:p>
            <a:r>
              <a:rPr lang="en-US" dirty="0"/>
              <a:t>Confusion Matrix</a:t>
            </a:r>
          </a:p>
        </p:txBody>
      </p:sp>
      <p:sp>
        <p:nvSpPr>
          <p:cNvPr id="3" name="Content Placeholder 2">
            <a:extLst>
              <a:ext uri="{FF2B5EF4-FFF2-40B4-BE49-F238E27FC236}">
                <a16:creationId xmlns:a16="http://schemas.microsoft.com/office/drawing/2014/main" id="{EF125DC9-28E0-EEE7-7CA5-012EDCB29026}"/>
              </a:ext>
            </a:extLst>
          </p:cNvPr>
          <p:cNvSpPr>
            <a:spLocks noGrp="1"/>
          </p:cNvSpPr>
          <p:nvPr>
            <p:ph idx="1"/>
          </p:nvPr>
        </p:nvSpPr>
        <p:spPr/>
        <p:txBody>
          <a:bodyPr>
            <a:normAutofit fontScale="92500" lnSpcReduction="10000"/>
          </a:bodyPr>
          <a:lstStyle/>
          <a:p>
            <a:r>
              <a:rPr lang="en-GB" dirty="0"/>
              <a:t>Each cell in the confusion matrix represents an evaluation factor. Let’s understand these factors one by one:</a:t>
            </a:r>
          </a:p>
          <a:p>
            <a:pPr lvl="1"/>
            <a:r>
              <a:rPr lang="en-GB" dirty="0"/>
              <a:t>True Positive(TP) signifies how many positive class samples your model predicted correctly.</a:t>
            </a:r>
          </a:p>
          <a:p>
            <a:pPr lvl="1"/>
            <a:r>
              <a:rPr lang="en-GB" dirty="0"/>
              <a:t>True Negative(TN) signifies how many negative class samples your model predicted correctly.</a:t>
            </a:r>
          </a:p>
          <a:p>
            <a:pPr lvl="1"/>
            <a:r>
              <a:rPr lang="en-GB" dirty="0"/>
              <a:t>False Positive(FP) signifies how many negative class samples your model predicted incorrectly. This factor represents </a:t>
            </a:r>
            <a:r>
              <a:rPr lang="en-GB" dirty="0">
                <a:hlinkClick r:id="rId2"/>
              </a:rPr>
              <a:t>Type-I error </a:t>
            </a:r>
            <a:r>
              <a:rPr lang="en-GB" dirty="0"/>
              <a:t>in statistical nomenclature. This error positioning in the confusion matrix depends on the choice of the null hypothesis.</a:t>
            </a:r>
          </a:p>
          <a:p>
            <a:pPr lvl="1"/>
            <a:r>
              <a:rPr lang="en-GB" dirty="0"/>
              <a:t>False Negative(FN) signifies how many positive class samples your model predicted incorrectly. This factor represents </a:t>
            </a:r>
            <a:r>
              <a:rPr lang="en-GB" dirty="0">
                <a:hlinkClick r:id="rId2"/>
              </a:rPr>
              <a:t>Type-II error</a:t>
            </a:r>
            <a:r>
              <a:rPr lang="en-GB" dirty="0"/>
              <a:t> in statistical nomenclature. This error positioning in the confusion matrix also depends on the choice of the null hypothesis.</a:t>
            </a:r>
            <a:endParaRPr lang="en-US" dirty="0"/>
          </a:p>
        </p:txBody>
      </p:sp>
    </p:spTree>
    <p:extLst>
      <p:ext uri="{BB962C8B-B14F-4D97-AF65-F5344CB8AC3E}">
        <p14:creationId xmlns:p14="http://schemas.microsoft.com/office/powerpoint/2010/main" val="2308543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3F924-3A2F-193C-CA90-CA7DE06DB88D}"/>
              </a:ext>
            </a:extLst>
          </p:cNvPr>
          <p:cNvSpPr>
            <a:spLocks noGrp="1"/>
          </p:cNvSpPr>
          <p:nvPr>
            <p:ph type="title"/>
          </p:nvPr>
        </p:nvSpPr>
        <p:spPr/>
        <p:txBody>
          <a:bodyPr/>
          <a:lstStyle/>
          <a:p>
            <a:r>
              <a:rPr lang="en-US" dirty="0"/>
              <a:t>Accuracy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B20E64A-4DF2-A691-40A5-91A68FE4682C}"/>
                  </a:ext>
                </a:extLst>
              </p:cNvPr>
              <p:cNvSpPr>
                <a:spLocks noGrp="1"/>
              </p:cNvSpPr>
              <p:nvPr>
                <p:ph idx="1"/>
              </p:nvPr>
            </p:nvSpPr>
            <p:spPr/>
            <p:txBody>
              <a:bodyPr/>
              <a:lstStyle/>
              <a:p>
                <a:r>
                  <a:rPr lang="en-GB" dirty="0"/>
                  <a:t>We get accuracy by answering this question:</a:t>
                </a:r>
              </a:p>
              <a:p>
                <a:pPr lvl="1"/>
                <a:r>
                  <a:rPr lang="en-GB" dirty="0"/>
                  <a:t>“out of the predictions made by the model, what percentage is correct?”</a:t>
                </a:r>
              </a:p>
              <a:p>
                <a:pPr lvl="1"/>
                <a:endParaRPr lang="en-GB" dirty="0"/>
              </a:p>
              <a:p>
                <a:pPr marL="0" indent="0">
                  <a:buNone/>
                </a:pPr>
                <a:r>
                  <a:rPr lang="en-GB" dirty="0"/>
                  <a:t>	Accuracy = </a:t>
                </a:r>
                <a14:m>
                  <m:oMath xmlns:m="http://schemas.openxmlformats.org/officeDocument/2006/math">
                    <m:f>
                      <m:fPr>
                        <m:ctrlPr>
                          <a:rPr lang="en-GB" i="1" smtClean="0">
                            <a:latin typeface="Cambria Math" panose="02040503050406030204" pitchFamily="18" charset="0"/>
                          </a:rPr>
                        </m:ctrlPr>
                      </m:fPr>
                      <m:num>
                        <m:r>
                          <m:rPr>
                            <m:nor/>
                          </m:rPr>
                          <a:rPr lang="en-GB" dirty="0"/>
                          <m:t>TP</m:t>
                        </m:r>
                        <m:r>
                          <m:rPr>
                            <m:nor/>
                          </m:rPr>
                          <a:rPr lang="en-GB" dirty="0"/>
                          <m:t> + </m:t>
                        </m:r>
                        <m:r>
                          <m:rPr>
                            <m:nor/>
                          </m:rPr>
                          <a:rPr lang="en-GB" dirty="0"/>
                          <m:t>TN</m:t>
                        </m:r>
                        <m:r>
                          <m:rPr>
                            <m:nor/>
                          </m:rPr>
                          <a:rPr lang="en-GB" dirty="0"/>
                          <m:t> </m:t>
                        </m:r>
                      </m:num>
                      <m:den>
                        <m:r>
                          <m:rPr>
                            <m:nor/>
                          </m:rPr>
                          <a:rPr lang="en-GB" dirty="0"/>
                          <m:t>Total</m:t>
                        </m:r>
                        <m:r>
                          <m:rPr>
                            <m:nor/>
                          </m:rPr>
                          <a:rPr lang="en-GB" dirty="0"/>
                          <m:t> </m:t>
                        </m:r>
                        <m:r>
                          <m:rPr>
                            <m:nor/>
                          </m:rPr>
                          <a:rPr lang="en-GB" dirty="0"/>
                          <m:t>number</m:t>
                        </m:r>
                        <m:r>
                          <m:rPr>
                            <m:nor/>
                          </m:rPr>
                          <a:rPr lang="en-GB" dirty="0"/>
                          <m:t> </m:t>
                        </m:r>
                        <m:r>
                          <m:rPr>
                            <m:nor/>
                          </m:rPr>
                          <a:rPr lang="en-GB" dirty="0"/>
                          <m:t>observation</m:t>
                        </m:r>
                        <m:r>
                          <m:rPr>
                            <m:nor/>
                          </m:rPr>
                          <a:rPr lang="en-GB" dirty="0"/>
                          <m:t> </m:t>
                        </m:r>
                      </m:den>
                    </m:f>
                  </m:oMath>
                </a14:m>
                <a:endParaRPr lang="en-GB" dirty="0"/>
              </a:p>
            </p:txBody>
          </p:sp>
        </mc:Choice>
        <mc:Fallback>
          <p:sp>
            <p:nvSpPr>
              <p:cNvPr id="3" name="Content Placeholder 2">
                <a:extLst>
                  <a:ext uri="{FF2B5EF4-FFF2-40B4-BE49-F238E27FC236}">
                    <a16:creationId xmlns:a16="http://schemas.microsoft.com/office/drawing/2014/main" id="{9B20E64A-4DF2-A691-40A5-91A68FE4682C}"/>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2199939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BE052-C386-08A8-2ED3-49BCAB1D6A73}"/>
              </a:ext>
            </a:extLst>
          </p:cNvPr>
          <p:cNvSpPr>
            <a:spLocks noGrp="1"/>
          </p:cNvSpPr>
          <p:nvPr>
            <p:ph type="title"/>
          </p:nvPr>
        </p:nvSpPr>
        <p:spPr/>
        <p:txBody>
          <a:bodyPr/>
          <a:lstStyle/>
          <a:p>
            <a:r>
              <a:rPr lang="en-US" dirty="0"/>
              <a:t>Precision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F9F8217-B031-D14A-B479-EF1C601778E0}"/>
                  </a:ext>
                </a:extLst>
              </p:cNvPr>
              <p:cNvSpPr>
                <a:spLocks noGrp="1"/>
              </p:cNvSpPr>
              <p:nvPr>
                <p:ph idx="1"/>
              </p:nvPr>
            </p:nvSpPr>
            <p:spPr/>
            <p:txBody>
              <a:bodyPr>
                <a:normAutofit fontScale="92500" lnSpcReduction="20000"/>
              </a:bodyPr>
              <a:lstStyle/>
              <a:p>
                <a:r>
                  <a:rPr lang="en-GB" dirty="0"/>
                  <a:t>We get precision by answering this question: “out of all the YES predictions, how many of them were correct?”</a:t>
                </a:r>
              </a:p>
              <a:p>
                <a:endParaRPr lang="en-GB" dirty="0"/>
              </a:p>
              <a:p>
                <a:pPr marL="457200" lvl="1" indent="0">
                  <a:buNone/>
                </a:pPr>
                <a:r>
                  <a:rPr lang="en-GB" dirty="0"/>
                  <a:t>	Precision = </a:t>
                </a:r>
                <a14:m>
                  <m:oMath xmlns:m="http://schemas.openxmlformats.org/officeDocument/2006/math">
                    <m:f>
                      <m:fPr>
                        <m:ctrlPr>
                          <a:rPr lang="en-GB" i="1" smtClean="0">
                            <a:latin typeface="Cambria Math" panose="02040503050406030204" pitchFamily="18" charset="0"/>
                          </a:rPr>
                        </m:ctrlPr>
                      </m:fPr>
                      <m:num>
                        <m:r>
                          <a:rPr lang="en-US" b="0" i="1" smtClean="0">
                            <a:latin typeface="Cambria Math" panose="02040503050406030204" pitchFamily="18" charset="0"/>
                          </a:rPr>
                          <m:t>𝑇𝑃</m:t>
                        </m:r>
                      </m:num>
                      <m:den>
                        <m:r>
                          <a:rPr lang="en-US" b="0" i="1" smtClean="0">
                            <a:latin typeface="Cambria Math" panose="02040503050406030204" pitchFamily="18" charset="0"/>
                          </a:rPr>
                          <m:t>𝑇𝑃</m:t>
                        </m:r>
                        <m:r>
                          <a:rPr lang="en-US" b="0" i="1" smtClean="0">
                            <a:latin typeface="Cambria Math" panose="02040503050406030204" pitchFamily="18" charset="0"/>
                          </a:rPr>
                          <m:t>+</m:t>
                        </m:r>
                        <m:r>
                          <a:rPr lang="en-US" b="0" i="1" smtClean="0">
                            <a:latin typeface="Cambria Math" panose="02040503050406030204" pitchFamily="18" charset="0"/>
                          </a:rPr>
                          <m:t>𝐹𝑃</m:t>
                        </m:r>
                      </m:den>
                    </m:f>
                  </m:oMath>
                </a14:m>
                <a:endParaRPr lang="en-US" dirty="0"/>
              </a:p>
              <a:p>
                <a:pPr marL="0" indent="0">
                  <a:buNone/>
                </a:pPr>
                <a:endParaRPr lang="en-US" dirty="0"/>
              </a:p>
              <a:p>
                <a:pPr lvl="1"/>
                <a:r>
                  <a:rPr lang="en-GB" dirty="0"/>
                  <a:t>A precision score towards 1 will signify that your model didn’t miss any true positives and is able to classify well between correct and incorrect labelling. What it cannot measure is the existence of Type-II error, which is false negatives – cases when, for example, a cancerous patient is identified as non-cancerous.</a:t>
                </a:r>
              </a:p>
              <a:p>
                <a:pPr lvl="1"/>
                <a:r>
                  <a:rPr lang="en-GB" dirty="0"/>
                  <a:t>A low precision score (&lt;0.5) means your classifier has a high number of false positives which can be an outcome of imbalanced class or untuned model hyperparameters. In an imbalanced class problem, you have to prepare your data beforehand with over/under-sampling or focal loss to curb FP/FN.</a:t>
                </a:r>
                <a:endParaRPr lang="en-US" dirty="0"/>
              </a:p>
            </p:txBody>
          </p:sp>
        </mc:Choice>
        <mc:Fallback>
          <p:sp>
            <p:nvSpPr>
              <p:cNvPr id="3" name="Content Placeholder 2">
                <a:extLst>
                  <a:ext uri="{FF2B5EF4-FFF2-40B4-BE49-F238E27FC236}">
                    <a16:creationId xmlns:a16="http://schemas.microsoft.com/office/drawing/2014/main" id="{FF9F8217-B031-D14A-B479-EF1C601778E0}"/>
                  </a:ext>
                </a:extLst>
              </p:cNvPr>
              <p:cNvSpPr>
                <a:spLocks noGrp="1" noRot="1" noChangeAspect="1" noMove="1" noResize="1" noEditPoints="1" noAdjustHandles="1" noChangeArrowheads="1" noChangeShapeType="1" noTextEdit="1"/>
              </p:cNvSpPr>
              <p:nvPr>
                <p:ph idx="1"/>
              </p:nvPr>
            </p:nvSpPr>
            <p:spPr>
              <a:blipFill>
                <a:blip r:embed="rId2"/>
                <a:stretch>
                  <a:fillRect l="-928" t="-3922" b="-2381"/>
                </a:stretch>
              </a:blipFill>
            </p:spPr>
            <p:txBody>
              <a:bodyPr/>
              <a:lstStyle/>
              <a:p>
                <a:r>
                  <a:rPr lang="en-US">
                    <a:noFill/>
                  </a:rPr>
                  <a:t> </a:t>
                </a:r>
              </a:p>
            </p:txBody>
          </p:sp>
        </mc:Fallback>
      </mc:AlternateContent>
    </p:spTree>
    <p:extLst>
      <p:ext uri="{BB962C8B-B14F-4D97-AF65-F5344CB8AC3E}">
        <p14:creationId xmlns:p14="http://schemas.microsoft.com/office/powerpoint/2010/main" val="3125051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47A05-D3CE-4B26-EDCE-C70A792A24C1}"/>
              </a:ext>
            </a:extLst>
          </p:cNvPr>
          <p:cNvSpPr>
            <a:spLocks noGrp="1"/>
          </p:cNvSpPr>
          <p:nvPr>
            <p:ph type="title"/>
          </p:nvPr>
        </p:nvSpPr>
        <p:spPr/>
        <p:txBody>
          <a:bodyPr/>
          <a:lstStyle/>
          <a:p>
            <a:r>
              <a:rPr lang="en-US" dirty="0"/>
              <a:t>Recall / Sensitivity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450D4D6-2508-F64B-561E-D153EB624827}"/>
                  </a:ext>
                </a:extLst>
              </p:cNvPr>
              <p:cNvSpPr>
                <a:spLocks noGrp="1"/>
              </p:cNvSpPr>
              <p:nvPr>
                <p:ph idx="1"/>
              </p:nvPr>
            </p:nvSpPr>
            <p:spPr/>
            <p:txBody>
              <a:bodyPr>
                <a:normAutofit fontScale="85000" lnSpcReduction="10000"/>
              </a:bodyPr>
              <a:lstStyle/>
              <a:p>
                <a:r>
                  <a:rPr lang="en-GB" dirty="0"/>
                  <a:t>It aims to answer this question: “how good was the model at predicting real Yes events?” , which can be considered as the flip of the precision.</a:t>
                </a:r>
              </a:p>
              <a:p>
                <a:endParaRPr lang="en-GB" dirty="0"/>
              </a:p>
              <a:p>
                <a:pPr marL="457200" lvl="1" indent="0">
                  <a:buNone/>
                </a:pPr>
                <a:r>
                  <a:rPr lang="en-GB" dirty="0"/>
                  <a:t>	Sensitivity = </a:t>
                </a:r>
                <a14:m>
                  <m:oMath xmlns:m="http://schemas.openxmlformats.org/officeDocument/2006/math">
                    <m:f>
                      <m:fPr>
                        <m:ctrlPr>
                          <a:rPr lang="en-GB" i="1" smtClean="0">
                            <a:latin typeface="Cambria Math" panose="02040503050406030204" pitchFamily="18" charset="0"/>
                          </a:rPr>
                        </m:ctrlPr>
                      </m:fPr>
                      <m:num>
                        <m:r>
                          <a:rPr lang="en-US" b="0" i="1" smtClean="0">
                            <a:latin typeface="Cambria Math" panose="02040503050406030204" pitchFamily="18" charset="0"/>
                          </a:rPr>
                          <m:t>𝑇𝑃</m:t>
                        </m:r>
                      </m:num>
                      <m:den>
                        <m:r>
                          <a:rPr lang="en-US" b="0" i="1" smtClean="0">
                            <a:latin typeface="Cambria Math" panose="02040503050406030204" pitchFamily="18" charset="0"/>
                          </a:rPr>
                          <m:t>𝑇𝑃</m:t>
                        </m:r>
                        <m:r>
                          <a:rPr lang="en-US" b="0" i="1" smtClean="0">
                            <a:latin typeface="Cambria Math" panose="02040503050406030204" pitchFamily="18" charset="0"/>
                          </a:rPr>
                          <m:t>+</m:t>
                        </m:r>
                        <m:r>
                          <a:rPr lang="en-US" b="0" i="1" smtClean="0">
                            <a:latin typeface="Cambria Math" panose="02040503050406030204" pitchFamily="18" charset="0"/>
                          </a:rPr>
                          <m:t>𝐹𝑁</m:t>
                        </m:r>
                      </m:den>
                    </m:f>
                  </m:oMath>
                </a14:m>
                <a:endParaRPr lang="en-US" dirty="0"/>
              </a:p>
              <a:p>
                <a:pPr marL="457200" lvl="1" indent="0">
                  <a:buNone/>
                </a:pPr>
                <a:endParaRPr lang="en-GB" dirty="0"/>
              </a:p>
              <a:p>
                <a:pPr lvl="1"/>
                <a:r>
                  <a:rPr lang="en-GB" dirty="0"/>
                  <a:t>Recall towards 1 will signify that your model didn’t miss any true positives and is able to classify well between correctly and incorrectly labelling of cancer patients.</a:t>
                </a:r>
              </a:p>
              <a:p>
                <a:pPr lvl="1"/>
                <a:r>
                  <a:rPr lang="en-GB" dirty="0"/>
                  <a:t>What it cannot measure is the existence of type-I error which is false positives i.e. the cases when a cancerous patient is identified as non-cancerous.</a:t>
                </a:r>
              </a:p>
              <a:p>
                <a:pPr lvl="1"/>
                <a:r>
                  <a:rPr lang="en-GB" dirty="0"/>
                  <a:t>A low recall score (&lt;0.5) means your classifier has a high number of false negatives which can be an outcome of imbalanced class or untuned model hyperparameters. In an imbalanced class problem, you have to prepare your data beforehand with over/under-sampling or focal loss to curb FP/FN.</a:t>
                </a:r>
                <a:endParaRPr lang="en-US" dirty="0"/>
              </a:p>
            </p:txBody>
          </p:sp>
        </mc:Choice>
        <mc:Fallback>
          <p:sp>
            <p:nvSpPr>
              <p:cNvPr id="3" name="Content Placeholder 2">
                <a:extLst>
                  <a:ext uri="{FF2B5EF4-FFF2-40B4-BE49-F238E27FC236}">
                    <a16:creationId xmlns:a16="http://schemas.microsoft.com/office/drawing/2014/main" id="{F450D4D6-2508-F64B-561E-D153EB624827}"/>
                  </a:ext>
                </a:extLst>
              </p:cNvPr>
              <p:cNvSpPr>
                <a:spLocks noGrp="1" noRot="1" noChangeAspect="1" noMove="1" noResize="1" noEditPoints="1" noAdjustHandles="1" noChangeArrowheads="1" noChangeShapeType="1" noTextEdit="1"/>
              </p:cNvSpPr>
              <p:nvPr>
                <p:ph idx="1"/>
              </p:nvPr>
            </p:nvSpPr>
            <p:spPr>
              <a:blipFill>
                <a:blip r:embed="rId2"/>
                <a:stretch>
                  <a:fillRect l="-812" t="-2801" r="-580"/>
                </a:stretch>
              </a:blipFill>
            </p:spPr>
            <p:txBody>
              <a:bodyPr/>
              <a:lstStyle/>
              <a:p>
                <a:r>
                  <a:rPr lang="en-US">
                    <a:noFill/>
                  </a:rPr>
                  <a:t> </a:t>
                </a:r>
              </a:p>
            </p:txBody>
          </p:sp>
        </mc:Fallback>
      </mc:AlternateContent>
    </p:spTree>
    <p:extLst>
      <p:ext uri="{BB962C8B-B14F-4D97-AF65-F5344CB8AC3E}">
        <p14:creationId xmlns:p14="http://schemas.microsoft.com/office/powerpoint/2010/main" val="3744868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E0BE-C669-9C93-DD9A-A858B937CEC2}"/>
              </a:ext>
            </a:extLst>
          </p:cNvPr>
          <p:cNvSpPr>
            <a:spLocks noGrp="1"/>
          </p:cNvSpPr>
          <p:nvPr>
            <p:ph type="title"/>
          </p:nvPr>
        </p:nvSpPr>
        <p:spPr/>
        <p:txBody>
          <a:bodyPr/>
          <a:lstStyle/>
          <a:p>
            <a:r>
              <a:rPr lang="en-US" dirty="0"/>
              <a:t>Recall / Specificity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6046CB5-12B4-90AA-A350-8C5718EFF7FA}"/>
                  </a:ext>
                </a:extLst>
              </p:cNvPr>
              <p:cNvSpPr>
                <a:spLocks noGrp="1"/>
              </p:cNvSpPr>
              <p:nvPr>
                <p:ph idx="1"/>
              </p:nvPr>
            </p:nvSpPr>
            <p:spPr/>
            <p:txBody>
              <a:bodyPr/>
              <a:lstStyle/>
              <a:p>
                <a:r>
                  <a:rPr lang="en-GB" dirty="0"/>
                  <a:t>It aims to answer this question: “how good was the model at predicting real No events”?</a:t>
                </a:r>
              </a:p>
              <a:p>
                <a:endParaRPr lang="en-GB" dirty="0"/>
              </a:p>
              <a:p>
                <a:pPr marL="914400" lvl="2" indent="0">
                  <a:buNone/>
                </a:pPr>
                <a:r>
                  <a:rPr lang="en-US" sz="2400" dirty="0"/>
                  <a:t>Specificity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𝑇𝑁</m:t>
                        </m:r>
                      </m:num>
                      <m:den>
                        <m:r>
                          <a:rPr lang="en-US" sz="2400" b="0" i="1" smtClean="0">
                            <a:latin typeface="Cambria Math" panose="02040503050406030204" pitchFamily="18" charset="0"/>
                          </a:rPr>
                          <m:t>𝑇𝑁</m:t>
                        </m:r>
                        <m:r>
                          <a:rPr lang="en-US" sz="2400" b="0" i="1" smtClean="0">
                            <a:latin typeface="Cambria Math" panose="02040503050406030204" pitchFamily="18" charset="0"/>
                          </a:rPr>
                          <m:t>+</m:t>
                        </m:r>
                        <m:r>
                          <a:rPr lang="en-US" sz="2400" b="0" i="1" smtClean="0">
                            <a:latin typeface="Cambria Math" panose="02040503050406030204" pitchFamily="18" charset="0"/>
                          </a:rPr>
                          <m:t>𝐹𝑃</m:t>
                        </m:r>
                      </m:den>
                    </m:f>
                  </m:oMath>
                </a14:m>
                <a:endParaRPr lang="en-US" sz="2400" dirty="0"/>
              </a:p>
            </p:txBody>
          </p:sp>
        </mc:Choice>
        <mc:Fallback>
          <p:sp>
            <p:nvSpPr>
              <p:cNvPr id="3" name="Content Placeholder 2">
                <a:extLst>
                  <a:ext uri="{FF2B5EF4-FFF2-40B4-BE49-F238E27FC236}">
                    <a16:creationId xmlns:a16="http://schemas.microsoft.com/office/drawing/2014/main" id="{D6046CB5-12B4-90AA-A350-8C5718EFF7FA}"/>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1538952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69929-F9E9-8D55-52F2-562C7FE28897}"/>
              </a:ext>
            </a:extLst>
          </p:cNvPr>
          <p:cNvSpPr>
            <a:spLocks noGrp="1"/>
          </p:cNvSpPr>
          <p:nvPr>
            <p:ph type="title"/>
          </p:nvPr>
        </p:nvSpPr>
        <p:spPr/>
        <p:txBody>
          <a:bodyPr/>
          <a:lstStyle/>
          <a:p>
            <a:r>
              <a:rPr lang="en-US" dirty="0"/>
              <a:t>Precision-Recall tradeoff</a:t>
            </a:r>
          </a:p>
        </p:txBody>
      </p:sp>
      <p:sp>
        <p:nvSpPr>
          <p:cNvPr id="3" name="Content Placeholder 2">
            <a:extLst>
              <a:ext uri="{FF2B5EF4-FFF2-40B4-BE49-F238E27FC236}">
                <a16:creationId xmlns:a16="http://schemas.microsoft.com/office/drawing/2014/main" id="{577652DB-6E29-9D6F-20CD-3014E1ABF827}"/>
              </a:ext>
            </a:extLst>
          </p:cNvPr>
          <p:cNvSpPr>
            <a:spLocks noGrp="1"/>
          </p:cNvSpPr>
          <p:nvPr>
            <p:ph idx="1"/>
          </p:nvPr>
        </p:nvSpPr>
        <p:spPr>
          <a:xfrm>
            <a:off x="838200" y="1825625"/>
            <a:ext cx="4577080" cy="4351338"/>
          </a:xfrm>
        </p:spPr>
        <p:txBody>
          <a:bodyPr>
            <a:normAutofit fontScale="70000" lnSpcReduction="20000"/>
          </a:bodyPr>
          <a:lstStyle/>
          <a:p>
            <a:r>
              <a:rPr lang="en-GB" dirty="0"/>
              <a:t>To improve your model, you can either improve precision or recall – but not both! If you try to reduce cases of cancerous patients being labelled as non-cancerous (FN/type-II), no direct effect will take place on non-cancerous patients being labelled as cancerous (FP/type-I).</a:t>
            </a:r>
          </a:p>
          <a:p>
            <a:r>
              <a:rPr lang="en-GB" dirty="0"/>
              <a:t>This trade-off highly impacts real-world scenarios, so we can deduce that precision and recall alone aren’t very good metrics to rely on and work with. That’s the reason you see many corporate reports and online competitions urge the submission metric to be a combination of precision and recall.</a:t>
            </a:r>
            <a:endParaRPr lang="en-US" dirty="0"/>
          </a:p>
        </p:txBody>
      </p:sp>
      <p:pic>
        <p:nvPicPr>
          <p:cNvPr id="4" name="Picture 3">
            <a:extLst>
              <a:ext uri="{FF2B5EF4-FFF2-40B4-BE49-F238E27FC236}">
                <a16:creationId xmlns:a16="http://schemas.microsoft.com/office/drawing/2014/main" id="{5F75A047-D724-A154-3542-7B4A9A4430EF}"/>
              </a:ext>
            </a:extLst>
          </p:cNvPr>
          <p:cNvPicPr>
            <a:picLocks noChangeAspect="1"/>
          </p:cNvPicPr>
          <p:nvPr/>
        </p:nvPicPr>
        <p:blipFill>
          <a:blip r:embed="rId2"/>
          <a:stretch>
            <a:fillRect/>
          </a:stretch>
        </p:blipFill>
        <p:spPr>
          <a:xfrm>
            <a:off x="5492750" y="1538922"/>
            <a:ext cx="6286500" cy="4714875"/>
          </a:xfrm>
          <a:prstGeom prst="rect">
            <a:avLst/>
          </a:prstGeom>
        </p:spPr>
      </p:pic>
    </p:spTree>
    <p:extLst>
      <p:ext uri="{BB962C8B-B14F-4D97-AF65-F5344CB8AC3E}">
        <p14:creationId xmlns:p14="http://schemas.microsoft.com/office/powerpoint/2010/main" val="2523589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B6507-6790-73C4-86E3-50F3B9318FC6}"/>
              </a:ext>
            </a:extLst>
          </p:cNvPr>
          <p:cNvSpPr>
            <a:spLocks noGrp="1"/>
          </p:cNvSpPr>
          <p:nvPr>
            <p:ph type="title"/>
          </p:nvPr>
        </p:nvSpPr>
        <p:spPr/>
        <p:txBody>
          <a:bodyPr/>
          <a:lstStyle/>
          <a:p>
            <a:r>
              <a:rPr lang="en-US" dirty="0"/>
              <a:t>Fl Score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799BB-6F8E-85DD-8814-7DB8A03644EA}"/>
                  </a:ext>
                </a:extLst>
              </p:cNvPr>
              <p:cNvSpPr>
                <a:spLocks noGrp="1"/>
              </p:cNvSpPr>
              <p:nvPr>
                <p:ph idx="1"/>
              </p:nvPr>
            </p:nvSpPr>
            <p:spPr/>
            <p:txBody>
              <a:bodyPr/>
              <a:lstStyle/>
              <a:p>
                <a:r>
                  <a:rPr lang="en-GB" dirty="0"/>
                  <a:t>Sometimes used when dealing with imbalanced data set, meaning that there are more of one class/label than there are of the other. It corresponds to the harmonic mean of the precision and recall.</a:t>
                </a:r>
                <a:endParaRPr lang="en-US" dirty="0"/>
              </a:p>
              <a:p>
                <a:endParaRPr lang="en-US" dirty="0"/>
              </a:p>
              <a:p>
                <a:pPr marL="914400" lvl="2" indent="0">
                  <a:buNone/>
                </a:pPr>
                <a:r>
                  <a:rPr lang="en-US" sz="2400" dirty="0"/>
                  <a:t>F1 Score = 2 </a:t>
                </a:r>
                <a:r>
                  <a:rPr lang="en-US" sz="2400" dirty="0">
                    <a:sym typeface="Symbol" panose="05050102010706020507" pitchFamily="18" charset="2"/>
                  </a:rPr>
                  <a:t> </a:t>
                </a:r>
                <a14:m>
                  <m:oMath xmlns:m="http://schemas.openxmlformats.org/officeDocument/2006/math">
                    <m:f>
                      <m:fPr>
                        <m:ctrlPr>
                          <a:rPr lang="en-US" sz="2400" i="1" smtClean="0">
                            <a:latin typeface="Cambria Math" panose="02040503050406030204" pitchFamily="18" charset="0"/>
                            <a:sym typeface="Symbol" panose="05050102010706020507" pitchFamily="18" charset="2"/>
                          </a:rPr>
                        </m:ctrlPr>
                      </m:fPr>
                      <m:num>
                        <m:r>
                          <a:rPr lang="en-US" sz="2400" b="0" i="1" smtClean="0">
                            <a:latin typeface="Cambria Math" panose="02040503050406030204" pitchFamily="18" charset="0"/>
                            <a:sym typeface="Symbol" panose="05050102010706020507" pitchFamily="18" charset="2"/>
                          </a:rPr>
                          <m:t>𝑃𝑟𝑒𝑐𝑖𝑠𝑖𝑜𝑛</m:t>
                        </m:r>
                        <m:r>
                          <a:rPr lang="en-US" sz="2400" b="0" i="1" smtClean="0">
                            <a:latin typeface="Cambria Math" panose="02040503050406030204" pitchFamily="18" charset="0"/>
                            <a:sym typeface="Symbol" panose="05050102010706020507" pitchFamily="18" charset="2"/>
                          </a:rPr>
                          <m:t>  </m:t>
                        </m:r>
                        <m:r>
                          <a:rPr lang="en-US" sz="2400" b="0" i="1" smtClean="0">
                            <a:latin typeface="Cambria Math" panose="02040503050406030204" pitchFamily="18" charset="0"/>
                            <a:sym typeface="Symbol" panose="05050102010706020507" pitchFamily="18" charset="2"/>
                          </a:rPr>
                          <m:t>𝑅𝑒𝑐𝑎𝑙𝑙</m:t>
                        </m:r>
                      </m:num>
                      <m:den>
                        <m:r>
                          <a:rPr lang="en-US" sz="2400" b="0" i="1" smtClean="0">
                            <a:latin typeface="Cambria Math" panose="02040503050406030204" pitchFamily="18" charset="0"/>
                            <a:sym typeface="Symbol" panose="05050102010706020507" pitchFamily="18" charset="2"/>
                          </a:rPr>
                          <m:t>𝑃𝑟𝑒𝑐𝑖𝑠𝑖𝑜𝑛</m:t>
                        </m:r>
                        <m:r>
                          <a:rPr lang="en-US" sz="2400" b="0" i="1" smtClean="0">
                            <a:latin typeface="Cambria Math" panose="02040503050406030204" pitchFamily="18" charset="0"/>
                            <a:sym typeface="Symbol" panose="05050102010706020507" pitchFamily="18" charset="2"/>
                          </a:rPr>
                          <m:t>+</m:t>
                        </m:r>
                        <m:r>
                          <a:rPr lang="en-US" sz="2400" b="0" i="1" smtClean="0">
                            <a:latin typeface="Cambria Math" panose="02040503050406030204" pitchFamily="18" charset="0"/>
                            <a:sym typeface="Symbol" panose="05050102010706020507" pitchFamily="18" charset="2"/>
                          </a:rPr>
                          <m:t>𝑅𝑒𝑐𝑎𝑙𝑙</m:t>
                        </m:r>
                      </m:den>
                    </m:f>
                  </m:oMath>
                </a14:m>
                <a:endParaRPr lang="en-GB" sz="2400" dirty="0"/>
              </a:p>
            </p:txBody>
          </p:sp>
        </mc:Choice>
        <mc:Fallback xmlns="">
          <p:sp>
            <p:nvSpPr>
              <p:cNvPr id="3" name="Content Placeholder 2">
                <a:extLst>
                  <a:ext uri="{FF2B5EF4-FFF2-40B4-BE49-F238E27FC236}">
                    <a16:creationId xmlns:a16="http://schemas.microsoft.com/office/drawing/2014/main" id="{F51799BB-6F8E-85DD-8814-7DB8A03644EA}"/>
                  </a:ext>
                </a:extLst>
              </p:cNvPr>
              <p:cNvSpPr>
                <a:spLocks noGrp="1" noRot="1" noChangeAspect="1" noMove="1" noResize="1" noEditPoints="1" noAdjustHandles="1" noChangeArrowheads="1" noChangeShapeType="1" noTextEdit="1"/>
              </p:cNvSpPr>
              <p:nvPr>
                <p:ph idx="1"/>
              </p:nvPr>
            </p:nvSpPr>
            <p:spPr>
              <a:blipFill>
                <a:blip r:embed="rId2"/>
                <a:stretch>
                  <a:fillRect l="-1043" t="-2381" r="-1855"/>
                </a:stretch>
              </a:blipFill>
            </p:spPr>
            <p:txBody>
              <a:bodyPr/>
              <a:lstStyle/>
              <a:p>
                <a:r>
                  <a:rPr lang="en-US">
                    <a:noFill/>
                  </a:rPr>
                  <a:t> </a:t>
                </a:r>
              </a:p>
            </p:txBody>
          </p:sp>
        </mc:Fallback>
      </mc:AlternateContent>
    </p:spTree>
    <p:extLst>
      <p:ext uri="{BB962C8B-B14F-4D97-AF65-F5344CB8AC3E}">
        <p14:creationId xmlns:p14="http://schemas.microsoft.com/office/powerpoint/2010/main" val="2708685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65969-156F-E348-120B-36ED9F133989}"/>
              </a:ext>
            </a:extLst>
          </p:cNvPr>
          <p:cNvSpPr>
            <a:spLocks noGrp="1"/>
          </p:cNvSpPr>
          <p:nvPr>
            <p:ph type="title"/>
          </p:nvPr>
        </p:nvSpPr>
        <p:spPr/>
        <p:txBody>
          <a:bodyPr>
            <a:normAutofit/>
          </a:bodyPr>
          <a:lstStyle/>
          <a:p>
            <a:r>
              <a:rPr lang="en-US" dirty="0"/>
              <a:t>Receiver-operating characteristic curve (ROC)</a:t>
            </a:r>
          </a:p>
        </p:txBody>
      </p:sp>
      <p:sp>
        <p:nvSpPr>
          <p:cNvPr id="3" name="Content Placeholder 2">
            <a:extLst>
              <a:ext uri="{FF2B5EF4-FFF2-40B4-BE49-F238E27FC236}">
                <a16:creationId xmlns:a16="http://schemas.microsoft.com/office/drawing/2014/main" id="{4387F5CD-EECE-C97C-25F2-E72B7FB3D024}"/>
              </a:ext>
            </a:extLst>
          </p:cNvPr>
          <p:cNvSpPr>
            <a:spLocks noGrp="1"/>
          </p:cNvSpPr>
          <p:nvPr>
            <p:ph idx="1"/>
          </p:nvPr>
        </p:nvSpPr>
        <p:spPr>
          <a:xfrm>
            <a:off x="838200" y="1825625"/>
            <a:ext cx="6680200" cy="3764947"/>
          </a:xfrm>
        </p:spPr>
        <p:txBody>
          <a:bodyPr>
            <a:normAutofit fontScale="85000" lnSpcReduction="10000"/>
          </a:bodyPr>
          <a:lstStyle/>
          <a:p>
            <a:r>
              <a:rPr lang="en-GB" dirty="0"/>
              <a:t>The ROC curve is a visual representation of model performance across all thresholds.</a:t>
            </a:r>
          </a:p>
          <a:p>
            <a:r>
              <a:rPr lang="en-GB" dirty="0"/>
              <a:t>The ROC curve is drawn by calculating the true positive rate (TPR) and false positive rate (FPR) at every possible threshold (in practice, at selected intervals), then graphing TPR over FPR. A perfect model, which at some threshold has a TPR of 1.0 and a FPR of 0.0, can be represented by either a point at (0, 1) if all other thresholds are ignored, or by the following (right image):</a:t>
            </a:r>
            <a:endParaRPr lang="en-US" dirty="0"/>
          </a:p>
        </p:txBody>
      </p:sp>
      <p:pic>
        <p:nvPicPr>
          <p:cNvPr id="4" name="Picture 3">
            <a:extLst>
              <a:ext uri="{FF2B5EF4-FFF2-40B4-BE49-F238E27FC236}">
                <a16:creationId xmlns:a16="http://schemas.microsoft.com/office/drawing/2014/main" id="{8E31C067-C3DA-A017-48D2-4D0BB4B36D81}"/>
              </a:ext>
            </a:extLst>
          </p:cNvPr>
          <p:cNvPicPr>
            <a:picLocks noChangeAspect="1"/>
          </p:cNvPicPr>
          <p:nvPr/>
        </p:nvPicPr>
        <p:blipFill>
          <a:blip r:embed="rId2"/>
          <a:srcRect l="13250" r="13768"/>
          <a:stretch/>
        </p:blipFill>
        <p:spPr>
          <a:xfrm>
            <a:off x="8070850" y="1482344"/>
            <a:ext cx="3581400" cy="3680460"/>
          </a:xfrm>
          <a:prstGeom prst="rect">
            <a:avLst/>
          </a:prstGeom>
        </p:spPr>
      </p:pic>
      <p:sp>
        <p:nvSpPr>
          <p:cNvPr id="5" name="TextBox 4">
            <a:extLst>
              <a:ext uri="{FF2B5EF4-FFF2-40B4-BE49-F238E27FC236}">
                <a16:creationId xmlns:a16="http://schemas.microsoft.com/office/drawing/2014/main" id="{CD991851-7D0C-B650-E10E-691E73666C6F}"/>
              </a:ext>
            </a:extLst>
          </p:cNvPr>
          <p:cNvSpPr txBox="1"/>
          <p:nvPr/>
        </p:nvSpPr>
        <p:spPr>
          <a:xfrm>
            <a:off x="8369300" y="5253633"/>
            <a:ext cx="2984500" cy="923330"/>
          </a:xfrm>
          <a:prstGeom prst="rect">
            <a:avLst/>
          </a:prstGeom>
          <a:noFill/>
        </p:spPr>
        <p:txBody>
          <a:bodyPr wrap="square" rtlCol="0">
            <a:spAutoFit/>
          </a:bodyPr>
          <a:lstStyle/>
          <a:p>
            <a:pPr algn="ctr"/>
            <a:r>
              <a:rPr lang="en-GB" i="1" dirty="0"/>
              <a:t>ROC and AUC of a hypothetical perfect model.</a:t>
            </a:r>
            <a:endParaRPr lang="en-US" i="1"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8921C46-37D9-9536-4E6B-57B024474DC1}"/>
                  </a:ext>
                </a:extLst>
              </p:cNvPr>
              <p:cNvSpPr txBox="1"/>
              <p:nvPr/>
            </p:nvSpPr>
            <p:spPr>
              <a:xfrm>
                <a:off x="1861133" y="5590572"/>
                <a:ext cx="4149726" cy="58137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𝑇𝑃𝑅</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𝑇𝑃</m:t>
                          </m:r>
                        </m:num>
                        <m:den>
                          <m:r>
                            <a:rPr lang="en-US" sz="2000" b="0" i="1" smtClean="0">
                              <a:latin typeface="Cambria Math" panose="02040503050406030204" pitchFamily="18" charset="0"/>
                            </a:rPr>
                            <m:t>𝑇𝑃</m:t>
                          </m:r>
                          <m:r>
                            <a:rPr lang="en-US" sz="2000" b="0" i="1" smtClean="0">
                              <a:latin typeface="Cambria Math" panose="02040503050406030204" pitchFamily="18" charset="0"/>
                            </a:rPr>
                            <m:t>+</m:t>
                          </m:r>
                          <m:r>
                            <a:rPr lang="en-US" sz="2000" b="0" i="1" smtClean="0">
                              <a:latin typeface="Cambria Math" panose="02040503050406030204" pitchFamily="18" charset="0"/>
                            </a:rPr>
                            <m:t>𝐹𝑁</m:t>
                          </m:r>
                        </m:den>
                      </m:f>
                      <m:r>
                        <a:rPr lang="en-US" sz="2000" b="0" i="1" smtClean="0">
                          <a:latin typeface="Cambria Math" panose="02040503050406030204" pitchFamily="18" charset="0"/>
                        </a:rPr>
                        <m:t>      </m:t>
                      </m:r>
                      <m:r>
                        <a:rPr lang="en-US" sz="2000" b="0" i="1" smtClean="0">
                          <a:latin typeface="Cambria Math" panose="02040503050406030204" pitchFamily="18" charset="0"/>
                        </a:rPr>
                        <m:t>𝐹𝑃𝑅</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𝐹𝑃</m:t>
                          </m:r>
                        </m:num>
                        <m:den>
                          <m:r>
                            <a:rPr lang="en-US" sz="2000" b="0" i="1" smtClean="0">
                              <a:latin typeface="Cambria Math" panose="02040503050406030204" pitchFamily="18" charset="0"/>
                            </a:rPr>
                            <m:t>𝐹𝑃</m:t>
                          </m:r>
                          <m:r>
                            <a:rPr lang="en-US" sz="2000" b="0" i="1" smtClean="0">
                              <a:latin typeface="Cambria Math" panose="02040503050406030204" pitchFamily="18" charset="0"/>
                            </a:rPr>
                            <m:t>+</m:t>
                          </m:r>
                          <m:r>
                            <a:rPr lang="en-US" sz="2000" b="0" i="1" smtClean="0">
                              <a:latin typeface="Cambria Math" panose="02040503050406030204" pitchFamily="18" charset="0"/>
                            </a:rPr>
                            <m:t>𝑇𝑁</m:t>
                          </m:r>
                        </m:den>
                      </m:f>
                    </m:oMath>
                  </m:oMathPara>
                </a14:m>
                <a:endParaRPr lang="en-US" sz="2400" dirty="0"/>
              </a:p>
            </p:txBody>
          </p:sp>
        </mc:Choice>
        <mc:Fallback>
          <p:sp>
            <p:nvSpPr>
              <p:cNvPr id="7" name="TextBox 6">
                <a:extLst>
                  <a:ext uri="{FF2B5EF4-FFF2-40B4-BE49-F238E27FC236}">
                    <a16:creationId xmlns:a16="http://schemas.microsoft.com/office/drawing/2014/main" id="{18921C46-37D9-9536-4E6B-57B024474DC1}"/>
                  </a:ext>
                </a:extLst>
              </p:cNvPr>
              <p:cNvSpPr txBox="1">
                <a:spLocks noRot="1" noChangeAspect="1" noMove="1" noResize="1" noEditPoints="1" noAdjustHandles="1" noChangeArrowheads="1" noChangeShapeType="1" noTextEdit="1"/>
              </p:cNvSpPr>
              <p:nvPr/>
            </p:nvSpPr>
            <p:spPr>
              <a:xfrm>
                <a:off x="1861133" y="5590572"/>
                <a:ext cx="4149726" cy="58137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87677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D6E74-7599-C41E-6DB5-10CDA67E8C7F}"/>
              </a:ext>
            </a:extLst>
          </p:cNvPr>
          <p:cNvSpPr>
            <a:spLocks noGrp="1"/>
          </p:cNvSpPr>
          <p:nvPr>
            <p:ph type="title"/>
          </p:nvPr>
        </p:nvSpPr>
        <p:spPr/>
        <p:txBody>
          <a:bodyPr/>
          <a:lstStyle/>
          <a:p>
            <a:r>
              <a:rPr lang="en-US" dirty="0"/>
              <a:t>AUC - ROC Curve</a:t>
            </a:r>
          </a:p>
        </p:txBody>
      </p:sp>
      <p:sp>
        <p:nvSpPr>
          <p:cNvPr id="3" name="Content Placeholder 2">
            <a:extLst>
              <a:ext uri="{FF2B5EF4-FFF2-40B4-BE49-F238E27FC236}">
                <a16:creationId xmlns:a16="http://schemas.microsoft.com/office/drawing/2014/main" id="{7CD7C06B-EE1D-002B-777C-785E9D5B9518}"/>
              </a:ext>
            </a:extLst>
          </p:cNvPr>
          <p:cNvSpPr>
            <a:spLocks noGrp="1"/>
          </p:cNvSpPr>
          <p:nvPr>
            <p:ph idx="1"/>
          </p:nvPr>
        </p:nvSpPr>
        <p:spPr/>
        <p:txBody>
          <a:bodyPr>
            <a:normAutofit fontScale="85000" lnSpcReduction="10000"/>
          </a:bodyPr>
          <a:lstStyle/>
          <a:p>
            <a:r>
              <a:rPr lang="en-GB" dirty="0"/>
              <a:t>The area under the ROC curve (AUC) represents the probability that the model, if given a randomly chosen positive and negative example, will rank the positive higher than the negative.</a:t>
            </a:r>
          </a:p>
          <a:p>
            <a:r>
              <a:rPr lang="en-GB" dirty="0"/>
              <a:t>AUC— ROC generates probability values instead of binary 0/1 values. It should be used when your data set is roughly balanced.</a:t>
            </a:r>
          </a:p>
          <a:p>
            <a:r>
              <a:rPr lang="en-GB" dirty="0"/>
              <a:t>Using ROC for imbalanced data sets lead to incorrect interpretation.</a:t>
            </a:r>
          </a:p>
          <a:p>
            <a:r>
              <a:rPr lang="en-GB" dirty="0"/>
              <a:t>ROC curves provide good overview of trade-off between the TP rate and FP rate for binary classifier using different probability thresholds.</a:t>
            </a:r>
          </a:p>
          <a:p>
            <a:pPr lvl="1"/>
            <a:r>
              <a:rPr lang="en-GB" dirty="0"/>
              <a:t>A value below 0.5 indicates a poor classifier</a:t>
            </a:r>
          </a:p>
          <a:p>
            <a:pPr lvl="1"/>
            <a:r>
              <a:rPr lang="en-GB" dirty="0"/>
              <a:t>A value of 0.5 means random classifier</a:t>
            </a:r>
          </a:p>
          <a:p>
            <a:pPr lvl="1"/>
            <a:r>
              <a:rPr lang="en-GB" dirty="0"/>
              <a:t>Value over 0.7 corresponds to a good classifier</a:t>
            </a:r>
          </a:p>
          <a:p>
            <a:pPr lvl="1"/>
            <a:r>
              <a:rPr lang="en-GB" dirty="0"/>
              <a:t>0.8 indicates a strong classifier</a:t>
            </a:r>
          </a:p>
          <a:p>
            <a:pPr lvl="1"/>
            <a:r>
              <a:rPr lang="en-GB" dirty="0"/>
              <a:t>We have 1 when the classifier perfectly predicts everything.</a:t>
            </a:r>
            <a:endParaRPr lang="en-US" dirty="0"/>
          </a:p>
        </p:txBody>
      </p:sp>
    </p:spTree>
    <p:extLst>
      <p:ext uri="{BB962C8B-B14F-4D97-AF65-F5344CB8AC3E}">
        <p14:creationId xmlns:p14="http://schemas.microsoft.com/office/powerpoint/2010/main" val="623357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B3C3E-6D42-1232-E91A-F5680E33E115}"/>
              </a:ext>
            </a:extLst>
          </p:cNvPr>
          <p:cNvSpPr>
            <a:spLocks noGrp="1"/>
          </p:cNvSpPr>
          <p:nvPr>
            <p:ph type="title"/>
          </p:nvPr>
        </p:nvSpPr>
        <p:spPr/>
        <p:txBody>
          <a:bodyPr/>
          <a:lstStyle/>
          <a:p>
            <a:r>
              <a:rPr lang="en-US" dirty="0"/>
              <a:t>AUC - ROC Curve</a:t>
            </a:r>
          </a:p>
        </p:txBody>
      </p:sp>
      <p:pic>
        <p:nvPicPr>
          <p:cNvPr id="4" name="Picture 3">
            <a:extLst>
              <a:ext uri="{FF2B5EF4-FFF2-40B4-BE49-F238E27FC236}">
                <a16:creationId xmlns:a16="http://schemas.microsoft.com/office/drawing/2014/main" id="{EB5A0E8E-6225-2BCD-D4BB-A6D166DC49F6}"/>
              </a:ext>
            </a:extLst>
          </p:cNvPr>
          <p:cNvPicPr>
            <a:picLocks noChangeAspect="1"/>
          </p:cNvPicPr>
          <p:nvPr/>
        </p:nvPicPr>
        <p:blipFill>
          <a:blip r:embed="rId2"/>
          <a:stretch>
            <a:fillRect/>
          </a:stretch>
        </p:blipFill>
        <p:spPr>
          <a:xfrm>
            <a:off x="497841" y="2278439"/>
            <a:ext cx="3788834" cy="2841625"/>
          </a:xfrm>
          <a:prstGeom prst="rect">
            <a:avLst/>
          </a:prstGeom>
        </p:spPr>
      </p:pic>
      <p:sp>
        <p:nvSpPr>
          <p:cNvPr id="5" name="TextBox 4">
            <a:extLst>
              <a:ext uri="{FF2B5EF4-FFF2-40B4-BE49-F238E27FC236}">
                <a16:creationId xmlns:a16="http://schemas.microsoft.com/office/drawing/2014/main" id="{B39EBB0D-6CA0-F061-FA5C-DF0742EE86C3}"/>
              </a:ext>
            </a:extLst>
          </p:cNvPr>
          <p:cNvSpPr txBox="1"/>
          <p:nvPr/>
        </p:nvSpPr>
        <p:spPr>
          <a:xfrm>
            <a:off x="838200" y="5403016"/>
            <a:ext cx="2709593" cy="923330"/>
          </a:xfrm>
          <a:prstGeom prst="rect">
            <a:avLst/>
          </a:prstGeom>
          <a:noFill/>
        </p:spPr>
        <p:txBody>
          <a:bodyPr wrap="square" rtlCol="0">
            <a:spAutoFit/>
          </a:bodyPr>
          <a:lstStyle/>
          <a:p>
            <a:pPr algn="ctr"/>
            <a:r>
              <a:rPr lang="en-GB" i="1" dirty="0"/>
              <a:t>ROC and AUC of completely random guesses.</a:t>
            </a:r>
            <a:endParaRPr lang="en-US" i="1" dirty="0"/>
          </a:p>
        </p:txBody>
      </p:sp>
      <p:pic>
        <p:nvPicPr>
          <p:cNvPr id="6" name="Picture 5">
            <a:extLst>
              <a:ext uri="{FF2B5EF4-FFF2-40B4-BE49-F238E27FC236}">
                <a16:creationId xmlns:a16="http://schemas.microsoft.com/office/drawing/2014/main" id="{C0772E94-691C-1098-93F1-E21EBDF132AA}"/>
              </a:ext>
            </a:extLst>
          </p:cNvPr>
          <p:cNvPicPr>
            <a:picLocks noChangeAspect="1"/>
          </p:cNvPicPr>
          <p:nvPr/>
        </p:nvPicPr>
        <p:blipFill>
          <a:blip r:embed="rId3"/>
          <a:srcRect l="11794" r="18656"/>
          <a:stretch/>
        </p:blipFill>
        <p:spPr>
          <a:xfrm>
            <a:off x="4124960" y="1690688"/>
            <a:ext cx="3403600" cy="3670301"/>
          </a:xfrm>
          <a:prstGeom prst="rect">
            <a:avLst/>
          </a:prstGeom>
        </p:spPr>
      </p:pic>
      <p:pic>
        <p:nvPicPr>
          <p:cNvPr id="7" name="Picture 6">
            <a:extLst>
              <a:ext uri="{FF2B5EF4-FFF2-40B4-BE49-F238E27FC236}">
                <a16:creationId xmlns:a16="http://schemas.microsoft.com/office/drawing/2014/main" id="{038A00AE-86E3-F18D-BCF4-8232E8D80BAA}"/>
              </a:ext>
            </a:extLst>
          </p:cNvPr>
          <p:cNvPicPr>
            <a:picLocks noChangeAspect="1"/>
          </p:cNvPicPr>
          <p:nvPr/>
        </p:nvPicPr>
        <p:blipFill>
          <a:blip r:embed="rId4"/>
          <a:srcRect l="13430" r="19421"/>
          <a:stretch/>
        </p:blipFill>
        <p:spPr>
          <a:xfrm>
            <a:off x="7790180" y="1672909"/>
            <a:ext cx="3302000" cy="3688080"/>
          </a:xfrm>
          <a:prstGeom prst="rect">
            <a:avLst/>
          </a:prstGeom>
        </p:spPr>
      </p:pic>
      <p:sp>
        <p:nvSpPr>
          <p:cNvPr id="8" name="TextBox 7">
            <a:extLst>
              <a:ext uri="{FF2B5EF4-FFF2-40B4-BE49-F238E27FC236}">
                <a16:creationId xmlns:a16="http://schemas.microsoft.com/office/drawing/2014/main" id="{EE01CFDC-064E-34CE-9488-9C63F0EB0399}"/>
              </a:ext>
            </a:extLst>
          </p:cNvPr>
          <p:cNvSpPr txBox="1"/>
          <p:nvPr/>
        </p:nvSpPr>
        <p:spPr>
          <a:xfrm>
            <a:off x="5217160" y="5360989"/>
            <a:ext cx="5146040" cy="923330"/>
          </a:xfrm>
          <a:prstGeom prst="rect">
            <a:avLst/>
          </a:prstGeom>
          <a:noFill/>
        </p:spPr>
        <p:txBody>
          <a:bodyPr wrap="square" rtlCol="0">
            <a:spAutoFit/>
          </a:bodyPr>
          <a:lstStyle/>
          <a:p>
            <a:pPr algn="ctr"/>
            <a:r>
              <a:rPr lang="en-GB" i="1" dirty="0"/>
              <a:t>ROC and AUC of two hypothetical models. The curve on the right, with a greater AUC, represents the better of the two models.</a:t>
            </a:r>
            <a:endParaRPr lang="en-US" i="1" dirty="0"/>
          </a:p>
        </p:txBody>
      </p:sp>
    </p:spTree>
    <p:extLst>
      <p:ext uri="{BB962C8B-B14F-4D97-AF65-F5344CB8AC3E}">
        <p14:creationId xmlns:p14="http://schemas.microsoft.com/office/powerpoint/2010/main" val="4013637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4ADD-9324-B060-C61A-4C043554BF8E}"/>
              </a:ext>
            </a:extLst>
          </p:cNvPr>
          <p:cNvSpPr>
            <a:spLocks noGrp="1"/>
          </p:cNvSpPr>
          <p:nvPr>
            <p:ph type="title"/>
          </p:nvPr>
        </p:nvSpPr>
        <p:spPr/>
        <p:txBody>
          <a:bodyPr/>
          <a:lstStyle/>
          <a:p>
            <a:r>
              <a:rPr lang="en-GB" dirty="0"/>
              <a:t>Strategies to choose the right metric</a:t>
            </a:r>
            <a:endParaRPr lang="en-US" dirty="0"/>
          </a:p>
        </p:txBody>
      </p:sp>
      <p:sp>
        <p:nvSpPr>
          <p:cNvPr id="3" name="Content Placeholder 2">
            <a:extLst>
              <a:ext uri="{FF2B5EF4-FFF2-40B4-BE49-F238E27FC236}">
                <a16:creationId xmlns:a16="http://schemas.microsoft.com/office/drawing/2014/main" id="{CDF5E93C-B1C9-B72C-0DD3-D71B10B00729}"/>
              </a:ext>
            </a:extLst>
          </p:cNvPr>
          <p:cNvSpPr>
            <a:spLocks noGrp="1"/>
          </p:cNvSpPr>
          <p:nvPr>
            <p:ph idx="1"/>
          </p:nvPr>
        </p:nvSpPr>
        <p:spPr/>
        <p:txBody>
          <a:bodyPr>
            <a:normAutofit fontScale="92500" lnSpcReduction="20000"/>
          </a:bodyPr>
          <a:lstStyle/>
          <a:p>
            <a:r>
              <a:rPr lang="en-GB" dirty="0"/>
              <a:t>Choose accuracy</a:t>
            </a:r>
          </a:p>
          <a:p>
            <a:pPr lvl="1"/>
            <a:r>
              <a:rPr lang="en-GB" dirty="0"/>
              <a:t>The cost of FP and FN are roughly equal.</a:t>
            </a:r>
          </a:p>
          <a:p>
            <a:pPr lvl="1"/>
            <a:r>
              <a:rPr lang="en-GB" dirty="0"/>
              <a:t>The benefit of TP and TN are roughly equal.</a:t>
            </a:r>
          </a:p>
          <a:p>
            <a:r>
              <a:rPr lang="en-GB" dirty="0"/>
              <a:t>Choose Precision</a:t>
            </a:r>
          </a:p>
          <a:p>
            <a:pPr lvl="1"/>
            <a:r>
              <a:rPr lang="en-GB" dirty="0"/>
              <a:t>The cost of FP is much higher than a FN.</a:t>
            </a:r>
          </a:p>
          <a:p>
            <a:pPr lvl="1"/>
            <a:r>
              <a:rPr lang="en-GB" dirty="0"/>
              <a:t>The benefit of a TP is much higher than a TN.</a:t>
            </a:r>
          </a:p>
          <a:p>
            <a:r>
              <a:rPr lang="en-GB" dirty="0"/>
              <a:t>Choose recall</a:t>
            </a:r>
          </a:p>
          <a:p>
            <a:pPr lvl="1"/>
            <a:r>
              <a:rPr lang="en-GB" dirty="0"/>
              <a:t>The cost of FN is much higher than a FP.</a:t>
            </a:r>
          </a:p>
          <a:p>
            <a:pPr lvl="1"/>
            <a:r>
              <a:rPr lang="en-GB" dirty="0"/>
              <a:t>The cost of a TN is much higher than a TP.</a:t>
            </a:r>
          </a:p>
          <a:p>
            <a:r>
              <a:rPr lang="en-GB" dirty="0"/>
              <a:t>ROC AUC &amp; Precision — Recall curves</a:t>
            </a:r>
          </a:p>
          <a:p>
            <a:pPr lvl="1"/>
            <a:r>
              <a:rPr lang="en-GB" dirty="0"/>
              <a:t>Use ROC when the dealing with balanced data sets.</a:t>
            </a:r>
          </a:p>
          <a:p>
            <a:pPr lvl="1"/>
            <a:r>
              <a:rPr lang="en-GB" dirty="0"/>
              <a:t>Use precision-recall for imbalanced data sets.</a:t>
            </a:r>
          </a:p>
        </p:txBody>
      </p:sp>
    </p:spTree>
    <p:extLst>
      <p:ext uri="{BB962C8B-B14F-4D97-AF65-F5344CB8AC3E}">
        <p14:creationId xmlns:p14="http://schemas.microsoft.com/office/powerpoint/2010/main" val="842896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8B8FB-54F4-CAD8-1214-FC14FE769856}"/>
              </a:ext>
            </a:extLst>
          </p:cNvPr>
          <p:cNvSpPr>
            <a:spLocks noGrp="1"/>
          </p:cNvSpPr>
          <p:nvPr>
            <p:ph type="title"/>
          </p:nvPr>
        </p:nvSpPr>
        <p:spPr/>
        <p:txBody>
          <a:bodyPr/>
          <a:lstStyle/>
          <a:p>
            <a:r>
              <a:rPr lang="en-GB" dirty="0"/>
              <a:t>ROC AUC &amp; Precision — Recall curves</a:t>
            </a:r>
            <a:endParaRPr lang="en-US" dirty="0"/>
          </a:p>
        </p:txBody>
      </p:sp>
      <p:pic>
        <p:nvPicPr>
          <p:cNvPr id="4" name="Content Placeholder 3">
            <a:extLst>
              <a:ext uri="{FF2B5EF4-FFF2-40B4-BE49-F238E27FC236}">
                <a16:creationId xmlns:a16="http://schemas.microsoft.com/office/drawing/2014/main" id="{8E81170E-0204-DFA9-7B05-196B9B6BF37A}"/>
              </a:ext>
            </a:extLst>
          </p:cNvPr>
          <p:cNvPicPr>
            <a:picLocks noGrp="1" noChangeAspect="1"/>
          </p:cNvPicPr>
          <p:nvPr>
            <p:ph idx="1"/>
          </p:nvPr>
        </p:nvPicPr>
        <p:blipFill>
          <a:blip r:embed="rId2"/>
          <a:stretch>
            <a:fillRect/>
          </a:stretch>
        </p:blipFill>
        <p:spPr>
          <a:xfrm>
            <a:off x="883338" y="1402080"/>
            <a:ext cx="10425324" cy="5455920"/>
          </a:xfrm>
          <a:prstGeom prst="rect">
            <a:avLst/>
          </a:prstGeom>
        </p:spPr>
      </p:pic>
    </p:spTree>
    <p:extLst>
      <p:ext uri="{BB962C8B-B14F-4D97-AF65-F5344CB8AC3E}">
        <p14:creationId xmlns:p14="http://schemas.microsoft.com/office/powerpoint/2010/main" val="17290932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8A303-8449-0244-2FB1-624A2D7C08BF}"/>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3B66FFF2-6EDE-05C5-6223-34F32ECE3CA0}"/>
              </a:ext>
            </a:extLst>
          </p:cNvPr>
          <p:cNvSpPr>
            <a:spLocks noGrp="1"/>
          </p:cNvSpPr>
          <p:nvPr>
            <p:ph idx="1"/>
          </p:nvPr>
        </p:nvSpPr>
        <p:spPr/>
        <p:txBody>
          <a:bodyPr>
            <a:normAutofit lnSpcReduction="10000"/>
          </a:bodyPr>
          <a:lstStyle/>
          <a:p>
            <a:r>
              <a:rPr lang="en-GB" dirty="0"/>
              <a:t>Performance metrics quantify the quality of predictions made by machine learning models.</a:t>
            </a:r>
          </a:p>
          <a:p>
            <a:r>
              <a:rPr lang="en-GB" dirty="0"/>
              <a:t>Machine learning performance metrics provide deeper insights into a model's strengths and weaknesses, which enables informed decisions about model selection, hyperparameter tuning, and monitoring model performance over time.</a:t>
            </a:r>
          </a:p>
          <a:p>
            <a:r>
              <a:rPr lang="en-GB" dirty="0"/>
              <a:t>They provide actionable insights for model evaluation, comparison, and improvement.</a:t>
            </a:r>
          </a:p>
          <a:p>
            <a:r>
              <a:rPr lang="en-GB" dirty="0"/>
              <a:t>One important thing to note is that we can adjust these metrics to cater to our specific use case.</a:t>
            </a:r>
          </a:p>
        </p:txBody>
      </p:sp>
    </p:spTree>
    <p:extLst>
      <p:ext uri="{BB962C8B-B14F-4D97-AF65-F5344CB8AC3E}">
        <p14:creationId xmlns:p14="http://schemas.microsoft.com/office/powerpoint/2010/main" val="805736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391C7A-FB57-DAA5-BFC1-5E15F2532560}"/>
              </a:ext>
            </a:extLst>
          </p:cNvPr>
          <p:cNvSpPr>
            <a:spLocks noGrp="1"/>
          </p:cNvSpPr>
          <p:nvPr>
            <p:ph idx="1"/>
          </p:nvPr>
        </p:nvSpPr>
        <p:spPr/>
        <p:txBody>
          <a:bodyPr/>
          <a:lstStyle/>
          <a:p>
            <a:r>
              <a:rPr lang="en-US" dirty="0"/>
              <a:t>Thanks</a:t>
            </a:r>
          </a:p>
        </p:txBody>
      </p:sp>
    </p:spTree>
    <p:extLst>
      <p:ext uri="{BB962C8B-B14F-4D97-AF65-F5344CB8AC3E}">
        <p14:creationId xmlns:p14="http://schemas.microsoft.com/office/powerpoint/2010/main" val="26486155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Century Schoolbook"/>
        <a:ea typeface=""/>
        <a:cs typeface=""/>
      </a:majorFont>
      <a:minorFont>
        <a:latin typeface="Century School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2138</Words>
  <Application>Microsoft Office PowerPoint</Application>
  <PresentationFormat>Widescreen</PresentationFormat>
  <Paragraphs>155</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Cambria Math</vt:lpstr>
      <vt:lpstr>Century Schoolbook</vt:lpstr>
      <vt:lpstr>Symbol</vt:lpstr>
      <vt:lpstr>Office Theme</vt:lpstr>
      <vt:lpstr>Performance Metrics in Machine Learning</vt:lpstr>
      <vt:lpstr>Performance metrics</vt:lpstr>
      <vt:lpstr>Performance metrics vs. Loss functions</vt:lpstr>
      <vt:lpstr>Regression metrics</vt:lpstr>
      <vt:lpstr>Regression error</vt:lpstr>
      <vt:lpstr>Mean Squared Error (MSE)</vt:lpstr>
      <vt:lpstr>Mean Squared Error (MSE)</vt:lpstr>
      <vt:lpstr>Mean Absolute Error (MAE)</vt:lpstr>
      <vt:lpstr>Mean Absolute Error (MAE)</vt:lpstr>
      <vt:lpstr>Root Mean Squared Error (RMSE)</vt:lpstr>
      <vt:lpstr>Root Mean Squared Error (RMSE)</vt:lpstr>
      <vt:lpstr>Classification Metrics</vt:lpstr>
      <vt:lpstr>Metrics to Evaluate Machine Learning Classification Algorithms</vt:lpstr>
      <vt:lpstr>Context for understanding metrics</vt:lpstr>
      <vt:lpstr>Confusion Matrix</vt:lpstr>
      <vt:lpstr>Confusion Matrix</vt:lpstr>
      <vt:lpstr>Accuracy</vt:lpstr>
      <vt:lpstr>Precision</vt:lpstr>
      <vt:lpstr>Recall / Sensitivity</vt:lpstr>
      <vt:lpstr>Recall / Specificity</vt:lpstr>
      <vt:lpstr>Precision-Recall tradeoff</vt:lpstr>
      <vt:lpstr>Fl Score</vt:lpstr>
      <vt:lpstr>Receiver-operating characteristic curve (ROC)</vt:lpstr>
      <vt:lpstr>AUC - ROC Curve</vt:lpstr>
      <vt:lpstr>AUC - ROC Curve</vt:lpstr>
      <vt:lpstr>Strategies to choose the right metric</vt:lpstr>
      <vt:lpstr>ROC AUC &amp; Precision — Recall curves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Iftekhar Mahmud Towhid</dc:creator>
  <cp:lastModifiedBy>Iftekhar Mahmud Towhid</cp:lastModifiedBy>
  <cp:revision>59</cp:revision>
  <dcterms:created xsi:type="dcterms:W3CDTF">2024-10-15T09:40:43Z</dcterms:created>
  <dcterms:modified xsi:type="dcterms:W3CDTF">2024-10-15T12:08:25Z</dcterms:modified>
</cp:coreProperties>
</file>