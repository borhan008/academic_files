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67" r:id="rId5"/>
    <p:sldId id="266" r:id="rId6"/>
    <p:sldId id="257" r:id="rId7"/>
    <p:sldId id="258" r:id="rId8"/>
    <p:sldId id="261" r:id="rId9"/>
    <p:sldId id="259" r:id="rId10"/>
    <p:sldId id="260" r:id="rId11"/>
    <p:sldId id="262" r:id="rId12"/>
    <p:sldId id="268" r:id="rId13"/>
    <p:sldId id="270" r:id="rId14"/>
    <p:sldId id="269" r:id="rId15"/>
    <p:sldId id="271" r:id="rId16"/>
    <p:sldId id="273" r:id="rId17"/>
    <p:sldId id="274" r:id="rId18"/>
    <p:sldId id="272" r:id="rId19"/>
    <p:sldId id="275" r:id="rId20"/>
    <p:sldId id="276" r:id="rId21"/>
    <p:sldId id="277" r:id="rId22"/>
    <p:sldId id="278" r:id="rId23"/>
    <p:sldId id="280" r:id="rId24"/>
    <p:sldId id="279" r:id="rId25"/>
    <p:sldId id="281" r:id="rId26"/>
    <p:sldId id="282"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43C53-7D2B-5879-DCF6-BC1B30C82D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D5988F-7E82-3AA0-E4D0-997FA0A5A6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EBFBE0-8EBE-EFA6-E202-AC6A39318650}"/>
              </a:ext>
            </a:extLst>
          </p:cNvPr>
          <p:cNvSpPr>
            <a:spLocks noGrp="1"/>
          </p:cNvSpPr>
          <p:nvPr>
            <p:ph type="dt" sz="half" idx="10"/>
          </p:nvPr>
        </p:nvSpPr>
        <p:spPr/>
        <p:txBody>
          <a:bodyPr/>
          <a:lstStyle/>
          <a:p>
            <a:fld id="{E41B24F1-FCC6-4951-B11A-4B1B7EDF08EC}" type="datetimeFigureOut">
              <a:rPr lang="en-US" smtClean="0"/>
              <a:t>10/15/2024</a:t>
            </a:fld>
            <a:endParaRPr lang="en-US"/>
          </a:p>
        </p:txBody>
      </p:sp>
      <p:sp>
        <p:nvSpPr>
          <p:cNvPr id="5" name="Footer Placeholder 4">
            <a:extLst>
              <a:ext uri="{FF2B5EF4-FFF2-40B4-BE49-F238E27FC236}">
                <a16:creationId xmlns:a16="http://schemas.microsoft.com/office/drawing/2014/main" id="{356BE64E-B2EB-BA01-D293-4D15CF9BB1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8101E1-9CE9-CDA9-CD94-95C1FDC18631}"/>
              </a:ext>
            </a:extLst>
          </p:cNvPr>
          <p:cNvSpPr>
            <a:spLocks noGrp="1"/>
          </p:cNvSpPr>
          <p:nvPr>
            <p:ph type="sldNum" sz="quarter" idx="12"/>
          </p:nvPr>
        </p:nvSpPr>
        <p:spPr/>
        <p:txBody>
          <a:bodyPr/>
          <a:lstStyle/>
          <a:p>
            <a:fld id="{08ACDA2D-9B28-4396-B55E-CD2477C821CA}" type="slidenum">
              <a:rPr lang="en-US" smtClean="0"/>
              <a:t>‹#›</a:t>
            </a:fld>
            <a:endParaRPr lang="en-US"/>
          </a:p>
        </p:txBody>
      </p:sp>
    </p:spTree>
    <p:extLst>
      <p:ext uri="{BB962C8B-B14F-4D97-AF65-F5344CB8AC3E}">
        <p14:creationId xmlns:p14="http://schemas.microsoft.com/office/powerpoint/2010/main" val="83478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E91BA-5BEF-5E64-2369-46E519BE7A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AD24F4-85B4-95BD-6DF6-66DBA4F2B2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371F95-1B41-5245-DAD8-EF9524A5AB53}"/>
              </a:ext>
            </a:extLst>
          </p:cNvPr>
          <p:cNvSpPr>
            <a:spLocks noGrp="1"/>
          </p:cNvSpPr>
          <p:nvPr>
            <p:ph type="dt" sz="half" idx="10"/>
          </p:nvPr>
        </p:nvSpPr>
        <p:spPr/>
        <p:txBody>
          <a:bodyPr/>
          <a:lstStyle/>
          <a:p>
            <a:fld id="{E41B24F1-FCC6-4951-B11A-4B1B7EDF08EC}" type="datetimeFigureOut">
              <a:rPr lang="en-US" smtClean="0"/>
              <a:t>10/15/2024</a:t>
            </a:fld>
            <a:endParaRPr lang="en-US"/>
          </a:p>
        </p:txBody>
      </p:sp>
      <p:sp>
        <p:nvSpPr>
          <p:cNvPr id="5" name="Footer Placeholder 4">
            <a:extLst>
              <a:ext uri="{FF2B5EF4-FFF2-40B4-BE49-F238E27FC236}">
                <a16:creationId xmlns:a16="http://schemas.microsoft.com/office/drawing/2014/main" id="{2BBBB47E-50CC-600C-F012-13B8948143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2EB15A-A19E-38F2-A01D-CCFD9F83F2D8}"/>
              </a:ext>
            </a:extLst>
          </p:cNvPr>
          <p:cNvSpPr>
            <a:spLocks noGrp="1"/>
          </p:cNvSpPr>
          <p:nvPr>
            <p:ph type="sldNum" sz="quarter" idx="12"/>
          </p:nvPr>
        </p:nvSpPr>
        <p:spPr/>
        <p:txBody>
          <a:bodyPr/>
          <a:lstStyle/>
          <a:p>
            <a:fld id="{08ACDA2D-9B28-4396-B55E-CD2477C821CA}" type="slidenum">
              <a:rPr lang="en-US" smtClean="0"/>
              <a:t>‹#›</a:t>
            </a:fld>
            <a:endParaRPr lang="en-US"/>
          </a:p>
        </p:txBody>
      </p:sp>
    </p:spTree>
    <p:extLst>
      <p:ext uri="{BB962C8B-B14F-4D97-AF65-F5344CB8AC3E}">
        <p14:creationId xmlns:p14="http://schemas.microsoft.com/office/powerpoint/2010/main" val="186840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9A431-33C9-A6ED-BCE0-1630A8F1B1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3B75A24-94D8-B0BA-7C86-C90AD18458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5AD7C0-CBED-B0AA-F586-0C2CDD0981DE}"/>
              </a:ext>
            </a:extLst>
          </p:cNvPr>
          <p:cNvSpPr>
            <a:spLocks noGrp="1"/>
          </p:cNvSpPr>
          <p:nvPr>
            <p:ph type="dt" sz="half" idx="10"/>
          </p:nvPr>
        </p:nvSpPr>
        <p:spPr/>
        <p:txBody>
          <a:bodyPr/>
          <a:lstStyle/>
          <a:p>
            <a:fld id="{E41B24F1-FCC6-4951-B11A-4B1B7EDF08EC}" type="datetimeFigureOut">
              <a:rPr lang="en-US" smtClean="0"/>
              <a:t>10/15/2024</a:t>
            </a:fld>
            <a:endParaRPr lang="en-US"/>
          </a:p>
        </p:txBody>
      </p:sp>
      <p:sp>
        <p:nvSpPr>
          <p:cNvPr id="5" name="Footer Placeholder 4">
            <a:extLst>
              <a:ext uri="{FF2B5EF4-FFF2-40B4-BE49-F238E27FC236}">
                <a16:creationId xmlns:a16="http://schemas.microsoft.com/office/drawing/2014/main" id="{7BC121CC-D8AE-89E4-32D7-B9FD5A0A9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D60895-523B-2026-0C7E-A447A9912E1E}"/>
              </a:ext>
            </a:extLst>
          </p:cNvPr>
          <p:cNvSpPr>
            <a:spLocks noGrp="1"/>
          </p:cNvSpPr>
          <p:nvPr>
            <p:ph type="sldNum" sz="quarter" idx="12"/>
          </p:nvPr>
        </p:nvSpPr>
        <p:spPr/>
        <p:txBody>
          <a:bodyPr/>
          <a:lstStyle/>
          <a:p>
            <a:fld id="{08ACDA2D-9B28-4396-B55E-CD2477C821CA}" type="slidenum">
              <a:rPr lang="en-US" smtClean="0"/>
              <a:t>‹#›</a:t>
            </a:fld>
            <a:endParaRPr lang="en-US"/>
          </a:p>
        </p:txBody>
      </p:sp>
    </p:spTree>
    <p:extLst>
      <p:ext uri="{BB962C8B-B14F-4D97-AF65-F5344CB8AC3E}">
        <p14:creationId xmlns:p14="http://schemas.microsoft.com/office/powerpoint/2010/main" val="1562666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3E470-B3FF-2861-BBCB-3D6534BAAB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092746-F2C8-12B0-2649-FA8F18F4FA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A8B90C-5AFC-C1D9-C3C3-C7F4EFFAC7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C47406-BF35-8700-7413-02C801AB61F8}"/>
              </a:ext>
            </a:extLst>
          </p:cNvPr>
          <p:cNvSpPr>
            <a:spLocks noGrp="1"/>
          </p:cNvSpPr>
          <p:nvPr>
            <p:ph type="dt" sz="half" idx="10"/>
          </p:nvPr>
        </p:nvSpPr>
        <p:spPr/>
        <p:txBody>
          <a:bodyPr/>
          <a:lstStyle/>
          <a:p>
            <a:fld id="{E41B24F1-FCC6-4951-B11A-4B1B7EDF08EC}" type="datetimeFigureOut">
              <a:rPr lang="en-US" smtClean="0"/>
              <a:t>10/15/2024</a:t>
            </a:fld>
            <a:endParaRPr lang="en-US"/>
          </a:p>
        </p:txBody>
      </p:sp>
      <p:sp>
        <p:nvSpPr>
          <p:cNvPr id="6" name="Footer Placeholder 5">
            <a:extLst>
              <a:ext uri="{FF2B5EF4-FFF2-40B4-BE49-F238E27FC236}">
                <a16:creationId xmlns:a16="http://schemas.microsoft.com/office/drawing/2014/main" id="{2F121DFC-09A0-38E2-14AE-1B6B9ACCB5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9DC4F3-6912-C1CD-370D-24CAE983FDF3}"/>
              </a:ext>
            </a:extLst>
          </p:cNvPr>
          <p:cNvSpPr>
            <a:spLocks noGrp="1"/>
          </p:cNvSpPr>
          <p:nvPr>
            <p:ph type="sldNum" sz="quarter" idx="12"/>
          </p:nvPr>
        </p:nvSpPr>
        <p:spPr/>
        <p:txBody>
          <a:bodyPr/>
          <a:lstStyle/>
          <a:p>
            <a:fld id="{08ACDA2D-9B28-4396-B55E-CD2477C821CA}" type="slidenum">
              <a:rPr lang="en-US" smtClean="0"/>
              <a:t>‹#›</a:t>
            </a:fld>
            <a:endParaRPr lang="en-US"/>
          </a:p>
        </p:txBody>
      </p:sp>
    </p:spTree>
    <p:extLst>
      <p:ext uri="{BB962C8B-B14F-4D97-AF65-F5344CB8AC3E}">
        <p14:creationId xmlns:p14="http://schemas.microsoft.com/office/powerpoint/2010/main" val="105765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74A89-05DD-C7E9-750B-F3C8041C5E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E8625A-C4D5-05D8-DDE1-F53F359416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FA6E61-BDFB-7161-C7D3-C908DE3206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D5414B1-9F1C-C65B-5DC1-EA0AEA8D98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2F2EA0-0B9F-4083-9D94-FED76A547A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373EE7-C814-01C9-C72B-F9D4F9FC74B1}"/>
              </a:ext>
            </a:extLst>
          </p:cNvPr>
          <p:cNvSpPr>
            <a:spLocks noGrp="1"/>
          </p:cNvSpPr>
          <p:nvPr>
            <p:ph type="dt" sz="half" idx="10"/>
          </p:nvPr>
        </p:nvSpPr>
        <p:spPr/>
        <p:txBody>
          <a:bodyPr/>
          <a:lstStyle/>
          <a:p>
            <a:fld id="{E41B24F1-FCC6-4951-B11A-4B1B7EDF08EC}" type="datetimeFigureOut">
              <a:rPr lang="en-US" smtClean="0"/>
              <a:t>10/15/2024</a:t>
            </a:fld>
            <a:endParaRPr lang="en-US"/>
          </a:p>
        </p:txBody>
      </p:sp>
      <p:sp>
        <p:nvSpPr>
          <p:cNvPr id="8" name="Footer Placeholder 7">
            <a:extLst>
              <a:ext uri="{FF2B5EF4-FFF2-40B4-BE49-F238E27FC236}">
                <a16:creationId xmlns:a16="http://schemas.microsoft.com/office/drawing/2014/main" id="{C905DE91-5E01-2AD9-4A2C-F2F3C04A0B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C8C35A-EAFE-CD9E-6802-63C9856E71BB}"/>
              </a:ext>
            </a:extLst>
          </p:cNvPr>
          <p:cNvSpPr>
            <a:spLocks noGrp="1"/>
          </p:cNvSpPr>
          <p:nvPr>
            <p:ph type="sldNum" sz="quarter" idx="12"/>
          </p:nvPr>
        </p:nvSpPr>
        <p:spPr/>
        <p:txBody>
          <a:bodyPr/>
          <a:lstStyle/>
          <a:p>
            <a:fld id="{08ACDA2D-9B28-4396-B55E-CD2477C821CA}" type="slidenum">
              <a:rPr lang="en-US" smtClean="0"/>
              <a:t>‹#›</a:t>
            </a:fld>
            <a:endParaRPr lang="en-US"/>
          </a:p>
        </p:txBody>
      </p:sp>
    </p:spTree>
    <p:extLst>
      <p:ext uri="{BB962C8B-B14F-4D97-AF65-F5344CB8AC3E}">
        <p14:creationId xmlns:p14="http://schemas.microsoft.com/office/powerpoint/2010/main" val="2677770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45CFD-0FB5-FA8E-3204-56E57B5369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367A91-EC43-68FD-14F5-229F2E298B72}"/>
              </a:ext>
            </a:extLst>
          </p:cNvPr>
          <p:cNvSpPr>
            <a:spLocks noGrp="1"/>
          </p:cNvSpPr>
          <p:nvPr>
            <p:ph type="dt" sz="half" idx="10"/>
          </p:nvPr>
        </p:nvSpPr>
        <p:spPr/>
        <p:txBody>
          <a:bodyPr/>
          <a:lstStyle/>
          <a:p>
            <a:fld id="{E41B24F1-FCC6-4951-B11A-4B1B7EDF08EC}" type="datetimeFigureOut">
              <a:rPr lang="en-US" smtClean="0"/>
              <a:t>10/15/2024</a:t>
            </a:fld>
            <a:endParaRPr lang="en-US"/>
          </a:p>
        </p:txBody>
      </p:sp>
      <p:sp>
        <p:nvSpPr>
          <p:cNvPr id="4" name="Footer Placeholder 3">
            <a:extLst>
              <a:ext uri="{FF2B5EF4-FFF2-40B4-BE49-F238E27FC236}">
                <a16:creationId xmlns:a16="http://schemas.microsoft.com/office/drawing/2014/main" id="{FD31EF7B-8104-A03E-1A8A-1F7815A152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0ED73A-9090-7145-B8A3-A571FE610E9A}"/>
              </a:ext>
            </a:extLst>
          </p:cNvPr>
          <p:cNvSpPr>
            <a:spLocks noGrp="1"/>
          </p:cNvSpPr>
          <p:nvPr>
            <p:ph type="sldNum" sz="quarter" idx="12"/>
          </p:nvPr>
        </p:nvSpPr>
        <p:spPr/>
        <p:txBody>
          <a:bodyPr/>
          <a:lstStyle/>
          <a:p>
            <a:fld id="{08ACDA2D-9B28-4396-B55E-CD2477C821CA}" type="slidenum">
              <a:rPr lang="en-US" smtClean="0"/>
              <a:t>‹#›</a:t>
            </a:fld>
            <a:endParaRPr lang="en-US"/>
          </a:p>
        </p:txBody>
      </p:sp>
    </p:spTree>
    <p:extLst>
      <p:ext uri="{BB962C8B-B14F-4D97-AF65-F5344CB8AC3E}">
        <p14:creationId xmlns:p14="http://schemas.microsoft.com/office/powerpoint/2010/main" val="2496998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20F124-4794-4F95-1946-CE31190164EA}"/>
              </a:ext>
            </a:extLst>
          </p:cNvPr>
          <p:cNvSpPr>
            <a:spLocks noGrp="1"/>
          </p:cNvSpPr>
          <p:nvPr>
            <p:ph type="dt" sz="half" idx="10"/>
          </p:nvPr>
        </p:nvSpPr>
        <p:spPr/>
        <p:txBody>
          <a:bodyPr/>
          <a:lstStyle/>
          <a:p>
            <a:fld id="{E41B24F1-FCC6-4951-B11A-4B1B7EDF08EC}" type="datetimeFigureOut">
              <a:rPr lang="en-US" smtClean="0"/>
              <a:t>10/15/2024</a:t>
            </a:fld>
            <a:endParaRPr lang="en-US"/>
          </a:p>
        </p:txBody>
      </p:sp>
      <p:sp>
        <p:nvSpPr>
          <p:cNvPr id="3" name="Footer Placeholder 2">
            <a:extLst>
              <a:ext uri="{FF2B5EF4-FFF2-40B4-BE49-F238E27FC236}">
                <a16:creationId xmlns:a16="http://schemas.microsoft.com/office/drawing/2014/main" id="{4C10440F-D1CA-6F2D-DCEB-28446CEDF3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5A0460-5991-9480-C000-77317B4BF071}"/>
              </a:ext>
            </a:extLst>
          </p:cNvPr>
          <p:cNvSpPr>
            <a:spLocks noGrp="1"/>
          </p:cNvSpPr>
          <p:nvPr>
            <p:ph type="sldNum" sz="quarter" idx="12"/>
          </p:nvPr>
        </p:nvSpPr>
        <p:spPr/>
        <p:txBody>
          <a:bodyPr/>
          <a:lstStyle/>
          <a:p>
            <a:fld id="{08ACDA2D-9B28-4396-B55E-CD2477C821CA}" type="slidenum">
              <a:rPr lang="en-US" smtClean="0"/>
              <a:t>‹#›</a:t>
            </a:fld>
            <a:endParaRPr lang="en-US"/>
          </a:p>
        </p:txBody>
      </p:sp>
    </p:spTree>
    <p:extLst>
      <p:ext uri="{BB962C8B-B14F-4D97-AF65-F5344CB8AC3E}">
        <p14:creationId xmlns:p14="http://schemas.microsoft.com/office/powerpoint/2010/main" val="2089104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DD1CB-1F1F-73C1-2A0E-39C810721E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A37750-128B-0130-6282-1037EA5491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1EA89F-9394-A3AC-5245-A386FADD0C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86807F-E981-81F0-448B-6D8498E45F47}"/>
              </a:ext>
            </a:extLst>
          </p:cNvPr>
          <p:cNvSpPr>
            <a:spLocks noGrp="1"/>
          </p:cNvSpPr>
          <p:nvPr>
            <p:ph type="dt" sz="half" idx="10"/>
          </p:nvPr>
        </p:nvSpPr>
        <p:spPr/>
        <p:txBody>
          <a:bodyPr/>
          <a:lstStyle/>
          <a:p>
            <a:fld id="{E41B24F1-FCC6-4951-B11A-4B1B7EDF08EC}" type="datetimeFigureOut">
              <a:rPr lang="en-US" smtClean="0"/>
              <a:t>10/15/2024</a:t>
            </a:fld>
            <a:endParaRPr lang="en-US"/>
          </a:p>
        </p:txBody>
      </p:sp>
      <p:sp>
        <p:nvSpPr>
          <p:cNvPr id="6" name="Footer Placeholder 5">
            <a:extLst>
              <a:ext uri="{FF2B5EF4-FFF2-40B4-BE49-F238E27FC236}">
                <a16:creationId xmlns:a16="http://schemas.microsoft.com/office/drawing/2014/main" id="{0CF78738-6754-3C9C-9FE4-A1C23FE80D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BB2B01-40C0-E239-20D3-10FCEA26246A}"/>
              </a:ext>
            </a:extLst>
          </p:cNvPr>
          <p:cNvSpPr>
            <a:spLocks noGrp="1"/>
          </p:cNvSpPr>
          <p:nvPr>
            <p:ph type="sldNum" sz="quarter" idx="12"/>
          </p:nvPr>
        </p:nvSpPr>
        <p:spPr/>
        <p:txBody>
          <a:bodyPr/>
          <a:lstStyle/>
          <a:p>
            <a:fld id="{08ACDA2D-9B28-4396-B55E-CD2477C821CA}" type="slidenum">
              <a:rPr lang="en-US" smtClean="0"/>
              <a:t>‹#›</a:t>
            </a:fld>
            <a:endParaRPr lang="en-US"/>
          </a:p>
        </p:txBody>
      </p:sp>
    </p:spTree>
    <p:extLst>
      <p:ext uri="{BB962C8B-B14F-4D97-AF65-F5344CB8AC3E}">
        <p14:creationId xmlns:p14="http://schemas.microsoft.com/office/powerpoint/2010/main" val="525603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32B5E-268B-3B2D-9420-2F4DFFAFA9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EEBA27C-E331-3FA0-A0DE-04EEC43A16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947B58B-EC64-20EE-6E2F-4EBA526B11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FFC28C-CE41-352E-61E5-C1A5F5CAA16A}"/>
              </a:ext>
            </a:extLst>
          </p:cNvPr>
          <p:cNvSpPr>
            <a:spLocks noGrp="1"/>
          </p:cNvSpPr>
          <p:nvPr>
            <p:ph type="dt" sz="half" idx="10"/>
          </p:nvPr>
        </p:nvSpPr>
        <p:spPr/>
        <p:txBody>
          <a:bodyPr/>
          <a:lstStyle/>
          <a:p>
            <a:fld id="{E41B24F1-FCC6-4951-B11A-4B1B7EDF08EC}" type="datetimeFigureOut">
              <a:rPr lang="en-US" smtClean="0"/>
              <a:t>10/15/2024</a:t>
            </a:fld>
            <a:endParaRPr lang="en-US"/>
          </a:p>
        </p:txBody>
      </p:sp>
      <p:sp>
        <p:nvSpPr>
          <p:cNvPr id="6" name="Footer Placeholder 5">
            <a:extLst>
              <a:ext uri="{FF2B5EF4-FFF2-40B4-BE49-F238E27FC236}">
                <a16:creationId xmlns:a16="http://schemas.microsoft.com/office/drawing/2014/main" id="{C9717EAE-226C-88A4-8313-405CE37EF9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776B12-A605-F675-A152-ABADC7F29D84}"/>
              </a:ext>
            </a:extLst>
          </p:cNvPr>
          <p:cNvSpPr>
            <a:spLocks noGrp="1"/>
          </p:cNvSpPr>
          <p:nvPr>
            <p:ph type="sldNum" sz="quarter" idx="12"/>
          </p:nvPr>
        </p:nvSpPr>
        <p:spPr/>
        <p:txBody>
          <a:bodyPr/>
          <a:lstStyle/>
          <a:p>
            <a:fld id="{08ACDA2D-9B28-4396-B55E-CD2477C821CA}" type="slidenum">
              <a:rPr lang="en-US" smtClean="0"/>
              <a:t>‹#›</a:t>
            </a:fld>
            <a:endParaRPr lang="en-US"/>
          </a:p>
        </p:txBody>
      </p:sp>
    </p:spTree>
    <p:extLst>
      <p:ext uri="{BB962C8B-B14F-4D97-AF65-F5344CB8AC3E}">
        <p14:creationId xmlns:p14="http://schemas.microsoft.com/office/powerpoint/2010/main" val="1244085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3411A-C8A3-7721-7A8B-1993A6BDE0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33557C-BAD7-F375-81A1-5E4011DC4B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25FEFD-4CC3-883F-ED76-9017AD8355D7}"/>
              </a:ext>
            </a:extLst>
          </p:cNvPr>
          <p:cNvSpPr>
            <a:spLocks noGrp="1"/>
          </p:cNvSpPr>
          <p:nvPr>
            <p:ph type="dt" sz="half" idx="10"/>
          </p:nvPr>
        </p:nvSpPr>
        <p:spPr/>
        <p:txBody>
          <a:bodyPr/>
          <a:lstStyle/>
          <a:p>
            <a:fld id="{E41B24F1-FCC6-4951-B11A-4B1B7EDF08EC}" type="datetimeFigureOut">
              <a:rPr lang="en-US" smtClean="0"/>
              <a:t>10/15/2024</a:t>
            </a:fld>
            <a:endParaRPr lang="en-US"/>
          </a:p>
        </p:txBody>
      </p:sp>
      <p:sp>
        <p:nvSpPr>
          <p:cNvPr id="5" name="Footer Placeholder 4">
            <a:extLst>
              <a:ext uri="{FF2B5EF4-FFF2-40B4-BE49-F238E27FC236}">
                <a16:creationId xmlns:a16="http://schemas.microsoft.com/office/drawing/2014/main" id="{F84DB64F-7627-4DF6-537D-1495D2C36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7AFE4E-0D0F-DB88-4A9A-BB73D40171BB}"/>
              </a:ext>
            </a:extLst>
          </p:cNvPr>
          <p:cNvSpPr>
            <a:spLocks noGrp="1"/>
          </p:cNvSpPr>
          <p:nvPr>
            <p:ph type="sldNum" sz="quarter" idx="12"/>
          </p:nvPr>
        </p:nvSpPr>
        <p:spPr/>
        <p:txBody>
          <a:bodyPr/>
          <a:lstStyle/>
          <a:p>
            <a:fld id="{08ACDA2D-9B28-4396-B55E-CD2477C821CA}" type="slidenum">
              <a:rPr lang="en-US" smtClean="0"/>
              <a:t>‹#›</a:t>
            </a:fld>
            <a:endParaRPr lang="en-US"/>
          </a:p>
        </p:txBody>
      </p:sp>
    </p:spTree>
    <p:extLst>
      <p:ext uri="{BB962C8B-B14F-4D97-AF65-F5344CB8AC3E}">
        <p14:creationId xmlns:p14="http://schemas.microsoft.com/office/powerpoint/2010/main" val="4118324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A1EAAB-C4FE-50E4-D6CC-933444DE750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CA152CE-ED62-3868-4B80-5E82915A86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2C57E-603D-03F3-8DE8-6348853E7088}"/>
              </a:ext>
            </a:extLst>
          </p:cNvPr>
          <p:cNvSpPr>
            <a:spLocks noGrp="1"/>
          </p:cNvSpPr>
          <p:nvPr>
            <p:ph type="dt" sz="half" idx="10"/>
          </p:nvPr>
        </p:nvSpPr>
        <p:spPr/>
        <p:txBody>
          <a:bodyPr/>
          <a:lstStyle/>
          <a:p>
            <a:fld id="{E41B24F1-FCC6-4951-B11A-4B1B7EDF08EC}" type="datetimeFigureOut">
              <a:rPr lang="en-US" smtClean="0"/>
              <a:t>10/15/2024</a:t>
            </a:fld>
            <a:endParaRPr lang="en-US"/>
          </a:p>
        </p:txBody>
      </p:sp>
      <p:sp>
        <p:nvSpPr>
          <p:cNvPr id="5" name="Footer Placeholder 4">
            <a:extLst>
              <a:ext uri="{FF2B5EF4-FFF2-40B4-BE49-F238E27FC236}">
                <a16:creationId xmlns:a16="http://schemas.microsoft.com/office/drawing/2014/main" id="{32F9A8AC-ED82-1A0A-1D30-B6BCF9E562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FE5636-B604-747D-7FEC-2D95B66C04C0}"/>
              </a:ext>
            </a:extLst>
          </p:cNvPr>
          <p:cNvSpPr>
            <a:spLocks noGrp="1"/>
          </p:cNvSpPr>
          <p:nvPr>
            <p:ph type="sldNum" sz="quarter" idx="12"/>
          </p:nvPr>
        </p:nvSpPr>
        <p:spPr/>
        <p:txBody>
          <a:bodyPr/>
          <a:lstStyle/>
          <a:p>
            <a:fld id="{08ACDA2D-9B28-4396-B55E-CD2477C821CA}" type="slidenum">
              <a:rPr lang="en-US" smtClean="0"/>
              <a:t>‹#›</a:t>
            </a:fld>
            <a:endParaRPr lang="en-US"/>
          </a:p>
        </p:txBody>
      </p:sp>
    </p:spTree>
    <p:extLst>
      <p:ext uri="{BB962C8B-B14F-4D97-AF65-F5344CB8AC3E}">
        <p14:creationId xmlns:p14="http://schemas.microsoft.com/office/powerpoint/2010/main" val="3286524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86B631-B67F-B5F3-1C0D-EEAC69BA25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460D165-822B-E1B3-7027-07415D2451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B76285-F241-0609-29AE-4315F11F2B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1B24F1-FCC6-4951-B11A-4B1B7EDF08EC}" type="datetimeFigureOut">
              <a:rPr lang="en-US" smtClean="0"/>
              <a:t>10/15/2024</a:t>
            </a:fld>
            <a:endParaRPr lang="en-US"/>
          </a:p>
        </p:txBody>
      </p:sp>
      <p:sp>
        <p:nvSpPr>
          <p:cNvPr id="5" name="Footer Placeholder 4">
            <a:extLst>
              <a:ext uri="{FF2B5EF4-FFF2-40B4-BE49-F238E27FC236}">
                <a16:creationId xmlns:a16="http://schemas.microsoft.com/office/drawing/2014/main" id="{D3B03175-E3F2-F030-C17A-81F856BE22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58BA9ED-8033-387A-77D0-9459401786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ACDA2D-9B28-4396-B55E-CD2477C821CA}" type="slidenum">
              <a:rPr lang="en-US" smtClean="0"/>
              <a:t>‹#›</a:t>
            </a:fld>
            <a:endParaRPr lang="en-US"/>
          </a:p>
        </p:txBody>
      </p:sp>
    </p:spTree>
    <p:extLst>
      <p:ext uri="{BB962C8B-B14F-4D97-AF65-F5344CB8AC3E}">
        <p14:creationId xmlns:p14="http://schemas.microsoft.com/office/powerpoint/2010/main" val="1323183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atasetsearch.research.google.com/" TargetMode="External"/><Relationship Id="rId2" Type="http://schemas.openxmlformats.org/officeDocument/2006/relationships/hyperlink" Target="https://careerfoundry.com/en/blog/data-analytics/where-to-find-free-datasets/" TargetMode="External"/><Relationship Id="rId1" Type="http://schemas.openxmlformats.org/officeDocument/2006/relationships/slideLayout" Target="../slideLayouts/slideLayout2.xml"/><Relationship Id="rId5" Type="http://schemas.openxmlformats.org/officeDocument/2006/relationships/hyperlink" Target="https://www.data.gov/" TargetMode="External"/><Relationship Id="rId4" Type="http://schemas.openxmlformats.org/officeDocument/2006/relationships/hyperlink" Target="https://www.kaggle.com/dataset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9044-7006-46FC-8D8E-3850F8ABF92A}"/>
              </a:ext>
            </a:extLst>
          </p:cNvPr>
          <p:cNvSpPr>
            <a:spLocks noGrp="1"/>
          </p:cNvSpPr>
          <p:nvPr>
            <p:ph type="ctrTitle"/>
          </p:nvPr>
        </p:nvSpPr>
        <p:spPr/>
        <p:txBody>
          <a:bodyPr/>
          <a:lstStyle/>
          <a:p>
            <a:r>
              <a:rPr lang="en-US" dirty="0"/>
              <a:t>Data preparation and processing</a:t>
            </a:r>
          </a:p>
        </p:txBody>
      </p:sp>
      <p:sp>
        <p:nvSpPr>
          <p:cNvPr id="3" name="Subtitle 2">
            <a:extLst>
              <a:ext uri="{FF2B5EF4-FFF2-40B4-BE49-F238E27FC236}">
                <a16:creationId xmlns:a16="http://schemas.microsoft.com/office/drawing/2014/main" id="{73C71143-69F7-1B7D-5241-4864CAFBAE3C}"/>
              </a:ext>
            </a:extLst>
          </p:cNvPr>
          <p:cNvSpPr>
            <a:spLocks noGrp="1"/>
          </p:cNvSpPr>
          <p:nvPr>
            <p:ph type="subTitle" idx="1"/>
          </p:nvPr>
        </p:nvSpPr>
        <p:spPr/>
        <p:txBody>
          <a:bodyPr/>
          <a:lstStyle/>
          <a:p>
            <a:r>
              <a:rPr lang="en-US" dirty="0"/>
              <a:t>Iftekhar Mahmud Towhid</a:t>
            </a:r>
          </a:p>
        </p:txBody>
      </p:sp>
    </p:spTree>
    <p:extLst>
      <p:ext uri="{BB962C8B-B14F-4D97-AF65-F5344CB8AC3E}">
        <p14:creationId xmlns:p14="http://schemas.microsoft.com/office/powerpoint/2010/main" val="4004861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348E7-1A64-F384-2FA7-B825C2C0D516}"/>
              </a:ext>
            </a:extLst>
          </p:cNvPr>
          <p:cNvSpPr>
            <a:spLocks noGrp="1"/>
          </p:cNvSpPr>
          <p:nvPr>
            <p:ph type="title"/>
          </p:nvPr>
        </p:nvSpPr>
        <p:spPr/>
        <p:txBody>
          <a:bodyPr/>
          <a:lstStyle/>
          <a:p>
            <a:r>
              <a:rPr lang="en-US" dirty="0"/>
              <a:t>Dataset</a:t>
            </a:r>
          </a:p>
        </p:txBody>
      </p:sp>
      <p:sp>
        <p:nvSpPr>
          <p:cNvPr id="3" name="Content Placeholder 2">
            <a:extLst>
              <a:ext uri="{FF2B5EF4-FFF2-40B4-BE49-F238E27FC236}">
                <a16:creationId xmlns:a16="http://schemas.microsoft.com/office/drawing/2014/main" id="{7DB15392-33EE-D55B-15D5-775968F9B663}"/>
              </a:ext>
            </a:extLst>
          </p:cNvPr>
          <p:cNvSpPr>
            <a:spLocks noGrp="1"/>
          </p:cNvSpPr>
          <p:nvPr>
            <p:ph idx="1"/>
          </p:nvPr>
        </p:nvSpPr>
        <p:spPr>
          <a:xfrm>
            <a:off x="838200" y="1825624"/>
            <a:ext cx="10515600" cy="5235575"/>
          </a:xfrm>
        </p:spPr>
        <p:txBody>
          <a:bodyPr>
            <a:normAutofit fontScale="92500" lnSpcReduction="20000"/>
          </a:bodyPr>
          <a:lstStyle/>
          <a:p>
            <a:r>
              <a:rPr lang="en-GB" dirty="0"/>
              <a:t>What are machine learning datasets?</a:t>
            </a:r>
          </a:p>
          <a:p>
            <a:pPr lvl="1"/>
            <a:r>
              <a:rPr lang="en-GB" dirty="0"/>
              <a:t>ML is a branch of artificial intelligence that lets computer systems learn and make predictions based on data without being explicitly programmed to do so. ML algorithms analyse vast amounts of data to identify patterns and make predictions with a high degree of accuracy.</a:t>
            </a:r>
          </a:p>
          <a:p>
            <a:pPr lvl="1"/>
            <a:r>
              <a:rPr lang="en-GB" dirty="0"/>
              <a:t>A machine learning dataset is a collection of data that trains and evaluates an ML model. Creating a good dataset for machine learning is a critical step in the process of training and evaluating ML models. In order to create an effective dataset, it is important to understand how to generate data for machine learning and what data is needed.</a:t>
            </a:r>
          </a:p>
          <a:p>
            <a:pPr lvl="1"/>
            <a:r>
              <a:rPr lang="en-GB" dirty="0"/>
              <a:t>The quality and size of the dataset play a crucial role in determining the accuracy and performance of the model. In general, the more data the model has access to, the better it will perform. However, it is important to strike a balance between the amount of data stored for processing and the computational resources required to process it.</a:t>
            </a:r>
          </a:p>
          <a:p>
            <a:pPr lvl="1"/>
            <a:r>
              <a:rPr lang="en-GB" dirty="0"/>
              <a:t>For all those operational advantages, machine learning still requires good data up front in order to work as effectively as possible. Furthermore, that data then needs to be organized in a way that an ML algorithm can understand in order to complete its tasks.</a:t>
            </a:r>
            <a:endParaRPr lang="en-US" dirty="0"/>
          </a:p>
        </p:txBody>
      </p:sp>
    </p:spTree>
    <p:extLst>
      <p:ext uri="{BB962C8B-B14F-4D97-AF65-F5344CB8AC3E}">
        <p14:creationId xmlns:p14="http://schemas.microsoft.com/office/powerpoint/2010/main" val="2290152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88D48-F3AC-BECE-0253-8A38094E9FED}"/>
              </a:ext>
            </a:extLst>
          </p:cNvPr>
          <p:cNvSpPr>
            <a:spLocks noGrp="1"/>
          </p:cNvSpPr>
          <p:nvPr>
            <p:ph type="title"/>
          </p:nvPr>
        </p:nvSpPr>
        <p:spPr/>
        <p:txBody>
          <a:bodyPr>
            <a:normAutofit/>
          </a:bodyPr>
          <a:lstStyle/>
          <a:p>
            <a:r>
              <a:rPr lang="en-GB" dirty="0"/>
              <a:t>Existing dataset, synthetic data, or data collection?</a:t>
            </a:r>
            <a:endParaRPr lang="en-US" dirty="0"/>
          </a:p>
        </p:txBody>
      </p:sp>
      <p:sp>
        <p:nvSpPr>
          <p:cNvPr id="3" name="Content Placeholder 2">
            <a:extLst>
              <a:ext uri="{FF2B5EF4-FFF2-40B4-BE49-F238E27FC236}">
                <a16:creationId xmlns:a16="http://schemas.microsoft.com/office/drawing/2014/main" id="{6267C50D-2406-3769-4826-1FEE96C9A9E3}"/>
              </a:ext>
            </a:extLst>
          </p:cNvPr>
          <p:cNvSpPr>
            <a:spLocks noGrp="1"/>
          </p:cNvSpPr>
          <p:nvPr>
            <p:ph idx="1"/>
          </p:nvPr>
        </p:nvSpPr>
        <p:spPr/>
        <p:txBody>
          <a:bodyPr>
            <a:normAutofit fontScale="92500" lnSpcReduction="10000"/>
          </a:bodyPr>
          <a:lstStyle/>
          <a:p>
            <a:r>
              <a:rPr lang="en-GB" b="1" dirty="0"/>
              <a:t>Existing dataset:</a:t>
            </a:r>
          </a:p>
          <a:p>
            <a:pPr lvl="1"/>
            <a:r>
              <a:rPr lang="en-GB" dirty="0"/>
              <a:t>If you're just starting out and don't have data, there are large open-source datasets available to you that make a good starting place. Public datasets are a valuable resource for anyone interested in machine learning and data analysis — they come from businesses and organizations that share their own open data with the public. These datasets can contain a wide range of information from various aspects of life, from healthcare records to weather patterns and transportation metrics to hardware utilization data.</a:t>
            </a:r>
          </a:p>
          <a:p>
            <a:pPr lvl="1"/>
            <a:r>
              <a:rPr lang="en-GB" dirty="0"/>
              <a:t>To find where to look for free public dataset, visit </a:t>
            </a:r>
            <a:r>
              <a:rPr lang="en-GB" dirty="0">
                <a:hlinkClick r:id="rId2"/>
              </a:rPr>
              <a:t>this URL</a:t>
            </a:r>
            <a:r>
              <a:rPr lang="en-GB" dirty="0"/>
              <a:t>.</a:t>
            </a:r>
          </a:p>
          <a:p>
            <a:pPr lvl="1"/>
            <a:r>
              <a:rPr lang="en-GB" dirty="0"/>
              <a:t>Some useful and popular dataset repositories:</a:t>
            </a:r>
          </a:p>
          <a:p>
            <a:pPr lvl="2"/>
            <a:r>
              <a:rPr lang="en-GB" dirty="0">
                <a:hlinkClick r:id="rId3"/>
              </a:rPr>
              <a:t>Google dataset search</a:t>
            </a:r>
            <a:endParaRPr lang="en-GB" dirty="0"/>
          </a:p>
          <a:p>
            <a:pPr lvl="2"/>
            <a:r>
              <a:rPr lang="en-GB" dirty="0">
                <a:hlinkClick r:id="rId4"/>
              </a:rPr>
              <a:t>Kaggle</a:t>
            </a:r>
            <a:endParaRPr lang="en-GB" dirty="0"/>
          </a:p>
          <a:p>
            <a:pPr lvl="2"/>
            <a:r>
              <a:rPr lang="en-GB" dirty="0">
                <a:hlinkClick r:id="rId5"/>
              </a:rPr>
              <a:t>Data.gov</a:t>
            </a:r>
            <a:endParaRPr lang="en-GB" dirty="0"/>
          </a:p>
          <a:p>
            <a:pPr marL="914400" lvl="2" indent="0">
              <a:buNone/>
            </a:pPr>
            <a:endParaRPr lang="en-GB" dirty="0"/>
          </a:p>
          <a:p>
            <a:pPr lvl="2"/>
            <a:endParaRPr lang="en-GB" dirty="0"/>
          </a:p>
          <a:p>
            <a:pPr lvl="2"/>
            <a:endParaRPr lang="en-US" dirty="0"/>
          </a:p>
        </p:txBody>
      </p:sp>
    </p:spTree>
    <p:extLst>
      <p:ext uri="{BB962C8B-B14F-4D97-AF65-F5344CB8AC3E}">
        <p14:creationId xmlns:p14="http://schemas.microsoft.com/office/powerpoint/2010/main" val="1492385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88D48-F3AC-BECE-0253-8A38094E9FED}"/>
              </a:ext>
            </a:extLst>
          </p:cNvPr>
          <p:cNvSpPr>
            <a:spLocks noGrp="1"/>
          </p:cNvSpPr>
          <p:nvPr>
            <p:ph type="title"/>
          </p:nvPr>
        </p:nvSpPr>
        <p:spPr/>
        <p:txBody>
          <a:bodyPr>
            <a:normAutofit/>
          </a:bodyPr>
          <a:lstStyle/>
          <a:p>
            <a:r>
              <a:rPr lang="en-GB" dirty="0"/>
              <a:t>Existing dataset, synthetic data, or data collection?</a:t>
            </a:r>
            <a:endParaRPr lang="en-US" dirty="0"/>
          </a:p>
        </p:txBody>
      </p:sp>
      <p:sp>
        <p:nvSpPr>
          <p:cNvPr id="3" name="Content Placeholder 2">
            <a:extLst>
              <a:ext uri="{FF2B5EF4-FFF2-40B4-BE49-F238E27FC236}">
                <a16:creationId xmlns:a16="http://schemas.microsoft.com/office/drawing/2014/main" id="{6267C50D-2406-3769-4826-1FEE96C9A9E3}"/>
              </a:ext>
            </a:extLst>
          </p:cNvPr>
          <p:cNvSpPr>
            <a:spLocks noGrp="1"/>
          </p:cNvSpPr>
          <p:nvPr>
            <p:ph idx="1"/>
          </p:nvPr>
        </p:nvSpPr>
        <p:spPr/>
        <p:txBody>
          <a:bodyPr>
            <a:normAutofit fontScale="92500"/>
          </a:bodyPr>
          <a:lstStyle/>
          <a:p>
            <a:r>
              <a:rPr lang="en-GB" b="1" dirty="0"/>
              <a:t>Synthetic dataset:</a:t>
            </a:r>
          </a:p>
          <a:p>
            <a:pPr lvl="1"/>
            <a:r>
              <a:rPr lang="en-GB" dirty="0"/>
              <a:t>Sometimes companies employ synthetic data generation, which implies artificially generated rather than real life datasets produced by real events. However, at the step of initial model training, synthetic data is not the best option.</a:t>
            </a:r>
          </a:p>
          <a:p>
            <a:pPr lvl="1"/>
            <a:r>
              <a:rPr lang="en-GB" dirty="0"/>
              <a:t>To properly train a model, the data should represent the real world, and a synthetic dataset can be prone to distortion. Synthetic datasets should rather be used to validate machine learning models' results later.</a:t>
            </a:r>
          </a:p>
          <a:p>
            <a:pPr lvl="1"/>
            <a:r>
              <a:rPr lang="en-GB" dirty="0"/>
              <a:t>Whatever your specific niche is, there is probably a useful public dataset out there for you. While these data sets may not provide loads of information about your specific business or its operations, they can still offer valuable insights into your industry and its niche, as well as your customer segments.</a:t>
            </a:r>
          </a:p>
          <a:p>
            <a:endParaRPr lang="en-US" dirty="0"/>
          </a:p>
        </p:txBody>
      </p:sp>
    </p:spTree>
    <p:extLst>
      <p:ext uri="{BB962C8B-B14F-4D97-AF65-F5344CB8AC3E}">
        <p14:creationId xmlns:p14="http://schemas.microsoft.com/office/powerpoint/2010/main" val="1232520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88D48-F3AC-BECE-0253-8A38094E9FED}"/>
              </a:ext>
            </a:extLst>
          </p:cNvPr>
          <p:cNvSpPr>
            <a:spLocks noGrp="1"/>
          </p:cNvSpPr>
          <p:nvPr>
            <p:ph type="title"/>
          </p:nvPr>
        </p:nvSpPr>
        <p:spPr/>
        <p:txBody>
          <a:bodyPr>
            <a:normAutofit/>
          </a:bodyPr>
          <a:lstStyle/>
          <a:p>
            <a:r>
              <a:rPr lang="en-GB" dirty="0"/>
              <a:t>Existing dataset, synthetic data, or data collection? (cont.)</a:t>
            </a:r>
            <a:endParaRPr lang="en-US" dirty="0"/>
          </a:p>
        </p:txBody>
      </p:sp>
      <p:sp>
        <p:nvSpPr>
          <p:cNvPr id="3" name="Content Placeholder 2">
            <a:extLst>
              <a:ext uri="{FF2B5EF4-FFF2-40B4-BE49-F238E27FC236}">
                <a16:creationId xmlns:a16="http://schemas.microsoft.com/office/drawing/2014/main" id="{6267C50D-2406-3769-4826-1FEE96C9A9E3}"/>
              </a:ext>
            </a:extLst>
          </p:cNvPr>
          <p:cNvSpPr>
            <a:spLocks noGrp="1"/>
          </p:cNvSpPr>
          <p:nvPr>
            <p:ph idx="1"/>
          </p:nvPr>
        </p:nvSpPr>
        <p:spPr>
          <a:xfrm>
            <a:off x="838200" y="1825625"/>
            <a:ext cx="10515600" cy="4667250"/>
          </a:xfrm>
        </p:spPr>
        <p:txBody>
          <a:bodyPr>
            <a:normAutofit fontScale="92500" lnSpcReduction="20000"/>
          </a:bodyPr>
          <a:lstStyle/>
          <a:p>
            <a:r>
              <a:rPr lang="en-GB" b="1" dirty="0"/>
              <a:t>Data collection:</a:t>
            </a:r>
          </a:p>
          <a:p>
            <a:pPr lvl="1"/>
            <a:r>
              <a:rPr lang="en-GB" dirty="0"/>
              <a:t>However, the real value in machine learning comes from collecting your own robust datasets that are specific to your business needs and activities, and then using that to drive your algorithm. There's nothing quite as good as a purpose-built solution to a problem, so the data set built in-house for the purposes of your machine learning project will mostly always be better than a public data set available to anyone.</a:t>
            </a:r>
          </a:p>
          <a:p>
            <a:pPr lvl="1"/>
            <a:r>
              <a:rPr lang="en-GB" dirty="0"/>
              <a:t>When deciding between using a ready-made dataset or collecting your own data, it's important to consider your goals and the quality of available datasets. If your goals require unique, specific data that's not already out there, creating datasets is likely the best way. But using a ready-made dataset can also save time and resources.</a:t>
            </a:r>
          </a:p>
          <a:p>
            <a:pPr lvl="1"/>
            <a:r>
              <a:rPr lang="en-GB" dirty="0"/>
              <a:t>You should also consider the quality of the data, as collecting on your own might require additional effort to clean and process the data before it gets used.</a:t>
            </a:r>
          </a:p>
          <a:p>
            <a:pPr lvl="1"/>
            <a:r>
              <a:rPr lang="en-GB" dirty="0"/>
              <a:t>Next, depending on the ML approach you're using, you need to decide whether to label your data, and how exactly you want to do it. </a:t>
            </a:r>
            <a:endParaRPr lang="en-US" dirty="0"/>
          </a:p>
        </p:txBody>
      </p:sp>
    </p:spTree>
    <p:extLst>
      <p:ext uri="{BB962C8B-B14F-4D97-AF65-F5344CB8AC3E}">
        <p14:creationId xmlns:p14="http://schemas.microsoft.com/office/powerpoint/2010/main" val="3202929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32EEE-FFEC-BCE2-DF20-C4C4C58A0641}"/>
              </a:ext>
            </a:extLst>
          </p:cNvPr>
          <p:cNvSpPr>
            <a:spLocks noGrp="1"/>
          </p:cNvSpPr>
          <p:nvPr>
            <p:ph type="title"/>
          </p:nvPr>
        </p:nvSpPr>
        <p:spPr/>
        <p:txBody>
          <a:bodyPr/>
          <a:lstStyle/>
          <a:p>
            <a:r>
              <a:rPr lang="en-US" dirty="0"/>
              <a:t>Data preparation</a:t>
            </a:r>
          </a:p>
        </p:txBody>
      </p:sp>
      <p:sp>
        <p:nvSpPr>
          <p:cNvPr id="3" name="Content Placeholder 2">
            <a:extLst>
              <a:ext uri="{FF2B5EF4-FFF2-40B4-BE49-F238E27FC236}">
                <a16:creationId xmlns:a16="http://schemas.microsoft.com/office/drawing/2014/main" id="{AAE9A02E-507C-46ED-BAA7-E1F3C0DFD6C4}"/>
              </a:ext>
            </a:extLst>
          </p:cNvPr>
          <p:cNvSpPr>
            <a:spLocks noGrp="1"/>
          </p:cNvSpPr>
          <p:nvPr>
            <p:ph idx="1"/>
          </p:nvPr>
        </p:nvSpPr>
        <p:spPr/>
        <p:txBody>
          <a:bodyPr>
            <a:normAutofit fontScale="92500" lnSpcReduction="10000"/>
          </a:bodyPr>
          <a:lstStyle/>
          <a:p>
            <a:r>
              <a:rPr lang="en-GB" dirty="0"/>
              <a:t>Machine Learning (ML) focuses on developing algorithms and models that enable computers to learn from and make predictions or decisions based on data. </a:t>
            </a:r>
          </a:p>
          <a:p>
            <a:r>
              <a:rPr lang="en-GB" dirty="0"/>
              <a:t>Whether we use supervised learning, unsupervised learning, or reinforcement learning, getting accurate results in ML depends on having clean and well-organized data.</a:t>
            </a:r>
          </a:p>
          <a:p>
            <a:r>
              <a:rPr lang="en-GB" dirty="0"/>
              <a:t>That’s where data preparation comes in. It’s the process that ensures the data is in the best possible shape for making reliable predictions and gaining meaningful insights. </a:t>
            </a:r>
          </a:p>
          <a:p>
            <a:r>
              <a:rPr lang="en-GB" dirty="0"/>
              <a:t>Data scientists commit nearly 80% of their time to data preparation.</a:t>
            </a:r>
            <a:endParaRPr lang="en-US" dirty="0"/>
          </a:p>
        </p:txBody>
      </p:sp>
    </p:spTree>
    <p:extLst>
      <p:ext uri="{BB962C8B-B14F-4D97-AF65-F5344CB8AC3E}">
        <p14:creationId xmlns:p14="http://schemas.microsoft.com/office/powerpoint/2010/main" val="3813078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FC72B-E2CF-3805-4A3E-7DA93EFA7B9B}"/>
              </a:ext>
            </a:extLst>
          </p:cNvPr>
          <p:cNvSpPr>
            <a:spLocks noGrp="1"/>
          </p:cNvSpPr>
          <p:nvPr>
            <p:ph type="title"/>
          </p:nvPr>
        </p:nvSpPr>
        <p:spPr/>
        <p:txBody>
          <a:bodyPr/>
          <a:lstStyle/>
          <a:p>
            <a:r>
              <a:rPr lang="en-US" dirty="0"/>
              <a:t>Importance of Data Preparation</a:t>
            </a:r>
          </a:p>
        </p:txBody>
      </p:sp>
      <p:sp>
        <p:nvSpPr>
          <p:cNvPr id="3" name="Content Placeholder 2">
            <a:extLst>
              <a:ext uri="{FF2B5EF4-FFF2-40B4-BE49-F238E27FC236}">
                <a16:creationId xmlns:a16="http://schemas.microsoft.com/office/drawing/2014/main" id="{DBAD7498-BDBE-185E-D6FA-5AB2C48C9B9B}"/>
              </a:ext>
            </a:extLst>
          </p:cNvPr>
          <p:cNvSpPr>
            <a:spLocks noGrp="1"/>
          </p:cNvSpPr>
          <p:nvPr>
            <p:ph idx="1"/>
          </p:nvPr>
        </p:nvSpPr>
        <p:spPr>
          <a:xfrm>
            <a:off x="838200" y="1825624"/>
            <a:ext cx="10515600" cy="4900296"/>
          </a:xfrm>
        </p:spPr>
        <p:txBody>
          <a:bodyPr>
            <a:normAutofit fontScale="70000" lnSpcReduction="20000"/>
          </a:bodyPr>
          <a:lstStyle/>
          <a:p>
            <a:r>
              <a:rPr lang="en-GB" dirty="0"/>
              <a:t>In machine learning, the algorithm learns from the data you feed it. And the algorithm can only learn effectively if that data is clean and complete.</a:t>
            </a:r>
          </a:p>
          <a:p>
            <a:r>
              <a:rPr lang="en-GB" dirty="0"/>
              <a:t>Without well-prepared data, even the most advanced algorithms can produce inaccurate or misleading results. Let’s explore what happens if the data is not prepared thoroughly:</a:t>
            </a:r>
          </a:p>
          <a:p>
            <a:pPr lvl="1"/>
            <a:r>
              <a:rPr lang="en-GB" sz="2600" b="1" i="1" dirty="0"/>
              <a:t>Compromised Model Accuracy</a:t>
            </a:r>
            <a:r>
              <a:rPr lang="en-GB" sz="2600" dirty="0"/>
              <a:t>: Machine learning models rely on data patterns. Inaccurate data leads to models built on ‘dirty’ data, resulting in off-the-mark predictions. This can result in both compromised accuracy and increased costs. For instance, a healthcare model trained on unclean data may show an impressive 95% accuracy rating during testing, but when deployed in real healthcare settings, it could fail to diagnose critical conditions. Poorly prepared data can also lead to overfitting, where the model performs well on the training data but poorly on new, unseen data. This makes the model less useful in real-world applications.</a:t>
            </a:r>
          </a:p>
          <a:p>
            <a:pPr lvl="1"/>
            <a:r>
              <a:rPr lang="en-GB" sz="2600" b="1" i="1" dirty="0"/>
              <a:t>Compounding Errors</a:t>
            </a:r>
            <a:r>
              <a:rPr lang="en-GB" sz="2600" dirty="0"/>
              <a:t>: In interconnected systems where outputs from one model feed into another, poor data quality can lead to compounding errors. This cascading effect can result in large-scale inaccuracies, especially in integrated digital ecosystems or complex supply chains.</a:t>
            </a:r>
          </a:p>
          <a:p>
            <a:pPr lvl="1"/>
            <a:r>
              <a:rPr lang="en-GB" sz="2600" b="1" i="1" dirty="0"/>
              <a:t>Biased Models and Ethical Concerns</a:t>
            </a:r>
            <a:r>
              <a:rPr lang="en-GB" sz="2600" dirty="0"/>
              <a:t>: When models learn from biased data, they mirror and exacerbate these biases, raising ethical concerns. In areas such as hiring or lending, this perpetuates unfair practices. For example, a hiring algorithm trained on historically biased data might consistently discriminate against qualified candidates from certain demographics.</a:t>
            </a:r>
            <a:endParaRPr lang="en-US" sz="2600" dirty="0"/>
          </a:p>
        </p:txBody>
      </p:sp>
    </p:spTree>
    <p:extLst>
      <p:ext uri="{BB962C8B-B14F-4D97-AF65-F5344CB8AC3E}">
        <p14:creationId xmlns:p14="http://schemas.microsoft.com/office/powerpoint/2010/main" val="2134988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1D0D-84E0-EB14-8BDC-05758423D80E}"/>
              </a:ext>
            </a:extLst>
          </p:cNvPr>
          <p:cNvSpPr>
            <a:spLocks noGrp="1"/>
          </p:cNvSpPr>
          <p:nvPr>
            <p:ph type="title"/>
          </p:nvPr>
        </p:nvSpPr>
        <p:spPr/>
        <p:txBody>
          <a:bodyPr/>
          <a:lstStyle/>
          <a:p>
            <a:r>
              <a:rPr lang="en-GB" dirty="0"/>
              <a:t>Common misconceptions about data preparation</a:t>
            </a:r>
            <a:endParaRPr lang="en-US" dirty="0"/>
          </a:p>
        </p:txBody>
      </p:sp>
      <p:sp>
        <p:nvSpPr>
          <p:cNvPr id="3" name="Content Placeholder 2">
            <a:extLst>
              <a:ext uri="{FF2B5EF4-FFF2-40B4-BE49-F238E27FC236}">
                <a16:creationId xmlns:a16="http://schemas.microsoft.com/office/drawing/2014/main" id="{B9E343C6-2B3F-DE65-DA2D-C8E2DE9F2022}"/>
              </a:ext>
            </a:extLst>
          </p:cNvPr>
          <p:cNvSpPr>
            <a:spLocks noGrp="1"/>
          </p:cNvSpPr>
          <p:nvPr>
            <p:ph idx="1"/>
          </p:nvPr>
        </p:nvSpPr>
        <p:spPr/>
        <p:txBody>
          <a:bodyPr>
            <a:normAutofit/>
          </a:bodyPr>
          <a:lstStyle/>
          <a:p>
            <a:r>
              <a:rPr lang="en-GB" dirty="0"/>
              <a:t>There are myths about data preparation that can set back your machine-learning efforts. If you follow misconceptions, you may waste your time and experience poor model performance. So, let's break down these myths and align them with reality.</a:t>
            </a:r>
          </a:p>
          <a:p>
            <a:pPr marL="0" indent="0">
              <a:buNone/>
            </a:pPr>
            <a:endParaRPr lang="en-GB" dirty="0"/>
          </a:p>
        </p:txBody>
      </p:sp>
    </p:spTree>
    <p:extLst>
      <p:ext uri="{BB962C8B-B14F-4D97-AF65-F5344CB8AC3E}">
        <p14:creationId xmlns:p14="http://schemas.microsoft.com/office/powerpoint/2010/main" val="2296006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1D0D-84E0-EB14-8BDC-05758423D80E}"/>
              </a:ext>
            </a:extLst>
          </p:cNvPr>
          <p:cNvSpPr>
            <a:spLocks noGrp="1"/>
          </p:cNvSpPr>
          <p:nvPr>
            <p:ph type="title"/>
          </p:nvPr>
        </p:nvSpPr>
        <p:spPr/>
        <p:txBody>
          <a:bodyPr/>
          <a:lstStyle/>
          <a:p>
            <a:r>
              <a:rPr lang="en-GB" dirty="0"/>
              <a:t>Common misconceptions about data preparation</a:t>
            </a:r>
            <a:endParaRPr lang="en-US" dirty="0"/>
          </a:p>
        </p:txBody>
      </p:sp>
      <p:sp>
        <p:nvSpPr>
          <p:cNvPr id="3" name="Content Placeholder 2">
            <a:extLst>
              <a:ext uri="{FF2B5EF4-FFF2-40B4-BE49-F238E27FC236}">
                <a16:creationId xmlns:a16="http://schemas.microsoft.com/office/drawing/2014/main" id="{B9E343C6-2B3F-DE65-DA2D-C8E2DE9F2022}"/>
              </a:ext>
            </a:extLst>
          </p:cNvPr>
          <p:cNvSpPr>
            <a:spLocks noGrp="1"/>
          </p:cNvSpPr>
          <p:nvPr>
            <p:ph idx="1"/>
          </p:nvPr>
        </p:nvSpPr>
        <p:spPr/>
        <p:txBody>
          <a:bodyPr>
            <a:normAutofit/>
          </a:bodyPr>
          <a:lstStyle/>
          <a:p>
            <a:pPr lvl="1"/>
            <a:r>
              <a:rPr lang="en-GB" b="1" dirty="0"/>
              <a:t>Misconception 1: More data is always better</a:t>
            </a:r>
          </a:p>
          <a:p>
            <a:pPr lvl="2"/>
            <a:r>
              <a:rPr lang="en-GB" dirty="0"/>
              <a:t>One of the biggest misconceptions is that collecting more data will automatically improve your machine-learning model.</a:t>
            </a:r>
          </a:p>
          <a:p>
            <a:pPr lvl="2"/>
            <a:endParaRPr lang="en-GB" dirty="0"/>
          </a:p>
          <a:p>
            <a:pPr lvl="2"/>
            <a:r>
              <a:rPr lang="en-GB" dirty="0"/>
              <a:t>The reality, however, is quite different: quality over quantity. Simply storing more data won't help if that data is noisy, irrelevant, or full of errors.</a:t>
            </a:r>
          </a:p>
          <a:p>
            <a:pPr lvl="2"/>
            <a:endParaRPr lang="en-GB" dirty="0"/>
          </a:p>
          <a:p>
            <a:pPr lvl="2"/>
            <a:r>
              <a:rPr lang="en-GB" dirty="0"/>
              <a:t>The reason this misconception is so harmful is because it leads to wasted resources. Companies may spend time and money collecting and storing huge amounts of data that don't contribute to better model performance.</a:t>
            </a:r>
          </a:p>
          <a:p>
            <a:pPr lvl="2"/>
            <a:endParaRPr lang="en-GB" dirty="0"/>
          </a:p>
          <a:p>
            <a:pPr lvl="2"/>
            <a:r>
              <a:rPr lang="en-GB" dirty="0"/>
              <a:t>Sometimes, the noise from irrelevant or poor-quality data can even degrade a model's performance, making it less accurate and reliable.</a:t>
            </a:r>
            <a:endParaRPr lang="en-US" dirty="0"/>
          </a:p>
        </p:txBody>
      </p:sp>
    </p:spTree>
    <p:extLst>
      <p:ext uri="{BB962C8B-B14F-4D97-AF65-F5344CB8AC3E}">
        <p14:creationId xmlns:p14="http://schemas.microsoft.com/office/powerpoint/2010/main" val="1284884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6577D-17C3-7CCB-1F67-AEA165EB6DA9}"/>
              </a:ext>
            </a:extLst>
          </p:cNvPr>
          <p:cNvSpPr>
            <a:spLocks noGrp="1"/>
          </p:cNvSpPr>
          <p:nvPr>
            <p:ph type="title"/>
          </p:nvPr>
        </p:nvSpPr>
        <p:spPr/>
        <p:txBody>
          <a:bodyPr/>
          <a:lstStyle/>
          <a:p>
            <a:r>
              <a:rPr lang="en-GB" dirty="0"/>
              <a:t>Common misconceptions about data preparation (cont.)</a:t>
            </a:r>
            <a:endParaRPr lang="en-US" dirty="0"/>
          </a:p>
        </p:txBody>
      </p:sp>
      <p:sp>
        <p:nvSpPr>
          <p:cNvPr id="3" name="Content Placeholder 2">
            <a:extLst>
              <a:ext uri="{FF2B5EF4-FFF2-40B4-BE49-F238E27FC236}">
                <a16:creationId xmlns:a16="http://schemas.microsoft.com/office/drawing/2014/main" id="{24AE1BC7-4C90-F645-ECE8-51FBC661B323}"/>
              </a:ext>
            </a:extLst>
          </p:cNvPr>
          <p:cNvSpPr>
            <a:spLocks noGrp="1"/>
          </p:cNvSpPr>
          <p:nvPr>
            <p:ph idx="1"/>
          </p:nvPr>
        </p:nvSpPr>
        <p:spPr/>
        <p:txBody>
          <a:bodyPr/>
          <a:lstStyle/>
          <a:p>
            <a:pPr lvl="1"/>
            <a:r>
              <a:rPr lang="en-GB" b="1" dirty="0"/>
              <a:t>Misconception 2: Data preparation is a one-time task</a:t>
            </a:r>
          </a:p>
          <a:p>
            <a:pPr lvl="2"/>
            <a:r>
              <a:rPr lang="en-GB" dirty="0"/>
              <a:t>Another common myth is thinking that data preparation in machine learning is a one-time task — something you do once and then forget about.</a:t>
            </a:r>
          </a:p>
          <a:p>
            <a:pPr lvl="2"/>
            <a:endParaRPr lang="en-GB" dirty="0"/>
          </a:p>
          <a:p>
            <a:pPr lvl="2"/>
            <a:r>
              <a:rPr lang="en-GB" dirty="0"/>
              <a:t>The reality is that data preparation is an ongoing process. As your machine learning model evolves or new data becomes available, you'll often find that you need to revisit and refine your data preparation steps.</a:t>
            </a:r>
          </a:p>
          <a:p>
            <a:pPr lvl="2"/>
            <a:endParaRPr lang="en-GB" dirty="0"/>
          </a:p>
          <a:p>
            <a:pPr lvl="2"/>
            <a:r>
              <a:rPr lang="en-GB" dirty="0"/>
              <a:t>Believing that data preparation is a one-off task can lead to outdated data, affecting your machine-learning model's accuracy in the long term.</a:t>
            </a:r>
          </a:p>
          <a:p>
            <a:pPr lvl="2"/>
            <a:endParaRPr lang="en-US" dirty="0"/>
          </a:p>
        </p:txBody>
      </p:sp>
    </p:spTree>
    <p:extLst>
      <p:ext uri="{BB962C8B-B14F-4D97-AF65-F5344CB8AC3E}">
        <p14:creationId xmlns:p14="http://schemas.microsoft.com/office/powerpoint/2010/main" val="49609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EC01B-AE95-0092-38B9-BE0EE0D0A729}"/>
              </a:ext>
            </a:extLst>
          </p:cNvPr>
          <p:cNvSpPr>
            <a:spLocks noGrp="1"/>
          </p:cNvSpPr>
          <p:nvPr>
            <p:ph type="title"/>
          </p:nvPr>
        </p:nvSpPr>
        <p:spPr/>
        <p:txBody>
          <a:bodyPr/>
          <a:lstStyle/>
          <a:p>
            <a:r>
              <a:rPr lang="en-GB" dirty="0"/>
              <a:t>Common misconceptions about data preparation (cont.)</a:t>
            </a:r>
            <a:endParaRPr lang="en-US" dirty="0"/>
          </a:p>
        </p:txBody>
      </p:sp>
      <p:sp>
        <p:nvSpPr>
          <p:cNvPr id="3" name="Content Placeholder 2">
            <a:extLst>
              <a:ext uri="{FF2B5EF4-FFF2-40B4-BE49-F238E27FC236}">
                <a16:creationId xmlns:a16="http://schemas.microsoft.com/office/drawing/2014/main" id="{15E99A6D-415B-EB99-EDE5-5926763083E8}"/>
              </a:ext>
            </a:extLst>
          </p:cNvPr>
          <p:cNvSpPr>
            <a:spLocks noGrp="1"/>
          </p:cNvSpPr>
          <p:nvPr>
            <p:ph idx="1"/>
          </p:nvPr>
        </p:nvSpPr>
        <p:spPr/>
        <p:txBody>
          <a:bodyPr>
            <a:normAutofit/>
          </a:bodyPr>
          <a:lstStyle/>
          <a:p>
            <a:pPr lvl="1"/>
            <a:r>
              <a:rPr lang="en-GB" b="1" dirty="0"/>
              <a:t>Misconception 3: Manual data preparation is always better</a:t>
            </a:r>
          </a:p>
          <a:p>
            <a:pPr lvl="2"/>
            <a:r>
              <a:rPr lang="en-GB" dirty="0"/>
              <a:t>Most people believe that manual data preparation methods are the gold standard. </a:t>
            </a:r>
          </a:p>
          <a:p>
            <a:pPr lvl="2"/>
            <a:endParaRPr lang="en-GB" dirty="0"/>
          </a:p>
          <a:p>
            <a:pPr lvl="2"/>
            <a:r>
              <a:rPr lang="en-GB" dirty="0"/>
              <a:t>And it's true that manual oversight can catch nuances automated tools might miss. However, relying only on manual methods has its drawbacks. Handling data preparation manually can be time-consuming and prone to human error, slowing the entire machine-learning process from data gathering to model deployment.</a:t>
            </a:r>
          </a:p>
          <a:p>
            <a:pPr lvl="2"/>
            <a:endParaRPr lang="en-GB" dirty="0"/>
          </a:p>
          <a:p>
            <a:pPr lvl="2"/>
            <a:r>
              <a:rPr lang="en-GB" dirty="0"/>
              <a:t>Automated tools can efficiently handle many aspects of data preparation, often more quickly and with fewer errors than a manual approach.</a:t>
            </a:r>
            <a:endParaRPr lang="en-US" dirty="0"/>
          </a:p>
        </p:txBody>
      </p:sp>
    </p:spTree>
    <p:extLst>
      <p:ext uri="{BB962C8B-B14F-4D97-AF65-F5344CB8AC3E}">
        <p14:creationId xmlns:p14="http://schemas.microsoft.com/office/powerpoint/2010/main" val="1468078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B56B4-24CA-C304-807F-3DB65BED58FF}"/>
              </a:ext>
            </a:extLst>
          </p:cNvPr>
          <p:cNvSpPr>
            <a:spLocks noGrp="1"/>
          </p:cNvSpPr>
          <p:nvPr>
            <p:ph type="title"/>
          </p:nvPr>
        </p:nvSpPr>
        <p:spPr/>
        <p:txBody>
          <a:bodyPr/>
          <a:lstStyle/>
          <a:p>
            <a:r>
              <a:rPr lang="en-US" dirty="0"/>
              <a:t>Steps of data preparation</a:t>
            </a:r>
          </a:p>
        </p:txBody>
      </p:sp>
      <p:sp>
        <p:nvSpPr>
          <p:cNvPr id="3" name="Content Placeholder 2">
            <a:extLst>
              <a:ext uri="{FF2B5EF4-FFF2-40B4-BE49-F238E27FC236}">
                <a16:creationId xmlns:a16="http://schemas.microsoft.com/office/drawing/2014/main" id="{701F0B28-EE0D-82AB-27E4-EA0F849BCD41}"/>
              </a:ext>
            </a:extLst>
          </p:cNvPr>
          <p:cNvSpPr>
            <a:spLocks noGrp="1"/>
          </p:cNvSpPr>
          <p:nvPr>
            <p:ph idx="1"/>
          </p:nvPr>
        </p:nvSpPr>
        <p:spPr>
          <a:xfrm>
            <a:off x="838200" y="1825624"/>
            <a:ext cx="10515600" cy="4544695"/>
          </a:xfrm>
        </p:spPr>
        <p:txBody>
          <a:bodyPr>
            <a:normAutofit fontScale="85000" lnSpcReduction="20000"/>
          </a:bodyPr>
          <a:lstStyle/>
          <a:p>
            <a:r>
              <a:rPr lang="en-GB" dirty="0"/>
              <a:t>We should think of data preparation as laying the groundwork for our machine-learning model. </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Each step is designed to refine our data, making it a reliable input for accurate and insightful predictions.</a:t>
            </a:r>
            <a:endParaRPr lang="en-US" dirty="0"/>
          </a:p>
        </p:txBody>
      </p:sp>
      <p:pic>
        <p:nvPicPr>
          <p:cNvPr id="4" name="Picture 3">
            <a:extLst>
              <a:ext uri="{FF2B5EF4-FFF2-40B4-BE49-F238E27FC236}">
                <a16:creationId xmlns:a16="http://schemas.microsoft.com/office/drawing/2014/main" id="{32F829BE-39E9-E163-E649-F24F42CAFA84}"/>
              </a:ext>
            </a:extLst>
          </p:cNvPr>
          <p:cNvPicPr>
            <a:picLocks noChangeAspect="1"/>
          </p:cNvPicPr>
          <p:nvPr/>
        </p:nvPicPr>
        <p:blipFill>
          <a:blip r:embed="rId2"/>
          <a:srcRect t="16468" b="16752"/>
          <a:stretch/>
        </p:blipFill>
        <p:spPr>
          <a:xfrm>
            <a:off x="2405380" y="2539543"/>
            <a:ext cx="7381240" cy="2772697"/>
          </a:xfrm>
          <a:prstGeom prst="rect">
            <a:avLst/>
          </a:prstGeom>
        </p:spPr>
      </p:pic>
    </p:spTree>
    <p:extLst>
      <p:ext uri="{BB962C8B-B14F-4D97-AF65-F5344CB8AC3E}">
        <p14:creationId xmlns:p14="http://schemas.microsoft.com/office/powerpoint/2010/main" val="3721143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C73A4-76CD-5F01-8443-4CB7A8384D72}"/>
              </a:ext>
            </a:extLst>
          </p:cNvPr>
          <p:cNvSpPr>
            <a:spLocks noGrp="1"/>
          </p:cNvSpPr>
          <p:nvPr>
            <p:ph type="title"/>
          </p:nvPr>
        </p:nvSpPr>
        <p:spPr/>
        <p:txBody>
          <a:bodyPr>
            <a:normAutofit/>
          </a:bodyPr>
          <a:lstStyle/>
          <a:p>
            <a:r>
              <a:rPr lang="en-GB" dirty="0"/>
              <a:t>Before we start: Problem Identification and Understanding</a:t>
            </a:r>
            <a:endParaRPr lang="en-US" dirty="0"/>
          </a:p>
        </p:txBody>
      </p:sp>
      <p:sp>
        <p:nvSpPr>
          <p:cNvPr id="3" name="Content Placeholder 2">
            <a:extLst>
              <a:ext uri="{FF2B5EF4-FFF2-40B4-BE49-F238E27FC236}">
                <a16:creationId xmlns:a16="http://schemas.microsoft.com/office/drawing/2014/main" id="{F3E39B28-922D-F959-29DC-AEC12551F9D5}"/>
              </a:ext>
            </a:extLst>
          </p:cNvPr>
          <p:cNvSpPr>
            <a:spLocks noGrp="1"/>
          </p:cNvSpPr>
          <p:nvPr>
            <p:ph idx="1"/>
          </p:nvPr>
        </p:nvSpPr>
        <p:spPr/>
        <p:txBody>
          <a:bodyPr>
            <a:normAutofit/>
          </a:bodyPr>
          <a:lstStyle/>
          <a:p>
            <a:r>
              <a:rPr lang="en-GB" dirty="0"/>
              <a:t>First, we must have a comprehensive understanding of our goals, desired outcomes, and any constraints or limitations.</a:t>
            </a:r>
          </a:p>
          <a:p>
            <a:r>
              <a:rPr lang="en-GB" dirty="0"/>
              <a:t>With a clear objective we can easily identify which data features are vital and extraneous for the model’s training. Additionally, the nature of the problem inherently dictates the standard for data quality. For instance, a machine learning model tasked with predicting stock prices needs a higher level of data precision than one designed to suggest movie recommendations.</a:t>
            </a:r>
            <a:endParaRPr lang="en-US" dirty="0"/>
          </a:p>
        </p:txBody>
      </p:sp>
    </p:spTree>
    <p:extLst>
      <p:ext uri="{BB962C8B-B14F-4D97-AF65-F5344CB8AC3E}">
        <p14:creationId xmlns:p14="http://schemas.microsoft.com/office/powerpoint/2010/main" val="306318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E63E2-892D-5BF4-F1FB-882657046705}"/>
              </a:ext>
            </a:extLst>
          </p:cNvPr>
          <p:cNvSpPr>
            <a:spLocks noGrp="1"/>
          </p:cNvSpPr>
          <p:nvPr>
            <p:ph type="title"/>
          </p:nvPr>
        </p:nvSpPr>
        <p:spPr/>
        <p:txBody>
          <a:bodyPr/>
          <a:lstStyle/>
          <a:p>
            <a:r>
              <a:rPr lang="en-US" dirty="0"/>
              <a:t>Step 1: Collecting data</a:t>
            </a:r>
          </a:p>
        </p:txBody>
      </p:sp>
      <p:sp>
        <p:nvSpPr>
          <p:cNvPr id="3" name="Content Placeholder 2">
            <a:extLst>
              <a:ext uri="{FF2B5EF4-FFF2-40B4-BE49-F238E27FC236}">
                <a16:creationId xmlns:a16="http://schemas.microsoft.com/office/drawing/2014/main" id="{8CB7BAF0-B54E-DA50-78D2-6B6CA8658380}"/>
              </a:ext>
            </a:extLst>
          </p:cNvPr>
          <p:cNvSpPr>
            <a:spLocks noGrp="1"/>
          </p:cNvSpPr>
          <p:nvPr>
            <p:ph idx="1"/>
          </p:nvPr>
        </p:nvSpPr>
        <p:spPr/>
        <p:txBody>
          <a:bodyPr>
            <a:normAutofit/>
          </a:bodyPr>
          <a:lstStyle/>
          <a:p>
            <a:r>
              <a:rPr lang="en-GB" dirty="0"/>
              <a:t>The first step in data preparation for machine learning is collecting the data we will need for our model.</a:t>
            </a:r>
          </a:p>
          <a:p>
            <a:r>
              <a:rPr lang="en-GB" dirty="0"/>
              <a:t>The sources of this data can vary widely depending on our project's requirements. We might pull data from databases, APIs, spreadsheets, or even scrape it from websites. Some projects may also require real-time data streams.</a:t>
            </a:r>
          </a:p>
          <a:p>
            <a:r>
              <a:rPr lang="en-GB" dirty="0"/>
              <a:t>It's important to ensure the data we collect is relevant to the problem we are trying to solve. Irrelevant or low-quality data can lead to poor model performance, so we should be selective and focused on our data collection efforts.</a:t>
            </a:r>
            <a:endParaRPr lang="en-US" dirty="0"/>
          </a:p>
        </p:txBody>
      </p:sp>
    </p:spTree>
    <p:extLst>
      <p:ext uri="{BB962C8B-B14F-4D97-AF65-F5344CB8AC3E}">
        <p14:creationId xmlns:p14="http://schemas.microsoft.com/office/powerpoint/2010/main" val="1473450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2A447-9FB6-A327-F32C-28B263B5E028}"/>
              </a:ext>
            </a:extLst>
          </p:cNvPr>
          <p:cNvSpPr>
            <a:spLocks noGrp="1"/>
          </p:cNvSpPr>
          <p:nvPr>
            <p:ph type="title"/>
          </p:nvPr>
        </p:nvSpPr>
        <p:spPr/>
        <p:txBody>
          <a:bodyPr/>
          <a:lstStyle/>
          <a:p>
            <a:r>
              <a:rPr lang="en-US" dirty="0"/>
              <a:t>Data structures</a:t>
            </a:r>
          </a:p>
        </p:txBody>
      </p:sp>
      <p:sp>
        <p:nvSpPr>
          <p:cNvPr id="3" name="Content Placeholder 2">
            <a:extLst>
              <a:ext uri="{FF2B5EF4-FFF2-40B4-BE49-F238E27FC236}">
                <a16:creationId xmlns:a16="http://schemas.microsoft.com/office/drawing/2014/main" id="{CEF01CF5-A4B6-2BC1-5120-92F749691F45}"/>
              </a:ext>
            </a:extLst>
          </p:cNvPr>
          <p:cNvSpPr>
            <a:spLocks noGrp="1"/>
          </p:cNvSpPr>
          <p:nvPr>
            <p:ph idx="1"/>
          </p:nvPr>
        </p:nvSpPr>
        <p:spPr>
          <a:xfrm>
            <a:off x="838200" y="1825624"/>
            <a:ext cx="10515600" cy="4768215"/>
          </a:xfrm>
        </p:spPr>
        <p:txBody>
          <a:bodyPr>
            <a:normAutofit fontScale="85000" lnSpcReduction="20000"/>
          </a:bodyPr>
          <a:lstStyle/>
          <a:p>
            <a:r>
              <a:rPr lang="en-GB" dirty="0"/>
              <a:t>Machine learning uses three types of data: structured, unstructured, and semi-structured.</a:t>
            </a:r>
          </a:p>
          <a:p>
            <a:pPr lvl="1"/>
            <a:r>
              <a:rPr lang="en-GB" dirty="0"/>
              <a:t>Structured data is organized in a specific way, typically in a table or spreadsheet format. The examples of structured data span information collected from databases or transactional systems.</a:t>
            </a:r>
          </a:p>
          <a:p>
            <a:pPr lvl="1"/>
            <a:r>
              <a:rPr lang="en-GB" dirty="0"/>
              <a:t>Unstructured data includes images, videos, audio recordings, and other information that does not follow conventional data models.</a:t>
            </a:r>
          </a:p>
          <a:p>
            <a:pPr lvl="1"/>
            <a:r>
              <a:rPr lang="en-GB" dirty="0"/>
              <a:t>Semi-structured data doesn’t follow a format of a tabular data model. Still, it’s not completely disorganized, as it contains some structural elements, like tags or metadata that make it easier to interpret. The examples include data in XML or JSON formats.</a:t>
            </a:r>
          </a:p>
          <a:p>
            <a:r>
              <a:rPr lang="en-GB" dirty="0"/>
              <a:t>The structure of the data determines the optimal approach to preparing data for machine learning. Structured data, for example, can be easily organized into tables and cleaned via deduplication, filling in missing values, or standardizing data formats.</a:t>
            </a:r>
          </a:p>
          <a:p>
            <a:r>
              <a:rPr lang="en-GB" dirty="0"/>
              <a:t>In contrast, extracting relevant features from unstructured data requires more complex techniques, such as natural language processing or computer vision.</a:t>
            </a:r>
            <a:endParaRPr lang="en-US" dirty="0"/>
          </a:p>
        </p:txBody>
      </p:sp>
    </p:spTree>
    <p:extLst>
      <p:ext uri="{BB962C8B-B14F-4D97-AF65-F5344CB8AC3E}">
        <p14:creationId xmlns:p14="http://schemas.microsoft.com/office/powerpoint/2010/main" val="1486283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8AF68-A5FA-A8F5-18EB-7B1276BEF116}"/>
              </a:ext>
            </a:extLst>
          </p:cNvPr>
          <p:cNvSpPr>
            <a:spLocks noGrp="1"/>
          </p:cNvSpPr>
          <p:nvPr>
            <p:ph type="title"/>
          </p:nvPr>
        </p:nvSpPr>
        <p:spPr/>
        <p:txBody>
          <a:bodyPr/>
          <a:lstStyle/>
          <a:p>
            <a:r>
              <a:rPr lang="en-US" dirty="0"/>
              <a:t>Step 2: Cleaning data</a:t>
            </a:r>
          </a:p>
        </p:txBody>
      </p:sp>
      <p:sp>
        <p:nvSpPr>
          <p:cNvPr id="3" name="Content Placeholder 2">
            <a:extLst>
              <a:ext uri="{FF2B5EF4-FFF2-40B4-BE49-F238E27FC236}">
                <a16:creationId xmlns:a16="http://schemas.microsoft.com/office/drawing/2014/main" id="{1692CDBF-B50E-B181-6D31-8ACEFF50038D}"/>
              </a:ext>
            </a:extLst>
          </p:cNvPr>
          <p:cNvSpPr>
            <a:spLocks noGrp="1"/>
          </p:cNvSpPr>
          <p:nvPr>
            <p:ph idx="1"/>
          </p:nvPr>
        </p:nvSpPr>
        <p:spPr>
          <a:xfrm>
            <a:off x="838200" y="1825624"/>
            <a:ext cx="10515600" cy="4900295"/>
          </a:xfrm>
        </p:spPr>
        <p:txBody>
          <a:bodyPr>
            <a:normAutofit fontScale="77500" lnSpcReduction="20000"/>
          </a:bodyPr>
          <a:lstStyle/>
          <a:p>
            <a:r>
              <a:rPr lang="en-GB" dirty="0"/>
              <a:t>Once we have collected our data, the next step is to clean it. Here we will need to identify and handle missing values, outliers, and inconsistencies in the dataset.</a:t>
            </a:r>
          </a:p>
          <a:p>
            <a:r>
              <a:rPr lang="en-GB" dirty="0"/>
              <a:t>Let’s break down each component.</a:t>
            </a:r>
          </a:p>
          <a:p>
            <a:r>
              <a:rPr lang="en-GB" b="1" dirty="0"/>
              <a:t>Handling missing values</a:t>
            </a:r>
          </a:p>
          <a:p>
            <a:pPr lvl="1"/>
            <a:r>
              <a:rPr lang="en-GB" dirty="0"/>
              <a:t>Missing values happen when certain numerical values are blank in our dataset. Missing data can be a tricky issue, but there are several ways to handle it.</a:t>
            </a:r>
          </a:p>
          <a:p>
            <a:pPr lvl="1"/>
            <a:r>
              <a:rPr lang="en-GB" dirty="0"/>
              <a:t>Imputation is one such method where we replace missing values with estimated ones. The goal is to guess the missing value based on other available information.</a:t>
            </a:r>
          </a:p>
          <a:p>
            <a:pPr lvl="1"/>
            <a:r>
              <a:rPr lang="en-GB" dirty="0"/>
              <a:t>For example, suppose we are working with time-series data where continuity and sequence are important. In that case, we might opt for imputation methods like forward-fill or backward-fill to replace missing numeric values.</a:t>
            </a:r>
          </a:p>
          <a:p>
            <a:pPr lvl="1"/>
            <a:r>
              <a:rPr lang="en-GB" dirty="0"/>
              <a:t>If we are dealing with a dataset where missing values are random and don't follow a pattern, we could replace missing numeric values with the mean or median of the column.</a:t>
            </a:r>
          </a:p>
          <a:p>
            <a:pPr lvl="1"/>
            <a:r>
              <a:rPr lang="en-GB" dirty="0"/>
              <a:t>In some cases, particularly when the missing data could introduce bias, it might be better to delete those rows. For instance, if we are analysing a marketing campaign and critical data like click-through rates or conversion rates are missing, it might be more accurate to remove those records to avoid biased analysis.</a:t>
            </a:r>
          </a:p>
          <a:p>
            <a:endParaRPr lang="en-GB" dirty="0"/>
          </a:p>
        </p:txBody>
      </p:sp>
    </p:spTree>
    <p:extLst>
      <p:ext uri="{BB962C8B-B14F-4D97-AF65-F5344CB8AC3E}">
        <p14:creationId xmlns:p14="http://schemas.microsoft.com/office/powerpoint/2010/main" val="2060608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8AF68-A5FA-A8F5-18EB-7B1276BEF116}"/>
              </a:ext>
            </a:extLst>
          </p:cNvPr>
          <p:cNvSpPr>
            <a:spLocks noGrp="1"/>
          </p:cNvSpPr>
          <p:nvPr>
            <p:ph type="title"/>
          </p:nvPr>
        </p:nvSpPr>
        <p:spPr/>
        <p:txBody>
          <a:bodyPr/>
          <a:lstStyle/>
          <a:p>
            <a:r>
              <a:rPr lang="en-US" dirty="0"/>
              <a:t>Step 2: Cleaning data (cont.)</a:t>
            </a:r>
          </a:p>
        </p:txBody>
      </p:sp>
      <p:sp>
        <p:nvSpPr>
          <p:cNvPr id="3" name="Content Placeholder 2">
            <a:extLst>
              <a:ext uri="{FF2B5EF4-FFF2-40B4-BE49-F238E27FC236}">
                <a16:creationId xmlns:a16="http://schemas.microsoft.com/office/drawing/2014/main" id="{1692CDBF-B50E-B181-6D31-8ACEFF50038D}"/>
              </a:ext>
            </a:extLst>
          </p:cNvPr>
          <p:cNvSpPr>
            <a:spLocks noGrp="1"/>
          </p:cNvSpPr>
          <p:nvPr>
            <p:ph idx="1"/>
          </p:nvPr>
        </p:nvSpPr>
        <p:spPr/>
        <p:txBody>
          <a:bodyPr>
            <a:normAutofit fontScale="77500" lnSpcReduction="20000"/>
          </a:bodyPr>
          <a:lstStyle/>
          <a:p>
            <a:r>
              <a:rPr lang="en-GB" b="1" dirty="0"/>
              <a:t>Handling outliers</a:t>
            </a:r>
          </a:p>
          <a:p>
            <a:r>
              <a:rPr lang="en-GB" dirty="0"/>
              <a:t>Outliers are data points that are significantly different from the rest of the data. For example, in a marketing context, these could be unusually high website traffic on a particular day or a large purchase amount.</a:t>
            </a:r>
          </a:p>
          <a:p>
            <a:r>
              <a:rPr lang="en-GB" dirty="0"/>
              <a:t>These outliers can skew our analysis and lead to incorrect conclusions.</a:t>
            </a:r>
          </a:p>
          <a:p>
            <a:r>
              <a:rPr lang="en-GB" dirty="0"/>
              <a:t>One technique to identify outliers is z-score normalization. Z-score normalization is a statistical method that calculates how many standard deviations a data point is from the mean of the dataset. In simpler terms, it helps us understand how "abnormal" a particular data point is compared to the average. A z-score above 3 or below -3 usually indicates an outlier.</a:t>
            </a:r>
          </a:p>
          <a:p>
            <a:r>
              <a:rPr lang="en-GB" dirty="0"/>
              <a:t>Once we have identified outliers using z-score normalization, we have a few options. We can remove them to prevent them from skewing our model or cap them at a certain value to reduce their impact. This decision often depends on the specific context and goals of our marketing analysis. </a:t>
            </a:r>
          </a:p>
        </p:txBody>
      </p:sp>
    </p:spTree>
    <p:extLst>
      <p:ext uri="{BB962C8B-B14F-4D97-AF65-F5344CB8AC3E}">
        <p14:creationId xmlns:p14="http://schemas.microsoft.com/office/powerpoint/2010/main" val="2870919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8AF68-A5FA-A8F5-18EB-7B1276BEF116}"/>
              </a:ext>
            </a:extLst>
          </p:cNvPr>
          <p:cNvSpPr>
            <a:spLocks noGrp="1"/>
          </p:cNvSpPr>
          <p:nvPr>
            <p:ph type="title"/>
          </p:nvPr>
        </p:nvSpPr>
        <p:spPr/>
        <p:txBody>
          <a:bodyPr/>
          <a:lstStyle/>
          <a:p>
            <a:r>
              <a:rPr lang="en-US" dirty="0"/>
              <a:t>Step 2: Cleaning data (cont.)</a:t>
            </a:r>
          </a:p>
        </p:txBody>
      </p:sp>
      <p:sp>
        <p:nvSpPr>
          <p:cNvPr id="3" name="Content Placeholder 2">
            <a:extLst>
              <a:ext uri="{FF2B5EF4-FFF2-40B4-BE49-F238E27FC236}">
                <a16:creationId xmlns:a16="http://schemas.microsoft.com/office/drawing/2014/main" id="{1692CDBF-B50E-B181-6D31-8ACEFF50038D}"/>
              </a:ext>
            </a:extLst>
          </p:cNvPr>
          <p:cNvSpPr>
            <a:spLocks noGrp="1"/>
          </p:cNvSpPr>
          <p:nvPr>
            <p:ph idx="1"/>
          </p:nvPr>
        </p:nvSpPr>
        <p:spPr>
          <a:xfrm>
            <a:off x="838200" y="1825624"/>
            <a:ext cx="10515600" cy="4849495"/>
          </a:xfrm>
        </p:spPr>
        <p:txBody>
          <a:bodyPr>
            <a:normAutofit fontScale="85000" lnSpcReduction="20000"/>
          </a:bodyPr>
          <a:lstStyle/>
          <a:p>
            <a:r>
              <a:rPr lang="en-GB" b="1" dirty="0"/>
              <a:t>Handling inconsistencies</a:t>
            </a:r>
          </a:p>
          <a:p>
            <a:pPr lvl="1"/>
            <a:r>
              <a:rPr lang="en-GB" dirty="0"/>
              <a:t>Inconsistencies in our data can throw off our analysis and result in misleading information.</a:t>
            </a:r>
          </a:p>
          <a:p>
            <a:pPr lvl="1"/>
            <a:r>
              <a:rPr lang="en-GB" dirty="0"/>
              <a:t>In the marketing context, this could range from inconsistent naming in our customer database to conflicting metrics across different analytics platforms.</a:t>
            </a:r>
          </a:p>
          <a:p>
            <a:pPr lvl="1"/>
            <a:r>
              <a:rPr lang="en-GB" dirty="0"/>
              <a:t>For example, if we are tracking customer interactions across multiple channels like email, social media, and our website, inconsistent naming or tagging can make it difficult to aggregate this data into a single customer view.</a:t>
            </a:r>
          </a:p>
          <a:p>
            <a:pPr lvl="1"/>
            <a:r>
              <a:rPr lang="en-GB" dirty="0"/>
              <a:t>To fix this, we can employ domain-specific rules that standardize naming or metrics to correct these inconsistencies.</a:t>
            </a:r>
          </a:p>
          <a:p>
            <a:pPr lvl="1"/>
            <a:r>
              <a:rPr lang="en-GB" dirty="0"/>
              <a:t>For instance, we might create a rule that automatically changes all instances of "e-mail" and "Email" to a standard "email" in our database.</a:t>
            </a:r>
          </a:p>
          <a:p>
            <a:pPr lvl="1"/>
            <a:r>
              <a:rPr lang="en-GB" dirty="0"/>
              <a:t>Data validation techniques can also be helpful here. We could set up automated checks that flag inconsistencies or anomalies, allowing us to correct them before they impact our analysis.</a:t>
            </a:r>
          </a:p>
          <a:p>
            <a:pPr lvl="1"/>
            <a:r>
              <a:rPr lang="en-GB" dirty="0"/>
              <a:t>By taking the time to address these inconsistencies, we improve the quality of our current analysis and set the stage for more accurate and insightful analyses in the future.</a:t>
            </a:r>
            <a:endParaRPr lang="en-US" dirty="0"/>
          </a:p>
        </p:txBody>
      </p:sp>
    </p:spTree>
    <p:extLst>
      <p:ext uri="{BB962C8B-B14F-4D97-AF65-F5344CB8AC3E}">
        <p14:creationId xmlns:p14="http://schemas.microsoft.com/office/powerpoint/2010/main" val="3078086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F04B7-F45E-B514-F799-56C3B0527A2D}"/>
              </a:ext>
            </a:extLst>
          </p:cNvPr>
          <p:cNvSpPr>
            <a:spLocks noGrp="1"/>
          </p:cNvSpPr>
          <p:nvPr>
            <p:ph type="title"/>
          </p:nvPr>
        </p:nvSpPr>
        <p:spPr/>
        <p:txBody>
          <a:bodyPr/>
          <a:lstStyle/>
          <a:p>
            <a:r>
              <a:rPr lang="en-US" dirty="0"/>
              <a:t>Step 3: Data transformation</a:t>
            </a:r>
          </a:p>
        </p:txBody>
      </p:sp>
      <p:sp>
        <p:nvSpPr>
          <p:cNvPr id="3" name="Content Placeholder 2">
            <a:extLst>
              <a:ext uri="{FF2B5EF4-FFF2-40B4-BE49-F238E27FC236}">
                <a16:creationId xmlns:a16="http://schemas.microsoft.com/office/drawing/2014/main" id="{FE044069-AC56-4B56-F0FD-7F3D8E3E3501}"/>
              </a:ext>
            </a:extLst>
          </p:cNvPr>
          <p:cNvSpPr>
            <a:spLocks noGrp="1"/>
          </p:cNvSpPr>
          <p:nvPr>
            <p:ph idx="1"/>
          </p:nvPr>
        </p:nvSpPr>
        <p:spPr>
          <a:xfrm>
            <a:off x="838200" y="1825624"/>
            <a:ext cx="10515600" cy="4890135"/>
          </a:xfrm>
        </p:spPr>
        <p:txBody>
          <a:bodyPr>
            <a:normAutofit fontScale="85000" lnSpcReduction="20000"/>
          </a:bodyPr>
          <a:lstStyle/>
          <a:p>
            <a:r>
              <a:rPr lang="en-GB" dirty="0"/>
              <a:t>Transforming our data is crucial because how we prepare it will directly impact how well our model can learn from it.</a:t>
            </a:r>
          </a:p>
          <a:p>
            <a:r>
              <a:rPr lang="en-GB" dirty="0"/>
              <a:t>Data transformation is the process of converting our cleaned data into a format suitable for machine learning algorithms. This often involves feature scaling and encoding, among other techniques.</a:t>
            </a:r>
          </a:p>
          <a:p>
            <a:r>
              <a:rPr lang="en-GB" b="1" dirty="0"/>
              <a:t>Feature scaling</a:t>
            </a:r>
          </a:p>
          <a:p>
            <a:pPr lvl="1"/>
            <a:r>
              <a:rPr lang="en-GB" dirty="0"/>
              <a:t>In marketing data, we might have variables on different scales, like customer age and monthly spending. Feature scaling helps to normalize these variables so that one doesn't disproportionately influence the model. Methods like min-max scaling or standardization are commonly used for this.</a:t>
            </a:r>
          </a:p>
          <a:p>
            <a:r>
              <a:rPr lang="en-GB" b="1" dirty="0"/>
              <a:t>Feature encoding</a:t>
            </a:r>
          </a:p>
          <a:p>
            <a:pPr lvl="1"/>
            <a:r>
              <a:rPr lang="en-GB" dirty="0"/>
              <a:t>Categorical values, such as customer segments or product categories, must be converted to numerical format. Feature encoding techniques like one-hot encoding or label encoding can be used to transform these categorical variables into a numeric form that can be fed into machine learning algorithms, though they will still need to be designated and treated as categorical variables for modelling purposes.</a:t>
            </a:r>
            <a:endParaRPr lang="en-US" dirty="0"/>
          </a:p>
        </p:txBody>
      </p:sp>
    </p:spTree>
    <p:extLst>
      <p:ext uri="{BB962C8B-B14F-4D97-AF65-F5344CB8AC3E}">
        <p14:creationId xmlns:p14="http://schemas.microsoft.com/office/powerpoint/2010/main" val="37580769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9C578-60A5-9759-6FEF-35CAC9D70E6F}"/>
              </a:ext>
            </a:extLst>
          </p:cNvPr>
          <p:cNvSpPr>
            <a:spLocks noGrp="1"/>
          </p:cNvSpPr>
          <p:nvPr>
            <p:ph type="title"/>
          </p:nvPr>
        </p:nvSpPr>
        <p:spPr/>
        <p:txBody>
          <a:bodyPr/>
          <a:lstStyle/>
          <a:p>
            <a:r>
              <a:rPr lang="en-US" dirty="0"/>
              <a:t>Step 4: Data reduction</a:t>
            </a:r>
          </a:p>
        </p:txBody>
      </p:sp>
      <p:sp>
        <p:nvSpPr>
          <p:cNvPr id="3" name="Content Placeholder 2">
            <a:extLst>
              <a:ext uri="{FF2B5EF4-FFF2-40B4-BE49-F238E27FC236}">
                <a16:creationId xmlns:a16="http://schemas.microsoft.com/office/drawing/2014/main" id="{2148EAC4-3595-CDEA-812A-6E9A0F6E4275}"/>
              </a:ext>
            </a:extLst>
          </p:cNvPr>
          <p:cNvSpPr>
            <a:spLocks noGrp="1"/>
          </p:cNvSpPr>
          <p:nvPr>
            <p:ph idx="1"/>
          </p:nvPr>
        </p:nvSpPr>
        <p:spPr/>
        <p:txBody>
          <a:bodyPr>
            <a:normAutofit fontScale="77500" lnSpcReduction="20000"/>
          </a:bodyPr>
          <a:lstStyle/>
          <a:p>
            <a:r>
              <a:rPr lang="en-GB" dirty="0"/>
              <a:t>Simplifying our data helps our machine learning model spot patterns more easily, offering quick and accurate marketing information for timely decisions.</a:t>
            </a:r>
          </a:p>
          <a:p>
            <a:r>
              <a:rPr lang="en-GB" dirty="0"/>
              <a:t>Data reduction is the process of simplifying our data without losing its essence. This is particularly useful in marketing, where we often deal with large datasets that can be cumbersome to analyse.</a:t>
            </a:r>
          </a:p>
          <a:p>
            <a:r>
              <a:rPr lang="en-GB" dirty="0"/>
              <a:t>Data reduction techniques can make our datasets more manageable and speed up our machine-learning algorithms without sacrificing model performance.</a:t>
            </a:r>
          </a:p>
          <a:p>
            <a:r>
              <a:rPr lang="en-GB" dirty="0"/>
              <a:t>One common method is dimensionality reduction, which reduces the number of target variables in our entire dataset while preserving its key features.</a:t>
            </a:r>
          </a:p>
          <a:p>
            <a:r>
              <a:rPr lang="en-GB" dirty="0"/>
              <a:t>For example, if we have customer data with numerous variables like age, income, spending habits, and more, dimensionality reduction can help us focus on the most impactful variables.</a:t>
            </a:r>
            <a:endParaRPr lang="en-US" dirty="0"/>
          </a:p>
        </p:txBody>
      </p:sp>
    </p:spTree>
    <p:extLst>
      <p:ext uri="{BB962C8B-B14F-4D97-AF65-F5344CB8AC3E}">
        <p14:creationId xmlns:p14="http://schemas.microsoft.com/office/powerpoint/2010/main" val="2894373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82F94-9C71-AC20-E097-D46B42CF7599}"/>
              </a:ext>
            </a:extLst>
          </p:cNvPr>
          <p:cNvSpPr>
            <a:spLocks noGrp="1"/>
          </p:cNvSpPr>
          <p:nvPr>
            <p:ph type="title"/>
          </p:nvPr>
        </p:nvSpPr>
        <p:spPr/>
        <p:txBody>
          <a:bodyPr/>
          <a:lstStyle/>
          <a:p>
            <a:r>
              <a:rPr lang="en-US" dirty="0"/>
              <a:t>Step 5: Data splitting</a:t>
            </a:r>
          </a:p>
        </p:txBody>
      </p:sp>
      <p:sp>
        <p:nvSpPr>
          <p:cNvPr id="3" name="Content Placeholder 2">
            <a:extLst>
              <a:ext uri="{FF2B5EF4-FFF2-40B4-BE49-F238E27FC236}">
                <a16:creationId xmlns:a16="http://schemas.microsoft.com/office/drawing/2014/main" id="{08BFF507-5E83-2FA0-35AD-05619B5178FB}"/>
              </a:ext>
            </a:extLst>
          </p:cNvPr>
          <p:cNvSpPr>
            <a:spLocks noGrp="1"/>
          </p:cNvSpPr>
          <p:nvPr>
            <p:ph idx="1"/>
          </p:nvPr>
        </p:nvSpPr>
        <p:spPr>
          <a:xfrm>
            <a:off x="838200" y="1825625"/>
            <a:ext cx="10515600" cy="4667250"/>
          </a:xfrm>
        </p:spPr>
        <p:txBody>
          <a:bodyPr>
            <a:normAutofit fontScale="85000" lnSpcReduction="20000"/>
          </a:bodyPr>
          <a:lstStyle/>
          <a:p>
            <a:r>
              <a:rPr lang="en-GB" dirty="0"/>
              <a:t>The last step in preparing our data for machine learning is splitting it into different sets: </a:t>
            </a:r>
          </a:p>
          <a:p>
            <a:pPr lvl="1"/>
            <a:r>
              <a:rPr lang="en-GB" dirty="0"/>
              <a:t>training, </a:t>
            </a:r>
          </a:p>
          <a:p>
            <a:pPr lvl="1"/>
            <a:r>
              <a:rPr lang="en-GB" dirty="0"/>
              <a:t>validation, and </a:t>
            </a:r>
          </a:p>
          <a:p>
            <a:pPr lvl="1"/>
            <a:r>
              <a:rPr lang="en-GB" dirty="0"/>
              <a:t>test sets.</a:t>
            </a:r>
          </a:p>
          <a:p>
            <a:r>
              <a:rPr lang="en-GB" dirty="0"/>
              <a:t>Correctly splitting our data ensures our machine learning model can generalize well to new data, making our marketing data more reliable and actionable.</a:t>
            </a:r>
          </a:p>
          <a:p>
            <a:r>
              <a:rPr lang="en-GB" dirty="0"/>
              <a:t>A common practice is using a 70-30 or 80-20 ratio for training and test sets. The training set is used to train the model, and the test set is used to evaluate it. Some also use a validation set, a subset of the training set, or a separate set to fine-tune model parameters.</a:t>
            </a:r>
          </a:p>
          <a:p>
            <a:r>
              <a:rPr lang="en-GB" dirty="0"/>
              <a:t>It's essential to ensure each set represents the overall data. For example, if we are analysing customer segments, we should make sure each set contains a good mix of different segments to avoid bias</a:t>
            </a:r>
            <a:endParaRPr lang="en-US" dirty="0"/>
          </a:p>
        </p:txBody>
      </p:sp>
    </p:spTree>
    <p:extLst>
      <p:ext uri="{BB962C8B-B14F-4D97-AF65-F5344CB8AC3E}">
        <p14:creationId xmlns:p14="http://schemas.microsoft.com/office/powerpoint/2010/main" val="3886650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3DFF4-AF3F-4670-C976-EB0005F11CE7}"/>
              </a:ext>
            </a:extLst>
          </p:cNvPr>
          <p:cNvSpPr>
            <a:spLocks noGrp="1"/>
          </p:cNvSpPr>
          <p:nvPr>
            <p:ph type="title"/>
          </p:nvPr>
        </p:nvSpPr>
        <p:spPr/>
        <p:txBody>
          <a:bodyPr/>
          <a:lstStyle/>
          <a:p>
            <a:r>
              <a:rPr lang="en-US" dirty="0"/>
              <a:t>Training vs Testing vs Validation Sets</a:t>
            </a:r>
          </a:p>
        </p:txBody>
      </p:sp>
      <p:sp>
        <p:nvSpPr>
          <p:cNvPr id="3" name="Content Placeholder 2">
            <a:extLst>
              <a:ext uri="{FF2B5EF4-FFF2-40B4-BE49-F238E27FC236}">
                <a16:creationId xmlns:a16="http://schemas.microsoft.com/office/drawing/2014/main" id="{352E45DA-EED7-25F0-6DD2-38070FF0E131}"/>
              </a:ext>
            </a:extLst>
          </p:cNvPr>
          <p:cNvSpPr>
            <a:spLocks noGrp="1"/>
          </p:cNvSpPr>
          <p:nvPr>
            <p:ph idx="1"/>
          </p:nvPr>
        </p:nvSpPr>
        <p:spPr/>
        <p:txBody>
          <a:bodyPr/>
          <a:lstStyle/>
          <a:p>
            <a:r>
              <a:rPr lang="en-GB" dirty="0"/>
              <a:t>The fundamental purpose for splitting the dataset is to assess how effective will the trained model be in generalizing to new data.</a:t>
            </a:r>
          </a:p>
          <a:p>
            <a:r>
              <a:rPr lang="en-GB" dirty="0"/>
              <a:t>Usually, we split our data into three sets:</a:t>
            </a:r>
          </a:p>
          <a:p>
            <a:pPr lvl="1"/>
            <a:r>
              <a:rPr lang="en-GB" dirty="0"/>
              <a:t>Training set</a:t>
            </a:r>
          </a:p>
          <a:p>
            <a:pPr lvl="1"/>
            <a:r>
              <a:rPr lang="en-GB" dirty="0"/>
              <a:t>Testing set</a:t>
            </a:r>
          </a:p>
          <a:p>
            <a:pPr lvl="1"/>
            <a:r>
              <a:rPr lang="en-GB" dirty="0"/>
              <a:t>Validation set</a:t>
            </a:r>
          </a:p>
          <a:p>
            <a:r>
              <a:rPr lang="en-GB" dirty="0"/>
              <a:t>From the total dataset, we first split the data into Training and Testing Sets. Then, from the Training set, we keep aside a portion of data to be used as Validation set.</a:t>
            </a:r>
          </a:p>
          <a:p>
            <a:endParaRPr lang="en-US" dirty="0"/>
          </a:p>
        </p:txBody>
      </p:sp>
    </p:spTree>
    <p:extLst>
      <p:ext uri="{BB962C8B-B14F-4D97-AF65-F5344CB8AC3E}">
        <p14:creationId xmlns:p14="http://schemas.microsoft.com/office/powerpoint/2010/main" val="3053727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8A331-32E5-6B03-231D-B4028897F338}"/>
              </a:ext>
            </a:extLst>
          </p:cNvPr>
          <p:cNvSpPr>
            <a:spLocks noGrp="1"/>
          </p:cNvSpPr>
          <p:nvPr>
            <p:ph type="title"/>
          </p:nvPr>
        </p:nvSpPr>
        <p:spPr/>
        <p:txBody>
          <a:bodyPr/>
          <a:lstStyle/>
          <a:p>
            <a:r>
              <a:rPr lang="en-US" dirty="0"/>
              <a:t>Dataset splitting</a:t>
            </a:r>
          </a:p>
        </p:txBody>
      </p:sp>
      <p:grpSp>
        <p:nvGrpSpPr>
          <p:cNvPr id="4" name="Group 3">
            <a:extLst>
              <a:ext uri="{FF2B5EF4-FFF2-40B4-BE49-F238E27FC236}">
                <a16:creationId xmlns:a16="http://schemas.microsoft.com/office/drawing/2014/main" id="{6CC03A75-40F5-6FE7-CD1F-626F1F89DE47}"/>
              </a:ext>
            </a:extLst>
          </p:cNvPr>
          <p:cNvGrpSpPr/>
          <p:nvPr/>
        </p:nvGrpSpPr>
        <p:grpSpPr>
          <a:xfrm>
            <a:off x="2661920" y="2446174"/>
            <a:ext cx="6640623" cy="3110240"/>
            <a:chOff x="4470400" y="3870251"/>
            <a:chExt cx="6640623" cy="3110240"/>
          </a:xfrm>
        </p:grpSpPr>
        <p:sp>
          <p:nvSpPr>
            <p:cNvPr id="5" name="Rectangle: Rounded Corners 4">
              <a:extLst>
                <a:ext uri="{FF2B5EF4-FFF2-40B4-BE49-F238E27FC236}">
                  <a16:creationId xmlns:a16="http://schemas.microsoft.com/office/drawing/2014/main" id="{C4FC2DCF-8489-1DAA-1BED-B620D13668D0}"/>
                </a:ext>
              </a:extLst>
            </p:cNvPr>
            <p:cNvSpPr/>
            <p:nvPr/>
          </p:nvSpPr>
          <p:spPr>
            <a:xfrm>
              <a:off x="4470400" y="3870251"/>
              <a:ext cx="6640623" cy="6804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Full dataset</a:t>
              </a:r>
            </a:p>
          </p:txBody>
        </p:sp>
        <p:sp>
          <p:nvSpPr>
            <p:cNvPr id="6" name="Rectangle: Rounded Corners 5">
              <a:extLst>
                <a:ext uri="{FF2B5EF4-FFF2-40B4-BE49-F238E27FC236}">
                  <a16:creationId xmlns:a16="http://schemas.microsoft.com/office/drawing/2014/main" id="{28FE0815-00C0-19AF-30F9-1F32DDD65DDE}"/>
                </a:ext>
              </a:extLst>
            </p:cNvPr>
            <p:cNvSpPr/>
            <p:nvPr/>
          </p:nvSpPr>
          <p:spPr>
            <a:xfrm>
              <a:off x="4470400" y="5077283"/>
              <a:ext cx="4572000" cy="680484"/>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Training set</a:t>
              </a:r>
            </a:p>
            <a:p>
              <a:pPr algn="ctr"/>
              <a:r>
                <a:rPr lang="en-US" dirty="0"/>
                <a:t>(70%-80%)</a:t>
              </a:r>
            </a:p>
          </p:txBody>
        </p:sp>
        <p:sp>
          <p:nvSpPr>
            <p:cNvPr id="7" name="Rectangle: Rounded Corners 6">
              <a:extLst>
                <a:ext uri="{FF2B5EF4-FFF2-40B4-BE49-F238E27FC236}">
                  <a16:creationId xmlns:a16="http://schemas.microsoft.com/office/drawing/2014/main" id="{0088F2C4-6458-35BB-5276-1EE22981589E}"/>
                </a:ext>
              </a:extLst>
            </p:cNvPr>
            <p:cNvSpPr/>
            <p:nvPr/>
          </p:nvSpPr>
          <p:spPr>
            <a:xfrm>
              <a:off x="9042400" y="5077283"/>
              <a:ext cx="2068623" cy="680484"/>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Testing set</a:t>
              </a:r>
            </a:p>
            <a:p>
              <a:pPr algn="ctr"/>
              <a:r>
                <a:rPr lang="en-US" dirty="0"/>
                <a:t>(20%-30%)</a:t>
              </a:r>
            </a:p>
          </p:txBody>
        </p:sp>
        <p:sp>
          <p:nvSpPr>
            <p:cNvPr id="8" name="Rectangle: Rounded Corners 7">
              <a:extLst>
                <a:ext uri="{FF2B5EF4-FFF2-40B4-BE49-F238E27FC236}">
                  <a16:creationId xmlns:a16="http://schemas.microsoft.com/office/drawing/2014/main" id="{8C6FBE17-0248-22BD-7B1C-88F954181387}"/>
                </a:ext>
              </a:extLst>
            </p:cNvPr>
            <p:cNvSpPr/>
            <p:nvPr/>
          </p:nvSpPr>
          <p:spPr>
            <a:xfrm>
              <a:off x="4470400" y="6297467"/>
              <a:ext cx="2722880" cy="68048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Training set</a:t>
              </a:r>
            </a:p>
          </p:txBody>
        </p:sp>
        <p:sp>
          <p:nvSpPr>
            <p:cNvPr id="9" name="Rectangle: Rounded Corners 8">
              <a:extLst>
                <a:ext uri="{FF2B5EF4-FFF2-40B4-BE49-F238E27FC236}">
                  <a16:creationId xmlns:a16="http://schemas.microsoft.com/office/drawing/2014/main" id="{D359564E-349C-82B1-8056-BD3F715CAEC0}"/>
                </a:ext>
              </a:extLst>
            </p:cNvPr>
            <p:cNvSpPr/>
            <p:nvPr/>
          </p:nvSpPr>
          <p:spPr>
            <a:xfrm>
              <a:off x="7193280" y="6300007"/>
              <a:ext cx="1849120" cy="680484"/>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Validation set</a:t>
              </a:r>
            </a:p>
            <a:p>
              <a:pPr algn="ctr"/>
              <a:r>
                <a:rPr lang="en-US" dirty="0"/>
                <a:t>(10%-15%)</a:t>
              </a:r>
            </a:p>
          </p:txBody>
        </p:sp>
        <p:cxnSp>
          <p:nvCxnSpPr>
            <p:cNvPr id="10" name="Connector: Elbow 9">
              <a:extLst>
                <a:ext uri="{FF2B5EF4-FFF2-40B4-BE49-F238E27FC236}">
                  <a16:creationId xmlns:a16="http://schemas.microsoft.com/office/drawing/2014/main" id="{10796E17-5DA4-B028-F9E9-EEF53C35AEFA}"/>
                </a:ext>
              </a:extLst>
            </p:cNvPr>
            <p:cNvCxnSpPr>
              <a:cxnSpLocks/>
              <a:stCxn id="5" idx="2"/>
              <a:endCxn id="6" idx="0"/>
            </p:cNvCxnSpPr>
            <p:nvPr/>
          </p:nvCxnSpPr>
          <p:spPr>
            <a:xfrm rot="5400000">
              <a:off x="7010282" y="4296853"/>
              <a:ext cx="526548" cy="103431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Connector: Elbow 10">
              <a:extLst>
                <a:ext uri="{FF2B5EF4-FFF2-40B4-BE49-F238E27FC236}">
                  <a16:creationId xmlns:a16="http://schemas.microsoft.com/office/drawing/2014/main" id="{2EBC7280-4308-C958-8FD3-EC84ACB02688}"/>
                </a:ext>
              </a:extLst>
            </p:cNvPr>
            <p:cNvCxnSpPr>
              <a:cxnSpLocks/>
              <a:stCxn id="5" idx="2"/>
              <a:endCxn id="7" idx="0"/>
            </p:cNvCxnSpPr>
            <p:nvPr/>
          </p:nvCxnSpPr>
          <p:spPr>
            <a:xfrm rot="16200000" flipH="1">
              <a:off x="8670438" y="3671009"/>
              <a:ext cx="526548" cy="22860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Connector: Elbow 11">
              <a:extLst>
                <a:ext uri="{FF2B5EF4-FFF2-40B4-BE49-F238E27FC236}">
                  <a16:creationId xmlns:a16="http://schemas.microsoft.com/office/drawing/2014/main" id="{ACBDA797-0841-3F44-8C44-E04DDA1D874E}"/>
                </a:ext>
              </a:extLst>
            </p:cNvPr>
            <p:cNvCxnSpPr>
              <a:stCxn id="6" idx="2"/>
              <a:endCxn id="8" idx="0"/>
            </p:cNvCxnSpPr>
            <p:nvPr/>
          </p:nvCxnSpPr>
          <p:spPr>
            <a:xfrm rot="5400000">
              <a:off x="6024270" y="5565337"/>
              <a:ext cx="539700" cy="92456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Connector: Elbow 12">
              <a:extLst>
                <a:ext uri="{FF2B5EF4-FFF2-40B4-BE49-F238E27FC236}">
                  <a16:creationId xmlns:a16="http://schemas.microsoft.com/office/drawing/2014/main" id="{35C96C94-E418-CF60-D060-6DE4EF73E1FF}"/>
                </a:ext>
              </a:extLst>
            </p:cNvPr>
            <p:cNvCxnSpPr>
              <a:stCxn id="6" idx="2"/>
              <a:endCxn id="9" idx="0"/>
            </p:cNvCxnSpPr>
            <p:nvPr/>
          </p:nvCxnSpPr>
          <p:spPr>
            <a:xfrm rot="16200000" flipH="1">
              <a:off x="7166000" y="5348167"/>
              <a:ext cx="542240" cy="136144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042639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69E66-6361-8CEA-0C67-EE0617D4DC69}"/>
              </a:ext>
            </a:extLst>
          </p:cNvPr>
          <p:cNvSpPr>
            <a:spLocks noGrp="1"/>
          </p:cNvSpPr>
          <p:nvPr>
            <p:ph type="title"/>
          </p:nvPr>
        </p:nvSpPr>
        <p:spPr/>
        <p:txBody>
          <a:bodyPr/>
          <a:lstStyle/>
          <a:p>
            <a:r>
              <a:rPr lang="en-US" dirty="0"/>
              <a:t>Training Set </a:t>
            </a:r>
          </a:p>
        </p:txBody>
      </p:sp>
      <p:sp>
        <p:nvSpPr>
          <p:cNvPr id="3" name="Content Placeholder 2">
            <a:extLst>
              <a:ext uri="{FF2B5EF4-FFF2-40B4-BE49-F238E27FC236}">
                <a16:creationId xmlns:a16="http://schemas.microsoft.com/office/drawing/2014/main" id="{22823B86-612C-67AF-3F9B-81CC2A56AC21}"/>
              </a:ext>
            </a:extLst>
          </p:cNvPr>
          <p:cNvSpPr>
            <a:spLocks noGrp="1"/>
          </p:cNvSpPr>
          <p:nvPr>
            <p:ph idx="1"/>
          </p:nvPr>
        </p:nvSpPr>
        <p:spPr/>
        <p:txBody>
          <a:bodyPr/>
          <a:lstStyle/>
          <a:p>
            <a:r>
              <a:rPr lang="en-GB" dirty="0"/>
              <a:t>This is the actual dataset from which a model trains .i.e. the model sees and learns from this data to predict the outcome or to make the right decisions. </a:t>
            </a:r>
          </a:p>
          <a:p>
            <a:r>
              <a:rPr lang="en-GB" dirty="0"/>
              <a:t>This data is more than 60% of the total data available for the project.</a:t>
            </a:r>
            <a:endParaRPr lang="en-US" dirty="0"/>
          </a:p>
        </p:txBody>
      </p:sp>
    </p:spTree>
    <p:extLst>
      <p:ext uri="{BB962C8B-B14F-4D97-AF65-F5344CB8AC3E}">
        <p14:creationId xmlns:p14="http://schemas.microsoft.com/office/powerpoint/2010/main" val="326296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9A6FF-A689-FC36-C526-48CF587D81E2}"/>
              </a:ext>
            </a:extLst>
          </p:cNvPr>
          <p:cNvSpPr>
            <a:spLocks noGrp="1"/>
          </p:cNvSpPr>
          <p:nvPr>
            <p:ph type="title"/>
          </p:nvPr>
        </p:nvSpPr>
        <p:spPr/>
        <p:txBody>
          <a:bodyPr/>
          <a:lstStyle/>
          <a:p>
            <a:r>
              <a:rPr lang="en-US" dirty="0"/>
              <a:t>Validation Set</a:t>
            </a:r>
          </a:p>
        </p:txBody>
      </p:sp>
      <p:sp>
        <p:nvSpPr>
          <p:cNvPr id="3" name="Content Placeholder 2">
            <a:extLst>
              <a:ext uri="{FF2B5EF4-FFF2-40B4-BE49-F238E27FC236}">
                <a16:creationId xmlns:a16="http://schemas.microsoft.com/office/drawing/2014/main" id="{359DAB38-A2EB-771E-2C7D-E86BD532D837}"/>
              </a:ext>
            </a:extLst>
          </p:cNvPr>
          <p:cNvSpPr>
            <a:spLocks noGrp="1"/>
          </p:cNvSpPr>
          <p:nvPr>
            <p:ph idx="1"/>
          </p:nvPr>
        </p:nvSpPr>
        <p:spPr/>
        <p:txBody>
          <a:bodyPr>
            <a:normAutofit fontScale="85000" lnSpcReduction="20000"/>
          </a:bodyPr>
          <a:lstStyle/>
          <a:p>
            <a:r>
              <a:rPr lang="en-GB" dirty="0"/>
              <a:t>The validation set is used to fine-tune the hyperparameters of the model and is considered a part of the training of the model. </a:t>
            </a:r>
          </a:p>
          <a:p>
            <a:r>
              <a:rPr lang="en-GB" dirty="0"/>
              <a:t>The model only sees this data for evaluation but does not learn from this data, providing an objective unbiased evaluation of the model. </a:t>
            </a:r>
          </a:p>
          <a:p>
            <a:r>
              <a:rPr lang="en-GB" dirty="0"/>
              <a:t>Validation dataset can be utilized for regression as well by interrupting training of model when loss of validation dataset becomes greater than loss of training dataset .i.e. reducing bias and variance. </a:t>
            </a:r>
          </a:p>
          <a:p>
            <a:r>
              <a:rPr lang="en-GB" dirty="0"/>
              <a:t>This data is approximately 10-15% of the total data available for the project but this can change depending upon the number of hyperparameters .i.e. if model has quite many hyperparameters then using large validation set will give better results. </a:t>
            </a:r>
          </a:p>
          <a:p>
            <a:r>
              <a:rPr lang="en-GB" dirty="0"/>
              <a:t>Now, whenever the accuracy of model on validation data is greater than that on training data then the model is said to have generalized well. </a:t>
            </a:r>
            <a:endParaRPr lang="en-US" dirty="0"/>
          </a:p>
        </p:txBody>
      </p:sp>
    </p:spTree>
    <p:extLst>
      <p:ext uri="{BB962C8B-B14F-4D97-AF65-F5344CB8AC3E}">
        <p14:creationId xmlns:p14="http://schemas.microsoft.com/office/powerpoint/2010/main" val="1751913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F694C-F18B-F939-1DD3-05727C2D5763}"/>
              </a:ext>
            </a:extLst>
          </p:cNvPr>
          <p:cNvSpPr>
            <a:spLocks noGrp="1"/>
          </p:cNvSpPr>
          <p:nvPr>
            <p:ph type="title"/>
          </p:nvPr>
        </p:nvSpPr>
        <p:spPr/>
        <p:txBody>
          <a:bodyPr/>
          <a:lstStyle/>
          <a:p>
            <a:r>
              <a:rPr lang="en-US" dirty="0"/>
              <a:t>Testing Set</a:t>
            </a:r>
          </a:p>
        </p:txBody>
      </p:sp>
      <p:sp>
        <p:nvSpPr>
          <p:cNvPr id="3" name="Content Placeholder 2">
            <a:extLst>
              <a:ext uri="{FF2B5EF4-FFF2-40B4-BE49-F238E27FC236}">
                <a16:creationId xmlns:a16="http://schemas.microsoft.com/office/drawing/2014/main" id="{A4F3E0F6-819C-BE9F-5FA3-033D1C9D0904}"/>
              </a:ext>
            </a:extLst>
          </p:cNvPr>
          <p:cNvSpPr>
            <a:spLocks noGrp="1"/>
          </p:cNvSpPr>
          <p:nvPr>
            <p:ph idx="1"/>
          </p:nvPr>
        </p:nvSpPr>
        <p:spPr/>
        <p:txBody>
          <a:bodyPr>
            <a:normAutofit fontScale="92500" lnSpcReduction="20000"/>
          </a:bodyPr>
          <a:lstStyle/>
          <a:p>
            <a:r>
              <a:rPr lang="en-GB" dirty="0"/>
              <a:t>This dataset is independent of the training set but has a somewhat similar type of probability distribution of classes and is used as a benchmark to evaluate the model, used only after the training of the model is complete. </a:t>
            </a:r>
          </a:p>
          <a:p>
            <a:r>
              <a:rPr lang="en-GB" dirty="0"/>
              <a:t>Testing set is usually a properly organized dataset having all kinds of data for scenarios that the model would probably be facing when used in the real world. </a:t>
            </a:r>
          </a:p>
          <a:p>
            <a:r>
              <a:rPr lang="en-GB" dirty="0"/>
              <a:t>Often the validation and testing set combined is used as a testing set which is not considered a good practice. </a:t>
            </a:r>
          </a:p>
          <a:p>
            <a:r>
              <a:rPr lang="en-GB" dirty="0"/>
              <a:t>If the accuracy of the model on training data is greater than that on testing data, then the model is said to have overfitting. </a:t>
            </a:r>
          </a:p>
          <a:p>
            <a:r>
              <a:rPr lang="en-GB" dirty="0"/>
              <a:t>This data is approximately 20-25% of the total data available for the project. </a:t>
            </a:r>
            <a:endParaRPr lang="en-US" dirty="0"/>
          </a:p>
        </p:txBody>
      </p:sp>
    </p:spTree>
    <p:extLst>
      <p:ext uri="{BB962C8B-B14F-4D97-AF65-F5344CB8AC3E}">
        <p14:creationId xmlns:p14="http://schemas.microsoft.com/office/powerpoint/2010/main" val="3269307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70FCC4-AF2B-A873-D70C-88773EF78674}"/>
              </a:ext>
            </a:extLst>
          </p:cNvPr>
          <p:cNvSpPr>
            <a:spLocks noGrp="1"/>
          </p:cNvSpPr>
          <p:nvPr>
            <p:ph idx="1"/>
          </p:nvPr>
        </p:nvSpPr>
        <p:spPr/>
        <p:txBody>
          <a:bodyPr/>
          <a:lstStyle/>
          <a:p>
            <a:r>
              <a:rPr lang="en-US" dirty="0"/>
              <a:t>Thanks</a:t>
            </a:r>
          </a:p>
        </p:txBody>
      </p:sp>
    </p:spTree>
    <p:extLst>
      <p:ext uri="{BB962C8B-B14F-4D97-AF65-F5344CB8AC3E}">
        <p14:creationId xmlns:p14="http://schemas.microsoft.com/office/powerpoint/2010/main" val="10627881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Century Schoolbook"/>
        <a:ea typeface=""/>
        <a:cs typeface=""/>
      </a:majorFont>
      <a:minorFont>
        <a:latin typeface="Century School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TotalTime>
  <Words>3427</Words>
  <Application>Microsoft Office PowerPoint</Application>
  <PresentationFormat>Widescreen</PresentationFormat>
  <Paragraphs>166</Paragraphs>
  <Slides>27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Century Schoolbook</vt:lpstr>
      <vt:lpstr>Office Theme</vt:lpstr>
      <vt:lpstr>Data preparation and processing</vt:lpstr>
      <vt:lpstr>Dataset</vt:lpstr>
      <vt:lpstr>Existing dataset, synthetic data, or data collection?</vt:lpstr>
      <vt:lpstr>Existing dataset, synthetic data, or data collection?</vt:lpstr>
      <vt:lpstr>Existing dataset, synthetic data, or data collection? (cont.)</vt:lpstr>
      <vt:lpstr>Data preparation</vt:lpstr>
      <vt:lpstr>Importance of Data Preparation</vt:lpstr>
      <vt:lpstr>Common misconceptions about data preparation</vt:lpstr>
      <vt:lpstr>Common misconceptions about data preparation</vt:lpstr>
      <vt:lpstr>Common misconceptions about data preparation (cont.)</vt:lpstr>
      <vt:lpstr>Common misconceptions about data preparation (cont.)</vt:lpstr>
      <vt:lpstr>Steps of data preparation</vt:lpstr>
      <vt:lpstr>Before we start: Problem Identification and Understanding</vt:lpstr>
      <vt:lpstr>Step 1: Collecting data</vt:lpstr>
      <vt:lpstr>Data structures</vt:lpstr>
      <vt:lpstr>Step 2: Cleaning data</vt:lpstr>
      <vt:lpstr>Step 2: Cleaning data (cont.)</vt:lpstr>
      <vt:lpstr>Step 2: Cleaning data (cont.)</vt:lpstr>
      <vt:lpstr>Step 3: Data transformation</vt:lpstr>
      <vt:lpstr>Step 4: Data reduction</vt:lpstr>
      <vt:lpstr>Step 5: Data splitting</vt:lpstr>
      <vt:lpstr>Training vs Testing vs Validation Sets</vt:lpstr>
      <vt:lpstr>Dataset splitting</vt:lpstr>
      <vt:lpstr>Training Set </vt:lpstr>
      <vt:lpstr>Validation Set</vt:lpstr>
      <vt:lpstr>Testing Set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Iftekhar Mahmud Towhid</dc:creator>
  <cp:lastModifiedBy>Iftekhar Mahmud Towhid</cp:lastModifiedBy>
  <cp:revision>30</cp:revision>
  <dcterms:created xsi:type="dcterms:W3CDTF">2024-10-15T12:50:30Z</dcterms:created>
  <dcterms:modified xsi:type="dcterms:W3CDTF">2024-10-15T16:33:45Z</dcterms:modified>
</cp:coreProperties>
</file>