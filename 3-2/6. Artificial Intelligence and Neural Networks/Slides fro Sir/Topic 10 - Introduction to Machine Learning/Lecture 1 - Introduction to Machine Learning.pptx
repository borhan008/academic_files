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4" r:id="rId17"/>
    <p:sldId id="270" r:id="rId18"/>
    <p:sldId id="275" r:id="rId19"/>
    <p:sldId id="271" r:id="rId20"/>
    <p:sldId id="276" r:id="rId21"/>
    <p:sldId id="277" r:id="rId22"/>
    <p:sldId id="279" r:id="rId23"/>
    <p:sldId id="282" r:id="rId24"/>
    <p:sldId id="283" r:id="rId25"/>
    <p:sldId id="280" r:id="rId26"/>
    <p:sldId id="278" r:id="rId27"/>
    <p:sldId id="281" r:id="rId28"/>
    <p:sldId id="284" r:id="rId29"/>
    <p:sldId id="285" r:id="rId30"/>
    <p:sldId id="286" r:id="rId31"/>
    <p:sldId id="287" r:id="rId32"/>
    <p:sldId id="289" r:id="rId33"/>
    <p:sldId id="288" r:id="rId34"/>
    <p:sldId id="290" r:id="rId35"/>
    <p:sldId id="292"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1A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F69A6E-6A71-4914-B3C1-271063BEED03}" type="doc">
      <dgm:prSet loTypeId="urn:microsoft.com/office/officeart/2005/8/layout/process1" loCatId="process" qsTypeId="urn:microsoft.com/office/officeart/2005/8/quickstyle/simple1" qsCatId="simple" csTypeId="urn:microsoft.com/office/officeart/2005/8/colors/accent1_2" csCatId="accent1" phldr="1"/>
      <dgm:spPr/>
    </dgm:pt>
    <dgm:pt modelId="{292320A9-62ED-4C9B-95B7-644116A7C489}">
      <dgm:prSet phldrT="[Text]"/>
      <dgm:spPr/>
      <dgm:t>
        <a:bodyPr/>
        <a:lstStyle/>
        <a:p>
          <a:r>
            <a:rPr lang="en-US" dirty="0"/>
            <a:t>Project setup</a:t>
          </a:r>
        </a:p>
      </dgm:t>
    </dgm:pt>
    <dgm:pt modelId="{40CC9C88-0DF6-44BB-87EE-E807F03B448D}" type="parTrans" cxnId="{F35315A2-E948-462F-9B16-5B416154A61B}">
      <dgm:prSet/>
      <dgm:spPr/>
      <dgm:t>
        <a:bodyPr/>
        <a:lstStyle/>
        <a:p>
          <a:endParaRPr lang="en-US"/>
        </a:p>
      </dgm:t>
    </dgm:pt>
    <dgm:pt modelId="{0BEBED06-92AA-437A-A632-A164F2318EAC}" type="sibTrans" cxnId="{F35315A2-E948-462F-9B16-5B416154A61B}">
      <dgm:prSet/>
      <dgm:spPr/>
      <dgm:t>
        <a:bodyPr/>
        <a:lstStyle/>
        <a:p>
          <a:endParaRPr lang="en-US"/>
        </a:p>
      </dgm:t>
    </dgm:pt>
    <dgm:pt modelId="{1DB9DEF5-7222-4050-A908-41FD91532398}">
      <dgm:prSet phldrT="[Text]"/>
      <dgm:spPr/>
      <dgm:t>
        <a:bodyPr/>
        <a:lstStyle/>
        <a:p>
          <a:r>
            <a:rPr lang="en-US" dirty="0"/>
            <a:t>Data Preparation</a:t>
          </a:r>
        </a:p>
      </dgm:t>
    </dgm:pt>
    <dgm:pt modelId="{C761DDAC-12A4-4F19-8FBC-49F5663341EC}" type="parTrans" cxnId="{193EFA86-6006-4AA6-8B06-DCE105A9F36C}">
      <dgm:prSet/>
      <dgm:spPr/>
      <dgm:t>
        <a:bodyPr/>
        <a:lstStyle/>
        <a:p>
          <a:endParaRPr lang="en-US"/>
        </a:p>
      </dgm:t>
    </dgm:pt>
    <dgm:pt modelId="{3D41F620-A8D9-4B1E-A338-F52EB3154D2F}" type="sibTrans" cxnId="{193EFA86-6006-4AA6-8B06-DCE105A9F36C}">
      <dgm:prSet/>
      <dgm:spPr/>
      <dgm:t>
        <a:bodyPr/>
        <a:lstStyle/>
        <a:p>
          <a:endParaRPr lang="en-US"/>
        </a:p>
      </dgm:t>
    </dgm:pt>
    <dgm:pt modelId="{E493583B-2CB2-4B73-95DA-E1C798EB8050}">
      <dgm:prSet phldrT="[Text]"/>
      <dgm:spPr/>
      <dgm:t>
        <a:bodyPr/>
        <a:lstStyle/>
        <a:p>
          <a:r>
            <a:rPr lang="en-US" dirty="0"/>
            <a:t>Modeling</a:t>
          </a:r>
        </a:p>
      </dgm:t>
    </dgm:pt>
    <dgm:pt modelId="{69781080-180D-4118-8BA7-45F6209C9DA5}" type="parTrans" cxnId="{A03ECBF7-8836-4549-8F2D-EFF541056623}">
      <dgm:prSet/>
      <dgm:spPr/>
      <dgm:t>
        <a:bodyPr/>
        <a:lstStyle/>
        <a:p>
          <a:endParaRPr lang="en-US"/>
        </a:p>
      </dgm:t>
    </dgm:pt>
    <dgm:pt modelId="{99FE80D7-8F72-4A49-AD62-6CC75D8AE590}" type="sibTrans" cxnId="{A03ECBF7-8836-4549-8F2D-EFF541056623}">
      <dgm:prSet/>
      <dgm:spPr/>
      <dgm:t>
        <a:bodyPr/>
        <a:lstStyle/>
        <a:p>
          <a:endParaRPr lang="en-US"/>
        </a:p>
      </dgm:t>
    </dgm:pt>
    <dgm:pt modelId="{FF1BB3B3-399D-481D-A955-04EE646A7DCC}">
      <dgm:prSet phldrT="[Text]"/>
      <dgm:spPr/>
      <dgm:t>
        <a:bodyPr/>
        <a:lstStyle/>
        <a:p>
          <a:r>
            <a:rPr lang="en-US" dirty="0"/>
            <a:t>Deployment</a:t>
          </a:r>
        </a:p>
      </dgm:t>
    </dgm:pt>
    <dgm:pt modelId="{5513D22E-A9BF-409B-8F8A-80064DFD6E62}" type="parTrans" cxnId="{23687EAE-0CC4-4579-BE36-2031AD52BB9D}">
      <dgm:prSet/>
      <dgm:spPr/>
      <dgm:t>
        <a:bodyPr/>
        <a:lstStyle/>
        <a:p>
          <a:endParaRPr lang="en-US"/>
        </a:p>
      </dgm:t>
    </dgm:pt>
    <dgm:pt modelId="{B2DD119F-B920-4DD9-897A-3DFAEF9EA3F0}" type="sibTrans" cxnId="{23687EAE-0CC4-4579-BE36-2031AD52BB9D}">
      <dgm:prSet/>
      <dgm:spPr/>
      <dgm:t>
        <a:bodyPr/>
        <a:lstStyle/>
        <a:p>
          <a:endParaRPr lang="en-US"/>
        </a:p>
      </dgm:t>
    </dgm:pt>
    <dgm:pt modelId="{925166D2-3F1C-4C13-A041-D6A1CDC7C0C9}" type="pres">
      <dgm:prSet presAssocID="{D4F69A6E-6A71-4914-B3C1-271063BEED03}" presName="Name0" presStyleCnt="0">
        <dgm:presLayoutVars>
          <dgm:dir/>
          <dgm:resizeHandles val="exact"/>
        </dgm:presLayoutVars>
      </dgm:prSet>
      <dgm:spPr/>
    </dgm:pt>
    <dgm:pt modelId="{5D99F475-AA3E-4F59-89D1-57493615D7D0}" type="pres">
      <dgm:prSet presAssocID="{292320A9-62ED-4C9B-95B7-644116A7C489}" presName="node" presStyleLbl="node1" presStyleIdx="0" presStyleCnt="4">
        <dgm:presLayoutVars>
          <dgm:bulletEnabled val="1"/>
        </dgm:presLayoutVars>
      </dgm:prSet>
      <dgm:spPr/>
    </dgm:pt>
    <dgm:pt modelId="{2273D843-5161-42A1-B7DE-686FF66510DD}" type="pres">
      <dgm:prSet presAssocID="{0BEBED06-92AA-437A-A632-A164F2318EAC}" presName="sibTrans" presStyleLbl="sibTrans2D1" presStyleIdx="0" presStyleCnt="3"/>
      <dgm:spPr/>
    </dgm:pt>
    <dgm:pt modelId="{87E183AA-ACA0-4858-9507-2B0E4AAE52A8}" type="pres">
      <dgm:prSet presAssocID="{0BEBED06-92AA-437A-A632-A164F2318EAC}" presName="connectorText" presStyleLbl="sibTrans2D1" presStyleIdx="0" presStyleCnt="3"/>
      <dgm:spPr/>
    </dgm:pt>
    <dgm:pt modelId="{C16D6EE1-9822-49D9-9233-92EE943EDFA1}" type="pres">
      <dgm:prSet presAssocID="{1DB9DEF5-7222-4050-A908-41FD91532398}" presName="node" presStyleLbl="node1" presStyleIdx="1" presStyleCnt="4">
        <dgm:presLayoutVars>
          <dgm:bulletEnabled val="1"/>
        </dgm:presLayoutVars>
      </dgm:prSet>
      <dgm:spPr/>
    </dgm:pt>
    <dgm:pt modelId="{74CD666C-093C-4554-8DF6-EF77AA2834D0}" type="pres">
      <dgm:prSet presAssocID="{3D41F620-A8D9-4B1E-A338-F52EB3154D2F}" presName="sibTrans" presStyleLbl="sibTrans2D1" presStyleIdx="1" presStyleCnt="3"/>
      <dgm:spPr/>
    </dgm:pt>
    <dgm:pt modelId="{BDCF6C88-AE4A-4120-BC84-AB2A8F191413}" type="pres">
      <dgm:prSet presAssocID="{3D41F620-A8D9-4B1E-A338-F52EB3154D2F}" presName="connectorText" presStyleLbl="sibTrans2D1" presStyleIdx="1" presStyleCnt="3"/>
      <dgm:spPr/>
    </dgm:pt>
    <dgm:pt modelId="{88085CA4-D827-46E8-B2D9-2510202D3DAE}" type="pres">
      <dgm:prSet presAssocID="{E493583B-2CB2-4B73-95DA-E1C798EB8050}" presName="node" presStyleLbl="node1" presStyleIdx="2" presStyleCnt="4">
        <dgm:presLayoutVars>
          <dgm:bulletEnabled val="1"/>
        </dgm:presLayoutVars>
      </dgm:prSet>
      <dgm:spPr/>
    </dgm:pt>
    <dgm:pt modelId="{47121405-E090-4D71-B355-7B790CF37E59}" type="pres">
      <dgm:prSet presAssocID="{99FE80D7-8F72-4A49-AD62-6CC75D8AE590}" presName="sibTrans" presStyleLbl="sibTrans2D1" presStyleIdx="2" presStyleCnt="3"/>
      <dgm:spPr/>
    </dgm:pt>
    <dgm:pt modelId="{7F24F713-6E14-43F8-8E82-26F6E0FDE223}" type="pres">
      <dgm:prSet presAssocID="{99FE80D7-8F72-4A49-AD62-6CC75D8AE590}" presName="connectorText" presStyleLbl="sibTrans2D1" presStyleIdx="2" presStyleCnt="3"/>
      <dgm:spPr/>
    </dgm:pt>
    <dgm:pt modelId="{ED670FA9-DF36-4B4C-ADEF-889BA9C59352}" type="pres">
      <dgm:prSet presAssocID="{FF1BB3B3-399D-481D-A955-04EE646A7DCC}" presName="node" presStyleLbl="node1" presStyleIdx="3" presStyleCnt="4">
        <dgm:presLayoutVars>
          <dgm:bulletEnabled val="1"/>
        </dgm:presLayoutVars>
      </dgm:prSet>
      <dgm:spPr/>
    </dgm:pt>
  </dgm:ptLst>
  <dgm:cxnLst>
    <dgm:cxn modelId="{395AB701-15D6-4A72-BE74-E5391ABB0982}" type="presOf" srcId="{E493583B-2CB2-4B73-95DA-E1C798EB8050}" destId="{88085CA4-D827-46E8-B2D9-2510202D3DAE}" srcOrd="0" destOrd="0" presId="urn:microsoft.com/office/officeart/2005/8/layout/process1"/>
    <dgm:cxn modelId="{964DFD1E-D1CF-4FF6-B368-B43FFACB5529}" type="presOf" srcId="{D4F69A6E-6A71-4914-B3C1-271063BEED03}" destId="{925166D2-3F1C-4C13-A041-D6A1CDC7C0C9}" srcOrd="0" destOrd="0" presId="urn:microsoft.com/office/officeart/2005/8/layout/process1"/>
    <dgm:cxn modelId="{3EF46E21-D7C3-46DE-9BEC-37914FBD8300}" type="presOf" srcId="{1DB9DEF5-7222-4050-A908-41FD91532398}" destId="{C16D6EE1-9822-49D9-9233-92EE943EDFA1}" srcOrd="0" destOrd="0" presId="urn:microsoft.com/office/officeart/2005/8/layout/process1"/>
    <dgm:cxn modelId="{E3B23D3D-F02E-4CB8-9374-3DAF8877838A}" type="presOf" srcId="{99FE80D7-8F72-4A49-AD62-6CC75D8AE590}" destId="{47121405-E090-4D71-B355-7B790CF37E59}" srcOrd="0" destOrd="0" presId="urn:microsoft.com/office/officeart/2005/8/layout/process1"/>
    <dgm:cxn modelId="{1B399C62-5A86-4DF9-8CD2-1E235062073B}" type="presOf" srcId="{99FE80D7-8F72-4A49-AD62-6CC75D8AE590}" destId="{7F24F713-6E14-43F8-8E82-26F6E0FDE223}" srcOrd="1" destOrd="0" presId="urn:microsoft.com/office/officeart/2005/8/layout/process1"/>
    <dgm:cxn modelId="{33F6626C-4A12-4EC2-A7ED-212B3008BEDC}" type="presOf" srcId="{292320A9-62ED-4C9B-95B7-644116A7C489}" destId="{5D99F475-AA3E-4F59-89D1-57493615D7D0}" srcOrd="0" destOrd="0" presId="urn:microsoft.com/office/officeart/2005/8/layout/process1"/>
    <dgm:cxn modelId="{B6EE6750-400A-4BC6-A135-580B4EBDD2B4}" type="presOf" srcId="{0BEBED06-92AA-437A-A632-A164F2318EAC}" destId="{87E183AA-ACA0-4858-9507-2B0E4AAE52A8}" srcOrd="1" destOrd="0" presId="urn:microsoft.com/office/officeart/2005/8/layout/process1"/>
    <dgm:cxn modelId="{193EFA86-6006-4AA6-8B06-DCE105A9F36C}" srcId="{D4F69A6E-6A71-4914-B3C1-271063BEED03}" destId="{1DB9DEF5-7222-4050-A908-41FD91532398}" srcOrd="1" destOrd="0" parTransId="{C761DDAC-12A4-4F19-8FBC-49F5663341EC}" sibTransId="{3D41F620-A8D9-4B1E-A338-F52EB3154D2F}"/>
    <dgm:cxn modelId="{6093098D-CABE-4F85-A6CF-66B165429787}" type="presOf" srcId="{3D41F620-A8D9-4B1E-A338-F52EB3154D2F}" destId="{74CD666C-093C-4554-8DF6-EF77AA2834D0}" srcOrd="0" destOrd="0" presId="urn:microsoft.com/office/officeart/2005/8/layout/process1"/>
    <dgm:cxn modelId="{F35315A2-E948-462F-9B16-5B416154A61B}" srcId="{D4F69A6E-6A71-4914-B3C1-271063BEED03}" destId="{292320A9-62ED-4C9B-95B7-644116A7C489}" srcOrd="0" destOrd="0" parTransId="{40CC9C88-0DF6-44BB-87EE-E807F03B448D}" sibTransId="{0BEBED06-92AA-437A-A632-A164F2318EAC}"/>
    <dgm:cxn modelId="{23687EAE-0CC4-4579-BE36-2031AD52BB9D}" srcId="{D4F69A6E-6A71-4914-B3C1-271063BEED03}" destId="{FF1BB3B3-399D-481D-A955-04EE646A7DCC}" srcOrd="3" destOrd="0" parTransId="{5513D22E-A9BF-409B-8F8A-80064DFD6E62}" sibTransId="{B2DD119F-B920-4DD9-897A-3DFAEF9EA3F0}"/>
    <dgm:cxn modelId="{288CEFC5-7BBE-4D68-A6B3-A37A1CA18F4D}" type="presOf" srcId="{0BEBED06-92AA-437A-A632-A164F2318EAC}" destId="{2273D843-5161-42A1-B7DE-686FF66510DD}" srcOrd="0" destOrd="0" presId="urn:microsoft.com/office/officeart/2005/8/layout/process1"/>
    <dgm:cxn modelId="{2FAA34D0-BD2D-4538-97DB-2C43C0E46E9B}" type="presOf" srcId="{3D41F620-A8D9-4B1E-A338-F52EB3154D2F}" destId="{BDCF6C88-AE4A-4120-BC84-AB2A8F191413}" srcOrd="1" destOrd="0" presId="urn:microsoft.com/office/officeart/2005/8/layout/process1"/>
    <dgm:cxn modelId="{90B39CF5-2175-4873-B3C5-A8D297639AC2}" type="presOf" srcId="{FF1BB3B3-399D-481D-A955-04EE646A7DCC}" destId="{ED670FA9-DF36-4B4C-ADEF-889BA9C59352}" srcOrd="0" destOrd="0" presId="urn:microsoft.com/office/officeart/2005/8/layout/process1"/>
    <dgm:cxn modelId="{A03ECBF7-8836-4549-8F2D-EFF541056623}" srcId="{D4F69A6E-6A71-4914-B3C1-271063BEED03}" destId="{E493583B-2CB2-4B73-95DA-E1C798EB8050}" srcOrd="2" destOrd="0" parTransId="{69781080-180D-4118-8BA7-45F6209C9DA5}" sibTransId="{99FE80D7-8F72-4A49-AD62-6CC75D8AE590}"/>
    <dgm:cxn modelId="{3A418AC3-A695-4A71-A7F4-B12346764DC9}" type="presParOf" srcId="{925166D2-3F1C-4C13-A041-D6A1CDC7C0C9}" destId="{5D99F475-AA3E-4F59-89D1-57493615D7D0}" srcOrd="0" destOrd="0" presId="urn:microsoft.com/office/officeart/2005/8/layout/process1"/>
    <dgm:cxn modelId="{5B92F5DE-B35C-4A15-B0A0-47CF70E682C0}" type="presParOf" srcId="{925166D2-3F1C-4C13-A041-D6A1CDC7C0C9}" destId="{2273D843-5161-42A1-B7DE-686FF66510DD}" srcOrd="1" destOrd="0" presId="urn:microsoft.com/office/officeart/2005/8/layout/process1"/>
    <dgm:cxn modelId="{CBE8DFBF-A3FE-46A5-8B8A-6EF714F1FEE5}" type="presParOf" srcId="{2273D843-5161-42A1-B7DE-686FF66510DD}" destId="{87E183AA-ACA0-4858-9507-2B0E4AAE52A8}" srcOrd="0" destOrd="0" presId="urn:microsoft.com/office/officeart/2005/8/layout/process1"/>
    <dgm:cxn modelId="{1A0FFB34-10EF-40BB-8201-5869D7399CB1}" type="presParOf" srcId="{925166D2-3F1C-4C13-A041-D6A1CDC7C0C9}" destId="{C16D6EE1-9822-49D9-9233-92EE943EDFA1}" srcOrd="2" destOrd="0" presId="urn:microsoft.com/office/officeart/2005/8/layout/process1"/>
    <dgm:cxn modelId="{1495286C-B0C5-414B-8C36-0DCDE38DF0F7}" type="presParOf" srcId="{925166D2-3F1C-4C13-A041-D6A1CDC7C0C9}" destId="{74CD666C-093C-4554-8DF6-EF77AA2834D0}" srcOrd="3" destOrd="0" presId="urn:microsoft.com/office/officeart/2005/8/layout/process1"/>
    <dgm:cxn modelId="{2DC231F9-762A-4B38-9ED3-5E3DD1AB2808}" type="presParOf" srcId="{74CD666C-093C-4554-8DF6-EF77AA2834D0}" destId="{BDCF6C88-AE4A-4120-BC84-AB2A8F191413}" srcOrd="0" destOrd="0" presId="urn:microsoft.com/office/officeart/2005/8/layout/process1"/>
    <dgm:cxn modelId="{E4687D87-272E-439B-8AEE-9BA2D78C0956}" type="presParOf" srcId="{925166D2-3F1C-4C13-A041-D6A1CDC7C0C9}" destId="{88085CA4-D827-46E8-B2D9-2510202D3DAE}" srcOrd="4" destOrd="0" presId="urn:microsoft.com/office/officeart/2005/8/layout/process1"/>
    <dgm:cxn modelId="{C6442C96-0B77-4A3F-BFA8-63A76BDD292B}" type="presParOf" srcId="{925166D2-3F1C-4C13-A041-D6A1CDC7C0C9}" destId="{47121405-E090-4D71-B355-7B790CF37E59}" srcOrd="5" destOrd="0" presId="urn:microsoft.com/office/officeart/2005/8/layout/process1"/>
    <dgm:cxn modelId="{5415239B-BD08-4BEF-AC8A-60E1B7FAD42E}" type="presParOf" srcId="{47121405-E090-4D71-B355-7B790CF37E59}" destId="{7F24F713-6E14-43F8-8E82-26F6E0FDE223}" srcOrd="0" destOrd="0" presId="urn:microsoft.com/office/officeart/2005/8/layout/process1"/>
    <dgm:cxn modelId="{C8F71F51-FA9B-4950-92F3-E29D62382618}" type="presParOf" srcId="{925166D2-3F1C-4C13-A041-D6A1CDC7C0C9}" destId="{ED670FA9-DF36-4B4C-ADEF-889BA9C59352}"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99F475-AA3E-4F59-89D1-57493615D7D0}">
      <dsp:nvSpPr>
        <dsp:cNvPr id="0" name=""/>
        <dsp:cNvSpPr/>
      </dsp:nvSpPr>
      <dsp:spPr>
        <a:xfrm>
          <a:off x="3571" y="2240822"/>
          <a:ext cx="1561703" cy="93702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Project setup</a:t>
          </a:r>
        </a:p>
      </dsp:txBody>
      <dsp:txXfrm>
        <a:off x="31015" y="2268266"/>
        <a:ext cx="1506815" cy="882133"/>
      </dsp:txXfrm>
    </dsp:sp>
    <dsp:sp modelId="{2273D843-5161-42A1-B7DE-686FF66510DD}">
      <dsp:nvSpPr>
        <dsp:cNvPr id="0" name=""/>
        <dsp:cNvSpPr/>
      </dsp:nvSpPr>
      <dsp:spPr>
        <a:xfrm>
          <a:off x="1721445" y="2515682"/>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721445" y="2593142"/>
        <a:ext cx="231757" cy="232382"/>
      </dsp:txXfrm>
    </dsp:sp>
    <dsp:sp modelId="{C16D6EE1-9822-49D9-9233-92EE943EDFA1}">
      <dsp:nvSpPr>
        <dsp:cNvPr id="0" name=""/>
        <dsp:cNvSpPr/>
      </dsp:nvSpPr>
      <dsp:spPr>
        <a:xfrm>
          <a:off x="2189956" y="2240822"/>
          <a:ext cx="1561703" cy="93702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Data Preparation</a:t>
          </a:r>
        </a:p>
      </dsp:txBody>
      <dsp:txXfrm>
        <a:off x="2217400" y="2268266"/>
        <a:ext cx="1506815" cy="882133"/>
      </dsp:txXfrm>
    </dsp:sp>
    <dsp:sp modelId="{74CD666C-093C-4554-8DF6-EF77AA2834D0}">
      <dsp:nvSpPr>
        <dsp:cNvPr id="0" name=""/>
        <dsp:cNvSpPr/>
      </dsp:nvSpPr>
      <dsp:spPr>
        <a:xfrm>
          <a:off x="3907829" y="2515682"/>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907829" y="2593142"/>
        <a:ext cx="231757" cy="232382"/>
      </dsp:txXfrm>
    </dsp:sp>
    <dsp:sp modelId="{88085CA4-D827-46E8-B2D9-2510202D3DAE}">
      <dsp:nvSpPr>
        <dsp:cNvPr id="0" name=""/>
        <dsp:cNvSpPr/>
      </dsp:nvSpPr>
      <dsp:spPr>
        <a:xfrm>
          <a:off x="4376340" y="2240822"/>
          <a:ext cx="1561703" cy="93702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Modeling</a:t>
          </a:r>
        </a:p>
      </dsp:txBody>
      <dsp:txXfrm>
        <a:off x="4403784" y="2268266"/>
        <a:ext cx="1506815" cy="882133"/>
      </dsp:txXfrm>
    </dsp:sp>
    <dsp:sp modelId="{47121405-E090-4D71-B355-7B790CF37E59}">
      <dsp:nvSpPr>
        <dsp:cNvPr id="0" name=""/>
        <dsp:cNvSpPr/>
      </dsp:nvSpPr>
      <dsp:spPr>
        <a:xfrm>
          <a:off x="6094214" y="2515682"/>
          <a:ext cx="331081" cy="3873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6094214" y="2593142"/>
        <a:ext cx="231757" cy="232382"/>
      </dsp:txXfrm>
    </dsp:sp>
    <dsp:sp modelId="{ED670FA9-DF36-4B4C-ADEF-889BA9C59352}">
      <dsp:nvSpPr>
        <dsp:cNvPr id="0" name=""/>
        <dsp:cNvSpPr/>
      </dsp:nvSpPr>
      <dsp:spPr>
        <a:xfrm>
          <a:off x="6562724" y="2240822"/>
          <a:ext cx="1561703" cy="93702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Deployment</a:t>
          </a:r>
        </a:p>
      </dsp:txBody>
      <dsp:txXfrm>
        <a:off x="6590168" y="2268266"/>
        <a:ext cx="1506815" cy="88213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97606-EE67-8D41-E350-16E8D115C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5BFCB2-F099-B69A-F745-EF4198F57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AD2716-0400-329A-A22B-8EE539460CC2}"/>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5" name="Footer Placeholder 4">
            <a:extLst>
              <a:ext uri="{FF2B5EF4-FFF2-40B4-BE49-F238E27FC236}">
                <a16:creationId xmlns:a16="http://schemas.microsoft.com/office/drawing/2014/main" id="{17281E52-B0BA-E500-2365-5F0A9DD263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937AD-E887-F078-53C7-26613535285F}"/>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634472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E0F5-E0B9-36C9-7A09-4AF3B18D3F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4EF18F-B58E-DF55-911F-39499E530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440147-8926-6193-8C7F-D0F6E4168A6C}"/>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5" name="Footer Placeholder 4">
            <a:extLst>
              <a:ext uri="{FF2B5EF4-FFF2-40B4-BE49-F238E27FC236}">
                <a16:creationId xmlns:a16="http://schemas.microsoft.com/office/drawing/2014/main" id="{90915CBD-690E-B322-A2DB-B733FE51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6BDFF-0AE7-664C-1299-69CE85D95203}"/>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4067257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0A43-831F-C344-E95F-69BE0EBADE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327A0B-4A01-747D-8343-6320C95F3E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33465C-FBA8-2D4D-AFF1-412EAE1AADAE}"/>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5" name="Footer Placeholder 4">
            <a:extLst>
              <a:ext uri="{FF2B5EF4-FFF2-40B4-BE49-F238E27FC236}">
                <a16:creationId xmlns:a16="http://schemas.microsoft.com/office/drawing/2014/main" id="{2AF65EE1-3AFE-CD45-9C1D-CA999A842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3BC803-4657-BDF0-A753-0C471DAE8C8D}"/>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1542944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6BE8F-1089-9C7B-ED66-FD40CD79CE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602B0A-1C6A-F8A6-76CB-BFFA7E7974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136716-E201-9B0A-1283-45CD1F4F94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B5EA53-91D3-2A14-50AF-2B659D24C93A}"/>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6" name="Footer Placeholder 5">
            <a:extLst>
              <a:ext uri="{FF2B5EF4-FFF2-40B4-BE49-F238E27FC236}">
                <a16:creationId xmlns:a16="http://schemas.microsoft.com/office/drawing/2014/main" id="{741D4663-4546-7541-40C8-0B16AEDF0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5E2F4D-2D32-4B12-4136-355A7194BA0E}"/>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4179436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2713B-CA0D-D31B-90C4-B646FFA989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B36C91-9206-2E12-4EBC-4AE3055489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A1EA5F-8D63-01C8-7148-34091CF023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661662-EFD0-2445-4380-553B96833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F51B41-B602-005D-315C-439222CC38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C1479E-C122-187C-030C-DB3B90866339}"/>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8" name="Footer Placeholder 7">
            <a:extLst>
              <a:ext uri="{FF2B5EF4-FFF2-40B4-BE49-F238E27FC236}">
                <a16:creationId xmlns:a16="http://schemas.microsoft.com/office/drawing/2014/main" id="{70684519-43AE-25B0-901B-51C04F3FF1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ABB14D-FD78-8F1B-BDBE-9C5B6BD5C423}"/>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25474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755DD-ED72-8EAD-70C6-AECE711659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E6767A-85FC-C483-C34F-8C4FC4764DEA}"/>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4" name="Footer Placeholder 3">
            <a:extLst>
              <a:ext uri="{FF2B5EF4-FFF2-40B4-BE49-F238E27FC236}">
                <a16:creationId xmlns:a16="http://schemas.microsoft.com/office/drawing/2014/main" id="{51570AE3-DC45-ED3A-E9B5-F6DECA76FE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466D8E-5550-DDBD-48CB-BD96BC45CD88}"/>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3531354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7358E2-8D66-62AD-9F31-7D82B52BC0EB}"/>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3" name="Footer Placeholder 2">
            <a:extLst>
              <a:ext uri="{FF2B5EF4-FFF2-40B4-BE49-F238E27FC236}">
                <a16:creationId xmlns:a16="http://schemas.microsoft.com/office/drawing/2014/main" id="{649474AE-92F5-C5B5-27E0-79DD1BEEAC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A2ADD1-959B-F715-13EA-A6099FC74326}"/>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3569396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A724E-4853-49EB-57B0-433000894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9AA9A1-BF3B-73F8-6D5A-7D89C7C769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157EF0-8284-EA61-8E51-5E9026F656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5BC25F-32E4-E422-E55D-170384DBB621}"/>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6" name="Footer Placeholder 5">
            <a:extLst>
              <a:ext uri="{FF2B5EF4-FFF2-40B4-BE49-F238E27FC236}">
                <a16:creationId xmlns:a16="http://schemas.microsoft.com/office/drawing/2014/main" id="{85932CDD-D384-65AA-4393-640164727E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EFFF19-B026-9C46-E09A-E156E6279131}"/>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3120625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D157E-354C-6294-E84B-55A9EB4EF5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5346F5-305E-F11C-D89C-D92FEB1EDB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C8754-9291-3D1E-81F7-6CFE6239E0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4B760-7FD2-E083-5A3A-39409ED6DF17}"/>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6" name="Footer Placeholder 5">
            <a:extLst>
              <a:ext uri="{FF2B5EF4-FFF2-40B4-BE49-F238E27FC236}">
                <a16:creationId xmlns:a16="http://schemas.microsoft.com/office/drawing/2014/main" id="{3E162BB9-55FD-3F4B-6553-A44E10DF50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7B100F-2A55-54E9-C93E-0DDAAB72413F}"/>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1469151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ACC7E-728C-71C7-2810-28C2310AD5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39998A-3E78-7B52-6490-241339FB84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D6518-5E45-0205-E52B-75FF138B5999}"/>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5" name="Footer Placeholder 4">
            <a:extLst>
              <a:ext uri="{FF2B5EF4-FFF2-40B4-BE49-F238E27FC236}">
                <a16:creationId xmlns:a16="http://schemas.microsoft.com/office/drawing/2014/main" id="{07010519-4479-18BC-1EB1-5E7FBB50B0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738E8-FF1B-999A-8750-E6FC1388186E}"/>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3138990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2D44DC-2AF1-BF81-5E89-FF1585AD77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E12323-4DEB-A635-1423-84C8CAB125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A6597D-5A9F-2E5D-4955-52111DA6D2F9}"/>
              </a:ext>
            </a:extLst>
          </p:cNvPr>
          <p:cNvSpPr>
            <a:spLocks noGrp="1"/>
          </p:cNvSpPr>
          <p:nvPr>
            <p:ph type="dt" sz="half" idx="10"/>
          </p:nvPr>
        </p:nvSpPr>
        <p:spPr/>
        <p:txBody>
          <a:bodyPr/>
          <a:lstStyle/>
          <a:p>
            <a:fld id="{075493EF-883B-4EE6-B216-FFFE4E2C647A}" type="datetimeFigureOut">
              <a:rPr lang="en-US" smtClean="0"/>
              <a:t>10/15/2024</a:t>
            </a:fld>
            <a:endParaRPr lang="en-US"/>
          </a:p>
        </p:txBody>
      </p:sp>
      <p:sp>
        <p:nvSpPr>
          <p:cNvPr id="5" name="Footer Placeholder 4">
            <a:extLst>
              <a:ext uri="{FF2B5EF4-FFF2-40B4-BE49-F238E27FC236}">
                <a16:creationId xmlns:a16="http://schemas.microsoft.com/office/drawing/2014/main" id="{EE8C321E-9EEF-857D-9D32-824D915F4F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9D405-7EBC-AD1E-5C47-1DAE008F5609}"/>
              </a:ext>
            </a:extLst>
          </p:cNvPr>
          <p:cNvSpPr>
            <a:spLocks noGrp="1"/>
          </p:cNvSpPr>
          <p:nvPr>
            <p:ph type="sldNum" sz="quarter" idx="12"/>
          </p:nvPr>
        </p:nvSpPr>
        <p:spPr/>
        <p:txBody>
          <a:bodyPr/>
          <a:lstStyle/>
          <a:p>
            <a:fld id="{3ED22409-0BB4-4571-BF8A-E2F2252D40E0}" type="slidenum">
              <a:rPr lang="en-US" smtClean="0"/>
              <a:t>‹#›</a:t>
            </a:fld>
            <a:endParaRPr lang="en-US"/>
          </a:p>
        </p:txBody>
      </p:sp>
    </p:spTree>
    <p:extLst>
      <p:ext uri="{BB962C8B-B14F-4D97-AF65-F5344CB8AC3E}">
        <p14:creationId xmlns:p14="http://schemas.microsoft.com/office/powerpoint/2010/main" val="3826618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35E3F4-D4EB-18A8-0EAA-AC7AA86851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BC4A50-3A2A-5423-4C31-7C41053BF8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B13282-A32C-C9A0-583D-B80FBB1DEE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5493EF-883B-4EE6-B216-FFFE4E2C647A}" type="datetimeFigureOut">
              <a:rPr lang="en-US" smtClean="0"/>
              <a:t>10/15/2024</a:t>
            </a:fld>
            <a:endParaRPr lang="en-US"/>
          </a:p>
        </p:txBody>
      </p:sp>
      <p:sp>
        <p:nvSpPr>
          <p:cNvPr id="5" name="Footer Placeholder 4">
            <a:extLst>
              <a:ext uri="{FF2B5EF4-FFF2-40B4-BE49-F238E27FC236}">
                <a16:creationId xmlns:a16="http://schemas.microsoft.com/office/drawing/2014/main" id="{26D7FD5C-6DC2-3728-1FEB-4F78BF3523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FC6C05-53CE-C884-625C-3DD5C42018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D22409-0BB4-4571-BF8A-E2F2252D40E0}" type="slidenum">
              <a:rPr lang="en-US" smtClean="0"/>
              <a:t>‹#›</a:t>
            </a:fld>
            <a:endParaRPr lang="en-US"/>
          </a:p>
        </p:txBody>
      </p:sp>
    </p:spTree>
    <p:extLst>
      <p:ext uri="{BB962C8B-B14F-4D97-AF65-F5344CB8AC3E}">
        <p14:creationId xmlns:p14="http://schemas.microsoft.com/office/powerpoint/2010/main" val="68021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www.datacamp.com/cheat-sheet/machine-learning-cheat-shee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datacamp.com/blog/infographic-data-cleaning-checklis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Topic%208%20-%20Classic%20classifiers/Lecture%201%20-%20Classification%20Problems.pptx"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Principal_component_analysis" TargetMode="External"/><Relationship Id="rId2" Type="http://schemas.openxmlformats.org/officeDocument/2006/relationships/hyperlink" Target="https://en.wikipedia.org/wiki/K-means_clustering"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python.or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tensorflow.or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pytorch.or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scikit-learn.org/stabl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keras.io/"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kaggle.co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89A29-8294-9615-D9B5-CA928FF38650}"/>
              </a:ext>
            </a:extLst>
          </p:cNvPr>
          <p:cNvSpPr>
            <a:spLocks noGrp="1"/>
          </p:cNvSpPr>
          <p:nvPr>
            <p:ph type="ctrTitle"/>
          </p:nvPr>
        </p:nvSpPr>
        <p:spPr/>
        <p:txBody>
          <a:bodyPr/>
          <a:lstStyle/>
          <a:p>
            <a:r>
              <a:rPr lang="en-US" dirty="0"/>
              <a:t>Introduction to Machine Learning</a:t>
            </a:r>
          </a:p>
        </p:txBody>
      </p:sp>
      <p:sp>
        <p:nvSpPr>
          <p:cNvPr id="3" name="Subtitle 2">
            <a:extLst>
              <a:ext uri="{FF2B5EF4-FFF2-40B4-BE49-F238E27FC236}">
                <a16:creationId xmlns:a16="http://schemas.microsoft.com/office/drawing/2014/main" id="{1A878CDF-6B07-F258-D3F5-AD7E90D95D8B}"/>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742708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F5CA-84F9-48FB-66ED-BBC10679D204}"/>
              </a:ext>
            </a:extLst>
          </p:cNvPr>
          <p:cNvSpPr>
            <a:spLocks noGrp="1"/>
          </p:cNvSpPr>
          <p:nvPr>
            <p:ph type="title"/>
          </p:nvPr>
        </p:nvSpPr>
        <p:spPr/>
        <p:txBody>
          <a:bodyPr/>
          <a:lstStyle/>
          <a:p>
            <a:r>
              <a:rPr lang="en-US" dirty="0"/>
              <a:t>What is learning?</a:t>
            </a:r>
          </a:p>
        </p:txBody>
      </p:sp>
      <p:sp>
        <p:nvSpPr>
          <p:cNvPr id="3" name="Content Placeholder 2">
            <a:extLst>
              <a:ext uri="{FF2B5EF4-FFF2-40B4-BE49-F238E27FC236}">
                <a16:creationId xmlns:a16="http://schemas.microsoft.com/office/drawing/2014/main" id="{0310E4DB-3DC6-261B-BF8D-5C46C2B961E9}"/>
              </a:ext>
            </a:extLst>
          </p:cNvPr>
          <p:cNvSpPr>
            <a:spLocks noGrp="1"/>
          </p:cNvSpPr>
          <p:nvPr>
            <p:ph idx="1"/>
          </p:nvPr>
        </p:nvSpPr>
        <p:spPr/>
        <p:txBody>
          <a:bodyPr/>
          <a:lstStyle/>
          <a:p>
            <a:r>
              <a:rPr lang="en-GB" dirty="0"/>
              <a:t>“Learning is any process by which a system improves performance from experience.”</a:t>
            </a:r>
          </a:p>
          <a:p>
            <a:pPr marL="0" indent="0">
              <a:buNone/>
            </a:pPr>
            <a:endParaRPr lang="en-GB" dirty="0"/>
          </a:p>
          <a:p>
            <a:pPr marL="0" indent="0">
              <a:buNone/>
            </a:pPr>
            <a:endParaRPr lang="en-US" dirty="0"/>
          </a:p>
          <a:p>
            <a:pPr marL="457200" lvl="1" indent="0">
              <a:buNone/>
            </a:pPr>
            <a:endParaRPr lang="en-GB" dirty="0"/>
          </a:p>
        </p:txBody>
      </p:sp>
    </p:spTree>
    <p:extLst>
      <p:ext uri="{BB962C8B-B14F-4D97-AF65-F5344CB8AC3E}">
        <p14:creationId xmlns:p14="http://schemas.microsoft.com/office/powerpoint/2010/main" val="1979861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BC792-E3B9-1AD3-C266-26B365007F4C}"/>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83A25EAF-315B-7E2A-FAF0-F29DD08E63B8}"/>
              </a:ext>
            </a:extLst>
          </p:cNvPr>
          <p:cNvSpPr>
            <a:spLocks noGrp="1"/>
          </p:cNvSpPr>
          <p:nvPr>
            <p:ph idx="1"/>
          </p:nvPr>
        </p:nvSpPr>
        <p:spPr/>
        <p:txBody>
          <a:bodyPr/>
          <a:lstStyle/>
          <a:p>
            <a:r>
              <a:rPr lang="en-GB" dirty="0"/>
              <a:t>Machine learning (ML) is a branch of artificial intelligence (AI) that focuses on developing algorithms that can learn from and make predictions or decisions based on data. Instead of being explicitly programmed to perform a task, these algorithms improve their performance as they are exposed to more data over time.</a:t>
            </a:r>
          </a:p>
          <a:p>
            <a:pPr lvl="1"/>
            <a:r>
              <a:rPr lang="en-GB" dirty="0"/>
              <a:t>A branch of AI</a:t>
            </a:r>
          </a:p>
          <a:p>
            <a:pPr lvl="1"/>
            <a:r>
              <a:rPr lang="en-GB" dirty="0"/>
              <a:t>Not explicitly programmed (Unlike traditional algorithms)</a:t>
            </a:r>
          </a:p>
          <a:p>
            <a:pPr lvl="1"/>
            <a:r>
              <a:rPr lang="en-GB" dirty="0"/>
              <a:t>Used to make predictions or decisions based on provided data</a:t>
            </a:r>
          </a:p>
          <a:p>
            <a:pPr lvl="1"/>
            <a:r>
              <a:rPr lang="en-GB" dirty="0"/>
              <a:t>Improves performance over time if exposed to more data</a:t>
            </a:r>
            <a:endParaRPr lang="en-US" dirty="0"/>
          </a:p>
        </p:txBody>
      </p:sp>
    </p:spTree>
    <p:extLst>
      <p:ext uri="{BB962C8B-B14F-4D97-AF65-F5344CB8AC3E}">
        <p14:creationId xmlns:p14="http://schemas.microsoft.com/office/powerpoint/2010/main" val="1198809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17E10-14B5-391F-4AE7-418F205EA9F2}"/>
              </a:ext>
            </a:extLst>
          </p:cNvPr>
          <p:cNvSpPr>
            <a:spLocks noGrp="1"/>
          </p:cNvSpPr>
          <p:nvPr>
            <p:ph type="title"/>
          </p:nvPr>
        </p:nvSpPr>
        <p:spPr/>
        <p:txBody>
          <a:bodyPr/>
          <a:lstStyle/>
          <a:p>
            <a:r>
              <a:rPr lang="en-US" dirty="0"/>
              <a:t>Comparison with traditional programming</a:t>
            </a:r>
          </a:p>
        </p:txBody>
      </p:sp>
      <p:sp>
        <p:nvSpPr>
          <p:cNvPr id="3" name="Content Placeholder 2">
            <a:extLst>
              <a:ext uri="{FF2B5EF4-FFF2-40B4-BE49-F238E27FC236}">
                <a16:creationId xmlns:a16="http://schemas.microsoft.com/office/drawing/2014/main" id="{8C3193D0-3FE4-34AE-DDC3-D8676EED856A}"/>
              </a:ext>
            </a:extLst>
          </p:cNvPr>
          <p:cNvSpPr>
            <a:spLocks noGrp="1"/>
          </p:cNvSpPr>
          <p:nvPr>
            <p:ph idx="1"/>
          </p:nvPr>
        </p:nvSpPr>
        <p:spPr/>
        <p:txBody>
          <a:bodyPr>
            <a:normAutofit/>
          </a:bodyPr>
          <a:lstStyle/>
          <a:p>
            <a:r>
              <a:rPr lang="en-US" sz="2400" dirty="0"/>
              <a:t>Traditional programming</a:t>
            </a:r>
          </a:p>
          <a:p>
            <a:endParaRPr lang="en-US" sz="2400" dirty="0"/>
          </a:p>
          <a:p>
            <a:endParaRPr lang="en-US" sz="2400" dirty="0"/>
          </a:p>
          <a:p>
            <a:endParaRPr lang="en-US" sz="2400" dirty="0"/>
          </a:p>
          <a:p>
            <a:r>
              <a:rPr lang="en-US" sz="2400" dirty="0"/>
              <a:t>Machine learning</a:t>
            </a:r>
          </a:p>
          <a:p>
            <a:pPr marL="0" indent="0">
              <a:buNone/>
            </a:pPr>
            <a:endParaRPr lang="en-US" sz="2400" dirty="0"/>
          </a:p>
        </p:txBody>
      </p:sp>
      <p:grpSp>
        <p:nvGrpSpPr>
          <p:cNvPr id="16" name="Group 15">
            <a:extLst>
              <a:ext uri="{FF2B5EF4-FFF2-40B4-BE49-F238E27FC236}">
                <a16:creationId xmlns:a16="http://schemas.microsoft.com/office/drawing/2014/main" id="{2A0E8FB4-87D4-A4A2-57D8-50C6D5D72942}"/>
              </a:ext>
            </a:extLst>
          </p:cNvPr>
          <p:cNvGrpSpPr/>
          <p:nvPr/>
        </p:nvGrpSpPr>
        <p:grpSpPr>
          <a:xfrm>
            <a:off x="3277514" y="2432331"/>
            <a:ext cx="5636972" cy="1120457"/>
            <a:chOff x="2173662" y="2631439"/>
            <a:chExt cx="5636972" cy="1120457"/>
          </a:xfrm>
        </p:grpSpPr>
        <p:sp>
          <p:nvSpPr>
            <p:cNvPr id="4" name="Rectangle: Rounded Corners 3">
              <a:extLst>
                <a:ext uri="{FF2B5EF4-FFF2-40B4-BE49-F238E27FC236}">
                  <a16:creationId xmlns:a16="http://schemas.microsoft.com/office/drawing/2014/main" id="{E3A13787-939F-9290-27E4-A568347EA15D}"/>
                </a:ext>
              </a:extLst>
            </p:cNvPr>
            <p:cNvSpPr/>
            <p:nvPr/>
          </p:nvSpPr>
          <p:spPr>
            <a:xfrm>
              <a:off x="3972560" y="2631439"/>
              <a:ext cx="2123440" cy="11204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Computer</a:t>
              </a:r>
            </a:p>
          </p:txBody>
        </p:sp>
        <p:cxnSp>
          <p:nvCxnSpPr>
            <p:cNvPr id="6" name="Straight Arrow Connector 5">
              <a:extLst>
                <a:ext uri="{FF2B5EF4-FFF2-40B4-BE49-F238E27FC236}">
                  <a16:creationId xmlns:a16="http://schemas.microsoft.com/office/drawing/2014/main" id="{FD2843CC-9C34-2124-F522-B4CD74E3C605}"/>
                </a:ext>
              </a:extLst>
            </p:cNvPr>
            <p:cNvCxnSpPr>
              <a:cxnSpLocks/>
            </p:cNvCxnSpPr>
            <p:nvPr/>
          </p:nvCxnSpPr>
          <p:spPr>
            <a:xfrm>
              <a:off x="3332480" y="2956560"/>
              <a:ext cx="640080"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F5B8A4E6-99C8-77FF-FFFB-F7D7816F50FF}"/>
                </a:ext>
              </a:extLst>
            </p:cNvPr>
            <p:cNvCxnSpPr>
              <a:stCxn id="4" idx="3"/>
            </p:cNvCxnSpPr>
            <p:nvPr/>
          </p:nvCxnSpPr>
          <p:spPr>
            <a:xfrm flipV="1">
              <a:off x="6096000" y="3169920"/>
              <a:ext cx="721360"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99B92A74-42F8-4B52-C741-1B7C4805C397}"/>
                </a:ext>
              </a:extLst>
            </p:cNvPr>
            <p:cNvSpPr txBox="1"/>
            <p:nvPr/>
          </p:nvSpPr>
          <p:spPr>
            <a:xfrm>
              <a:off x="6851717" y="2985254"/>
              <a:ext cx="958917" cy="369332"/>
            </a:xfrm>
            <a:prstGeom prst="rect">
              <a:avLst/>
            </a:prstGeom>
            <a:noFill/>
          </p:spPr>
          <p:txBody>
            <a:bodyPr wrap="none" rtlCol="0">
              <a:spAutoFit/>
            </a:bodyPr>
            <a:lstStyle/>
            <a:p>
              <a:r>
                <a:rPr lang="en-US" dirty="0"/>
                <a:t>Output</a:t>
              </a:r>
            </a:p>
          </p:txBody>
        </p:sp>
        <p:sp>
          <p:nvSpPr>
            <p:cNvPr id="12" name="TextBox 11">
              <a:extLst>
                <a:ext uri="{FF2B5EF4-FFF2-40B4-BE49-F238E27FC236}">
                  <a16:creationId xmlns:a16="http://schemas.microsoft.com/office/drawing/2014/main" id="{4945539A-872C-72E5-366D-A301F9F7415C}"/>
                </a:ext>
              </a:extLst>
            </p:cNvPr>
            <p:cNvSpPr txBox="1"/>
            <p:nvPr/>
          </p:nvSpPr>
          <p:spPr>
            <a:xfrm>
              <a:off x="2173662" y="3232309"/>
              <a:ext cx="1116011" cy="369332"/>
            </a:xfrm>
            <a:prstGeom prst="rect">
              <a:avLst/>
            </a:prstGeom>
            <a:noFill/>
          </p:spPr>
          <p:txBody>
            <a:bodyPr wrap="none" rtlCol="0">
              <a:spAutoFit/>
            </a:bodyPr>
            <a:lstStyle/>
            <a:p>
              <a:r>
                <a:rPr lang="en-US" dirty="0"/>
                <a:t>Program</a:t>
              </a:r>
            </a:p>
          </p:txBody>
        </p:sp>
        <p:sp>
          <p:nvSpPr>
            <p:cNvPr id="13" name="TextBox 12">
              <a:extLst>
                <a:ext uri="{FF2B5EF4-FFF2-40B4-BE49-F238E27FC236}">
                  <a16:creationId xmlns:a16="http://schemas.microsoft.com/office/drawing/2014/main" id="{9F11EA35-C706-B870-04B7-B0069FA1A7AB}"/>
                </a:ext>
              </a:extLst>
            </p:cNvPr>
            <p:cNvSpPr txBox="1"/>
            <p:nvPr/>
          </p:nvSpPr>
          <p:spPr>
            <a:xfrm>
              <a:off x="2568688" y="2736773"/>
              <a:ext cx="710451" cy="369332"/>
            </a:xfrm>
            <a:prstGeom prst="rect">
              <a:avLst/>
            </a:prstGeom>
            <a:noFill/>
          </p:spPr>
          <p:txBody>
            <a:bodyPr wrap="none" rtlCol="0">
              <a:spAutoFit/>
            </a:bodyPr>
            <a:lstStyle/>
            <a:p>
              <a:r>
                <a:rPr lang="en-US" dirty="0"/>
                <a:t>Data</a:t>
              </a:r>
            </a:p>
          </p:txBody>
        </p:sp>
        <p:cxnSp>
          <p:nvCxnSpPr>
            <p:cNvPr id="15" name="Straight Arrow Connector 14">
              <a:extLst>
                <a:ext uri="{FF2B5EF4-FFF2-40B4-BE49-F238E27FC236}">
                  <a16:creationId xmlns:a16="http://schemas.microsoft.com/office/drawing/2014/main" id="{0258E226-BDB6-3AD8-FCB3-7ACAB50734CE}"/>
                </a:ext>
              </a:extLst>
            </p:cNvPr>
            <p:cNvCxnSpPr>
              <a:cxnSpLocks/>
            </p:cNvCxnSpPr>
            <p:nvPr/>
          </p:nvCxnSpPr>
          <p:spPr>
            <a:xfrm>
              <a:off x="3332480" y="3429000"/>
              <a:ext cx="640080"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grpSp>
      <p:grpSp>
        <p:nvGrpSpPr>
          <p:cNvPr id="17" name="Group 16">
            <a:extLst>
              <a:ext uri="{FF2B5EF4-FFF2-40B4-BE49-F238E27FC236}">
                <a16:creationId xmlns:a16="http://schemas.microsoft.com/office/drawing/2014/main" id="{300C1BD4-7EC0-94B2-FB8F-C454F0E84B96}"/>
              </a:ext>
            </a:extLst>
          </p:cNvPr>
          <p:cNvGrpSpPr/>
          <p:nvPr/>
        </p:nvGrpSpPr>
        <p:grpSpPr>
          <a:xfrm>
            <a:off x="3277514" y="4299302"/>
            <a:ext cx="5794066" cy="1120457"/>
            <a:chOff x="2173662" y="2631439"/>
            <a:chExt cx="5794066" cy="1120457"/>
          </a:xfrm>
        </p:grpSpPr>
        <p:sp>
          <p:nvSpPr>
            <p:cNvPr id="18" name="Rectangle: Rounded Corners 17">
              <a:extLst>
                <a:ext uri="{FF2B5EF4-FFF2-40B4-BE49-F238E27FC236}">
                  <a16:creationId xmlns:a16="http://schemas.microsoft.com/office/drawing/2014/main" id="{24C7038F-5FFF-8C8D-A444-710FC802F1F4}"/>
                </a:ext>
              </a:extLst>
            </p:cNvPr>
            <p:cNvSpPr/>
            <p:nvPr/>
          </p:nvSpPr>
          <p:spPr>
            <a:xfrm>
              <a:off x="3972560" y="2631439"/>
              <a:ext cx="2123440" cy="11204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Computer</a:t>
              </a:r>
            </a:p>
          </p:txBody>
        </p:sp>
        <p:cxnSp>
          <p:nvCxnSpPr>
            <p:cNvPr id="19" name="Straight Arrow Connector 18">
              <a:extLst>
                <a:ext uri="{FF2B5EF4-FFF2-40B4-BE49-F238E27FC236}">
                  <a16:creationId xmlns:a16="http://schemas.microsoft.com/office/drawing/2014/main" id="{29ED5DA4-E607-9243-B599-D269EE297668}"/>
                </a:ext>
              </a:extLst>
            </p:cNvPr>
            <p:cNvCxnSpPr>
              <a:cxnSpLocks/>
            </p:cNvCxnSpPr>
            <p:nvPr/>
          </p:nvCxnSpPr>
          <p:spPr>
            <a:xfrm>
              <a:off x="3332480" y="2956560"/>
              <a:ext cx="640080"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522842D1-B0AF-8A17-CC1E-B31600E0B5A8}"/>
                </a:ext>
              </a:extLst>
            </p:cNvPr>
            <p:cNvCxnSpPr>
              <a:stCxn id="18" idx="3"/>
            </p:cNvCxnSpPr>
            <p:nvPr/>
          </p:nvCxnSpPr>
          <p:spPr>
            <a:xfrm flipV="1">
              <a:off x="6096000" y="3169920"/>
              <a:ext cx="721360"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E904E44E-CA05-8967-3A20-82DFBF6EE73B}"/>
                </a:ext>
              </a:extLst>
            </p:cNvPr>
            <p:cNvSpPr txBox="1"/>
            <p:nvPr/>
          </p:nvSpPr>
          <p:spPr>
            <a:xfrm>
              <a:off x="6851717" y="2985254"/>
              <a:ext cx="1116011" cy="369332"/>
            </a:xfrm>
            <a:prstGeom prst="rect">
              <a:avLst/>
            </a:prstGeom>
            <a:noFill/>
          </p:spPr>
          <p:txBody>
            <a:bodyPr wrap="none" rtlCol="0">
              <a:spAutoFit/>
            </a:bodyPr>
            <a:lstStyle/>
            <a:p>
              <a:r>
                <a:rPr lang="en-US" dirty="0"/>
                <a:t>Program</a:t>
              </a:r>
            </a:p>
          </p:txBody>
        </p:sp>
        <p:sp>
          <p:nvSpPr>
            <p:cNvPr id="22" name="TextBox 21">
              <a:extLst>
                <a:ext uri="{FF2B5EF4-FFF2-40B4-BE49-F238E27FC236}">
                  <a16:creationId xmlns:a16="http://schemas.microsoft.com/office/drawing/2014/main" id="{5A68BE1C-103A-BEF0-4D8D-2FC980A97B13}"/>
                </a:ext>
              </a:extLst>
            </p:cNvPr>
            <p:cNvSpPr txBox="1"/>
            <p:nvPr/>
          </p:nvSpPr>
          <p:spPr>
            <a:xfrm>
              <a:off x="2173662" y="3232309"/>
              <a:ext cx="958917" cy="369332"/>
            </a:xfrm>
            <a:prstGeom prst="rect">
              <a:avLst/>
            </a:prstGeom>
            <a:noFill/>
          </p:spPr>
          <p:txBody>
            <a:bodyPr wrap="none" rtlCol="0">
              <a:spAutoFit/>
            </a:bodyPr>
            <a:lstStyle/>
            <a:p>
              <a:r>
                <a:rPr lang="en-US" dirty="0"/>
                <a:t>Output</a:t>
              </a:r>
            </a:p>
          </p:txBody>
        </p:sp>
        <p:sp>
          <p:nvSpPr>
            <p:cNvPr id="23" name="TextBox 22">
              <a:extLst>
                <a:ext uri="{FF2B5EF4-FFF2-40B4-BE49-F238E27FC236}">
                  <a16:creationId xmlns:a16="http://schemas.microsoft.com/office/drawing/2014/main" id="{DB3DB0B4-769E-77A5-43A2-D06DBDEA66FB}"/>
                </a:ext>
              </a:extLst>
            </p:cNvPr>
            <p:cNvSpPr txBox="1"/>
            <p:nvPr/>
          </p:nvSpPr>
          <p:spPr>
            <a:xfrm>
              <a:off x="2568688" y="2736773"/>
              <a:ext cx="710451" cy="369332"/>
            </a:xfrm>
            <a:prstGeom prst="rect">
              <a:avLst/>
            </a:prstGeom>
            <a:noFill/>
          </p:spPr>
          <p:txBody>
            <a:bodyPr wrap="none" rtlCol="0">
              <a:spAutoFit/>
            </a:bodyPr>
            <a:lstStyle/>
            <a:p>
              <a:r>
                <a:rPr lang="en-US" dirty="0"/>
                <a:t>Data</a:t>
              </a:r>
            </a:p>
          </p:txBody>
        </p:sp>
        <p:cxnSp>
          <p:nvCxnSpPr>
            <p:cNvPr id="24" name="Straight Arrow Connector 23">
              <a:extLst>
                <a:ext uri="{FF2B5EF4-FFF2-40B4-BE49-F238E27FC236}">
                  <a16:creationId xmlns:a16="http://schemas.microsoft.com/office/drawing/2014/main" id="{38D1A29B-8A37-5EAB-7CAC-85E94A38572D}"/>
                </a:ext>
              </a:extLst>
            </p:cNvPr>
            <p:cNvCxnSpPr>
              <a:cxnSpLocks/>
            </p:cNvCxnSpPr>
            <p:nvPr/>
          </p:nvCxnSpPr>
          <p:spPr>
            <a:xfrm>
              <a:off x="3332480" y="3429000"/>
              <a:ext cx="640080"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153766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6967-68EC-23D9-B957-2FFD87042274}"/>
              </a:ext>
            </a:extLst>
          </p:cNvPr>
          <p:cNvSpPr>
            <a:spLocks noGrp="1"/>
          </p:cNvSpPr>
          <p:nvPr>
            <p:ph type="title"/>
          </p:nvPr>
        </p:nvSpPr>
        <p:spPr/>
        <p:txBody>
          <a:bodyPr/>
          <a:lstStyle/>
          <a:p>
            <a:r>
              <a:rPr lang="en-US" dirty="0"/>
              <a:t>Comparison with traditional programming</a:t>
            </a:r>
          </a:p>
        </p:txBody>
      </p:sp>
      <p:sp>
        <p:nvSpPr>
          <p:cNvPr id="3" name="Content Placeholder 2">
            <a:extLst>
              <a:ext uri="{FF2B5EF4-FFF2-40B4-BE49-F238E27FC236}">
                <a16:creationId xmlns:a16="http://schemas.microsoft.com/office/drawing/2014/main" id="{F4C03FD2-FDE4-F13F-75A2-C6D8BC44D1DB}"/>
              </a:ext>
            </a:extLst>
          </p:cNvPr>
          <p:cNvSpPr>
            <a:spLocks noGrp="1"/>
          </p:cNvSpPr>
          <p:nvPr>
            <p:ph idx="1"/>
          </p:nvPr>
        </p:nvSpPr>
        <p:spPr/>
        <p:txBody>
          <a:bodyPr/>
          <a:lstStyle/>
          <a:p>
            <a:r>
              <a:rPr lang="en-GB" dirty="0"/>
              <a:t>Given a problem, and some data (input and output) regarding the problem,  using machine learning we try to develop a model that behaves like a program that provides solution to that problem. </a:t>
            </a:r>
          </a:p>
          <a:p>
            <a:r>
              <a:rPr lang="en-GB" dirty="0"/>
              <a:t>Thus:</a:t>
            </a:r>
          </a:p>
          <a:p>
            <a:pPr lvl="1"/>
            <a:r>
              <a:rPr lang="en-GB" dirty="0"/>
              <a:t>Not explicitly programmed</a:t>
            </a:r>
          </a:p>
          <a:p>
            <a:pPr lvl="1"/>
            <a:r>
              <a:rPr lang="en-GB" dirty="0"/>
              <a:t>We used real data to train (learn patterns in the data) the model</a:t>
            </a:r>
          </a:p>
          <a:p>
            <a:pPr lvl="1"/>
            <a:r>
              <a:rPr lang="en-GB" dirty="0"/>
              <a:t>The output of the training is a learned model. There a many types of models that we can use. For example, Neural Networks, Support Vector Machines etc.</a:t>
            </a:r>
          </a:p>
          <a:p>
            <a:pPr lvl="1"/>
            <a:endParaRPr lang="en-GB" dirty="0"/>
          </a:p>
          <a:p>
            <a:endParaRPr lang="en-US" dirty="0"/>
          </a:p>
        </p:txBody>
      </p:sp>
    </p:spTree>
    <p:extLst>
      <p:ext uri="{BB962C8B-B14F-4D97-AF65-F5344CB8AC3E}">
        <p14:creationId xmlns:p14="http://schemas.microsoft.com/office/powerpoint/2010/main" val="229860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BF451-7BFB-AAA9-6F53-40ABDC66B421}"/>
              </a:ext>
            </a:extLst>
          </p:cNvPr>
          <p:cNvSpPr>
            <a:spLocks noGrp="1"/>
          </p:cNvSpPr>
          <p:nvPr>
            <p:ph type="title"/>
          </p:nvPr>
        </p:nvSpPr>
        <p:spPr/>
        <p:txBody>
          <a:bodyPr/>
          <a:lstStyle/>
          <a:p>
            <a:r>
              <a:rPr lang="en-GB" dirty="0"/>
              <a:t>When do we use Machine Learning?</a:t>
            </a:r>
            <a:endParaRPr lang="en-US" dirty="0"/>
          </a:p>
        </p:txBody>
      </p:sp>
      <p:sp>
        <p:nvSpPr>
          <p:cNvPr id="3" name="Content Placeholder 2">
            <a:extLst>
              <a:ext uri="{FF2B5EF4-FFF2-40B4-BE49-F238E27FC236}">
                <a16:creationId xmlns:a16="http://schemas.microsoft.com/office/drawing/2014/main" id="{B7FCCA22-303F-3486-80BB-2D7A57895E09}"/>
              </a:ext>
            </a:extLst>
          </p:cNvPr>
          <p:cNvSpPr>
            <a:spLocks noGrp="1"/>
          </p:cNvSpPr>
          <p:nvPr>
            <p:ph idx="1"/>
          </p:nvPr>
        </p:nvSpPr>
        <p:spPr/>
        <p:txBody>
          <a:bodyPr/>
          <a:lstStyle/>
          <a:p>
            <a:r>
              <a:rPr lang="en-GB" dirty="0"/>
              <a:t>ML is used when:</a:t>
            </a:r>
          </a:p>
          <a:p>
            <a:pPr lvl="1"/>
            <a:r>
              <a:rPr lang="en-GB" dirty="0"/>
              <a:t>Human expertise does not exist (navigating on Mars)</a:t>
            </a:r>
          </a:p>
          <a:p>
            <a:pPr lvl="1"/>
            <a:r>
              <a:rPr lang="en-GB" dirty="0"/>
              <a:t>Humans can't explain their expertise (speech recognition)</a:t>
            </a:r>
          </a:p>
          <a:p>
            <a:pPr lvl="1"/>
            <a:r>
              <a:rPr lang="en-GB" dirty="0"/>
              <a:t>Models must be customized (personalized medicine)</a:t>
            </a:r>
          </a:p>
          <a:p>
            <a:pPr lvl="1"/>
            <a:r>
              <a:rPr lang="en-GB" dirty="0"/>
              <a:t>Models are based on huge amounts of data (genomics)</a:t>
            </a:r>
          </a:p>
          <a:p>
            <a:pPr lvl="1"/>
            <a:endParaRPr lang="en-US" dirty="0"/>
          </a:p>
          <a:p>
            <a:r>
              <a:rPr lang="en-GB" dirty="0"/>
              <a:t>Learning isn't always useful:</a:t>
            </a:r>
          </a:p>
          <a:p>
            <a:pPr lvl="1"/>
            <a:r>
              <a:rPr lang="en-GB" dirty="0"/>
              <a:t>There is no need to "learn" to calculate payroll</a:t>
            </a:r>
          </a:p>
        </p:txBody>
      </p:sp>
    </p:spTree>
    <p:extLst>
      <p:ext uri="{BB962C8B-B14F-4D97-AF65-F5344CB8AC3E}">
        <p14:creationId xmlns:p14="http://schemas.microsoft.com/office/powerpoint/2010/main" val="3902483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48A6A-FECD-B224-661D-F91CCF2D3A0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EC14051-958A-EFE2-848C-6A52BFF63D7C}"/>
              </a:ext>
            </a:extLst>
          </p:cNvPr>
          <p:cNvSpPr>
            <a:spLocks noGrp="1"/>
          </p:cNvSpPr>
          <p:nvPr>
            <p:ph idx="1"/>
          </p:nvPr>
        </p:nvSpPr>
        <p:spPr/>
        <p:txBody>
          <a:bodyPr/>
          <a:lstStyle/>
          <a:p>
            <a:r>
              <a:rPr lang="en-GB" dirty="0"/>
              <a:t>A classic example of a task that requires machine learning:</a:t>
            </a:r>
          </a:p>
          <a:p>
            <a:pPr lvl="1"/>
            <a:r>
              <a:rPr lang="en-GB" dirty="0"/>
              <a:t>It is very hard to say what makes a 2</a:t>
            </a:r>
          </a:p>
          <a:p>
            <a:pPr lvl="1"/>
            <a:endParaRPr lang="en-US" dirty="0"/>
          </a:p>
        </p:txBody>
      </p:sp>
      <p:pic>
        <p:nvPicPr>
          <p:cNvPr id="5" name="Picture 4">
            <a:extLst>
              <a:ext uri="{FF2B5EF4-FFF2-40B4-BE49-F238E27FC236}">
                <a16:creationId xmlns:a16="http://schemas.microsoft.com/office/drawing/2014/main" id="{969C5DFD-1357-26BB-1292-0FBB66282EEE}"/>
              </a:ext>
            </a:extLst>
          </p:cNvPr>
          <p:cNvPicPr>
            <a:picLocks noChangeAspect="1"/>
          </p:cNvPicPr>
          <p:nvPr/>
        </p:nvPicPr>
        <p:blipFill>
          <a:blip r:embed="rId2"/>
          <a:stretch>
            <a:fillRect/>
          </a:stretch>
        </p:blipFill>
        <p:spPr>
          <a:xfrm>
            <a:off x="1483859" y="2717704"/>
            <a:ext cx="5587001" cy="3775171"/>
          </a:xfrm>
          <a:prstGeom prst="rect">
            <a:avLst/>
          </a:prstGeom>
        </p:spPr>
      </p:pic>
    </p:spTree>
    <p:extLst>
      <p:ext uri="{BB962C8B-B14F-4D97-AF65-F5344CB8AC3E}">
        <p14:creationId xmlns:p14="http://schemas.microsoft.com/office/powerpoint/2010/main" val="3877009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8609-9BF5-2413-1B77-B73DDD172351}"/>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146D44DD-79EF-82FD-C076-3A5440599DC0}"/>
              </a:ext>
            </a:extLst>
          </p:cNvPr>
          <p:cNvSpPr>
            <a:spLocks noGrp="1"/>
          </p:cNvSpPr>
          <p:nvPr>
            <p:ph idx="1"/>
          </p:nvPr>
        </p:nvSpPr>
        <p:spPr>
          <a:xfrm>
            <a:off x="838200" y="1825625"/>
            <a:ext cx="10515600" cy="4667250"/>
          </a:xfrm>
        </p:spPr>
        <p:txBody>
          <a:bodyPr>
            <a:normAutofit lnSpcReduction="10000"/>
          </a:bodyPr>
          <a:lstStyle/>
          <a:p>
            <a:r>
              <a:rPr lang="en-GB" dirty="0"/>
              <a:t>Some more examples of tasks that are best solved by using a learning algorithm</a:t>
            </a:r>
          </a:p>
          <a:p>
            <a:pPr lvl="1"/>
            <a:r>
              <a:rPr lang="en-GB" dirty="0"/>
              <a:t>Recognizing patterns:</a:t>
            </a:r>
          </a:p>
          <a:p>
            <a:pPr lvl="2"/>
            <a:r>
              <a:rPr lang="en-GB" dirty="0"/>
              <a:t>Facial identities or facial expressions</a:t>
            </a:r>
          </a:p>
          <a:p>
            <a:pPr lvl="2"/>
            <a:r>
              <a:rPr lang="en-GB" dirty="0"/>
              <a:t>Handwritten or spoken words</a:t>
            </a:r>
          </a:p>
          <a:p>
            <a:pPr lvl="2"/>
            <a:r>
              <a:rPr lang="en-GB" dirty="0"/>
              <a:t>Medical images</a:t>
            </a:r>
          </a:p>
          <a:p>
            <a:pPr lvl="1"/>
            <a:r>
              <a:rPr lang="en-GB" dirty="0"/>
              <a:t>Generating patterns:</a:t>
            </a:r>
          </a:p>
          <a:p>
            <a:pPr lvl="2"/>
            <a:r>
              <a:rPr lang="en-GB" dirty="0"/>
              <a:t>Generating images or motion sequences</a:t>
            </a:r>
          </a:p>
          <a:p>
            <a:pPr lvl="1"/>
            <a:r>
              <a:rPr lang="en-GB" dirty="0"/>
              <a:t>Recognizing anomalies:</a:t>
            </a:r>
          </a:p>
          <a:p>
            <a:pPr lvl="2"/>
            <a:r>
              <a:rPr lang="en-GB" dirty="0"/>
              <a:t>Unusual credit card transactions</a:t>
            </a:r>
          </a:p>
          <a:p>
            <a:pPr lvl="2"/>
            <a:r>
              <a:rPr lang="en-GB" dirty="0"/>
              <a:t>Unusual patterns of sensor readings in a nuclear power plant</a:t>
            </a:r>
          </a:p>
          <a:p>
            <a:pPr lvl="1"/>
            <a:r>
              <a:rPr lang="en-GB" dirty="0"/>
              <a:t>Prediction:</a:t>
            </a:r>
          </a:p>
          <a:p>
            <a:pPr lvl="2"/>
            <a:r>
              <a:rPr lang="en-GB" dirty="0"/>
              <a:t>Future stock prices or currency exchange rates</a:t>
            </a:r>
            <a:endParaRPr lang="en-US" dirty="0"/>
          </a:p>
        </p:txBody>
      </p:sp>
    </p:spTree>
    <p:extLst>
      <p:ext uri="{BB962C8B-B14F-4D97-AF65-F5344CB8AC3E}">
        <p14:creationId xmlns:p14="http://schemas.microsoft.com/office/powerpoint/2010/main" val="3026774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A6F92-1FE4-333F-A895-FDDE395A3794}"/>
              </a:ext>
            </a:extLst>
          </p:cNvPr>
          <p:cNvSpPr>
            <a:spLocks noGrp="1"/>
          </p:cNvSpPr>
          <p:nvPr>
            <p:ph type="title"/>
          </p:nvPr>
        </p:nvSpPr>
        <p:spPr/>
        <p:txBody>
          <a:bodyPr>
            <a:normAutofit/>
          </a:bodyPr>
          <a:lstStyle/>
          <a:p>
            <a:r>
              <a:rPr lang="en-GB" dirty="0"/>
              <a:t>Machine learning vs AI vs deep learning</a:t>
            </a:r>
            <a:endParaRPr lang="en-US" dirty="0"/>
          </a:p>
        </p:txBody>
      </p:sp>
      <p:sp>
        <p:nvSpPr>
          <p:cNvPr id="3" name="Content Placeholder 2">
            <a:extLst>
              <a:ext uri="{FF2B5EF4-FFF2-40B4-BE49-F238E27FC236}">
                <a16:creationId xmlns:a16="http://schemas.microsoft.com/office/drawing/2014/main" id="{22BFADA5-EFA9-CB86-1B62-C1F92A08B785}"/>
              </a:ext>
            </a:extLst>
          </p:cNvPr>
          <p:cNvSpPr>
            <a:spLocks noGrp="1"/>
          </p:cNvSpPr>
          <p:nvPr>
            <p:ph idx="1"/>
          </p:nvPr>
        </p:nvSpPr>
        <p:spPr/>
        <p:txBody>
          <a:bodyPr>
            <a:normAutofit fontScale="92500" lnSpcReduction="20000"/>
          </a:bodyPr>
          <a:lstStyle/>
          <a:p>
            <a:r>
              <a:rPr lang="en-GB" dirty="0"/>
              <a:t>Machine learning is often confused with artificial intelligence or deep learning. Let's take a look at how these terms differ from one another. </a:t>
            </a:r>
          </a:p>
          <a:p>
            <a:pPr lvl="1"/>
            <a:r>
              <a:rPr lang="en-GB" dirty="0"/>
              <a:t>AI refers to the development of programs that behave intelligently and mimic human intelligence through a set of algorithms. </a:t>
            </a:r>
          </a:p>
          <a:p>
            <a:pPr lvl="1"/>
            <a:r>
              <a:rPr lang="en-GB" dirty="0"/>
              <a:t>Machine learning is a subset of AI, which uses algorithms that learn from data to make predictions. These predictions can be generated through supervised learning, where algorithms learn patterns from existing data, or unsupervised learning, where they discover general patterns in data. </a:t>
            </a:r>
          </a:p>
          <a:p>
            <a:pPr lvl="1"/>
            <a:r>
              <a:rPr lang="en-GB" dirty="0"/>
              <a:t>Deep learning, on the other hand, is a subfield of machine learning dealing with algorithms based essentially on multi-layered artificial neural networks (ANN) that are inspired by the structure of the human </a:t>
            </a:r>
            <a:r>
              <a:rPr lang="en-GB" dirty="0" err="1"/>
              <a:t>brain.Unlike</a:t>
            </a:r>
            <a:r>
              <a:rPr lang="en-GB" dirty="0"/>
              <a:t> conventional machine learning algorithms, deep learning algorithms are less linear, more complex, and hierarchical, capable of learning from enormous amounts of data, and able to produce highly accurate results. </a:t>
            </a:r>
          </a:p>
          <a:p>
            <a:endParaRPr lang="en-GB" dirty="0"/>
          </a:p>
          <a:p>
            <a:endParaRPr lang="en-US" dirty="0"/>
          </a:p>
        </p:txBody>
      </p:sp>
    </p:spTree>
    <p:extLst>
      <p:ext uri="{BB962C8B-B14F-4D97-AF65-F5344CB8AC3E}">
        <p14:creationId xmlns:p14="http://schemas.microsoft.com/office/powerpoint/2010/main" val="3675299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137FC0-D57F-78BD-59E6-7A22662A57D5}"/>
              </a:ext>
            </a:extLst>
          </p:cNvPr>
          <p:cNvPicPr>
            <a:picLocks noChangeAspect="1"/>
          </p:cNvPicPr>
          <p:nvPr/>
        </p:nvPicPr>
        <p:blipFill>
          <a:blip r:embed="rId2"/>
          <a:stretch>
            <a:fillRect/>
          </a:stretch>
        </p:blipFill>
        <p:spPr>
          <a:xfrm>
            <a:off x="3314402" y="0"/>
            <a:ext cx="5563195" cy="6858000"/>
          </a:xfrm>
          <a:prstGeom prst="rect">
            <a:avLst/>
          </a:prstGeom>
        </p:spPr>
      </p:pic>
    </p:spTree>
    <p:extLst>
      <p:ext uri="{BB962C8B-B14F-4D97-AF65-F5344CB8AC3E}">
        <p14:creationId xmlns:p14="http://schemas.microsoft.com/office/powerpoint/2010/main" val="3746682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60EB7-D658-7136-90A8-ADCE9407064D}"/>
              </a:ext>
            </a:extLst>
          </p:cNvPr>
          <p:cNvSpPr>
            <a:spLocks noGrp="1"/>
          </p:cNvSpPr>
          <p:nvPr>
            <p:ph type="title"/>
          </p:nvPr>
        </p:nvSpPr>
        <p:spPr/>
        <p:txBody>
          <a:bodyPr/>
          <a:lstStyle/>
          <a:p>
            <a:r>
              <a:rPr lang="en-GB" dirty="0"/>
              <a:t>How Does Machine Learning Work?</a:t>
            </a:r>
            <a:endParaRPr lang="en-US" dirty="0"/>
          </a:p>
        </p:txBody>
      </p:sp>
      <p:sp>
        <p:nvSpPr>
          <p:cNvPr id="3" name="Content Placeholder 2">
            <a:extLst>
              <a:ext uri="{FF2B5EF4-FFF2-40B4-BE49-F238E27FC236}">
                <a16:creationId xmlns:a16="http://schemas.microsoft.com/office/drawing/2014/main" id="{2B893DC6-2285-DAE2-BF13-498534740F73}"/>
              </a:ext>
            </a:extLst>
          </p:cNvPr>
          <p:cNvSpPr>
            <a:spLocks noGrp="1"/>
          </p:cNvSpPr>
          <p:nvPr>
            <p:ph idx="1"/>
          </p:nvPr>
        </p:nvSpPr>
        <p:spPr/>
        <p:txBody>
          <a:bodyPr/>
          <a:lstStyle/>
          <a:p>
            <a:r>
              <a:rPr lang="en-GB" dirty="0"/>
              <a:t>Understanding how machine learning works involves delving into a step-by-step process that transforms raw data into valuable insights. Let's break down this process:</a:t>
            </a:r>
          </a:p>
          <a:p>
            <a:endParaRPr lang="en-GB" dirty="0"/>
          </a:p>
          <a:p>
            <a:endParaRPr lang="en-GB" dirty="0"/>
          </a:p>
          <a:p>
            <a:endParaRPr lang="en-US" dirty="0"/>
          </a:p>
        </p:txBody>
      </p:sp>
      <p:graphicFrame>
        <p:nvGraphicFramePr>
          <p:cNvPr id="5" name="Diagram 4">
            <a:extLst>
              <a:ext uri="{FF2B5EF4-FFF2-40B4-BE49-F238E27FC236}">
                <a16:creationId xmlns:a16="http://schemas.microsoft.com/office/drawing/2014/main" id="{DAC73D10-37DD-390D-6A6E-3067A7F3395B}"/>
              </a:ext>
            </a:extLst>
          </p:cNvPr>
          <p:cNvGraphicFramePr/>
          <p:nvPr>
            <p:extLst>
              <p:ext uri="{D42A27DB-BD31-4B8C-83A1-F6EECF244321}">
                <p14:modId xmlns:p14="http://schemas.microsoft.com/office/powerpoint/2010/main" val="3045049708"/>
              </p:ext>
            </p:extLst>
          </p:nvPr>
        </p:nvGraphicFramePr>
        <p:xfrm>
          <a:off x="2316480" y="1291960"/>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0579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1A2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FB6EA2-9CA4-E0AF-67EB-BCB0F047FB76}"/>
              </a:ext>
            </a:extLst>
          </p:cNvPr>
          <p:cNvPicPr>
            <a:picLocks noChangeAspect="1"/>
          </p:cNvPicPr>
          <p:nvPr/>
        </p:nvPicPr>
        <p:blipFill>
          <a:blip r:embed="rId2"/>
          <a:stretch>
            <a:fillRect/>
          </a:stretch>
        </p:blipFill>
        <p:spPr>
          <a:xfrm>
            <a:off x="-11198" y="788911"/>
            <a:ext cx="12203198" cy="5036338"/>
          </a:xfrm>
          <a:prstGeom prst="rect">
            <a:avLst/>
          </a:prstGeom>
        </p:spPr>
      </p:pic>
    </p:spTree>
    <p:extLst>
      <p:ext uri="{BB962C8B-B14F-4D97-AF65-F5344CB8AC3E}">
        <p14:creationId xmlns:p14="http://schemas.microsoft.com/office/powerpoint/2010/main" val="1510372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204E5-8C25-971A-48A4-AB2E9CAA33C0}"/>
              </a:ext>
            </a:extLst>
          </p:cNvPr>
          <p:cNvSpPr>
            <a:spLocks noGrp="1"/>
          </p:cNvSpPr>
          <p:nvPr>
            <p:ph type="title"/>
          </p:nvPr>
        </p:nvSpPr>
        <p:spPr/>
        <p:txBody>
          <a:bodyPr/>
          <a:lstStyle/>
          <a:p>
            <a:r>
              <a:rPr lang="en-GB" dirty="0"/>
              <a:t>Step 1: Project Setup</a:t>
            </a:r>
            <a:endParaRPr lang="en-US" dirty="0"/>
          </a:p>
        </p:txBody>
      </p:sp>
      <p:sp>
        <p:nvSpPr>
          <p:cNvPr id="3" name="Content Placeholder 2">
            <a:extLst>
              <a:ext uri="{FF2B5EF4-FFF2-40B4-BE49-F238E27FC236}">
                <a16:creationId xmlns:a16="http://schemas.microsoft.com/office/drawing/2014/main" id="{2AB40A45-1B3E-113A-68BC-2D58639CD745}"/>
              </a:ext>
            </a:extLst>
          </p:cNvPr>
          <p:cNvSpPr>
            <a:spLocks noGrp="1"/>
          </p:cNvSpPr>
          <p:nvPr>
            <p:ph idx="1"/>
          </p:nvPr>
        </p:nvSpPr>
        <p:spPr/>
        <p:txBody>
          <a:bodyPr>
            <a:normAutofit/>
          </a:bodyPr>
          <a:lstStyle/>
          <a:p>
            <a:r>
              <a:rPr lang="en-GB" dirty="0"/>
              <a:t>Understand business goals</a:t>
            </a:r>
          </a:p>
          <a:p>
            <a:pPr lvl="1"/>
            <a:r>
              <a:rPr lang="en-GB" dirty="0"/>
              <a:t>Speak with your stakeholders and deeply understand the business goal behind the model being proposed. A deep understanding of your business goals will help you scope the necessary technical solution, data sources to be collected, how to evaluate model performance, and more.</a:t>
            </a:r>
          </a:p>
          <a:p>
            <a:r>
              <a:rPr lang="en-GB" dirty="0"/>
              <a:t>Choose the solution to your problem</a:t>
            </a:r>
          </a:p>
          <a:p>
            <a:pPr lvl="1"/>
            <a:r>
              <a:rPr lang="en-GB" dirty="0"/>
              <a:t>Once you have a deep understanding of your problem—focus on which category of models drives the highest impact. See this </a:t>
            </a:r>
            <a:r>
              <a:rPr lang="en-GB" dirty="0">
                <a:hlinkClick r:id="rId2"/>
              </a:rPr>
              <a:t>Machine Learning Cheat Sheet </a:t>
            </a:r>
            <a:r>
              <a:rPr lang="en-GB" dirty="0"/>
              <a:t>for more information. </a:t>
            </a:r>
            <a:endParaRPr lang="en-US" dirty="0"/>
          </a:p>
        </p:txBody>
      </p:sp>
    </p:spTree>
    <p:extLst>
      <p:ext uri="{BB962C8B-B14F-4D97-AF65-F5344CB8AC3E}">
        <p14:creationId xmlns:p14="http://schemas.microsoft.com/office/powerpoint/2010/main" val="523200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8E4B-E0E7-9D32-F0C8-C086D13A5647}"/>
              </a:ext>
            </a:extLst>
          </p:cNvPr>
          <p:cNvSpPr>
            <a:spLocks noGrp="1"/>
          </p:cNvSpPr>
          <p:nvPr>
            <p:ph type="title"/>
          </p:nvPr>
        </p:nvSpPr>
        <p:spPr/>
        <p:txBody>
          <a:bodyPr/>
          <a:lstStyle/>
          <a:p>
            <a:r>
              <a:rPr lang="en-US" dirty="0"/>
              <a:t>Step 2: Data preparation</a:t>
            </a:r>
          </a:p>
        </p:txBody>
      </p:sp>
      <p:sp>
        <p:nvSpPr>
          <p:cNvPr id="3" name="Content Placeholder 2">
            <a:extLst>
              <a:ext uri="{FF2B5EF4-FFF2-40B4-BE49-F238E27FC236}">
                <a16:creationId xmlns:a16="http://schemas.microsoft.com/office/drawing/2014/main" id="{D52B28CD-EE83-C888-EB8B-835BC985646F}"/>
              </a:ext>
            </a:extLst>
          </p:cNvPr>
          <p:cNvSpPr>
            <a:spLocks noGrp="1"/>
          </p:cNvSpPr>
          <p:nvPr>
            <p:ph idx="1"/>
          </p:nvPr>
        </p:nvSpPr>
        <p:spPr>
          <a:xfrm>
            <a:off x="838200" y="1825624"/>
            <a:ext cx="10515600" cy="4667251"/>
          </a:xfrm>
        </p:spPr>
        <p:txBody>
          <a:bodyPr>
            <a:normAutofit fontScale="92500" lnSpcReduction="20000"/>
          </a:bodyPr>
          <a:lstStyle/>
          <a:p>
            <a:r>
              <a:rPr lang="en-GB" dirty="0"/>
              <a:t>Data collection</a:t>
            </a:r>
          </a:p>
          <a:p>
            <a:pPr lvl="1"/>
            <a:r>
              <a:rPr lang="en-GB" dirty="0"/>
              <a:t>Data is the lifeblood of machine learning - the quality and quantity of your data can directly impact your model's performance. Data can be collected from various sources such as databases, text files, images, audio files, or even scraped from the web.</a:t>
            </a:r>
          </a:p>
          <a:p>
            <a:pPr lvl="1"/>
            <a:r>
              <a:rPr lang="en-GB" dirty="0"/>
              <a:t>Collect all the data you need for your models, whether from your own organization, public or paid sources.</a:t>
            </a:r>
          </a:p>
          <a:p>
            <a:r>
              <a:rPr lang="en-GB" dirty="0"/>
              <a:t>Data preprocessing</a:t>
            </a:r>
          </a:p>
          <a:p>
            <a:pPr lvl="1"/>
            <a:r>
              <a:rPr lang="en-GB" dirty="0"/>
              <a:t>Data preprocessing is a crucial step in the machine learning process. It involves cleaning the data (removing duplicates, correcting errors), handling missing data (either by removing it or filling it in), and normalizing the data (scaling the data to a standard format).</a:t>
            </a:r>
          </a:p>
          <a:p>
            <a:pPr lvl="1"/>
            <a:r>
              <a:rPr lang="en-GB" dirty="0"/>
              <a:t>Preprocessing improves the quality of your data and ensures that your machine learning model can interpret it correctly. This step can significantly improve the accuracy of your model.</a:t>
            </a:r>
          </a:p>
          <a:p>
            <a:pPr lvl="1"/>
            <a:r>
              <a:rPr lang="en-GB" dirty="0"/>
              <a:t>Check out this </a:t>
            </a:r>
            <a:r>
              <a:rPr lang="en-GB" dirty="0">
                <a:hlinkClick r:id="rId2"/>
              </a:rPr>
              <a:t>data cleaning checklist</a:t>
            </a:r>
            <a:r>
              <a:rPr lang="en-GB" dirty="0"/>
              <a:t> for a primer on data cleaning. </a:t>
            </a:r>
            <a:endParaRPr lang="en-US" dirty="0"/>
          </a:p>
        </p:txBody>
      </p:sp>
    </p:spTree>
    <p:extLst>
      <p:ext uri="{BB962C8B-B14F-4D97-AF65-F5344CB8AC3E}">
        <p14:creationId xmlns:p14="http://schemas.microsoft.com/office/powerpoint/2010/main" val="2513968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8E4B-E0E7-9D32-F0C8-C086D13A5647}"/>
              </a:ext>
            </a:extLst>
          </p:cNvPr>
          <p:cNvSpPr>
            <a:spLocks noGrp="1"/>
          </p:cNvSpPr>
          <p:nvPr>
            <p:ph type="title"/>
          </p:nvPr>
        </p:nvSpPr>
        <p:spPr/>
        <p:txBody>
          <a:bodyPr/>
          <a:lstStyle/>
          <a:p>
            <a:r>
              <a:rPr lang="en-US" dirty="0"/>
              <a:t>Step 2: Data preparation (cont.)</a:t>
            </a:r>
          </a:p>
        </p:txBody>
      </p:sp>
      <p:sp>
        <p:nvSpPr>
          <p:cNvPr id="3" name="Content Placeholder 2">
            <a:extLst>
              <a:ext uri="{FF2B5EF4-FFF2-40B4-BE49-F238E27FC236}">
                <a16:creationId xmlns:a16="http://schemas.microsoft.com/office/drawing/2014/main" id="{D52B28CD-EE83-C888-EB8B-835BC985646F}"/>
              </a:ext>
            </a:extLst>
          </p:cNvPr>
          <p:cNvSpPr>
            <a:spLocks noGrp="1"/>
          </p:cNvSpPr>
          <p:nvPr>
            <p:ph idx="1"/>
          </p:nvPr>
        </p:nvSpPr>
        <p:spPr>
          <a:xfrm>
            <a:off x="838200" y="1825624"/>
            <a:ext cx="10515600" cy="4667251"/>
          </a:xfrm>
        </p:spPr>
        <p:txBody>
          <a:bodyPr>
            <a:normAutofit/>
          </a:bodyPr>
          <a:lstStyle/>
          <a:p>
            <a:r>
              <a:rPr lang="en-GB" dirty="0"/>
              <a:t>Feature engineering</a:t>
            </a:r>
          </a:p>
          <a:p>
            <a:pPr lvl="1"/>
            <a:r>
              <a:rPr lang="en-GB" dirty="0"/>
              <a:t>Manipulate the datasets to create variables (features) that improve your model’s prediction accuracy. Create the same features in both the training set and the testing set.</a:t>
            </a:r>
          </a:p>
          <a:p>
            <a:r>
              <a:rPr lang="en-GB" dirty="0"/>
              <a:t>Split the data</a:t>
            </a:r>
          </a:p>
          <a:p>
            <a:pPr lvl="1"/>
            <a:r>
              <a:rPr lang="en-GB" dirty="0"/>
              <a:t>Randomly divide the records in the dataset into a training set and a testing set. For a more reliable assessment of model performance, generate multiple training and testing sets using cross validation</a:t>
            </a:r>
            <a:endParaRPr lang="en-US" dirty="0"/>
          </a:p>
        </p:txBody>
      </p:sp>
    </p:spTree>
    <p:extLst>
      <p:ext uri="{BB962C8B-B14F-4D97-AF65-F5344CB8AC3E}">
        <p14:creationId xmlns:p14="http://schemas.microsoft.com/office/powerpoint/2010/main" val="1078874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6103E-EE31-9176-6F2A-56183A1847B9}"/>
              </a:ext>
            </a:extLst>
          </p:cNvPr>
          <p:cNvSpPr>
            <a:spLocks noGrp="1"/>
          </p:cNvSpPr>
          <p:nvPr>
            <p:ph type="title"/>
          </p:nvPr>
        </p:nvSpPr>
        <p:spPr/>
        <p:txBody>
          <a:bodyPr/>
          <a:lstStyle/>
          <a:p>
            <a:r>
              <a:rPr lang="en-US" dirty="0"/>
              <a:t>Step 3: Modeling</a:t>
            </a:r>
          </a:p>
        </p:txBody>
      </p:sp>
      <p:sp>
        <p:nvSpPr>
          <p:cNvPr id="3" name="Content Placeholder 2">
            <a:extLst>
              <a:ext uri="{FF2B5EF4-FFF2-40B4-BE49-F238E27FC236}">
                <a16:creationId xmlns:a16="http://schemas.microsoft.com/office/drawing/2014/main" id="{C46DBB5F-91FC-7651-2AFB-55F62BFA2162}"/>
              </a:ext>
            </a:extLst>
          </p:cNvPr>
          <p:cNvSpPr>
            <a:spLocks noGrp="1"/>
          </p:cNvSpPr>
          <p:nvPr>
            <p:ph idx="1"/>
          </p:nvPr>
        </p:nvSpPr>
        <p:spPr/>
        <p:txBody>
          <a:bodyPr>
            <a:normAutofit/>
          </a:bodyPr>
          <a:lstStyle/>
          <a:p>
            <a:r>
              <a:rPr lang="en-GB" dirty="0"/>
              <a:t>Choosing the right model</a:t>
            </a:r>
          </a:p>
          <a:p>
            <a:pPr lvl="1"/>
            <a:r>
              <a:rPr lang="en-GB" dirty="0"/>
              <a:t>Once the data is prepared, the next step is to choose a machine learning model. There are many types of models to choose from, including linear regression, decision trees, and neural networks. The choice of model depends on the nature of your data and the problem you're trying to solve.</a:t>
            </a:r>
          </a:p>
          <a:p>
            <a:pPr lvl="1"/>
            <a:endParaRPr lang="en-GB" dirty="0"/>
          </a:p>
          <a:p>
            <a:pPr lvl="1"/>
            <a:r>
              <a:rPr lang="en-GB" dirty="0"/>
              <a:t>Factors to consider when choosing a model include the size and type of your data, the complexity of the problem, and the computational resources available. </a:t>
            </a:r>
            <a:endParaRPr lang="en-US" dirty="0"/>
          </a:p>
        </p:txBody>
      </p:sp>
    </p:spTree>
    <p:extLst>
      <p:ext uri="{BB962C8B-B14F-4D97-AF65-F5344CB8AC3E}">
        <p14:creationId xmlns:p14="http://schemas.microsoft.com/office/powerpoint/2010/main" val="3623288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6103E-EE31-9176-6F2A-56183A1847B9}"/>
              </a:ext>
            </a:extLst>
          </p:cNvPr>
          <p:cNvSpPr>
            <a:spLocks noGrp="1"/>
          </p:cNvSpPr>
          <p:nvPr>
            <p:ph type="title"/>
          </p:nvPr>
        </p:nvSpPr>
        <p:spPr/>
        <p:txBody>
          <a:bodyPr/>
          <a:lstStyle/>
          <a:p>
            <a:r>
              <a:rPr lang="en-US" dirty="0"/>
              <a:t>Step 3: Modeling (cont.)</a:t>
            </a:r>
          </a:p>
        </p:txBody>
      </p:sp>
      <p:sp>
        <p:nvSpPr>
          <p:cNvPr id="3" name="Content Placeholder 2">
            <a:extLst>
              <a:ext uri="{FF2B5EF4-FFF2-40B4-BE49-F238E27FC236}">
                <a16:creationId xmlns:a16="http://schemas.microsoft.com/office/drawing/2014/main" id="{C46DBB5F-91FC-7651-2AFB-55F62BFA2162}"/>
              </a:ext>
            </a:extLst>
          </p:cNvPr>
          <p:cNvSpPr>
            <a:spLocks noGrp="1"/>
          </p:cNvSpPr>
          <p:nvPr>
            <p:ph idx="1"/>
          </p:nvPr>
        </p:nvSpPr>
        <p:spPr/>
        <p:txBody>
          <a:bodyPr>
            <a:normAutofit fontScale="92500" lnSpcReduction="20000"/>
          </a:bodyPr>
          <a:lstStyle/>
          <a:p>
            <a:r>
              <a:rPr lang="en-GB" dirty="0"/>
              <a:t>Train your models</a:t>
            </a:r>
          </a:p>
          <a:p>
            <a:pPr lvl="1"/>
            <a:r>
              <a:rPr lang="en-GB" dirty="0"/>
              <a:t>After choosing a model, the next step is to train it using the prepared data. Training involves feeding the data into the model and allowing it to adjust its internal parameters to better predict the output.</a:t>
            </a:r>
          </a:p>
          <a:p>
            <a:pPr lvl="1"/>
            <a:r>
              <a:rPr lang="en-GB" dirty="0"/>
              <a:t>During training, it's important to avoid overfitting (where the model performs well on the training data but poorly on new data) and underfitting (where the model performs poorly on both the training data and new data). </a:t>
            </a:r>
          </a:p>
          <a:p>
            <a:r>
              <a:rPr lang="en-GB" dirty="0"/>
              <a:t>Evaluating the model</a:t>
            </a:r>
          </a:p>
          <a:p>
            <a:pPr lvl="1"/>
            <a:r>
              <a:rPr lang="en-GB" dirty="0"/>
              <a:t>Once the model is trained, it's important to evaluate its performance before deploying it. This involves testing the model on new data it hasn't seen during training.</a:t>
            </a:r>
          </a:p>
          <a:p>
            <a:pPr lvl="1"/>
            <a:r>
              <a:rPr lang="en-GB" dirty="0"/>
              <a:t>Common metrics for evaluating a model's performance include accuracy (for classification problems), precision and recall (for binary classification problems), and mean squared error (for regression problems). [For a review on these metrics, revisit </a:t>
            </a:r>
            <a:r>
              <a:rPr lang="en-GB" dirty="0">
                <a:hlinkClick r:id="rId2" action="ppaction://hlinkpres?slideindex=1&amp;slidetitle="/>
              </a:rPr>
              <a:t>this document</a:t>
            </a:r>
            <a:r>
              <a:rPr lang="en-GB" dirty="0"/>
              <a:t>]</a:t>
            </a:r>
          </a:p>
          <a:p>
            <a:pPr marL="457200" lvl="1" indent="0">
              <a:buNone/>
            </a:pPr>
            <a:endParaRPr lang="en-US" dirty="0"/>
          </a:p>
        </p:txBody>
      </p:sp>
    </p:spTree>
    <p:extLst>
      <p:ext uri="{BB962C8B-B14F-4D97-AF65-F5344CB8AC3E}">
        <p14:creationId xmlns:p14="http://schemas.microsoft.com/office/powerpoint/2010/main" val="3486104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6103E-EE31-9176-6F2A-56183A1847B9}"/>
              </a:ext>
            </a:extLst>
          </p:cNvPr>
          <p:cNvSpPr>
            <a:spLocks noGrp="1"/>
          </p:cNvSpPr>
          <p:nvPr>
            <p:ph type="title"/>
          </p:nvPr>
        </p:nvSpPr>
        <p:spPr/>
        <p:txBody>
          <a:bodyPr/>
          <a:lstStyle/>
          <a:p>
            <a:r>
              <a:rPr lang="en-US" dirty="0"/>
              <a:t>Step 3: Modeling (cont.)</a:t>
            </a:r>
          </a:p>
        </p:txBody>
      </p:sp>
      <p:sp>
        <p:nvSpPr>
          <p:cNvPr id="3" name="Content Placeholder 2">
            <a:extLst>
              <a:ext uri="{FF2B5EF4-FFF2-40B4-BE49-F238E27FC236}">
                <a16:creationId xmlns:a16="http://schemas.microsoft.com/office/drawing/2014/main" id="{C46DBB5F-91FC-7651-2AFB-55F62BFA2162}"/>
              </a:ext>
            </a:extLst>
          </p:cNvPr>
          <p:cNvSpPr>
            <a:spLocks noGrp="1"/>
          </p:cNvSpPr>
          <p:nvPr>
            <p:ph idx="1"/>
          </p:nvPr>
        </p:nvSpPr>
        <p:spPr/>
        <p:txBody>
          <a:bodyPr>
            <a:normAutofit lnSpcReduction="10000"/>
          </a:bodyPr>
          <a:lstStyle/>
          <a:p>
            <a:r>
              <a:rPr lang="en-GB" dirty="0"/>
              <a:t>Hyperparameter tuning and optimization</a:t>
            </a:r>
          </a:p>
          <a:p>
            <a:pPr lvl="1"/>
            <a:r>
              <a:rPr lang="en-GB" dirty="0"/>
              <a:t>After evaluating the model, you may need to adjust its hyperparameters to improve its performance. This process is known as parameter tuning or hyperparameter optimization.</a:t>
            </a:r>
          </a:p>
          <a:p>
            <a:pPr lvl="1"/>
            <a:r>
              <a:rPr lang="en-GB" dirty="0"/>
              <a:t>Techniques for hyperparameter tuning include grid search (where you try out different combinations of parameters) and cross validation (where you divide your data into subsets and train your model on each subset to ensure it performs well on different data).</a:t>
            </a:r>
          </a:p>
          <a:p>
            <a:r>
              <a:rPr lang="en-GB" dirty="0"/>
              <a:t>Make predictions</a:t>
            </a:r>
          </a:p>
          <a:p>
            <a:pPr lvl="1"/>
            <a:r>
              <a:rPr lang="en-GB" dirty="0"/>
              <a:t>Once the model is trained and optimized, it's ready to make predictions on new data. This process involves feeding new data into the model and using the model's output for decision-making or further analysis.</a:t>
            </a:r>
            <a:endParaRPr lang="en-US" dirty="0"/>
          </a:p>
        </p:txBody>
      </p:sp>
    </p:spTree>
    <p:extLst>
      <p:ext uri="{BB962C8B-B14F-4D97-AF65-F5344CB8AC3E}">
        <p14:creationId xmlns:p14="http://schemas.microsoft.com/office/powerpoint/2010/main" val="1203227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54F0-3686-A7B3-DF78-87EB4401028D}"/>
              </a:ext>
            </a:extLst>
          </p:cNvPr>
          <p:cNvSpPr>
            <a:spLocks noGrp="1"/>
          </p:cNvSpPr>
          <p:nvPr>
            <p:ph type="title"/>
          </p:nvPr>
        </p:nvSpPr>
        <p:spPr/>
        <p:txBody>
          <a:bodyPr/>
          <a:lstStyle/>
          <a:p>
            <a:r>
              <a:rPr lang="en-US" dirty="0"/>
              <a:t>Step 4: Deployment</a:t>
            </a:r>
          </a:p>
        </p:txBody>
      </p:sp>
      <p:sp>
        <p:nvSpPr>
          <p:cNvPr id="3" name="Content Placeholder 2">
            <a:extLst>
              <a:ext uri="{FF2B5EF4-FFF2-40B4-BE49-F238E27FC236}">
                <a16:creationId xmlns:a16="http://schemas.microsoft.com/office/drawing/2014/main" id="{CB8BF58E-E966-0B53-6B15-0868A32CEED7}"/>
              </a:ext>
            </a:extLst>
          </p:cNvPr>
          <p:cNvSpPr>
            <a:spLocks noGrp="1"/>
          </p:cNvSpPr>
          <p:nvPr>
            <p:ph idx="1"/>
          </p:nvPr>
        </p:nvSpPr>
        <p:spPr/>
        <p:txBody>
          <a:bodyPr>
            <a:normAutofit fontScale="92500" lnSpcReduction="10000"/>
          </a:bodyPr>
          <a:lstStyle/>
          <a:p>
            <a:r>
              <a:rPr lang="en-GB" dirty="0"/>
              <a:t>Deploy the model</a:t>
            </a:r>
          </a:p>
          <a:p>
            <a:pPr lvl="1"/>
            <a:r>
              <a:rPr lang="en-GB" dirty="0"/>
              <a:t>Deploying the model involves integrating it into a production environment where it can process real-world data and provide real-time insights. This process is often known as </a:t>
            </a:r>
            <a:r>
              <a:rPr lang="en-GB" dirty="0" err="1"/>
              <a:t>MLOps</a:t>
            </a:r>
            <a:r>
              <a:rPr lang="en-GB" dirty="0"/>
              <a:t>.</a:t>
            </a:r>
          </a:p>
          <a:p>
            <a:pPr lvl="1"/>
            <a:r>
              <a:rPr lang="en-GB" dirty="0"/>
              <a:t>Embed the model you chose in dashboards, applications, or wherever you need it.</a:t>
            </a:r>
          </a:p>
          <a:p>
            <a:r>
              <a:rPr lang="en-GB" dirty="0"/>
              <a:t>Monitor model performance</a:t>
            </a:r>
          </a:p>
          <a:p>
            <a:pPr lvl="1"/>
            <a:r>
              <a:rPr lang="en-GB" dirty="0"/>
              <a:t>Regularly test the performance of your model as your data changes to avoid model drift</a:t>
            </a:r>
          </a:p>
          <a:p>
            <a:r>
              <a:rPr lang="en-GB" dirty="0"/>
              <a:t>Improve your model</a:t>
            </a:r>
          </a:p>
          <a:p>
            <a:pPr lvl="1"/>
            <a:r>
              <a:rPr lang="en-GB" dirty="0"/>
              <a:t>Continuously iterate and improve your model post deployment. Replace your model with an updated version to improve performance.</a:t>
            </a:r>
            <a:endParaRPr lang="en-US" dirty="0"/>
          </a:p>
        </p:txBody>
      </p:sp>
    </p:spTree>
    <p:extLst>
      <p:ext uri="{BB962C8B-B14F-4D97-AF65-F5344CB8AC3E}">
        <p14:creationId xmlns:p14="http://schemas.microsoft.com/office/powerpoint/2010/main" val="2556722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B3C1-9750-9D60-CB35-4F472FEF6357}"/>
              </a:ext>
            </a:extLst>
          </p:cNvPr>
          <p:cNvSpPr>
            <a:spLocks noGrp="1"/>
          </p:cNvSpPr>
          <p:nvPr>
            <p:ph type="title"/>
          </p:nvPr>
        </p:nvSpPr>
        <p:spPr/>
        <p:txBody>
          <a:bodyPr/>
          <a:lstStyle/>
          <a:p>
            <a:r>
              <a:rPr lang="en-US" dirty="0"/>
              <a:t>Types of Machine Learning</a:t>
            </a:r>
          </a:p>
        </p:txBody>
      </p:sp>
      <p:sp>
        <p:nvSpPr>
          <p:cNvPr id="3" name="Content Placeholder 2">
            <a:extLst>
              <a:ext uri="{FF2B5EF4-FFF2-40B4-BE49-F238E27FC236}">
                <a16:creationId xmlns:a16="http://schemas.microsoft.com/office/drawing/2014/main" id="{70A95765-1AE1-A045-7428-89EA80FB8FF7}"/>
              </a:ext>
            </a:extLst>
          </p:cNvPr>
          <p:cNvSpPr>
            <a:spLocks noGrp="1"/>
          </p:cNvSpPr>
          <p:nvPr>
            <p:ph idx="1"/>
          </p:nvPr>
        </p:nvSpPr>
        <p:spPr/>
        <p:txBody>
          <a:bodyPr/>
          <a:lstStyle/>
          <a:p>
            <a:r>
              <a:rPr lang="en-GB" dirty="0"/>
              <a:t>Machine learning can be broadly classified into three types based on the nature of the learning system and the data available: </a:t>
            </a:r>
          </a:p>
          <a:p>
            <a:pPr lvl="1"/>
            <a:r>
              <a:rPr lang="en-GB" dirty="0"/>
              <a:t>supervised learning, </a:t>
            </a:r>
          </a:p>
          <a:p>
            <a:pPr lvl="1"/>
            <a:r>
              <a:rPr lang="en-GB" dirty="0"/>
              <a:t>unsupervised learning, and </a:t>
            </a:r>
          </a:p>
          <a:p>
            <a:pPr lvl="1"/>
            <a:r>
              <a:rPr lang="en-GB" dirty="0"/>
              <a:t>reinforcement learning. </a:t>
            </a:r>
            <a:endParaRPr lang="en-US" dirty="0"/>
          </a:p>
        </p:txBody>
      </p:sp>
    </p:spTree>
    <p:extLst>
      <p:ext uri="{BB962C8B-B14F-4D97-AF65-F5344CB8AC3E}">
        <p14:creationId xmlns:p14="http://schemas.microsoft.com/office/powerpoint/2010/main" val="674338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165B-5CF1-8E46-EBB3-746610C7E5D1}"/>
              </a:ext>
            </a:extLst>
          </p:cNvPr>
          <p:cNvSpPr>
            <a:spLocks noGrp="1"/>
          </p:cNvSpPr>
          <p:nvPr>
            <p:ph type="title"/>
          </p:nvPr>
        </p:nvSpPr>
        <p:spPr/>
        <p:txBody>
          <a:bodyPr/>
          <a:lstStyle/>
          <a:p>
            <a:r>
              <a:rPr lang="en-US" dirty="0"/>
              <a:t>Supervised learning</a:t>
            </a:r>
          </a:p>
        </p:txBody>
      </p:sp>
      <p:sp>
        <p:nvSpPr>
          <p:cNvPr id="3" name="Content Placeholder 2">
            <a:extLst>
              <a:ext uri="{FF2B5EF4-FFF2-40B4-BE49-F238E27FC236}">
                <a16:creationId xmlns:a16="http://schemas.microsoft.com/office/drawing/2014/main" id="{B0C4BA07-D931-B1A6-C630-69C9E01A1A51}"/>
              </a:ext>
            </a:extLst>
          </p:cNvPr>
          <p:cNvSpPr>
            <a:spLocks noGrp="1"/>
          </p:cNvSpPr>
          <p:nvPr>
            <p:ph idx="1"/>
          </p:nvPr>
        </p:nvSpPr>
        <p:spPr/>
        <p:txBody>
          <a:bodyPr>
            <a:normAutofit fontScale="85000" lnSpcReduction="20000"/>
          </a:bodyPr>
          <a:lstStyle/>
          <a:p>
            <a:r>
              <a:rPr lang="en-GB" dirty="0"/>
              <a:t>Supervised learning is the most common type of machine learning. In this approach, the model is trained on a </a:t>
            </a:r>
            <a:r>
              <a:rPr lang="en-GB" dirty="0" err="1"/>
              <a:t>labeled</a:t>
            </a:r>
            <a:r>
              <a:rPr lang="en-GB" dirty="0"/>
              <a:t> dataset. In other words, the data is accompanied by a label that the model is trying to predict. This could be anything from a category label to a real-valued number.</a:t>
            </a:r>
          </a:p>
          <a:p>
            <a:r>
              <a:rPr lang="en-GB" dirty="0"/>
              <a:t>The model learns a mapping between the input (features) and the output (label) during the training process. Once trained, the model can predict the output for new, unseen data.</a:t>
            </a:r>
          </a:p>
          <a:p>
            <a:r>
              <a:rPr lang="en-GB" dirty="0"/>
              <a:t>Common examples of supervised learning algorithms include linear regression for regression problems and logistic regression, decision trees, and support vector machines for classification problems. In practical terms, this could look like an image recognition process, wherein a dataset of images where each picture is </a:t>
            </a:r>
            <a:r>
              <a:rPr lang="en-GB" dirty="0" err="1"/>
              <a:t>labeled</a:t>
            </a:r>
            <a:r>
              <a:rPr lang="en-GB" dirty="0"/>
              <a:t> as "cat," "dog," etc., a supervised model can recognize and categorize new images accurately.</a:t>
            </a:r>
            <a:endParaRPr lang="en-US" dirty="0"/>
          </a:p>
        </p:txBody>
      </p:sp>
    </p:spTree>
    <p:extLst>
      <p:ext uri="{BB962C8B-B14F-4D97-AF65-F5344CB8AC3E}">
        <p14:creationId xmlns:p14="http://schemas.microsoft.com/office/powerpoint/2010/main" val="123781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7CD7-A1AC-8EC5-CF7F-682E32AF1F52}"/>
              </a:ext>
            </a:extLst>
          </p:cNvPr>
          <p:cNvSpPr>
            <a:spLocks noGrp="1"/>
          </p:cNvSpPr>
          <p:nvPr>
            <p:ph type="title"/>
          </p:nvPr>
        </p:nvSpPr>
        <p:spPr/>
        <p:txBody>
          <a:bodyPr/>
          <a:lstStyle/>
          <a:p>
            <a:r>
              <a:rPr lang="en-US" dirty="0"/>
              <a:t>Supervised learning</a:t>
            </a:r>
          </a:p>
        </p:txBody>
      </p:sp>
      <p:pic>
        <p:nvPicPr>
          <p:cNvPr id="4" name="Content Placeholder 3">
            <a:extLst>
              <a:ext uri="{FF2B5EF4-FFF2-40B4-BE49-F238E27FC236}">
                <a16:creationId xmlns:a16="http://schemas.microsoft.com/office/drawing/2014/main" id="{40EFC929-8E59-C489-CCBB-648C1494A986}"/>
              </a:ext>
            </a:extLst>
          </p:cNvPr>
          <p:cNvPicPr>
            <a:picLocks noGrp="1" noChangeAspect="1"/>
          </p:cNvPicPr>
          <p:nvPr>
            <p:ph idx="1"/>
          </p:nvPr>
        </p:nvPicPr>
        <p:blipFill>
          <a:blip r:embed="rId2"/>
          <a:srcRect t="16884"/>
          <a:stretch/>
        </p:blipFill>
        <p:spPr>
          <a:xfrm>
            <a:off x="1728322" y="1767841"/>
            <a:ext cx="8735356" cy="4084002"/>
          </a:xfrm>
          <a:prstGeom prst="rect">
            <a:avLst/>
          </a:prstGeom>
        </p:spPr>
      </p:pic>
    </p:spTree>
    <p:extLst>
      <p:ext uri="{BB962C8B-B14F-4D97-AF65-F5344CB8AC3E}">
        <p14:creationId xmlns:p14="http://schemas.microsoft.com/office/powerpoint/2010/main" val="3408896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D8DB6-AB1C-8184-71A4-DF862BBC9F42}"/>
              </a:ext>
            </a:extLst>
          </p:cNvPr>
          <p:cNvSpPr>
            <a:spLocks noGrp="1"/>
          </p:cNvSpPr>
          <p:nvPr>
            <p:ph type="title"/>
          </p:nvPr>
        </p:nvSpPr>
        <p:spPr/>
        <p:txBody>
          <a:bodyPr/>
          <a:lstStyle/>
          <a:p>
            <a:r>
              <a:rPr lang="en-US" dirty="0"/>
              <a:t>Regression vs. Classification</a:t>
            </a:r>
          </a:p>
        </p:txBody>
      </p:sp>
      <p:sp>
        <p:nvSpPr>
          <p:cNvPr id="6" name="Content Placeholder 2">
            <a:extLst>
              <a:ext uri="{FF2B5EF4-FFF2-40B4-BE49-F238E27FC236}">
                <a16:creationId xmlns:a16="http://schemas.microsoft.com/office/drawing/2014/main" id="{9C83FDC9-62B6-33AC-513C-B4E10097D449}"/>
              </a:ext>
            </a:extLst>
          </p:cNvPr>
          <p:cNvSpPr>
            <a:spLocks noGrp="1"/>
          </p:cNvSpPr>
          <p:nvPr>
            <p:ph idx="1"/>
          </p:nvPr>
        </p:nvSpPr>
        <p:spPr>
          <a:xfrm>
            <a:off x="838200" y="1825625"/>
            <a:ext cx="10515600" cy="4351338"/>
          </a:xfrm>
        </p:spPr>
        <p:txBody>
          <a:bodyPr>
            <a:normAutofit fontScale="92500" lnSpcReduction="20000"/>
          </a:bodyPr>
          <a:lstStyle/>
          <a:p>
            <a:r>
              <a:rPr lang="en-GB" dirty="0"/>
              <a:t>There are two main types of supervised learning algorithms:</a:t>
            </a:r>
          </a:p>
          <a:p>
            <a:pPr lvl="1"/>
            <a:r>
              <a:rPr lang="en-GB" dirty="0"/>
              <a:t>Regression: Regression is a type of supervised learning where the algorithm learns to predict continuous values based on input features. The output labels in regression are continuous values, such as stock prices, and housing prices. The different regression algorithms in machine learning are: Linear Regression, Polynomial Regression, Ridge Regression, Decision Tree Regression, Random Forest Regression, Support Vector Regression, etc.</a:t>
            </a:r>
          </a:p>
          <a:p>
            <a:pPr lvl="1"/>
            <a:r>
              <a:rPr lang="en-GB" dirty="0"/>
              <a:t>Classification: Classification is a type of supervised learning where the algorithm learns to assign input data to a specific category or class based on input features. The output labels in classification are discrete values. Classification algorithms can be binary, where the output is one of two possible classes, or multiclass, where the output can be one of several classes. The different Classification algorithms in machine learning are: Logistic Regression, Naive Bayes, Decision Tree, Support Vector Machine (SVM), K-Nearest </a:t>
            </a:r>
            <a:r>
              <a:rPr lang="en-GB" dirty="0" err="1"/>
              <a:t>Neighbors</a:t>
            </a:r>
            <a:r>
              <a:rPr lang="en-GB" dirty="0"/>
              <a:t> (KNN), etc.</a:t>
            </a:r>
            <a:endParaRPr lang="en-US" dirty="0"/>
          </a:p>
        </p:txBody>
      </p:sp>
    </p:spTree>
    <p:extLst>
      <p:ext uri="{BB962C8B-B14F-4D97-AF65-F5344CB8AC3E}">
        <p14:creationId xmlns:p14="http://schemas.microsoft.com/office/powerpoint/2010/main" val="2819072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42A4-5AAF-F348-14F8-A035554D2266}"/>
              </a:ext>
            </a:extLst>
          </p:cNvPr>
          <p:cNvSpPr>
            <a:spLocks noGrp="1"/>
          </p:cNvSpPr>
          <p:nvPr>
            <p:ph type="title"/>
          </p:nvPr>
        </p:nvSpPr>
        <p:spPr/>
        <p:txBody>
          <a:bodyPr/>
          <a:lstStyle/>
          <a:p>
            <a:r>
              <a:rPr lang="en-US" dirty="0"/>
              <a:t>Regression vs. Classification</a:t>
            </a:r>
          </a:p>
        </p:txBody>
      </p:sp>
      <p:pic>
        <p:nvPicPr>
          <p:cNvPr id="14" name="Content Placeholder 13">
            <a:extLst>
              <a:ext uri="{FF2B5EF4-FFF2-40B4-BE49-F238E27FC236}">
                <a16:creationId xmlns:a16="http://schemas.microsoft.com/office/drawing/2014/main" id="{9A300626-242E-92C6-B95C-DD231B7AC569}"/>
              </a:ext>
            </a:extLst>
          </p:cNvPr>
          <p:cNvPicPr>
            <a:picLocks noGrp="1" noChangeAspect="1"/>
          </p:cNvPicPr>
          <p:nvPr>
            <p:ph idx="1"/>
          </p:nvPr>
        </p:nvPicPr>
        <p:blipFill>
          <a:blip r:embed="rId2"/>
          <a:stretch>
            <a:fillRect/>
          </a:stretch>
        </p:blipFill>
        <p:spPr>
          <a:xfrm>
            <a:off x="2644469" y="2354081"/>
            <a:ext cx="6903061" cy="3295289"/>
          </a:xfrm>
        </p:spPr>
      </p:pic>
    </p:spTree>
    <p:extLst>
      <p:ext uri="{BB962C8B-B14F-4D97-AF65-F5344CB8AC3E}">
        <p14:creationId xmlns:p14="http://schemas.microsoft.com/office/powerpoint/2010/main" val="199550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14A7-1287-001A-78EB-F978970D9725}"/>
              </a:ext>
            </a:extLst>
          </p:cNvPr>
          <p:cNvSpPr>
            <a:spLocks noGrp="1"/>
          </p:cNvSpPr>
          <p:nvPr>
            <p:ph type="title"/>
          </p:nvPr>
        </p:nvSpPr>
        <p:spPr/>
        <p:txBody>
          <a:bodyPr/>
          <a:lstStyle/>
          <a:p>
            <a:r>
              <a:rPr lang="en-US" dirty="0"/>
              <a:t>Unsupervised learning</a:t>
            </a:r>
          </a:p>
        </p:txBody>
      </p:sp>
      <p:sp>
        <p:nvSpPr>
          <p:cNvPr id="3" name="Content Placeholder 2">
            <a:extLst>
              <a:ext uri="{FF2B5EF4-FFF2-40B4-BE49-F238E27FC236}">
                <a16:creationId xmlns:a16="http://schemas.microsoft.com/office/drawing/2014/main" id="{265E5AEC-F65B-2A04-4F9F-AF5B1A8827DE}"/>
              </a:ext>
            </a:extLst>
          </p:cNvPr>
          <p:cNvSpPr>
            <a:spLocks noGrp="1"/>
          </p:cNvSpPr>
          <p:nvPr>
            <p:ph idx="1"/>
          </p:nvPr>
        </p:nvSpPr>
        <p:spPr>
          <a:xfrm>
            <a:off x="838200" y="1825625"/>
            <a:ext cx="10515600" cy="4667250"/>
          </a:xfrm>
        </p:spPr>
        <p:txBody>
          <a:bodyPr>
            <a:normAutofit fontScale="85000" lnSpcReduction="20000"/>
          </a:bodyPr>
          <a:lstStyle/>
          <a:p>
            <a:r>
              <a:rPr lang="en-GB" dirty="0"/>
              <a:t>Unsupervised learning, on the other hand, involves training the model on an </a:t>
            </a:r>
            <a:r>
              <a:rPr lang="en-GB" dirty="0" err="1"/>
              <a:t>unlabeled</a:t>
            </a:r>
            <a:r>
              <a:rPr lang="en-GB" dirty="0"/>
              <a:t> dataset. The model is left to find patterns and relationships in the data on its own.</a:t>
            </a:r>
          </a:p>
          <a:p>
            <a:r>
              <a:rPr lang="en-GB" dirty="0"/>
              <a:t>This type of learning is often used for clustering and dimensionality reduction. Clustering involves grouping similar data points together, while dimensionality reduction involves reducing the number of random variables under consideration by obtaining a set of principal variables.</a:t>
            </a:r>
          </a:p>
          <a:p>
            <a:r>
              <a:rPr lang="en-GB" dirty="0"/>
              <a:t>Common examples of unsupervised learning algorithms include </a:t>
            </a:r>
            <a:r>
              <a:rPr lang="en-GB" dirty="0">
                <a:hlinkClick r:id="rId2"/>
              </a:rPr>
              <a:t>k-means</a:t>
            </a:r>
            <a:r>
              <a:rPr lang="en-GB" dirty="0"/>
              <a:t> for clustering problems and </a:t>
            </a:r>
            <a:r>
              <a:rPr lang="en-GB" dirty="0">
                <a:hlinkClick r:id="rId3"/>
              </a:rPr>
              <a:t>Principal Component Analysis (PCA)</a:t>
            </a:r>
            <a:r>
              <a:rPr lang="en-GB" dirty="0"/>
              <a:t> for dimensionality reduction problems. Again, in practical terms, in the field of marketing, unsupervised learning is often used to segment a company's customer base. By examining purchasing patterns, demographic data, and other information, the algorithm can group customers into segments that exhibit similar </a:t>
            </a:r>
            <a:r>
              <a:rPr lang="en-GB" dirty="0" err="1"/>
              <a:t>behaviors</a:t>
            </a:r>
            <a:r>
              <a:rPr lang="en-GB" dirty="0"/>
              <a:t> without any pre-existing labels.</a:t>
            </a:r>
            <a:endParaRPr lang="en-US" dirty="0"/>
          </a:p>
        </p:txBody>
      </p:sp>
    </p:spTree>
    <p:extLst>
      <p:ext uri="{BB962C8B-B14F-4D97-AF65-F5344CB8AC3E}">
        <p14:creationId xmlns:p14="http://schemas.microsoft.com/office/powerpoint/2010/main" val="4255931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F46F6-414B-D04C-FB53-C78F94EEF004}"/>
              </a:ext>
            </a:extLst>
          </p:cNvPr>
          <p:cNvSpPr>
            <a:spLocks noGrp="1"/>
          </p:cNvSpPr>
          <p:nvPr>
            <p:ph type="title"/>
          </p:nvPr>
        </p:nvSpPr>
        <p:spPr/>
        <p:txBody>
          <a:bodyPr/>
          <a:lstStyle/>
          <a:p>
            <a:r>
              <a:rPr lang="en-US" dirty="0"/>
              <a:t>Supervised vs Unsupervised Learning</a:t>
            </a:r>
          </a:p>
        </p:txBody>
      </p:sp>
      <p:pic>
        <p:nvPicPr>
          <p:cNvPr id="4" name="Content Placeholder 3">
            <a:extLst>
              <a:ext uri="{FF2B5EF4-FFF2-40B4-BE49-F238E27FC236}">
                <a16:creationId xmlns:a16="http://schemas.microsoft.com/office/drawing/2014/main" id="{34970A00-A257-8CA3-507C-52ADC560588E}"/>
              </a:ext>
            </a:extLst>
          </p:cNvPr>
          <p:cNvPicPr>
            <a:picLocks noGrp="1" noChangeAspect="1"/>
          </p:cNvPicPr>
          <p:nvPr>
            <p:ph idx="1"/>
          </p:nvPr>
        </p:nvPicPr>
        <p:blipFill>
          <a:blip r:embed="rId2"/>
          <a:srcRect t="27158"/>
          <a:stretch/>
        </p:blipFill>
        <p:spPr>
          <a:xfrm>
            <a:off x="999009" y="1940403"/>
            <a:ext cx="10193982" cy="3708082"/>
          </a:xfrm>
          <a:prstGeom prst="rect">
            <a:avLst/>
          </a:prstGeom>
        </p:spPr>
      </p:pic>
    </p:spTree>
    <p:extLst>
      <p:ext uri="{BB962C8B-B14F-4D97-AF65-F5344CB8AC3E}">
        <p14:creationId xmlns:p14="http://schemas.microsoft.com/office/powerpoint/2010/main" val="587802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5DC2D-593C-8473-EFAC-BC3232BE167F}"/>
              </a:ext>
            </a:extLst>
          </p:cNvPr>
          <p:cNvSpPr>
            <a:spLocks noGrp="1"/>
          </p:cNvSpPr>
          <p:nvPr>
            <p:ph type="title"/>
          </p:nvPr>
        </p:nvSpPr>
        <p:spPr/>
        <p:txBody>
          <a:bodyPr/>
          <a:lstStyle/>
          <a:p>
            <a:r>
              <a:rPr lang="en-US" dirty="0"/>
              <a:t>Reinforcement learning</a:t>
            </a:r>
          </a:p>
        </p:txBody>
      </p:sp>
      <p:sp>
        <p:nvSpPr>
          <p:cNvPr id="3" name="Content Placeholder 2">
            <a:extLst>
              <a:ext uri="{FF2B5EF4-FFF2-40B4-BE49-F238E27FC236}">
                <a16:creationId xmlns:a16="http://schemas.microsoft.com/office/drawing/2014/main" id="{43470505-C3A8-1DB9-3525-92994918F3EB}"/>
              </a:ext>
            </a:extLst>
          </p:cNvPr>
          <p:cNvSpPr>
            <a:spLocks noGrp="1"/>
          </p:cNvSpPr>
          <p:nvPr>
            <p:ph idx="1"/>
          </p:nvPr>
        </p:nvSpPr>
        <p:spPr/>
        <p:txBody>
          <a:bodyPr>
            <a:normAutofit lnSpcReduction="10000"/>
          </a:bodyPr>
          <a:lstStyle/>
          <a:p>
            <a:r>
              <a:rPr lang="en-GB" dirty="0"/>
              <a:t>Reinforcement learning is a type of machine learning where an agent learns to make decisions by interacting with its environment. The agent is rewarded or penalized (with points) for the actions it takes, and its goal is to maximize the total reward.</a:t>
            </a:r>
          </a:p>
          <a:p>
            <a:r>
              <a:rPr lang="en-GB" dirty="0"/>
              <a:t>Unlike supervised and unsupervised learning, reinforcement learning is particularly suited to problems where the data is sequential, and the decision made at each step can affect future outcomes.</a:t>
            </a:r>
          </a:p>
          <a:p>
            <a:r>
              <a:rPr lang="en-GB" dirty="0"/>
              <a:t>Common examples of reinforcement learning include game playing, robotics, resource management, and many more.</a:t>
            </a:r>
            <a:endParaRPr lang="en-US" dirty="0"/>
          </a:p>
        </p:txBody>
      </p:sp>
    </p:spTree>
    <p:extLst>
      <p:ext uri="{BB962C8B-B14F-4D97-AF65-F5344CB8AC3E}">
        <p14:creationId xmlns:p14="http://schemas.microsoft.com/office/powerpoint/2010/main" val="1570387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4C735-8E81-2480-ED46-6DEC1C27D742}"/>
              </a:ext>
            </a:extLst>
          </p:cNvPr>
          <p:cNvSpPr>
            <a:spLocks noGrp="1"/>
          </p:cNvSpPr>
          <p:nvPr>
            <p:ph type="title"/>
          </p:nvPr>
        </p:nvSpPr>
        <p:spPr/>
        <p:txBody>
          <a:bodyPr/>
          <a:lstStyle/>
          <a:p>
            <a:r>
              <a:rPr lang="en-US" dirty="0"/>
              <a:t>Reinforcement learning</a:t>
            </a:r>
          </a:p>
        </p:txBody>
      </p:sp>
      <p:pic>
        <p:nvPicPr>
          <p:cNvPr id="1026" name="Picture 2" descr="Reinforcement Learning Algorithms and Applications - TechVidvan">
            <a:extLst>
              <a:ext uri="{FF2B5EF4-FFF2-40B4-BE49-F238E27FC236}">
                <a16:creationId xmlns:a16="http://schemas.microsoft.com/office/drawing/2014/main" id="{3479223F-E28B-18B5-0135-A2F3B31434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8671" y="1825625"/>
            <a:ext cx="831465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9857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FCBF-64BA-BE1C-89F2-96FBE1CE2B0D}"/>
              </a:ext>
            </a:extLst>
          </p:cNvPr>
          <p:cNvSpPr>
            <a:spLocks noGrp="1"/>
          </p:cNvSpPr>
          <p:nvPr>
            <p:ph type="title"/>
          </p:nvPr>
        </p:nvSpPr>
        <p:spPr/>
        <p:txBody>
          <a:bodyPr/>
          <a:lstStyle/>
          <a:p>
            <a:r>
              <a:rPr lang="en-US" dirty="0"/>
              <a:t>Machine Learning Tools</a:t>
            </a:r>
          </a:p>
        </p:txBody>
      </p:sp>
      <p:sp>
        <p:nvSpPr>
          <p:cNvPr id="3" name="Content Placeholder 2">
            <a:extLst>
              <a:ext uri="{FF2B5EF4-FFF2-40B4-BE49-F238E27FC236}">
                <a16:creationId xmlns:a16="http://schemas.microsoft.com/office/drawing/2014/main" id="{9FFD3FEE-0A86-73EE-6DF1-961E86FA5375}"/>
              </a:ext>
            </a:extLst>
          </p:cNvPr>
          <p:cNvSpPr>
            <a:spLocks noGrp="1"/>
          </p:cNvSpPr>
          <p:nvPr>
            <p:ph idx="1"/>
          </p:nvPr>
        </p:nvSpPr>
        <p:spPr/>
        <p:txBody>
          <a:bodyPr/>
          <a:lstStyle/>
          <a:p>
            <a:r>
              <a:rPr lang="en-GB" dirty="0"/>
              <a:t>In the world of machine learning, having the right tools is just as important as understanding the concepts. These tools, which include programming languages and libraries, provide the building blocks to implement and deploy machine learning algorithms. Let's explore some of the most popular tools in machine learning:</a:t>
            </a:r>
            <a:endParaRPr lang="en-US" dirty="0"/>
          </a:p>
        </p:txBody>
      </p:sp>
    </p:spTree>
    <p:extLst>
      <p:ext uri="{BB962C8B-B14F-4D97-AF65-F5344CB8AC3E}">
        <p14:creationId xmlns:p14="http://schemas.microsoft.com/office/powerpoint/2010/main" val="3079760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E4D-7C03-4584-4745-A5E1DEAD299A}"/>
              </a:ext>
            </a:extLst>
          </p:cNvPr>
          <p:cNvSpPr>
            <a:spLocks noGrp="1"/>
          </p:cNvSpPr>
          <p:nvPr>
            <p:ph type="title"/>
          </p:nvPr>
        </p:nvSpPr>
        <p:spPr/>
        <p:txBody>
          <a:bodyPr/>
          <a:lstStyle/>
          <a:p>
            <a:r>
              <a:rPr lang="en-US" dirty="0"/>
              <a:t>Machine Learning Tools</a:t>
            </a:r>
          </a:p>
        </p:txBody>
      </p:sp>
      <p:sp>
        <p:nvSpPr>
          <p:cNvPr id="3" name="Content Placeholder 2">
            <a:extLst>
              <a:ext uri="{FF2B5EF4-FFF2-40B4-BE49-F238E27FC236}">
                <a16:creationId xmlns:a16="http://schemas.microsoft.com/office/drawing/2014/main" id="{77501685-0D44-DC89-0FCE-AC071941FA11}"/>
              </a:ext>
            </a:extLst>
          </p:cNvPr>
          <p:cNvSpPr>
            <a:spLocks noGrp="1"/>
          </p:cNvSpPr>
          <p:nvPr>
            <p:ph idx="1"/>
          </p:nvPr>
        </p:nvSpPr>
        <p:spPr/>
        <p:txBody>
          <a:bodyPr/>
          <a:lstStyle/>
          <a:p>
            <a:r>
              <a:rPr lang="en-US" dirty="0"/>
              <a:t>Python for machine learning</a:t>
            </a:r>
          </a:p>
          <a:p>
            <a:pPr lvl="1"/>
            <a:r>
              <a:rPr lang="en-GB" dirty="0">
                <a:hlinkClick r:id="rId2"/>
              </a:rPr>
              <a:t>Python</a:t>
            </a:r>
            <a:r>
              <a:rPr lang="en-GB" dirty="0"/>
              <a:t> is a popular language for machine learning due to its simplicity and readability, making it a great choice for beginners. It also has a strong ecosystem of libraries that are tailored for machine learning.</a:t>
            </a:r>
          </a:p>
          <a:p>
            <a:pPr lvl="1"/>
            <a:r>
              <a:rPr lang="en-GB" dirty="0"/>
              <a:t>Libraries such as NumPy and Pandas are used for data manipulation and analysis, while Matplotlib is used for data visualization. Scikit-learn provides a wide range of machine learning algorithms, and TensorFlow and PyTorch are used for building and training neural networks.</a:t>
            </a:r>
            <a:endParaRPr lang="en-US" dirty="0"/>
          </a:p>
        </p:txBody>
      </p:sp>
    </p:spTree>
    <p:extLst>
      <p:ext uri="{BB962C8B-B14F-4D97-AF65-F5344CB8AC3E}">
        <p14:creationId xmlns:p14="http://schemas.microsoft.com/office/powerpoint/2010/main" val="810833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DF8B7-3D5A-5D7C-A558-3112600837DB}"/>
              </a:ext>
            </a:extLst>
          </p:cNvPr>
          <p:cNvSpPr>
            <a:spLocks noGrp="1"/>
          </p:cNvSpPr>
          <p:nvPr>
            <p:ph type="title"/>
          </p:nvPr>
        </p:nvSpPr>
        <p:spPr/>
        <p:txBody>
          <a:bodyPr/>
          <a:lstStyle/>
          <a:p>
            <a:r>
              <a:rPr lang="en-US" dirty="0"/>
              <a:t>Machine Learning Tools</a:t>
            </a:r>
          </a:p>
        </p:txBody>
      </p:sp>
      <p:sp>
        <p:nvSpPr>
          <p:cNvPr id="3" name="Content Placeholder 2">
            <a:extLst>
              <a:ext uri="{FF2B5EF4-FFF2-40B4-BE49-F238E27FC236}">
                <a16:creationId xmlns:a16="http://schemas.microsoft.com/office/drawing/2014/main" id="{F5FE96F1-EE4C-80D0-0B01-0E3523A50334}"/>
              </a:ext>
            </a:extLst>
          </p:cNvPr>
          <p:cNvSpPr>
            <a:spLocks noGrp="1"/>
          </p:cNvSpPr>
          <p:nvPr>
            <p:ph idx="1"/>
          </p:nvPr>
        </p:nvSpPr>
        <p:spPr/>
        <p:txBody>
          <a:bodyPr/>
          <a:lstStyle/>
          <a:p>
            <a:r>
              <a:rPr lang="en-US" dirty="0"/>
              <a:t>TensorFlow</a:t>
            </a:r>
          </a:p>
          <a:p>
            <a:pPr lvl="1"/>
            <a:r>
              <a:rPr lang="en-GB" dirty="0">
                <a:hlinkClick r:id="rId2"/>
              </a:rPr>
              <a:t>TensorFlow</a:t>
            </a:r>
            <a:r>
              <a:rPr lang="en-GB" dirty="0"/>
              <a:t> is a powerful open-source library for numerical computation, particularly well-suited for large-scale machine learning. It was developed by the Google Brain team and supports both CPUs and GPUs.</a:t>
            </a:r>
          </a:p>
          <a:p>
            <a:pPr lvl="1"/>
            <a:r>
              <a:rPr lang="en-GB" dirty="0"/>
              <a:t>TensorFlow allows you to build and train complex neural networks, making it a popular choice for deep learning applications.</a:t>
            </a:r>
            <a:endParaRPr lang="en-US" dirty="0"/>
          </a:p>
        </p:txBody>
      </p:sp>
    </p:spTree>
    <p:extLst>
      <p:ext uri="{BB962C8B-B14F-4D97-AF65-F5344CB8AC3E}">
        <p14:creationId xmlns:p14="http://schemas.microsoft.com/office/powerpoint/2010/main" val="1370145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1913-67F8-68CA-F0A8-EA13FF94E9CA}"/>
              </a:ext>
            </a:extLst>
          </p:cNvPr>
          <p:cNvSpPr>
            <a:spLocks noGrp="1"/>
          </p:cNvSpPr>
          <p:nvPr>
            <p:ph type="title"/>
          </p:nvPr>
        </p:nvSpPr>
        <p:spPr/>
        <p:txBody>
          <a:bodyPr/>
          <a:lstStyle/>
          <a:p>
            <a:r>
              <a:rPr lang="en-US" dirty="0"/>
              <a:t>Machine Learning Tools</a:t>
            </a:r>
          </a:p>
        </p:txBody>
      </p:sp>
      <p:sp>
        <p:nvSpPr>
          <p:cNvPr id="3" name="Content Placeholder 2">
            <a:extLst>
              <a:ext uri="{FF2B5EF4-FFF2-40B4-BE49-F238E27FC236}">
                <a16:creationId xmlns:a16="http://schemas.microsoft.com/office/drawing/2014/main" id="{BC26D106-0C8A-D55A-584A-B735DADEA039}"/>
              </a:ext>
            </a:extLst>
          </p:cNvPr>
          <p:cNvSpPr>
            <a:spLocks noGrp="1"/>
          </p:cNvSpPr>
          <p:nvPr>
            <p:ph idx="1"/>
          </p:nvPr>
        </p:nvSpPr>
        <p:spPr/>
        <p:txBody>
          <a:bodyPr/>
          <a:lstStyle/>
          <a:p>
            <a:r>
              <a:rPr lang="en-US" dirty="0" err="1"/>
              <a:t>PyTorch</a:t>
            </a:r>
            <a:endParaRPr lang="en-US" dirty="0"/>
          </a:p>
          <a:p>
            <a:pPr lvl="1"/>
            <a:r>
              <a:rPr lang="en-GB" dirty="0">
                <a:hlinkClick r:id="rId2"/>
              </a:rPr>
              <a:t>PyTorch</a:t>
            </a:r>
            <a:r>
              <a:rPr lang="en-GB" dirty="0"/>
              <a:t> is an open-source machine learning library based on the Torch library. It's known for its flexibility and efficiency, making it popular among researchers.</a:t>
            </a:r>
          </a:p>
          <a:p>
            <a:pPr lvl="1"/>
            <a:r>
              <a:rPr lang="en-GB" dirty="0"/>
              <a:t>PyTorch supports a wide range of applications, from computer vision to natural language processing. One of its key features is the dynamic computational graph, which allows for flexible and optimized computation.</a:t>
            </a:r>
            <a:endParaRPr lang="en-US" dirty="0"/>
          </a:p>
        </p:txBody>
      </p:sp>
    </p:spTree>
    <p:extLst>
      <p:ext uri="{BB962C8B-B14F-4D97-AF65-F5344CB8AC3E}">
        <p14:creationId xmlns:p14="http://schemas.microsoft.com/office/powerpoint/2010/main" val="327093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422F-0503-B3CC-078F-E539F5A4450F}"/>
              </a:ext>
            </a:extLst>
          </p:cNvPr>
          <p:cNvSpPr>
            <a:spLocks noGrp="1"/>
          </p:cNvSpPr>
          <p:nvPr>
            <p:ph type="title"/>
          </p:nvPr>
        </p:nvSpPr>
        <p:spPr/>
        <p:txBody>
          <a:bodyPr/>
          <a:lstStyle/>
          <a:p>
            <a:r>
              <a:rPr lang="en-US" dirty="0"/>
              <a:t>Machine Learning Tools</a:t>
            </a:r>
          </a:p>
        </p:txBody>
      </p:sp>
      <p:sp>
        <p:nvSpPr>
          <p:cNvPr id="3" name="Content Placeholder 2">
            <a:extLst>
              <a:ext uri="{FF2B5EF4-FFF2-40B4-BE49-F238E27FC236}">
                <a16:creationId xmlns:a16="http://schemas.microsoft.com/office/drawing/2014/main" id="{3329F552-8045-D6BA-68EC-939EF41B2375}"/>
              </a:ext>
            </a:extLst>
          </p:cNvPr>
          <p:cNvSpPr>
            <a:spLocks noGrp="1"/>
          </p:cNvSpPr>
          <p:nvPr>
            <p:ph idx="1"/>
          </p:nvPr>
        </p:nvSpPr>
        <p:spPr/>
        <p:txBody>
          <a:bodyPr/>
          <a:lstStyle/>
          <a:p>
            <a:r>
              <a:rPr lang="en-US" dirty="0"/>
              <a:t>Scikit-learn</a:t>
            </a:r>
          </a:p>
          <a:p>
            <a:pPr lvl="1"/>
            <a:r>
              <a:rPr lang="en-GB" dirty="0">
                <a:hlinkClick r:id="rId2"/>
              </a:rPr>
              <a:t>Scikit-learn</a:t>
            </a:r>
            <a:r>
              <a:rPr lang="en-GB" dirty="0"/>
              <a:t> is a Python library that provides a wide range of machine learning algorithms for both supervised and unsupervised learning. It's known for its clear API and detailed documentation.</a:t>
            </a:r>
          </a:p>
          <a:p>
            <a:pPr lvl="1"/>
            <a:r>
              <a:rPr lang="en-GB" dirty="0"/>
              <a:t>Scikit-learn is often used for data mining and data analysis, and it integrates well with other Python libraries like NumPy and Pandas.</a:t>
            </a:r>
            <a:endParaRPr lang="en-US" dirty="0"/>
          </a:p>
        </p:txBody>
      </p:sp>
    </p:spTree>
    <p:extLst>
      <p:ext uri="{BB962C8B-B14F-4D97-AF65-F5344CB8AC3E}">
        <p14:creationId xmlns:p14="http://schemas.microsoft.com/office/powerpoint/2010/main" val="344364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0E192-38CF-77A2-59A9-95A7DE48C406}"/>
              </a:ext>
            </a:extLst>
          </p:cNvPr>
          <p:cNvSpPr>
            <a:spLocks noGrp="1"/>
          </p:cNvSpPr>
          <p:nvPr>
            <p:ph type="title"/>
          </p:nvPr>
        </p:nvSpPr>
        <p:spPr/>
        <p:txBody>
          <a:bodyPr/>
          <a:lstStyle/>
          <a:p>
            <a:r>
              <a:rPr lang="en-US" dirty="0"/>
              <a:t>Machine Learning Tools</a:t>
            </a:r>
          </a:p>
        </p:txBody>
      </p:sp>
      <p:sp>
        <p:nvSpPr>
          <p:cNvPr id="3" name="Content Placeholder 2">
            <a:extLst>
              <a:ext uri="{FF2B5EF4-FFF2-40B4-BE49-F238E27FC236}">
                <a16:creationId xmlns:a16="http://schemas.microsoft.com/office/drawing/2014/main" id="{ADF8E0B3-8855-8604-D3BF-484953811047}"/>
              </a:ext>
            </a:extLst>
          </p:cNvPr>
          <p:cNvSpPr>
            <a:spLocks noGrp="1"/>
          </p:cNvSpPr>
          <p:nvPr>
            <p:ph idx="1"/>
          </p:nvPr>
        </p:nvSpPr>
        <p:spPr/>
        <p:txBody>
          <a:bodyPr/>
          <a:lstStyle/>
          <a:p>
            <a:r>
              <a:rPr lang="en-US" dirty="0" err="1"/>
              <a:t>Keras</a:t>
            </a:r>
            <a:endParaRPr lang="en-US" dirty="0"/>
          </a:p>
          <a:p>
            <a:pPr lvl="1"/>
            <a:r>
              <a:rPr lang="en-GB" dirty="0">
                <a:hlinkClick r:id="rId2"/>
              </a:rPr>
              <a:t>Keras</a:t>
            </a:r>
            <a:r>
              <a:rPr lang="en-GB" dirty="0"/>
              <a:t> is a high-level neural networks API, written in Python and capable of running on top of TensorFlow, CNTK, or Theano. It was developed with a focus on enabling fast experimentation.</a:t>
            </a:r>
          </a:p>
          <a:p>
            <a:pPr lvl="1"/>
            <a:r>
              <a:rPr lang="en-GB" dirty="0"/>
              <a:t>Keras provides a user-friendly interface for building and training neural networks, making it a great choice for beginners in deep learning.</a:t>
            </a:r>
            <a:endParaRPr lang="en-US" dirty="0"/>
          </a:p>
        </p:txBody>
      </p:sp>
    </p:spTree>
    <p:extLst>
      <p:ext uri="{BB962C8B-B14F-4D97-AF65-F5344CB8AC3E}">
        <p14:creationId xmlns:p14="http://schemas.microsoft.com/office/powerpoint/2010/main" val="2792199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724E8-2FDB-7819-9046-394AD1E03339}"/>
              </a:ext>
            </a:extLst>
          </p:cNvPr>
          <p:cNvSpPr>
            <a:spLocks noGrp="1"/>
          </p:cNvSpPr>
          <p:nvPr>
            <p:ph type="title"/>
          </p:nvPr>
        </p:nvSpPr>
        <p:spPr/>
        <p:txBody>
          <a:bodyPr/>
          <a:lstStyle/>
          <a:p>
            <a:r>
              <a:rPr lang="en-US" dirty="0"/>
              <a:t>Kaggle</a:t>
            </a:r>
          </a:p>
        </p:txBody>
      </p:sp>
      <p:sp>
        <p:nvSpPr>
          <p:cNvPr id="3" name="Content Placeholder 2">
            <a:extLst>
              <a:ext uri="{FF2B5EF4-FFF2-40B4-BE49-F238E27FC236}">
                <a16:creationId xmlns:a16="http://schemas.microsoft.com/office/drawing/2014/main" id="{9B269F96-ACB5-3584-767E-4706C64ECC6D}"/>
              </a:ext>
            </a:extLst>
          </p:cNvPr>
          <p:cNvSpPr>
            <a:spLocks noGrp="1"/>
          </p:cNvSpPr>
          <p:nvPr>
            <p:ph idx="1"/>
          </p:nvPr>
        </p:nvSpPr>
        <p:spPr/>
        <p:txBody>
          <a:bodyPr/>
          <a:lstStyle/>
          <a:p>
            <a:r>
              <a:rPr lang="en-GB" dirty="0">
                <a:hlinkClick r:id="rId2"/>
              </a:rPr>
              <a:t>Kaggle</a:t>
            </a:r>
            <a:r>
              <a:rPr lang="en-GB" dirty="0"/>
              <a:t> is a data science competition platform and online community for data scientists and machine learning practitioners under Google LLC. Kaggle enables users to find and publish datasets, explore and build models in a web-based data science environment, work with other data scientists and machine learning engineers, and enter competitions to solve data science challenges.</a:t>
            </a:r>
            <a:endParaRPr lang="en-US" dirty="0"/>
          </a:p>
        </p:txBody>
      </p:sp>
    </p:spTree>
    <p:extLst>
      <p:ext uri="{BB962C8B-B14F-4D97-AF65-F5344CB8AC3E}">
        <p14:creationId xmlns:p14="http://schemas.microsoft.com/office/powerpoint/2010/main" val="3606221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1CC19-B53F-FF26-27B7-5D4CDBA93714}"/>
              </a:ext>
            </a:extLst>
          </p:cNvPr>
          <p:cNvSpPr>
            <a:spLocks noGrp="1"/>
          </p:cNvSpPr>
          <p:nvPr>
            <p:ph idx="1"/>
          </p:nvPr>
        </p:nvSpPr>
        <p:spPr/>
        <p:txBody>
          <a:bodyPr/>
          <a:lstStyle/>
          <a:p>
            <a:r>
              <a:rPr lang="en-US" dirty="0"/>
              <a:t>Thanks</a:t>
            </a:r>
          </a:p>
        </p:txBody>
      </p:sp>
    </p:spTree>
    <p:extLst>
      <p:ext uri="{BB962C8B-B14F-4D97-AF65-F5344CB8AC3E}">
        <p14:creationId xmlns:p14="http://schemas.microsoft.com/office/powerpoint/2010/main" val="2519887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2500</Words>
  <Application>Microsoft Office PowerPoint</Application>
  <PresentationFormat>Widescreen</PresentationFormat>
  <Paragraphs>162</Paragraphs>
  <Slides>36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Century Schoolbook</vt:lpstr>
      <vt:lpstr>Office Theme</vt:lpstr>
      <vt:lpstr>Introduction to Machine Learning</vt:lpstr>
      <vt:lpstr>What is learning?</vt:lpstr>
      <vt:lpstr>Machine learning</vt:lpstr>
      <vt:lpstr>Comparison with traditional programming</vt:lpstr>
      <vt:lpstr>Comparison with traditional programming</vt:lpstr>
      <vt:lpstr>When do we use Machine Learning?</vt:lpstr>
      <vt:lpstr>Example</vt:lpstr>
      <vt:lpstr>Examples</vt:lpstr>
      <vt:lpstr>Machine learning vs AI vs deep learning</vt:lpstr>
      <vt:lpstr>PowerPoint Presentation</vt:lpstr>
      <vt:lpstr>How Does Machine Learning Work?</vt:lpstr>
      <vt:lpstr>PowerPoint Presentation</vt:lpstr>
      <vt:lpstr>Step 1: Project Setup</vt:lpstr>
      <vt:lpstr>Step 2: Data preparation</vt:lpstr>
      <vt:lpstr>Step 2: Data preparation (cont.)</vt:lpstr>
      <vt:lpstr>Step 3: Modeling</vt:lpstr>
      <vt:lpstr>Step 3: Modeling (cont.)</vt:lpstr>
      <vt:lpstr>Step 3: Modeling (cont.)</vt:lpstr>
      <vt:lpstr>Step 4: Deployment</vt:lpstr>
      <vt:lpstr>Types of Machine Learning</vt:lpstr>
      <vt:lpstr>Supervised learning</vt:lpstr>
      <vt:lpstr>Supervised learning</vt:lpstr>
      <vt:lpstr>Regression vs. Classification</vt:lpstr>
      <vt:lpstr>Regression vs. Classification</vt:lpstr>
      <vt:lpstr>Unsupervised learning</vt:lpstr>
      <vt:lpstr>Supervised vs Unsupervised Learning</vt:lpstr>
      <vt:lpstr>Reinforcement learning</vt:lpstr>
      <vt:lpstr>Reinforcement learning</vt:lpstr>
      <vt:lpstr>Machine Learning Tools</vt:lpstr>
      <vt:lpstr>Machine Learning Tools</vt:lpstr>
      <vt:lpstr>Machine Learning Tools</vt:lpstr>
      <vt:lpstr>Machine Learning Tools</vt:lpstr>
      <vt:lpstr>Machine Learning Tools</vt:lpstr>
      <vt:lpstr>Machine Learning Tools</vt:lpstr>
      <vt:lpstr>Kaggle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83</cp:revision>
  <dcterms:created xsi:type="dcterms:W3CDTF">2024-10-15T07:43:26Z</dcterms:created>
  <dcterms:modified xsi:type="dcterms:W3CDTF">2024-10-15T09:44:40Z</dcterms:modified>
</cp:coreProperties>
</file>