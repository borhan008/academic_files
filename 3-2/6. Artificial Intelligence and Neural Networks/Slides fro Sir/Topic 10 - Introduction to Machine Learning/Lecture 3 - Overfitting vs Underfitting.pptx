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1C6A-4BF8-1B47-3EF0-699C22A628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DB844-9C05-3D57-5B92-DD5E10F77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4A01C2-249A-0898-99CB-757A2E1D7A3A}"/>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2AE9504C-2C47-61CD-22D7-D08CE9790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D97FB-240F-06B3-3D10-08A6256D8D26}"/>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3565480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5353-3446-0282-0063-999919DE68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64D782-CCDD-C588-96DC-F7E5840A92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4CD3BF-1B5A-A99F-0ACF-9AA8E2FAB88E}"/>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6FE873BC-9587-4154-78DD-117182970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BF4118-96BD-FD8E-C0ED-27DC68AC08F8}"/>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3079392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A0D0B-D8D8-CE10-610F-66F955DD84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98CC36-095F-89C0-B9C5-AFBAB9FC36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15C254-5810-2977-A342-B21A88BBC19F}"/>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EF8A9655-735C-9CDF-5EF3-EE1D96E44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8A137-09E2-306E-82C9-415AF7CF884E}"/>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1661406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49F28-B217-E49F-0B11-085F717F70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997D9D-B7F2-AAF2-439D-BAB51B4F20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B70FD7-DFED-EA65-69C1-2905AC296E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EB0AD5-4E5C-7D94-2262-3F315A1EC04F}"/>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6" name="Footer Placeholder 5">
            <a:extLst>
              <a:ext uri="{FF2B5EF4-FFF2-40B4-BE49-F238E27FC236}">
                <a16:creationId xmlns:a16="http://schemas.microsoft.com/office/drawing/2014/main" id="{3BB43B69-4571-822A-522A-ACBA614A9E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116B1-584B-E4B2-736E-6ED227DAEF33}"/>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240779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3A59C-6781-41E3-E925-3C4270866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5ECC22-4305-D800-65D9-1A87555FFC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005BA6-D85D-5365-5BF1-09AC170F1D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935F16-6D08-4A69-303F-2DD1549A25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CD478-CD43-9436-84E3-55A1E75C22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C50F7E-9AC5-5098-AB23-6DCEFB39A8AC}"/>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8" name="Footer Placeholder 7">
            <a:extLst>
              <a:ext uri="{FF2B5EF4-FFF2-40B4-BE49-F238E27FC236}">
                <a16:creationId xmlns:a16="http://schemas.microsoft.com/office/drawing/2014/main" id="{8E96691B-A86C-9B44-7054-90C9162B2D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791ACD-80BA-60AD-F9A7-0EE3186032B0}"/>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421354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18D52-797B-B31B-4CAC-700F19BF2F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B2ACDC-B271-D7A8-8046-FBC48F8564FC}"/>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4" name="Footer Placeholder 3">
            <a:extLst>
              <a:ext uri="{FF2B5EF4-FFF2-40B4-BE49-F238E27FC236}">
                <a16:creationId xmlns:a16="http://schemas.microsoft.com/office/drawing/2014/main" id="{E3F148E7-FDC4-9215-167F-DEF35A5FD2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D7BBEF-ED7C-6CB6-4672-42B98E201D3D}"/>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355034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DF8B21-2736-2A20-4379-183FA15E11E8}"/>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3" name="Footer Placeholder 2">
            <a:extLst>
              <a:ext uri="{FF2B5EF4-FFF2-40B4-BE49-F238E27FC236}">
                <a16:creationId xmlns:a16="http://schemas.microsoft.com/office/drawing/2014/main" id="{E515AE96-2A91-82EA-83E5-14338A0604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DF0E64-CBE4-47DC-B4DD-AD129E1BA125}"/>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918814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39A1-90A8-A801-0547-CDB164561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44A639-414B-0F2F-D036-E1EF1A157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B330A-2983-DD7B-6FFE-F00BBC2D6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F716AE-76FD-E96F-E04A-7E19D9E442E1}"/>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6" name="Footer Placeholder 5">
            <a:extLst>
              <a:ext uri="{FF2B5EF4-FFF2-40B4-BE49-F238E27FC236}">
                <a16:creationId xmlns:a16="http://schemas.microsoft.com/office/drawing/2014/main" id="{1EA42ED1-F378-930D-AEA3-BA4CDA34AA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EFA4DE-392A-CC02-FEE2-7F94262F5533}"/>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4133036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4462-B4F4-F18E-1F2D-7E717B4453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2A1FEA-1A0F-F1DF-5261-503F6391A0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B8681B-D842-3F17-87DC-F6313EFD5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4437F-9573-EE99-DA29-51E1ADC72EC5}"/>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6" name="Footer Placeholder 5">
            <a:extLst>
              <a:ext uri="{FF2B5EF4-FFF2-40B4-BE49-F238E27FC236}">
                <a16:creationId xmlns:a16="http://schemas.microsoft.com/office/drawing/2014/main" id="{EE95E302-DCCB-8857-5525-D9E26A10E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5E02D3-AFF0-C948-356E-A79D020635B4}"/>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267778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7974-7A89-863D-DAE7-A2AC924D20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F2EF50-B82D-52AA-1161-25D53BE58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858BF-58C8-EF76-9147-678C58A312E7}"/>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53991B14-A1E7-76C1-C6B1-63EEDB6DB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F9AE6-1D1A-6E50-10FD-893BA5A1F137}"/>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1091741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385FBA-35F5-A51E-9F41-2E8C324317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F996D3-138A-DC62-AA4E-F140BEF277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47CBA-BA25-F804-9A98-271564CDED5E}"/>
              </a:ext>
            </a:extLst>
          </p:cNvPr>
          <p:cNvSpPr>
            <a:spLocks noGrp="1"/>
          </p:cNvSpPr>
          <p:nvPr>
            <p:ph type="dt" sz="half" idx="10"/>
          </p:nvPr>
        </p:nvSpPr>
        <p:spPr/>
        <p:txBody>
          <a:body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B2A51839-0B1D-3567-3AE1-B16242E340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4C61E-4A6F-DFB8-7200-46B9BA7AA996}"/>
              </a:ext>
            </a:extLst>
          </p:cNvPr>
          <p:cNvSpPr>
            <a:spLocks noGrp="1"/>
          </p:cNvSpPr>
          <p:nvPr>
            <p:ph type="sldNum" sz="quarter" idx="12"/>
          </p:nvPr>
        </p:nvSpPr>
        <p:spPr/>
        <p:txBody>
          <a:bodyPr/>
          <a:lstStyle/>
          <a:p>
            <a:fld id="{99922316-B05F-4B8E-B973-E1BBF436F0AC}" type="slidenum">
              <a:rPr lang="en-US" smtClean="0"/>
              <a:t>‹#›</a:t>
            </a:fld>
            <a:endParaRPr lang="en-US"/>
          </a:p>
        </p:txBody>
      </p:sp>
    </p:spTree>
    <p:extLst>
      <p:ext uri="{BB962C8B-B14F-4D97-AF65-F5344CB8AC3E}">
        <p14:creationId xmlns:p14="http://schemas.microsoft.com/office/powerpoint/2010/main" val="85828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FB6E14-2BC1-D9E1-53A7-09655A467A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E0EBC9-833D-4DBC-EBE5-CEE669A93F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794BF-460D-329F-075F-0561E27988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8CE57-2252-4517-A683-47CE50F2E9B5}" type="datetimeFigureOut">
              <a:rPr lang="en-US" smtClean="0"/>
              <a:t>10/15/2024</a:t>
            </a:fld>
            <a:endParaRPr lang="en-US"/>
          </a:p>
        </p:txBody>
      </p:sp>
      <p:sp>
        <p:nvSpPr>
          <p:cNvPr id="5" name="Footer Placeholder 4">
            <a:extLst>
              <a:ext uri="{FF2B5EF4-FFF2-40B4-BE49-F238E27FC236}">
                <a16:creationId xmlns:a16="http://schemas.microsoft.com/office/drawing/2014/main" id="{E16C2EA3-D512-246C-A89E-6848060D1B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B0A529-5415-437A-E79B-3CC9EE92CE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922316-B05F-4B8E-B973-E1BBF436F0AC}" type="slidenum">
              <a:rPr lang="en-US" smtClean="0"/>
              <a:t>‹#›</a:t>
            </a:fld>
            <a:endParaRPr lang="en-US"/>
          </a:p>
        </p:txBody>
      </p:sp>
    </p:spTree>
    <p:extLst>
      <p:ext uri="{BB962C8B-B14F-4D97-AF65-F5344CB8AC3E}">
        <p14:creationId xmlns:p14="http://schemas.microsoft.com/office/powerpoint/2010/main" val="30225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lasso-vs-ridge-vs-elastic-net-ml/" TargetMode="External"/><Relationship Id="rId2" Type="http://schemas.openxmlformats.org/officeDocument/2006/relationships/hyperlink" Target="https://www.geeksforgeeks.org/regularization-by-early-stopping/" TargetMode="External"/><Relationship Id="rId1" Type="http://schemas.openxmlformats.org/officeDocument/2006/relationships/slideLayout" Target="../slideLayouts/slideLayout2.xml"/><Relationship Id="rId5" Type="http://schemas.openxmlformats.org/officeDocument/2006/relationships/hyperlink" Target="https://www.geeksforgeeks.org/dropout-in-neural-networks/" TargetMode="External"/><Relationship Id="rId4" Type="http://schemas.openxmlformats.org/officeDocument/2006/relationships/hyperlink" Target="https://www.geeksforgeeks.org/implementation-of-lasso-regression-from-scratch-using-pyth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13B99-422E-F534-9869-10D6DF05E57D}"/>
              </a:ext>
            </a:extLst>
          </p:cNvPr>
          <p:cNvSpPr>
            <a:spLocks noGrp="1"/>
          </p:cNvSpPr>
          <p:nvPr>
            <p:ph type="ctrTitle"/>
          </p:nvPr>
        </p:nvSpPr>
        <p:spPr/>
        <p:txBody>
          <a:bodyPr/>
          <a:lstStyle/>
          <a:p>
            <a:r>
              <a:rPr lang="en-US" dirty="0"/>
              <a:t>Underfitting and Overfitting in ML</a:t>
            </a:r>
          </a:p>
        </p:txBody>
      </p:sp>
      <p:sp>
        <p:nvSpPr>
          <p:cNvPr id="3" name="Subtitle 2">
            <a:extLst>
              <a:ext uri="{FF2B5EF4-FFF2-40B4-BE49-F238E27FC236}">
                <a16:creationId xmlns:a16="http://schemas.microsoft.com/office/drawing/2014/main" id="{A15D49B9-963A-3778-D07B-3A07D1E89C78}"/>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4083817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60BFF-BA27-C3B7-E18E-C4117709AF2F}"/>
              </a:ext>
            </a:extLst>
          </p:cNvPr>
          <p:cNvSpPr>
            <a:spLocks noGrp="1"/>
          </p:cNvSpPr>
          <p:nvPr>
            <p:ph type="title"/>
          </p:nvPr>
        </p:nvSpPr>
        <p:spPr/>
        <p:txBody>
          <a:bodyPr/>
          <a:lstStyle/>
          <a:p>
            <a:r>
              <a:rPr lang="en-US" dirty="0"/>
              <a:t>Underfitting and Overfitting</a:t>
            </a:r>
          </a:p>
        </p:txBody>
      </p:sp>
      <p:sp>
        <p:nvSpPr>
          <p:cNvPr id="3" name="Content Placeholder 2">
            <a:extLst>
              <a:ext uri="{FF2B5EF4-FFF2-40B4-BE49-F238E27FC236}">
                <a16:creationId xmlns:a16="http://schemas.microsoft.com/office/drawing/2014/main" id="{0B5DA077-359A-9EC6-78D2-99D41C3FA165}"/>
              </a:ext>
            </a:extLst>
          </p:cNvPr>
          <p:cNvSpPr>
            <a:spLocks noGrp="1"/>
          </p:cNvSpPr>
          <p:nvPr>
            <p:ph idx="1"/>
          </p:nvPr>
        </p:nvSpPr>
        <p:spPr/>
        <p:txBody>
          <a:bodyPr>
            <a:normAutofit fontScale="92500" lnSpcReduction="10000"/>
          </a:bodyPr>
          <a:lstStyle/>
          <a:p>
            <a:r>
              <a:rPr lang="en-GB" dirty="0"/>
              <a:t>When we talk about the Machine Learning model, we actually talk about how well it performs and its accuracy which is known as prediction errors. Let us consider that we are designing a machine learning model. A model is said to be a good machine learning model if it generalizes any new input data from the problem domain in a proper way. This helps us to make predictions about future data, that the data model has never seen. Now, suppose we want to check how well our machine learning model learns and generalizes to the new data. For that, we have overfitting and underfitting, which are majorly responsible for the poor performances of the machine learning algorithms.</a:t>
            </a:r>
            <a:endParaRPr lang="en-US" dirty="0"/>
          </a:p>
        </p:txBody>
      </p:sp>
    </p:spTree>
    <p:extLst>
      <p:ext uri="{BB962C8B-B14F-4D97-AF65-F5344CB8AC3E}">
        <p14:creationId xmlns:p14="http://schemas.microsoft.com/office/powerpoint/2010/main" val="1478249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6F630-8BD2-10BB-E3CF-402ED412C9BB}"/>
              </a:ext>
            </a:extLst>
          </p:cNvPr>
          <p:cNvSpPr>
            <a:spLocks noGrp="1"/>
          </p:cNvSpPr>
          <p:nvPr>
            <p:ph type="title"/>
          </p:nvPr>
        </p:nvSpPr>
        <p:spPr/>
        <p:txBody>
          <a:bodyPr/>
          <a:lstStyle/>
          <a:p>
            <a:r>
              <a:rPr lang="en-GB" dirty="0"/>
              <a:t>Bias and Variance in Machine Learning</a:t>
            </a:r>
            <a:endParaRPr lang="en-US" dirty="0"/>
          </a:p>
        </p:txBody>
      </p:sp>
      <p:sp>
        <p:nvSpPr>
          <p:cNvPr id="3" name="Content Placeholder 2">
            <a:extLst>
              <a:ext uri="{FF2B5EF4-FFF2-40B4-BE49-F238E27FC236}">
                <a16:creationId xmlns:a16="http://schemas.microsoft.com/office/drawing/2014/main" id="{198B4214-B375-BECB-A85A-FF5C269A0FFA}"/>
              </a:ext>
            </a:extLst>
          </p:cNvPr>
          <p:cNvSpPr>
            <a:spLocks noGrp="1"/>
          </p:cNvSpPr>
          <p:nvPr>
            <p:ph idx="1"/>
          </p:nvPr>
        </p:nvSpPr>
        <p:spPr/>
        <p:txBody>
          <a:bodyPr>
            <a:normAutofit/>
          </a:bodyPr>
          <a:lstStyle/>
          <a:p>
            <a:r>
              <a:rPr lang="en-GB" b="1" dirty="0"/>
              <a:t>Bias</a:t>
            </a:r>
            <a:r>
              <a:rPr lang="en-GB" dirty="0"/>
              <a:t>: </a:t>
            </a:r>
          </a:p>
          <a:p>
            <a:pPr lvl="1"/>
            <a:r>
              <a:rPr lang="en-GB" dirty="0"/>
              <a:t>Bias refers to the error due to overly simplistic assumptions in the learning algorithm. These assumptions make the model easier to comprehend and learn but might not capture the underlying complexities of the data. </a:t>
            </a:r>
          </a:p>
          <a:p>
            <a:pPr lvl="1"/>
            <a:r>
              <a:rPr lang="en-GB" dirty="0"/>
              <a:t>It is the error due to the model’s inability to represent the true relationship between input and output accurately. </a:t>
            </a:r>
          </a:p>
          <a:p>
            <a:pPr lvl="1"/>
            <a:r>
              <a:rPr lang="en-GB" dirty="0"/>
              <a:t>When a model has poor performance both on the training and testing data means high bias because of the simple model, indicating </a:t>
            </a:r>
            <a:r>
              <a:rPr lang="en-GB" b="1" dirty="0"/>
              <a:t>underfitting</a:t>
            </a:r>
            <a:r>
              <a:rPr lang="en-GB" dirty="0"/>
              <a:t>.</a:t>
            </a:r>
          </a:p>
          <a:p>
            <a:pPr lvl="1"/>
            <a:endParaRPr lang="en-US" dirty="0"/>
          </a:p>
          <a:p>
            <a:pPr marL="457200" lvl="1" indent="0">
              <a:buNone/>
            </a:pPr>
            <a:r>
              <a:rPr lang="en-US" sz="1800" i="1" dirty="0"/>
              <a:t>[This is not to be confused with the bias parameter in Neurons in Neural Network]</a:t>
            </a:r>
            <a:endParaRPr lang="en-GB" sz="1800" i="1" dirty="0"/>
          </a:p>
        </p:txBody>
      </p:sp>
    </p:spTree>
    <p:extLst>
      <p:ext uri="{BB962C8B-B14F-4D97-AF65-F5344CB8AC3E}">
        <p14:creationId xmlns:p14="http://schemas.microsoft.com/office/powerpoint/2010/main" val="327875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08B07-CA87-93B5-193F-8186D24A49E4}"/>
              </a:ext>
            </a:extLst>
          </p:cNvPr>
          <p:cNvSpPr>
            <a:spLocks noGrp="1"/>
          </p:cNvSpPr>
          <p:nvPr>
            <p:ph type="title"/>
          </p:nvPr>
        </p:nvSpPr>
        <p:spPr/>
        <p:txBody>
          <a:bodyPr/>
          <a:lstStyle/>
          <a:p>
            <a:r>
              <a:rPr lang="en-GB" dirty="0"/>
              <a:t>Bias and Variance in Machine Learning</a:t>
            </a:r>
            <a:endParaRPr lang="en-US" dirty="0"/>
          </a:p>
        </p:txBody>
      </p:sp>
      <p:sp>
        <p:nvSpPr>
          <p:cNvPr id="3" name="Content Placeholder 2">
            <a:extLst>
              <a:ext uri="{FF2B5EF4-FFF2-40B4-BE49-F238E27FC236}">
                <a16:creationId xmlns:a16="http://schemas.microsoft.com/office/drawing/2014/main" id="{DD7A8B3B-56E8-F2BA-A68E-EA58E1FAD669}"/>
              </a:ext>
            </a:extLst>
          </p:cNvPr>
          <p:cNvSpPr>
            <a:spLocks noGrp="1"/>
          </p:cNvSpPr>
          <p:nvPr>
            <p:ph idx="1"/>
          </p:nvPr>
        </p:nvSpPr>
        <p:spPr/>
        <p:txBody>
          <a:bodyPr/>
          <a:lstStyle/>
          <a:p>
            <a:r>
              <a:rPr lang="en-GB" b="1" dirty="0"/>
              <a:t>Variance</a:t>
            </a:r>
            <a:r>
              <a:rPr lang="en-GB" dirty="0"/>
              <a:t>: </a:t>
            </a:r>
          </a:p>
          <a:p>
            <a:pPr lvl="1"/>
            <a:r>
              <a:rPr lang="en-GB" dirty="0"/>
              <a:t>Variance, on the other hand, is the error due to the model’s sensitivity to fluctuations in the training data. </a:t>
            </a:r>
          </a:p>
          <a:p>
            <a:pPr lvl="1"/>
            <a:r>
              <a:rPr lang="en-GB" dirty="0"/>
              <a:t>It’s the variability of the model’s predictions for different instances of training data. </a:t>
            </a:r>
          </a:p>
          <a:p>
            <a:pPr lvl="1"/>
            <a:r>
              <a:rPr lang="en-GB" dirty="0"/>
              <a:t>High variance occurs when a model learns the training data’s noise and random fluctuations rather than the underlying pattern. As a result, the model performs well on the training data but poorly on the testing data, indicating </a:t>
            </a:r>
            <a:r>
              <a:rPr lang="en-GB" b="1" dirty="0"/>
              <a:t>overfitting</a:t>
            </a:r>
            <a:r>
              <a:rPr lang="en-GB" dirty="0"/>
              <a:t>.</a:t>
            </a:r>
            <a:endParaRPr lang="en-US" dirty="0"/>
          </a:p>
        </p:txBody>
      </p:sp>
    </p:spTree>
    <p:extLst>
      <p:ext uri="{BB962C8B-B14F-4D97-AF65-F5344CB8AC3E}">
        <p14:creationId xmlns:p14="http://schemas.microsoft.com/office/powerpoint/2010/main" val="1955797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4C58-C94B-7779-9C2B-24EA76756CAD}"/>
              </a:ext>
            </a:extLst>
          </p:cNvPr>
          <p:cNvSpPr>
            <a:spLocks noGrp="1"/>
          </p:cNvSpPr>
          <p:nvPr>
            <p:ph type="title"/>
          </p:nvPr>
        </p:nvSpPr>
        <p:spPr/>
        <p:txBody>
          <a:bodyPr/>
          <a:lstStyle/>
          <a:p>
            <a:r>
              <a:rPr lang="en-GB" dirty="0"/>
              <a:t>Bias and Variance in Machine Learning</a:t>
            </a:r>
            <a:endParaRPr lang="en-US" dirty="0"/>
          </a:p>
        </p:txBody>
      </p:sp>
      <p:pic>
        <p:nvPicPr>
          <p:cNvPr id="4" name="Content Placeholder 3">
            <a:extLst>
              <a:ext uri="{FF2B5EF4-FFF2-40B4-BE49-F238E27FC236}">
                <a16:creationId xmlns:a16="http://schemas.microsoft.com/office/drawing/2014/main" id="{0510B909-DA05-8E6B-7E1A-46EE715EBD17}"/>
              </a:ext>
            </a:extLst>
          </p:cNvPr>
          <p:cNvPicPr>
            <a:picLocks noGrp="1" noChangeAspect="1"/>
          </p:cNvPicPr>
          <p:nvPr>
            <p:ph idx="1"/>
          </p:nvPr>
        </p:nvPicPr>
        <p:blipFill>
          <a:blip r:embed="rId2"/>
          <a:stretch>
            <a:fillRect/>
          </a:stretch>
        </p:blipFill>
        <p:spPr>
          <a:xfrm>
            <a:off x="857250" y="1986756"/>
            <a:ext cx="10477500" cy="4029075"/>
          </a:xfrm>
          <a:prstGeom prst="rect">
            <a:avLst/>
          </a:prstGeom>
        </p:spPr>
      </p:pic>
    </p:spTree>
    <p:extLst>
      <p:ext uri="{BB962C8B-B14F-4D97-AF65-F5344CB8AC3E}">
        <p14:creationId xmlns:p14="http://schemas.microsoft.com/office/powerpoint/2010/main" val="3713630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B5934-A93F-C69F-F0ED-5CC2F85DCA7C}"/>
              </a:ext>
            </a:extLst>
          </p:cNvPr>
          <p:cNvSpPr>
            <a:spLocks noGrp="1"/>
          </p:cNvSpPr>
          <p:nvPr>
            <p:ph type="title"/>
          </p:nvPr>
        </p:nvSpPr>
        <p:spPr/>
        <p:txBody>
          <a:bodyPr/>
          <a:lstStyle/>
          <a:p>
            <a:r>
              <a:rPr lang="en-US" dirty="0"/>
              <a:t>Underfitting in Machine Learning</a:t>
            </a:r>
          </a:p>
        </p:txBody>
      </p:sp>
      <p:sp>
        <p:nvSpPr>
          <p:cNvPr id="3" name="Content Placeholder 2">
            <a:extLst>
              <a:ext uri="{FF2B5EF4-FFF2-40B4-BE49-F238E27FC236}">
                <a16:creationId xmlns:a16="http://schemas.microsoft.com/office/drawing/2014/main" id="{BCDABAA6-EF52-F57C-D7CF-AFFCF9F50C34}"/>
              </a:ext>
            </a:extLst>
          </p:cNvPr>
          <p:cNvSpPr>
            <a:spLocks noGrp="1"/>
          </p:cNvSpPr>
          <p:nvPr>
            <p:ph idx="1"/>
          </p:nvPr>
        </p:nvSpPr>
        <p:spPr>
          <a:xfrm>
            <a:off x="838200" y="1825625"/>
            <a:ext cx="10515600" cy="4667250"/>
          </a:xfrm>
        </p:spPr>
        <p:txBody>
          <a:bodyPr>
            <a:normAutofit fontScale="85000" lnSpcReduction="20000"/>
          </a:bodyPr>
          <a:lstStyle/>
          <a:p>
            <a:r>
              <a:rPr lang="en-GB" dirty="0"/>
              <a:t>A statistical model or a machine learning algorithm is said to have underfitting when a model is too simple to capture data complexities. </a:t>
            </a:r>
          </a:p>
          <a:p>
            <a:r>
              <a:rPr lang="en-GB" dirty="0"/>
              <a:t>It represents the inability of the model to learn the training data effectively result in poor performance both on the training and testing data. </a:t>
            </a:r>
          </a:p>
          <a:p>
            <a:r>
              <a:rPr lang="en-GB" dirty="0"/>
              <a:t>In simple terms, underfit models are inaccurate, especially when applied to new, unseen examples. </a:t>
            </a:r>
          </a:p>
          <a:p>
            <a:r>
              <a:rPr lang="en-GB" dirty="0"/>
              <a:t>It mainly happens when we use very simple model with overly simplified assumptions. </a:t>
            </a:r>
          </a:p>
          <a:p>
            <a:r>
              <a:rPr lang="en-GB" dirty="0"/>
              <a:t>To address underfitting problem of the model, we need to use more complex models, with enhanced feature representation, and less regularization.</a:t>
            </a:r>
          </a:p>
          <a:p>
            <a:endParaRPr lang="en-GB" dirty="0"/>
          </a:p>
          <a:p>
            <a:r>
              <a:rPr lang="en-GB" i="1" dirty="0"/>
              <a:t>Note: The underfitting model has High bias and low variance.</a:t>
            </a:r>
            <a:endParaRPr lang="en-US" i="1" dirty="0"/>
          </a:p>
        </p:txBody>
      </p:sp>
    </p:spTree>
    <p:extLst>
      <p:ext uri="{BB962C8B-B14F-4D97-AF65-F5344CB8AC3E}">
        <p14:creationId xmlns:p14="http://schemas.microsoft.com/office/powerpoint/2010/main" val="3322856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32E2-DE47-86DA-AFDD-844951C5FB62}"/>
              </a:ext>
            </a:extLst>
          </p:cNvPr>
          <p:cNvSpPr>
            <a:spLocks noGrp="1"/>
          </p:cNvSpPr>
          <p:nvPr>
            <p:ph type="title"/>
          </p:nvPr>
        </p:nvSpPr>
        <p:spPr/>
        <p:txBody>
          <a:bodyPr/>
          <a:lstStyle/>
          <a:p>
            <a:r>
              <a:rPr lang="en-US" dirty="0"/>
              <a:t>Underfitting in Machine Learning</a:t>
            </a:r>
          </a:p>
        </p:txBody>
      </p:sp>
      <p:sp>
        <p:nvSpPr>
          <p:cNvPr id="3" name="Content Placeholder 2">
            <a:extLst>
              <a:ext uri="{FF2B5EF4-FFF2-40B4-BE49-F238E27FC236}">
                <a16:creationId xmlns:a16="http://schemas.microsoft.com/office/drawing/2014/main" id="{E1FC58C9-1D9A-4634-0AF5-1FE1855FD49D}"/>
              </a:ext>
            </a:extLst>
          </p:cNvPr>
          <p:cNvSpPr>
            <a:spLocks noGrp="1"/>
          </p:cNvSpPr>
          <p:nvPr>
            <p:ph idx="1"/>
          </p:nvPr>
        </p:nvSpPr>
        <p:spPr/>
        <p:txBody>
          <a:bodyPr>
            <a:normAutofit/>
          </a:bodyPr>
          <a:lstStyle/>
          <a:p>
            <a:r>
              <a:rPr lang="en-GB" dirty="0"/>
              <a:t>Reasons for Underfitting:</a:t>
            </a:r>
          </a:p>
          <a:p>
            <a:pPr lvl="1"/>
            <a:r>
              <a:rPr lang="en-GB" dirty="0"/>
              <a:t>The model is too simple, so it may be not capable to represent the complexities in the data.</a:t>
            </a:r>
          </a:p>
          <a:p>
            <a:pPr lvl="1"/>
            <a:r>
              <a:rPr lang="en-GB" dirty="0"/>
              <a:t>The input features which is used to train the model is not the adequate representations of underlying factors influencing the target variable.</a:t>
            </a:r>
          </a:p>
          <a:p>
            <a:pPr lvl="1"/>
            <a:r>
              <a:rPr lang="en-GB" dirty="0"/>
              <a:t>The size of the training dataset used is not enough.</a:t>
            </a:r>
          </a:p>
          <a:p>
            <a:pPr lvl="1"/>
            <a:r>
              <a:rPr lang="en-GB" dirty="0"/>
              <a:t>Excessive regularization are used to prevent the overfitting, which constraint the model to capture the data well.</a:t>
            </a:r>
          </a:p>
          <a:p>
            <a:pPr lvl="1"/>
            <a:r>
              <a:rPr lang="en-GB" dirty="0"/>
              <a:t>Features are not scaled.</a:t>
            </a:r>
            <a:endParaRPr lang="en-US" dirty="0"/>
          </a:p>
        </p:txBody>
      </p:sp>
    </p:spTree>
    <p:extLst>
      <p:ext uri="{BB962C8B-B14F-4D97-AF65-F5344CB8AC3E}">
        <p14:creationId xmlns:p14="http://schemas.microsoft.com/office/powerpoint/2010/main" val="233176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BBB6-E43B-0576-6FAA-A8A78A650626}"/>
              </a:ext>
            </a:extLst>
          </p:cNvPr>
          <p:cNvSpPr>
            <a:spLocks noGrp="1"/>
          </p:cNvSpPr>
          <p:nvPr>
            <p:ph type="title"/>
          </p:nvPr>
        </p:nvSpPr>
        <p:spPr/>
        <p:txBody>
          <a:bodyPr/>
          <a:lstStyle/>
          <a:p>
            <a:r>
              <a:rPr lang="en-US" dirty="0"/>
              <a:t>Underfitting in Machine Learning</a:t>
            </a:r>
          </a:p>
        </p:txBody>
      </p:sp>
      <p:sp>
        <p:nvSpPr>
          <p:cNvPr id="3" name="Content Placeholder 2">
            <a:extLst>
              <a:ext uri="{FF2B5EF4-FFF2-40B4-BE49-F238E27FC236}">
                <a16:creationId xmlns:a16="http://schemas.microsoft.com/office/drawing/2014/main" id="{3A47959A-DF49-C04D-C453-755CA355A40C}"/>
              </a:ext>
            </a:extLst>
          </p:cNvPr>
          <p:cNvSpPr>
            <a:spLocks noGrp="1"/>
          </p:cNvSpPr>
          <p:nvPr>
            <p:ph idx="1"/>
          </p:nvPr>
        </p:nvSpPr>
        <p:spPr/>
        <p:txBody>
          <a:bodyPr/>
          <a:lstStyle/>
          <a:p>
            <a:r>
              <a:rPr lang="en-GB" dirty="0"/>
              <a:t>Techniques to Reduce Underfitting</a:t>
            </a:r>
          </a:p>
          <a:p>
            <a:pPr lvl="1"/>
            <a:r>
              <a:rPr lang="en-GB" dirty="0"/>
              <a:t>Increase model complexity.</a:t>
            </a:r>
          </a:p>
          <a:p>
            <a:pPr lvl="1"/>
            <a:r>
              <a:rPr lang="en-GB" dirty="0"/>
              <a:t>Increase the number of features, performing feature engineering.</a:t>
            </a:r>
          </a:p>
          <a:p>
            <a:pPr lvl="1"/>
            <a:r>
              <a:rPr lang="en-GB" dirty="0"/>
              <a:t>Remove noise from the data.</a:t>
            </a:r>
          </a:p>
          <a:p>
            <a:pPr lvl="1"/>
            <a:r>
              <a:rPr lang="en-GB" dirty="0"/>
              <a:t>Increase the number of epochs or increase the duration of training to get better results.</a:t>
            </a:r>
            <a:endParaRPr lang="en-US" dirty="0"/>
          </a:p>
        </p:txBody>
      </p:sp>
    </p:spTree>
    <p:extLst>
      <p:ext uri="{BB962C8B-B14F-4D97-AF65-F5344CB8AC3E}">
        <p14:creationId xmlns:p14="http://schemas.microsoft.com/office/powerpoint/2010/main" val="1879024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B5C4-66FC-36FD-E24E-B105807859AD}"/>
              </a:ext>
            </a:extLst>
          </p:cNvPr>
          <p:cNvSpPr>
            <a:spLocks noGrp="1"/>
          </p:cNvSpPr>
          <p:nvPr>
            <p:ph type="title"/>
          </p:nvPr>
        </p:nvSpPr>
        <p:spPr/>
        <p:txBody>
          <a:bodyPr/>
          <a:lstStyle/>
          <a:p>
            <a:r>
              <a:rPr lang="en-US" dirty="0"/>
              <a:t>Overfitting in Machine Learning</a:t>
            </a:r>
          </a:p>
        </p:txBody>
      </p:sp>
      <p:sp>
        <p:nvSpPr>
          <p:cNvPr id="3" name="Content Placeholder 2">
            <a:extLst>
              <a:ext uri="{FF2B5EF4-FFF2-40B4-BE49-F238E27FC236}">
                <a16:creationId xmlns:a16="http://schemas.microsoft.com/office/drawing/2014/main" id="{ADA25D39-8F4D-2808-6BAE-77759FDDD23F}"/>
              </a:ext>
            </a:extLst>
          </p:cNvPr>
          <p:cNvSpPr>
            <a:spLocks noGrp="1"/>
          </p:cNvSpPr>
          <p:nvPr>
            <p:ph idx="1"/>
          </p:nvPr>
        </p:nvSpPr>
        <p:spPr>
          <a:xfrm>
            <a:off x="838200" y="1825625"/>
            <a:ext cx="10515600" cy="4667250"/>
          </a:xfrm>
        </p:spPr>
        <p:txBody>
          <a:bodyPr>
            <a:normAutofit fontScale="85000" lnSpcReduction="20000"/>
          </a:bodyPr>
          <a:lstStyle/>
          <a:p>
            <a:r>
              <a:rPr lang="en-GB" dirty="0"/>
              <a:t>A statistical model is said to be overfitted when the model does not make accurate predictions on test data. </a:t>
            </a:r>
          </a:p>
          <a:p>
            <a:r>
              <a:rPr lang="en-GB" dirty="0"/>
              <a:t>When a model gets trained with so much data, it starts learning from the noise and inaccurate data entries in our data set. And when testing with test data, this results in high variance. Then the model does not categorize the data correctly, because of too many details and noise. </a:t>
            </a:r>
          </a:p>
          <a:p>
            <a:r>
              <a:rPr lang="en-GB" dirty="0"/>
              <a:t>The causes of overfitting are the non-parametric and non-linear methods, because these types of machine learning algorithms have more freedom in building the model based on the dataset and therefore, they can really build unrealistic models. </a:t>
            </a:r>
          </a:p>
          <a:p>
            <a:r>
              <a:rPr lang="en-GB" dirty="0"/>
              <a:t>A solution to avoid overfitting is using a linear algorithm if we have linear data or using the parameters like the maximal depth if we are using decision trees. </a:t>
            </a:r>
          </a:p>
          <a:p>
            <a:r>
              <a:rPr lang="en-GB" dirty="0"/>
              <a:t>In a nutshell, Overfitting is a problem where the evaluation of machine learning algorithms on training data is different from unseen</a:t>
            </a:r>
            <a:r>
              <a:rPr lang="en-GB"/>
              <a:t>/test </a:t>
            </a:r>
            <a:r>
              <a:rPr lang="en-GB" dirty="0"/>
              <a:t>data.</a:t>
            </a:r>
            <a:endParaRPr lang="en-US" dirty="0"/>
          </a:p>
        </p:txBody>
      </p:sp>
    </p:spTree>
    <p:extLst>
      <p:ext uri="{BB962C8B-B14F-4D97-AF65-F5344CB8AC3E}">
        <p14:creationId xmlns:p14="http://schemas.microsoft.com/office/powerpoint/2010/main" val="2129306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8650-08C0-2AEB-0243-30A47EF29F67}"/>
              </a:ext>
            </a:extLst>
          </p:cNvPr>
          <p:cNvSpPr>
            <a:spLocks noGrp="1"/>
          </p:cNvSpPr>
          <p:nvPr>
            <p:ph type="title"/>
          </p:nvPr>
        </p:nvSpPr>
        <p:spPr/>
        <p:txBody>
          <a:bodyPr/>
          <a:lstStyle/>
          <a:p>
            <a:r>
              <a:rPr lang="en-US" dirty="0"/>
              <a:t>Overfitting in Machine Learning</a:t>
            </a:r>
          </a:p>
        </p:txBody>
      </p:sp>
      <p:sp>
        <p:nvSpPr>
          <p:cNvPr id="3" name="Content Placeholder 2">
            <a:extLst>
              <a:ext uri="{FF2B5EF4-FFF2-40B4-BE49-F238E27FC236}">
                <a16:creationId xmlns:a16="http://schemas.microsoft.com/office/drawing/2014/main" id="{A53704E2-6C96-982C-7B63-BC42076EBA9D}"/>
              </a:ext>
            </a:extLst>
          </p:cNvPr>
          <p:cNvSpPr>
            <a:spLocks noGrp="1"/>
          </p:cNvSpPr>
          <p:nvPr>
            <p:ph idx="1"/>
          </p:nvPr>
        </p:nvSpPr>
        <p:spPr/>
        <p:txBody>
          <a:bodyPr/>
          <a:lstStyle/>
          <a:p>
            <a:r>
              <a:rPr lang="en-GB" dirty="0"/>
              <a:t>Reasons for Overfitting:</a:t>
            </a:r>
          </a:p>
          <a:p>
            <a:pPr lvl="1"/>
            <a:r>
              <a:rPr lang="en-GB" dirty="0"/>
              <a:t> High variance and low bias.</a:t>
            </a:r>
          </a:p>
          <a:p>
            <a:pPr lvl="1"/>
            <a:r>
              <a:rPr lang="en-GB" dirty="0"/>
              <a:t>The model is too complex.</a:t>
            </a:r>
          </a:p>
          <a:p>
            <a:pPr lvl="1"/>
            <a:r>
              <a:rPr lang="en-GB" dirty="0"/>
              <a:t>The size of the training data.</a:t>
            </a:r>
            <a:endParaRPr lang="en-US" dirty="0"/>
          </a:p>
        </p:txBody>
      </p:sp>
    </p:spTree>
    <p:extLst>
      <p:ext uri="{BB962C8B-B14F-4D97-AF65-F5344CB8AC3E}">
        <p14:creationId xmlns:p14="http://schemas.microsoft.com/office/powerpoint/2010/main" val="1155265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66E3-9A6D-A66A-2543-3E959FBDB334}"/>
              </a:ext>
            </a:extLst>
          </p:cNvPr>
          <p:cNvSpPr>
            <a:spLocks noGrp="1"/>
          </p:cNvSpPr>
          <p:nvPr>
            <p:ph type="title"/>
          </p:nvPr>
        </p:nvSpPr>
        <p:spPr/>
        <p:txBody>
          <a:bodyPr/>
          <a:lstStyle/>
          <a:p>
            <a:r>
              <a:rPr lang="en-US" dirty="0"/>
              <a:t>Overfitting in Machine Learning</a:t>
            </a:r>
          </a:p>
        </p:txBody>
      </p:sp>
      <p:sp>
        <p:nvSpPr>
          <p:cNvPr id="3" name="Content Placeholder 2">
            <a:extLst>
              <a:ext uri="{FF2B5EF4-FFF2-40B4-BE49-F238E27FC236}">
                <a16:creationId xmlns:a16="http://schemas.microsoft.com/office/drawing/2014/main" id="{17C2D545-B1E2-99DA-A0E0-9D17E4E87052}"/>
              </a:ext>
            </a:extLst>
          </p:cNvPr>
          <p:cNvSpPr>
            <a:spLocks noGrp="1"/>
          </p:cNvSpPr>
          <p:nvPr>
            <p:ph idx="1"/>
          </p:nvPr>
        </p:nvSpPr>
        <p:spPr/>
        <p:txBody>
          <a:bodyPr>
            <a:normAutofit lnSpcReduction="10000"/>
          </a:bodyPr>
          <a:lstStyle/>
          <a:p>
            <a:r>
              <a:rPr lang="en-GB" dirty="0"/>
              <a:t>Techniques to Reduce Overfitting:</a:t>
            </a:r>
          </a:p>
          <a:p>
            <a:pPr lvl="1"/>
            <a:r>
              <a:rPr lang="en-GB" dirty="0"/>
              <a:t>Improving the quality of training data reduces overfitting by focusing on meaningful patterns, mitigate the risk of fitting the noise or irrelevant features.</a:t>
            </a:r>
          </a:p>
          <a:p>
            <a:pPr lvl="1"/>
            <a:r>
              <a:rPr lang="en-GB" dirty="0"/>
              <a:t>Increase the training data can improve the model’s ability to generalize to unseen data and reduce the likelihood of overfitting.</a:t>
            </a:r>
          </a:p>
          <a:p>
            <a:pPr lvl="1"/>
            <a:r>
              <a:rPr lang="en-GB" dirty="0"/>
              <a:t>Reduce model complexity.</a:t>
            </a:r>
          </a:p>
          <a:p>
            <a:pPr lvl="1"/>
            <a:r>
              <a:rPr lang="en-GB" dirty="0">
                <a:hlinkClick r:id="rId2"/>
              </a:rPr>
              <a:t>Early stopping </a:t>
            </a:r>
            <a:r>
              <a:rPr lang="en-GB" dirty="0"/>
              <a:t>during the training phase (have an eye over the loss over the training period as soon as loss begins to increase stop training).</a:t>
            </a:r>
          </a:p>
          <a:p>
            <a:pPr lvl="1"/>
            <a:r>
              <a:rPr lang="en-GB" dirty="0">
                <a:hlinkClick r:id="rId3"/>
              </a:rPr>
              <a:t>Ridge Regularization</a:t>
            </a:r>
            <a:r>
              <a:rPr lang="en-GB" dirty="0"/>
              <a:t> and </a:t>
            </a:r>
            <a:r>
              <a:rPr lang="en-GB" dirty="0">
                <a:hlinkClick r:id="rId4"/>
              </a:rPr>
              <a:t>Lasso Regularization</a:t>
            </a:r>
            <a:r>
              <a:rPr lang="en-GB" dirty="0"/>
              <a:t>.</a:t>
            </a:r>
          </a:p>
          <a:p>
            <a:pPr lvl="1"/>
            <a:r>
              <a:rPr lang="en-GB" dirty="0"/>
              <a:t>Use </a:t>
            </a:r>
            <a:r>
              <a:rPr lang="en-GB" dirty="0">
                <a:hlinkClick r:id="rId5"/>
              </a:rPr>
              <a:t>dropout</a:t>
            </a:r>
            <a:r>
              <a:rPr lang="en-GB" dirty="0"/>
              <a:t> for neural networks to tackle overfitting.</a:t>
            </a:r>
            <a:endParaRPr lang="en-US" dirty="0"/>
          </a:p>
        </p:txBody>
      </p:sp>
    </p:spTree>
    <p:extLst>
      <p:ext uri="{BB962C8B-B14F-4D97-AF65-F5344CB8AC3E}">
        <p14:creationId xmlns:p14="http://schemas.microsoft.com/office/powerpoint/2010/main" val="3711925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061C-8091-69E0-C57D-E887C84351D6}"/>
              </a:ext>
            </a:extLst>
          </p:cNvPr>
          <p:cNvSpPr>
            <a:spLocks noGrp="1"/>
          </p:cNvSpPr>
          <p:nvPr>
            <p:ph type="title"/>
          </p:nvPr>
        </p:nvSpPr>
        <p:spPr/>
        <p:txBody>
          <a:bodyPr/>
          <a:lstStyle/>
          <a:p>
            <a:r>
              <a:rPr lang="en-GB" dirty="0"/>
              <a:t>Good Fit in a Statistical Model</a:t>
            </a:r>
            <a:endParaRPr lang="en-US" dirty="0"/>
          </a:p>
        </p:txBody>
      </p:sp>
      <p:sp>
        <p:nvSpPr>
          <p:cNvPr id="3" name="Content Placeholder 2">
            <a:extLst>
              <a:ext uri="{FF2B5EF4-FFF2-40B4-BE49-F238E27FC236}">
                <a16:creationId xmlns:a16="http://schemas.microsoft.com/office/drawing/2014/main" id="{486C7875-30A4-0FC0-33C1-4AE9E563E5CD}"/>
              </a:ext>
            </a:extLst>
          </p:cNvPr>
          <p:cNvSpPr>
            <a:spLocks noGrp="1"/>
          </p:cNvSpPr>
          <p:nvPr>
            <p:ph idx="1"/>
          </p:nvPr>
        </p:nvSpPr>
        <p:spPr/>
        <p:txBody>
          <a:bodyPr>
            <a:normAutofit fontScale="85000" lnSpcReduction="20000"/>
          </a:bodyPr>
          <a:lstStyle/>
          <a:p>
            <a:r>
              <a:rPr lang="en-GB" dirty="0"/>
              <a:t>Ideally, the case when the model makes the predictions with almost zero error, is said to have a good fit on the data. </a:t>
            </a:r>
          </a:p>
          <a:p>
            <a:r>
              <a:rPr lang="en-GB" dirty="0"/>
              <a:t>This situation is achievable at a spot between overfitting and underfitting. In order to understand it, we will have to observe the performance of our model with the passage of time, while it is learning from the training dataset.</a:t>
            </a:r>
          </a:p>
          <a:p>
            <a:r>
              <a:rPr lang="en-GB" dirty="0"/>
              <a:t>During training, as time passes, our model will keep on learning, and thus the error for the model on the training and testing data will keep on decreasing. If it will learn for too long, the model will become more prone to overfitting due to the presence of noise and less useful details. Hence the performance of our model will decrease. In order to get a good fit, we will stop at a point just before where the error starts increasing. At this point, the model is said to have good skills in training datasets as well as our unseen testing dataset.</a:t>
            </a:r>
            <a:endParaRPr lang="en-US" dirty="0"/>
          </a:p>
        </p:txBody>
      </p:sp>
    </p:spTree>
    <p:extLst>
      <p:ext uri="{BB962C8B-B14F-4D97-AF65-F5344CB8AC3E}">
        <p14:creationId xmlns:p14="http://schemas.microsoft.com/office/powerpoint/2010/main" val="3800649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6D4A5-8A0A-F535-D627-CA5B64FAECB8}"/>
              </a:ext>
            </a:extLst>
          </p:cNvPr>
          <p:cNvSpPr>
            <a:spLocks noGrp="1"/>
          </p:cNvSpPr>
          <p:nvPr>
            <p:ph type="title"/>
          </p:nvPr>
        </p:nvSpPr>
        <p:spPr/>
        <p:txBody>
          <a:bodyPr/>
          <a:lstStyle/>
          <a:p>
            <a:r>
              <a:rPr lang="en-GB" dirty="0"/>
              <a:t>Good/Appropriate Fit</a:t>
            </a:r>
            <a:endParaRPr lang="en-US" dirty="0"/>
          </a:p>
        </p:txBody>
      </p:sp>
      <p:pic>
        <p:nvPicPr>
          <p:cNvPr id="1026" name="Picture 2">
            <a:extLst>
              <a:ext uri="{FF2B5EF4-FFF2-40B4-BE49-F238E27FC236}">
                <a16:creationId xmlns:a16="http://schemas.microsoft.com/office/drawing/2014/main" id="{DB292904-16BF-DA7D-1F6A-1658996027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983436" y="1767840"/>
            <a:ext cx="10225128" cy="4192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495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D77EC-6C05-ABF9-513D-1B271B939FDD}"/>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3043382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1086</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Schoolbook</vt:lpstr>
      <vt:lpstr>Office Theme</vt:lpstr>
      <vt:lpstr>Underfitting and Overfitting in ML</vt:lpstr>
      <vt:lpstr>Underfitting and Overfitting</vt:lpstr>
      <vt:lpstr>Bias and Variance in Machine Learning</vt:lpstr>
      <vt:lpstr>Bias and Variance in Machine Learning</vt:lpstr>
      <vt:lpstr>Bias and Variance in Machine Learning</vt:lpstr>
      <vt:lpstr>Underfitting in Machine Learning</vt:lpstr>
      <vt:lpstr>Underfitting in Machine Learning</vt:lpstr>
      <vt:lpstr>Underfitting in Machine Learning</vt:lpstr>
      <vt:lpstr>Overfitting in Machine Learning</vt:lpstr>
      <vt:lpstr>Overfitting in Machine Learning</vt:lpstr>
      <vt:lpstr>Overfitting in Machine Learning</vt:lpstr>
      <vt:lpstr>Good Fit in a Statistical Model</vt:lpstr>
      <vt:lpstr>Good/Appropriate Fit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36</cp:revision>
  <dcterms:created xsi:type="dcterms:W3CDTF">2024-10-15T12:09:09Z</dcterms:created>
  <dcterms:modified xsi:type="dcterms:W3CDTF">2024-10-15T16:33:58Z</dcterms:modified>
</cp:coreProperties>
</file>