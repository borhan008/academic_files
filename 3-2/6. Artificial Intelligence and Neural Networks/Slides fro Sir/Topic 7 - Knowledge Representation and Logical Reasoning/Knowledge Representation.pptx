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handoutMasterIdLst>
    <p:handoutMasterId r:id="rId28"/>
  </p:handoutMasterIdLst>
  <p:sldIdLst>
    <p:sldId id="257" r:id="rId2"/>
    <p:sldId id="258" r:id="rId3"/>
    <p:sldId id="266" r:id="rId4"/>
    <p:sldId id="259" r:id="rId5"/>
    <p:sldId id="260" r:id="rId6"/>
    <p:sldId id="265" r:id="rId7"/>
    <p:sldId id="261" r:id="rId8"/>
    <p:sldId id="262" r:id="rId9"/>
    <p:sldId id="282" r:id="rId10"/>
    <p:sldId id="267" r:id="rId11"/>
    <p:sldId id="280" r:id="rId12"/>
    <p:sldId id="263" r:id="rId13"/>
    <p:sldId id="264" r:id="rId14"/>
    <p:sldId id="268" r:id="rId15"/>
    <p:sldId id="285" r:id="rId16"/>
    <p:sldId id="275" r:id="rId17"/>
    <p:sldId id="269" r:id="rId18"/>
    <p:sldId id="284" r:id="rId19"/>
    <p:sldId id="270" r:id="rId20"/>
    <p:sldId id="271" r:id="rId21"/>
    <p:sldId id="272" r:id="rId22"/>
    <p:sldId id="273" r:id="rId23"/>
    <p:sldId id="277" r:id="rId24"/>
    <p:sldId id="279" r:id="rId25"/>
    <p:sldId id="278" r:id="rId26"/>
    <p:sldId id="286" r:id="rId27"/>
  </p:sldIdLst>
  <p:sldSz cx="12192000" cy="6858000"/>
  <p:notesSz cx="6781800" cy="9918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Schoolbook" panose="020406040505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Schoolbook" panose="020406040505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Schoolbook" panose="020406040505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Schoolbook" panose="020406040505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Schoolbook" panose="02040604050505020304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Schoolbook" panose="02040604050505020304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Schoolbook" panose="02040604050505020304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Schoolbook" panose="02040604050505020304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Schoolbook" panose="020406040505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44" autoAdjust="0"/>
    <p:restoredTop sz="98021" autoAdjust="0"/>
  </p:normalViewPr>
  <p:slideViewPr>
    <p:cSldViewPr>
      <p:cViewPr varScale="1">
        <p:scale>
          <a:sx n="75" d="100"/>
          <a:sy n="75" d="100"/>
        </p:scale>
        <p:origin x="576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0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C799107-8E94-EEE1-3DF5-89FE3F2AD3B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Times New Roman" pitchFamily="1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C0D0FC2-4BE6-3ED0-FD10-B2E9FA31BA6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3338" y="0"/>
            <a:ext cx="293846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Times New Roman" pitchFamily="1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FD82A38C-729D-2B01-6E0B-832F02EF386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3400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Times New Roman" pitchFamily="1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11EB7AD1-3105-4464-2687-CA640B07B2F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3338" y="9423400"/>
            <a:ext cx="293846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ADF52116-EAD2-47F3-8499-97CB69E41DC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2C4CA-A0D6-C86F-991F-540965CEB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A31DE-7444-3F27-5D7A-FD5618FBF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94E5D-6334-6CB3-148B-3D5A7FC61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011F44-D5FF-4F93-9A36-0EF20A04660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0206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A05A-897D-3BDB-527C-7AB376B56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ED60A-9194-CFFC-101F-C682A19AE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7C382-BD01-79FD-72A7-E72FC1DCB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8FA26E-7069-409B-B9BE-15654297BDD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61198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E9BA1-5C56-2498-C139-E8579D7DB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43D73-C7BE-49CC-928C-33816206D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5C13-A97A-44FB-31B0-8A8C65FB1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7F96F5-2FB7-4B54-9EC7-DDB57709C94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85988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251CC7C-B319-C377-9E71-6B4C46B12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1A53435-D20D-7929-B033-6E390328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8F407A7-83DE-E2CF-9CA7-2E418D35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BCC43D-1184-4493-A242-69C2B99703C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1483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80E6212-3228-3A05-24A8-DFBDD861E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2D35358-A867-C5C9-05FA-567B6302A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195039-FB91-7644-0A0B-67151BF5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3E4E73-1CCD-4D36-BBA2-05B32880D0B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8656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ACCF3A1-C02F-E92E-45E0-576813FDA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EF45F47-28EE-FD5F-CAEF-9F1ACF27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061AF7-F07C-7100-E206-A0BE86FA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94A39-5B78-4601-885D-48D8E6A24CC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79876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6D46865-E662-AA5F-C7F6-E663C04AE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098A02A-AA70-0643-B8DB-A0A6FD899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E97AAF-1D41-F466-577F-0181560D4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EE40A0-0542-4BAA-ADFB-DCC44948C26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48343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7B4F850-5821-B592-CE32-ED2EF1F37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CB83774-6D63-543D-CF6D-ABCDA4D6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39456B-84C2-36C9-0E2D-3F21D286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BDED8-04E2-4D19-9C08-90526DF853F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55264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00C8CE1-432C-EAD1-06C9-B05E828A6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7520C8C-A4D1-2D91-A34F-5A9DA4F53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CDB1D7-0DA7-6F48-B16E-806CE767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10B17A-492E-4D1E-9DA1-33A048CF8C1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9965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8723D-B865-CB6E-4FD7-1FFE52B6A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638C8-0C6D-9B99-37A0-855B94690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86541-3DF8-98C9-6B72-25D982A79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539E6A-1E3F-4F45-9E60-0B9A3953055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52832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C0AB2-68E8-9D2F-3D8A-C1D405BBB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3F5A9-C7C0-8517-D5F5-62A3FB262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99B1E-70EA-8C1F-5537-CCA23D391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342AF9-E4C2-4B67-ADFD-A46D1911BCD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013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B7DDBDE-D7C8-7D15-6AD4-5F0C11558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80CE5B9-6993-E9ED-7BBF-2FC58AD2C6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A852B-50A8-3135-A9F0-F05460EA6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8B0D6-CFAE-7A3A-3666-849936E8D9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7A821-01D3-8A49-93F5-EB76913B4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BBD7A31-EFEC-486F-884D-A4E656072B7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Schoolbook" panose="02040604050505020304" pitchFamily="18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Schoolbook" panose="02040604050505020304" pitchFamily="18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Schoolbook" panose="02040604050505020304" pitchFamily="18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Schoolbook" panose="02040604050505020304" pitchFamily="18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Schoolbook" panose="02040604050505020304" pitchFamily="18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Schoolbook" panose="02040604050505020304" pitchFamily="18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Schoolbook" panose="02040604050505020304" pitchFamily="18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Schoolbook" panose="02040604050505020304" pitchFamily="18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B658506-7816-1093-B916-E2987BE7CA8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dirty="0"/>
              <a:t>Artificial Intelligence </a:t>
            </a:r>
            <a:br>
              <a:rPr lang="en-GB" altLang="en-US" dirty="0"/>
            </a:br>
            <a:r>
              <a:rPr lang="en-GB" altLang="en-US" dirty="0"/>
              <a:t>Knowledge Representation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9701A07-F925-7F30-7C2E-D63243807CD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altLang="en-US"/>
              <a:t>Iftekhar Mahmud Towhid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C17542E-F539-817E-C5B6-95B1E48E6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Representation 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C47CC37-5A47-F55A-590B-9AF2C85685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AI agents deal with knowledge (data)</a:t>
            </a:r>
          </a:p>
          <a:p>
            <a:pPr lvl="1"/>
            <a:r>
              <a:rPr lang="en-GB" altLang="en-US"/>
              <a:t>Facts (believe &amp; observe knowledge)</a:t>
            </a:r>
          </a:p>
          <a:p>
            <a:pPr lvl="1"/>
            <a:r>
              <a:rPr lang="en-GB" altLang="en-US"/>
              <a:t>Procedures (how to knowledge)	</a:t>
            </a:r>
          </a:p>
          <a:p>
            <a:pPr lvl="1"/>
            <a:r>
              <a:rPr lang="en-GB" altLang="en-US"/>
              <a:t>Meaning (relate &amp; define knowledge)</a:t>
            </a:r>
          </a:p>
          <a:p>
            <a:r>
              <a:rPr lang="en-GB" altLang="en-US"/>
              <a:t>Right representation is crucial</a:t>
            </a:r>
          </a:p>
          <a:p>
            <a:pPr lvl="1"/>
            <a:r>
              <a:rPr lang="en-GB" altLang="en-US"/>
              <a:t>Early realisation in AI</a:t>
            </a:r>
          </a:p>
          <a:p>
            <a:pPr lvl="1"/>
            <a:r>
              <a:rPr lang="en-GB" altLang="en-US"/>
              <a:t>Wrong choice can lead to project failure</a:t>
            </a:r>
          </a:p>
          <a:p>
            <a:pPr lvl="1"/>
            <a:r>
              <a:rPr lang="en-GB" altLang="en-US"/>
              <a:t>Active research 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3CF4217-A32C-5991-31FA-77172476B5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Choosing a Representation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77CA4A2-D9C4-18CE-2032-A74760954B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For certain problem solving techniques</a:t>
            </a:r>
          </a:p>
          <a:p>
            <a:pPr lvl="1"/>
            <a:r>
              <a:rPr lang="en-GB" altLang="en-US"/>
              <a:t>‘Best’ representation already known</a:t>
            </a:r>
          </a:p>
          <a:p>
            <a:pPr lvl="1"/>
            <a:r>
              <a:rPr lang="en-GB" altLang="en-US"/>
              <a:t>Often a requirement of the technique</a:t>
            </a:r>
          </a:p>
          <a:p>
            <a:pPr lvl="1"/>
            <a:r>
              <a:rPr lang="en-GB" altLang="en-US"/>
              <a:t>Or a requirement of the programming language (e.g. Prolog)</a:t>
            </a:r>
          </a:p>
          <a:p>
            <a:r>
              <a:rPr lang="en-GB" altLang="en-US"/>
              <a:t>Examples</a:t>
            </a:r>
          </a:p>
          <a:p>
            <a:pPr lvl="1"/>
            <a:r>
              <a:rPr lang="en-GB" altLang="en-US"/>
              <a:t>First order theorem proving… first order logic</a:t>
            </a:r>
          </a:p>
          <a:p>
            <a:pPr lvl="1"/>
            <a:r>
              <a:rPr lang="en-GB" altLang="en-US"/>
              <a:t>Inductive logic programming… logic programs</a:t>
            </a:r>
          </a:p>
          <a:p>
            <a:pPr lvl="1"/>
            <a:r>
              <a:rPr lang="en-GB" altLang="en-US"/>
              <a:t>Neural networks learning… neural networks</a:t>
            </a:r>
          </a:p>
          <a:p>
            <a:r>
              <a:rPr lang="en-GB" altLang="en-US"/>
              <a:t>Some general representation schemes</a:t>
            </a:r>
          </a:p>
          <a:p>
            <a:pPr lvl="1"/>
            <a:r>
              <a:rPr lang="en-GB" altLang="en-US"/>
              <a:t>Suitable for many different (and new) AI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750D750-FDB5-9FA6-279F-BE6ADBF5C7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Some General Representations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671989E-56B3-D362-BB9D-8505FDE9C0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Logical Representations</a:t>
            </a:r>
          </a:p>
          <a:p>
            <a:r>
              <a:rPr lang="en-GB" altLang="en-US"/>
              <a:t>Production Rules</a:t>
            </a:r>
          </a:p>
          <a:p>
            <a:r>
              <a:rPr lang="en-GB" altLang="en-US"/>
              <a:t>Semantic Networks</a:t>
            </a:r>
          </a:p>
          <a:p>
            <a:pPr lvl="1"/>
            <a:r>
              <a:rPr lang="en-GB" altLang="en-US"/>
              <a:t>Conceptual graphs, frames</a:t>
            </a:r>
          </a:p>
          <a:p>
            <a:r>
              <a:rPr lang="en-GB" altLang="en-US"/>
              <a:t>Description Logics (see textbook)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8E850C9-C0D7-4A49-3B0D-5885786760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GB" altLang="en-US"/>
            </a:br>
            <a:r>
              <a:rPr lang="en-GB" altLang="en-US"/>
              <a:t>What is a Logic?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96E5064-10F7-73DC-9FFD-FCC6F08FF8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/>
              <a:t>A language with concrete rules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No ambiguity in representation (may be other errors!)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Allows unambiguous communication and processing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Very unlike natural languages e.g. English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altLang="en-US"/>
              <a:t>Many ways to translate between languages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A statement can be represented in different logics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And perhaps differently in same logic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altLang="en-US"/>
              <a:t>Expressiveness of a logic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How much can we say in this language?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altLang="en-US"/>
              <a:t>Not to be confused with logical reasoning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Logics are languages, reasoning is a process (may use logic)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7530B9E-4CCD-0CA1-5C70-409A0CAE4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GB" altLang="en-US"/>
            </a:br>
            <a:r>
              <a:rPr lang="en-GB" altLang="en-US"/>
              <a:t>Syntax and Semantics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D9E701E-260F-BC62-CF5E-C39C971DB8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/>
              <a:t>Syntax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Rules for constructing legal sentences in the logic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Which symbols we can use (English: letters, punctuation)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How we are allowed to combine symbols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altLang="en-US"/>
              <a:t>Semantics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How we interpret (read) sentences in the logic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Assigns a meaning to each sentence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altLang="en-US"/>
              <a:t>Example: “All lecturers are seven foot tall”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A valid sentence (syntax)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And we can understand the meaning (semantics)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This sentence happens to be false (there is a counterexample)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085A5B1-0D86-5D79-D868-BEFDDF7CB6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GB" altLang="en-US"/>
            </a:br>
            <a:r>
              <a:rPr lang="en-GB" altLang="en-US"/>
              <a:t>Propositional Logic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15A142D-13A4-3EF8-00FA-ED7DDB8D8D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Syntax</a:t>
            </a:r>
          </a:p>
          <a:p>
            <a:pPr lvl="1"/>
            <a:r>
              <a:rPr lang="en-GB" altLang="en-US"/>
              <a:t>Propositions, e.g. “it is wet”</a:t>
            </a:r>
          </a:p>
          <a:p>
            <a:pPr lvl="1"/>
            <a:r>
              <a:rPr lang="en-GB" altLang="en-US"/>
              <a:t>Connectives: and, or, not, implies, iff (equivalent)</a:t>
            </a:r>
          </a:p>
          <a:p>
            <a:pPr lvl="1"/>
            <a:endParaRPr lang="en-GB" altLang="en-US"/>
          </a:p>
          <a:p>
            <a:pPr lvl="1"/>
            <a:endParaRPr lang="en-GB" altLang="en-US"/>
          </a:p>
          <a:p>
            <a:pPr lvl="1"/>
            <a:r>
              <a:rPr lang="en-GB" altLang="en-US"/>
              <a:t>Brackets, T (true) and F (false)</a:t>
            </a:r>
          </a:p>
          <a:p>
            <a:r>
              <a:rPr lang="en-GB" altLang="en-US"/>
              <a:t>Semantics (Classical AKA Boolean)</a:t>
            </a:r>
          </a:p>
          <a:p>
            <a:pPr lvl="1"/>
            <a:r>
              <a:rPr lang="en-GB" altLang="en-US"/>
              <a:t>Define how connectives affect truth</a:t>
            </a:r>
          </a:p>
          <a:p>
            <a:pPr lvl="2"/>
            <a:r>
              <a:rPr lang="en-GB" altLang="en-US"/>
              <a:t>“P and Q” is true if and only if P is true and Q is true</a:t>
            </a:r>
          </a:p>
          <a:p>
            <a:pPr lvl="1"/>
            <a:r>
              <a:rPr lang="en-GB" altLang="en-US"/>
              <a:t>Use truth tables to work out the truth of statements</a:t>
            </a:r>
          </a:p>
        </p:txBody>
      </p:sp>
      <p:pic>
        <p:nvPicPr>
          <p:cNvPr id="9220" name="Picture 21">
            <a:extLst>
              <a:ext uri="{FF2B5EF4-FFF2-40B4-BE49-F238E27FC236}">
                <a16:creationId xmlns:a16="http://schemas.microsoft.com/office/drawing/2014/main" id="{D0C6CFFB-8B31-7FA0-97CC-06A630F0E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176588"/>
            <a:ext cx="35814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96BB400-C329-FF99-41B2-15E7192625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GB" altLang="en-US"/>
            </a:br>
            <a:r>
              <a:rPr lang="en-GB" altLang="en-US"/>
              <a:t>Predicate Logic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E02A297-83DC-9973-A53A-6E34E704CB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Propositional logic combines atoms</a:t>
            </a:r>
          </a:p>
          <a:p>
            <a:pPr lvl="1"/>
            <a:r>
              <a:rPr lang="en-GB" altLang="en-US"/>
              <a:t>An atom contains no propositional connectives</a:t>
            </a:r>
          </a:p>
          <a:p>
            <a:pPr lvl="1"/>
            <a:r>
              <a:rPr lang="en-GB" altLang="en-US"/>
              <a:t>Have no structure (today_is_wet, john_likes_apples)</a:t>
            </a:r>
          </a:p>
          <a:p>
            <a:r>
              <a:rPr lang="en-GB" altLang="en-US"/>
              <a:t>Predicates allow us to talk about objects</a:t>
            </a:r>
          </a:p>
          <a:p>
            <a:pPr lvl="1"/>
            <a:r>
              <a:rPr lang="en-GB" altLang="en-US"/>
              <a:t>Properties:   is_wet(today)</a:t>
            </a:r>
          </a:p>
          <a:p>
            <a:pPr lvl="1"/>
            <a:r>
              <a:rPr lang="en-GB" altLang="en-US"/>
              <a:t>Relations:    likes(john, apples)</a:t>
            </a:r>
          </a:p>
          <a:p>
            <a:pPr lvl="1"/>
            <a:r>
              <a:rPr lang="en-GB" altLang="en-US"/>
              <a:t>True or false</a:t>
            </a:r>
          </a:p>
          <a:p>
            <a:r>
              <a:rPr lang="en-GB" altLang="en-US"/>
              <a:t>In predicate logic each atom is a predicate</a:t>
            </a:r>
          </a:p>
          <a:p>
            <a:pPr lvl="1"/>
            <a:r>
              <a:rPr lang="en-GB" altLang="en-US"/>
              <a:t>e.g. first order logic, higher-order logic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7EA42C0-48ED-9CB7-8C71-16FFE4FCA3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First Order Logic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B7190A3-FBF2-62BA-5E6E-A7DBD451CE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/>
              <a:t>More expressive logic than propositional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Used in this course (Lecture 6 on representation in FOL)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altLang="en-US"/>
              <a:t>Constants are objects: john, apples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altLang="en-US"/>
              <a:t>Predicates are properties and relations: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likes(john, apples)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altLang="en-US"/>
              <a:t>Functions transform objects: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likes(john, fruit_of(apple_tree))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altLang="en-US"/>
              <a:t>Variables represent any object:  likes(X, apples)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altLang="en-US"/>
              <a:t>Quantifiers qualify values of variables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True for all objects (Universal):              </a:t>
            </a:r>
            <a:r>
              <a:rPr lang="en-GB" altLang="en-US">
                <a:sym typeface="Symbol" panose="05050102010706020507" pitchFamily="18" charset="2"/>
              </a:rPr>
              <a:t></a:t>
            </a:r>
            <a:r>
              <a:rPr lang="en-GB" altLang="en-US"/>
              <a:t>X. likes(X, apples)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Exists at least one object (Existential):   </a:t>
            </a:r>
            <a:r>
              <a:rPr lang="en-GB" altLang="en-US">
                <a:sym typeface="Symbol" panose="05050102010706020507" pitchFamily="18" charset="2"/>
              </a:rPr>
              <a:t></a:t>
            </a:r>
            <a:r>
              <a:rPr lang="en-GB" altLang="en-US"/>
              <a:t>X. likes(X, apples)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7DE9A75-2C2C-04AD-7C09-D1DBEE29B1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GB" altLang="en-US"/>
            </a:br>
            <a:r>
              <a:rPr lang="en-GB" altLang="en-US"/>
              <a:t>Example: FOL Sentence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8CEDAD3-567E-5469-213D-A93DAE9A28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“Every rose has a thorn”</a:t>
            </a:r>
          </a:p>
          <a:p>
            <a:endParaRPr lang="en-GB" altLang="en-US"/>
          </a:p>
          <a:p>
            <a:endParaRPr lang="en-GB" altLang="en-US"/>
          </a:p>
          <a:p>
            <a:r>
              <a:rPr lang="en-GB" altLang="en-US"/>
              <a:t>For all X</a:t>
            </a:r>
          </a:p>
          <a:p>
            <a:pPr lvl="1"/>
            <a:r>
              <a:rPr lang="en-GB" altLang="en-US"/>
              <a:t>if (X is a rose)</a:t>
            </a:r>
          </a:p>
          <a:p>
            <a:pPr lvl="1"/>
            <a:r>
              <a:rPr lang="en-GB" altLang="en-US"/>
              <a:t>then there exists Y</a:t>
            </a:r>
          </a:p>
          <a:p>
            <a:pPr lvl="2"/>
            <a:r>
              <a:rPr lang="en-GB" altLang="en-US"/>
              <a:t>(X has Y) and (Y is a thorn)</a:t>
            </a:r>
          </a:p>
        </p:txBody>
      </p:sp>
      <p:pic>
        <p:nvPicPr>
          <p:cNvPr id="12292" name="Picture 24">
            <a:extLst>
              <a:ext uri="{FF2B5EF4-FFF2-40B4-BE49-F238E27FC236}">
                <a16:creationId xmlns:a16="http://schemas.microsoft.com/office/drawing/2014/main" id="{393DA529-AA59-AA75-AA9F-574E4F62B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438400"/>
            <a:ext cx="7573963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FF6A0C2-70A2-C2B7-492F-0645981B79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GB" altLang="en-US"/>
            </a:br>
            <a:r>
              <a:rPr lang="en-GB" altLang="en-US"/>
              <a:t>Example: FOL Sentence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DD7FD0A-13FD-0871-ECC0-7ACCA3557E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“On Mondays and Wednesdays I go to John’s house for dinner”</a:t>
            </a:r>
          </a:p>
        </p:txBody>
      </p:sp>
      <p:sp>
        <p:nvSpPr>
          <p:cNvPr id="14340" name="Rectangle 12">
            <a:extLst>
              <a:ext uri="{FF2B5EF4-FFF2-40B4-BE49-F238E27FC236}">
                <a16:creationId xmlns:a16="http://schemas.microsoft.com/office/drawing/2014/main" id="{836182B2-84F9-200A-5C68-3FDAD8D1E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349875"/>
            <a:ext cx="9067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dirty="0">
                <a:latin typeface="+mn-lt"/>
              </a:rPr>
              <a:t>Note the change from “and” to “or”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altLang="en-US" dirty="0">
                <a:latin typeface="+mn-lt"/>
              </a:rPr>
              <a:t>Translating is problematic</a:t>
            </a:r>
          </a:p>
        </p:txBody>
      </p:sp>
      <p:pic>
        <p:nvPicPr>
          <p:cNvPr id="13317" name="Picture 21">
            <a:extLst>
              <a:ext uri="{FF2B5EF4-FFF2-40B4-BE49-F238E27FC236}">
                <a16:creationId xmlns:a16="http://schemas.microsoft.com/office/drawing/2014/main" id="{64225870-20F8-31C7-6F40-ACC1A48AE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619500"/>
            <a:ext cx="65532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16571F1-3EA5-68A3-63E4-2FB9D95FAC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GB" altLang="en-US"/>
            </a:br>
            <a:r>
              <a:rPr lang="en-GB" altLang="en-US"/>
              <a:t>Higher Order Logic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E864D97C-E291-4898-EFCF-8882A7DE1C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More expressive than first order</a:t>
            </a:r>
          </a:p>
          <a:p>
            <a:r>
              <a:rPr lang="en-GB" altLang="en-US"/>
              <a:t>Functions and predicates are also objects</a:t>
            </a:r>
          </a:p>
          <a:p>
            <a:pPr lvl="1"/>
            <a:r>
              <a:rPr lang="en-GB" altLang="en-US"/>
              <a:t>Described by predicates:  binary(addition)</a:t>
            </a:r>
          </a:p>
          <a:p>
            <a:pPr lvl="1"/>
            <a:r>
              <a:rPr lang="en-GB" altLang="en-US"/>
              <a:t>Transformed by functions:  differentiate(square)</a:t>
            </a:r>
          </a:p>
          <a:p>
            <a:pPr lvl="1"/>
            <a:r>
              <a:rPr lang="en-GB" altLang="en-US"/>
              <a:t>Can quantify over both</a:t>
            </a:r>
          </a:p>
          <a:p>
            <a:r>
              <a:rPr lang="en-GB" altLang="en-US"/>
              <a:t>E.g. define red functions as having zero at 17</a:t>
            </a:r>
          </a:p>
          <a:p>
            <a:endParaRPr lang="en-GB" altLang="en-US"/>
          </a:p>
          <a:p>
            <a:endParaRPr lang="en-GB" altLang="en-US"/>
          </a:p>
          <a:p>
            <a:r>
              <a:rPr lang="en-GB" altLang="en-US"/>
              <a:t>Much harder to reason with</a:t>
            </a:r>
          </a:p>
        </p:txBody>
      </p:sp>
      <p:pic>
        <p:nvPicPr>
          <p:cNvPr id="14340" name="Picture 8">
            <a:extLst>
              <a:ext uri="{FF2B5EF4-FFF2-40B4-BE49-F238E27FC236}">
                <a16:creationId xmlns:a16="http://schemas.microsoft.com/office/drawing/2014/main" id="{1610C0DA-0F90-B006-3883-6C360AD45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4800600"/>
            <a:ext cx="4572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3BCE0CF-A886-B405-B54C-BF48999E65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GB" altLang="en-US"/>
            </a:br>
            <a:r>
              <a:rPr lang="en-GB" altLang="en-US"/>
              <a:t>Beyond True and False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10CB694-F6AC-0E18-F1BC-5CA0955FA7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Multi-valued logics</a:t>
            </a:r>
          </a:p>
          <a:p>
            <a:pPr lvl="1"/>
            <a:r>
              <a:rPr lang="en-GB" altLang="en-US"/>
              <a:t>More than two truth values</a:t>
            </a:r>
          </a:p>
          <a:p>
            <a:pPr lvl="1"/>
            <a:r>
              <a:rPr lang="en-GB" altLang="en-US"/>
              <a:t>e.g., true, false &amp; unknown</a:t>
            </a:r>
          </a:p>
          <a:p>
            <a:pPr lvl="1"/>
            <a:r>
              <a:rPr lang="en-GB" altLang="en-US"/>
              <a:t>Fuzzy logic uses probabilities, truth value in [0,1]</a:t>
            </a:r>
          </a:p>
          <a:p>
            <a:r>
              <a:rPr lang="en-GB" altLang="en-US"/>
              <a:t>Modal logics</a:t>
            </a:r>
          </a:p>
          <a:p>
            <a:pPr lvl="1"/>
            <a:r>
              <a:rPr lang="en-GB" altLang="en-US"/>
              <a:t>Modal operators define mode for propositions</a:t>
            </a:r>
          </a:p>
          <a:p>
            <a:pPr lvl="1"/>
            <a:r>
              <a:rPr lang="en-GB" altLang="en-US"/>
              <a:t>Epistemic logics (belief)</a:t>
            </a:r>
          </a:p>
          <a:p>
            <a:pPr lvl="2"/>
            <a:r>
              <a:rPr lang="en-GB" altLang="en-US"/>
              <a:t>e.g. </a:t>
            </a:r>
            <a:r>
              <a:rPr lang="en-GB" altLang="en-US">
                <a:sym typeface="Wingdings 2" panose="05020102010507070707" pitchFamily="18" charset="2"/>
              </a:rPr>
              <a:t>p (necessarily p), p (possibly p), …</a:t>
            </a:r>
            <a:endParaRPr lang="en-GB" altLang="en-US"/>
          </a:p>
          <a:p>
            <a:pPr lvl="1"/>
            <a:r>
              <a:rPr lang="en-GB" altLang="en-US"/>
              <a:t>Temporal logics (time)</a:t>
            </a:r>
          </a:p>
          <a:p>
            <a:pPr lvl="2"/>
            <a:r>
              <a:rPr lang="en-GB" altLang="en-US"/>
              <a:t>e.g. </a:t>
            </a:r>
            <a:r>
              <a:rPr lang="en-GB" altLang="en-US">
                <a:sym typeface="Wingdings 2" panose="05020102010507070707" pitchFamily="18" charset="2"/>
              </a:rPr>
              <a:t>p (always p), p (eventually p), 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E229370-774F-44F0-767E-C7AA3B350B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Logic is a Good Representation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8111196-C766-8EDC-65D1-794A711ABA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Fairly easy to do the translation when possible</a:t>
            </a:r>
          </a:p>
          <a:p>
            <a:r>
              <a:rPr lang="en-GB" altLang="en-US"/>
              <a:t>Branches of mathematics devoted to it</a:t>
            </a:r>
          </a:p>
          <a:p>
            <a:r>
              <a:rPr lang="en-GB" altLang="en-US"/>
              <a:t>It enables us to do logical reasoning</a:t>
            </a:r>
          </a:p>
          <a:p>
            <a:pPr lvl="1"/>
            <a:r>
              <a:rPr lang="en-GB" altLang="en-US"/>
              <a:t>Tools and techniques come for free</a:t>
            </a:r>
          </a:p>
          <a:p>
            <a:r>
              <a:rPr lang="en-GB" altLang="en-US"/>
              <a:t>Basis for programming languages</a:t>
            </a:r>
          </a:p>
          <a:p>
            <a:pPr lvl="1"/>
            <a:r>
              <a:rPr lang="en-GB" altLang="en-US"/>
              <a:t>Prolog uses logic programs (a subset of FOL)</a:t>
            </a:r>
          </a:p>
          <a:p>
            <a:pPr lvl="1"/>
            <a:r>
              <a:rPr lang="en-GB" altLang="en-US">
                <a:sym typeface="Symbol" panose="05050102010706020507" pitchFamily="18" charset="2"/>
              </a:rPr>
              <a:t>Prolog based on HOL</a:t>
            </a:r>
            <a:endParaRPr lang="en-GB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CC36477-EC40-144F-CB07-89EB59C75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Non-Logical Representations?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8BB197B-E2EA-CC2F-D8F9-B5DBEFCF9C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Production rules</a:t>
            </a:r>
          </a:p>
          <a:p>
            <a:r>
              <a:rPr lang="en-GB" altLang="en-US"/>
              <a:t>Semantic networks</a:t>
            </a:r>
          </a:p>
          <a:p>
            <a:pPr lvl="1"/>
            <a:r>
              <a:rPr lang="en-GB" altLang="en-US"/>
              <a:t>Conceptual graphs</a:t>
            </a:r>
          </a:p>
          <a:p>
            <a:pPr lvl="1"/>
            <a:r>
              <a:rPr lang="en-GB" altLang="en-US"/>
              <a:t>Frames</a:t>
            </a:r>
          </a:p>
          <a:p>
            <a:endParaRPr lang="en-GB" altLang="en-US"/>
          </a:p>
          <a:p>
            <a:r>
              <a:rPr lang="en-GB" altLang="en-US"/>
              <a:t>Logic representations have restricitions and can be hard to work with</a:t>
            </a:r>
          </a:p>
          <a:p>
            <a:pPr lvl="1"/>
            <a:r>
              <a:rPr lang="en-GB" altLang="en-US"/>
              <a:t>Many AI researchers searched for better representations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BDAD790-C47C-09C8-889A-9C7E988E7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Production Rules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ECF7150-F099-5602-4F28-42A3A68943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/>
              <a:t>Rule set of &lt;condition,action&gt; pairs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“if condition then action”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altLang="en-US"/>
              <a:t>Match-resolve-act cycle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Match: Agent checks if each rule’s condition holds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Resolve: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GB" altLang="en-US"/>
              <a:t>Multiple production rules may fire at once (conflict set) 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GB" altLang="en-US"/>
              <a:t>Agent must choose rule from set (conflict resolution)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Act: If so, rule “fires” and the action is carried out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altLang="en-US"/>
              <a:t>Working memory: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rule can write knowledge to working memory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altLang="en-US"/>
              <a:t>knowledge may match and fire other rules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7ECD07A-3A8A-D627-4308-3C8A466A26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Production Rules Example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BA19070-7E80-BB1B-0153-80E0E2A6F6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IF (at bus stop AND bus arrives) THEN action(get on the bus)</a:t>
            </a:r>
          </a:p>
          <a:p>
            <a:r>
              <a:rPr lang="en-GB" altLang="en-US"/>
              <a:t>IF (on bus AND not paid AND have oyster card) THEN action(pay with oyster) AND add(paid)</a:t>
            </a:r>
          </a:p>
          <a:p>
            <a:r>
              <a:rPr lang="en-GB" altLang="en-US"/>
              <a:t>IF (on bus AND paid AND empty seat) THEN sit down</a:t>
            </a:r>
          </a:p>
          <a:p>
            <a:endParaRPr lang="en-GB" altLang="en-US"/>
          </a:p>
          <a:p>
            <a:r>
              <a:rPr lang="en-GB" altLang="en-US"/>
              <a:t>conditions and actions must be clearly defined</a:t>
            </a:r>
          </a:p>
          <a:p>
            <a:pPr lvl="1"/>
            <a:r>
              <a:rPr lang="en-GB" altLang="en-US"/>
              <a:t>can easily be expressed in first order logic!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6D0BBF9-6602-A4AB-1829-4154269857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Graphical Representation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568CA692-E75C-3EC0-BE2F-DF7D8BE24D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Humans draw diagrams all the time, e.g.</a:t>
            </a:r>
          </a:p>
          <a:p>
            <a:pPr lvl="1"/>
            <a:r>
              <a:rPr lang="en-GB" altLang="en-US"/>
              <a:t>Causal relationships </a:t>
            </a:r>
          </a:p>
          <a:p>
            <a:pPr lvl="1"/>
            <a:endParaRPr lang="en-GB" altLang="en-US"/>
          </a:p>
          <a:p>
            <a:pPr lvl="1"/>
            <a:endParaRPr lang="en-GB" altLang="en-US"/>
          </a:p>
          <a:p>
            <a:pPr lvl="1"/>
            <a:endParaRPr lang="en-GB" altLang="en-US"/>
          </a:p>
          <a:p>
            <a:pPr lvl="1"/>
            <a:endParaRPr lang="en-GB" altLang="en-US"/>
          </a:p>
          <a:p>
            <a:pPr lvl="1"/>
            <a:r>
              <a:rPr lang="en-GB" altLang="en-US"/>
              <a:t>And relationships between ideas</a:t>
            </a:r>
          </a:p>
        </p:txBody>
      </p:sp>
      <p:pic>
        <p:nvPicPr>
          <p:cNvPr id="20484" name="Picture 4" descr="causal_graph">
            <a:extLst>
              <a:ext uri="{FF2B5EF4-FFF2-40B4-BE49-F238E27FC236}">
                <a16:creationId xmlns:a16="http://schemas.microsoft.com/office/drawing/2014/main" id="{70B0847E-32E3-2268-0DDC-7BE97EB4D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743200"/>
            <a:ext cx="3863975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5" descr="causal_ideas">
            <a:extLst>
              <a:ext uri="{FF2B5EF4-FFF2-40B4-BE49-F238E27FC236}">
                <a16:creationId xmlns:a16="http://schemas.microsoft.com/office/drawing/2014/main" id="{E4F716AF-9E05-A29C-3AE4-349D8E793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250" y="4741863"/>
            <a:ext cx="4537075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715E630-24E6-4D8D-ECEF-BB8E018AD8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Graphical Representation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7E2A296-D879-1F19-65E9-A2EF45138B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Graphs easy to store in a computer</a:t>
            </a:r>
          </a:p>
          <a:p>
            <a:r>
              <a:rPr lang="en-GB" altLang="en-US"/>
              <a:t>To be of any use must impose a formalism</a:t>
            </a:r>
          </a:p>
          <a:p>
            <a:endParaRPr lang="en-GB" altLang="en-US"/>
          </a:p>
          <a:p>
            <a:pPr lvl="1"/>
            <a:endParaRPr lang="en-GB" altLang="en-US"/>
          </a:p>
          <a:p>
            <a:pPr lvl="1"/>
            <a:endParaRPr lang="en-GB" altLang="en-US"/>
          </a:p>
          <a:p>
            <a:pPr lvl="1"/>
            <a:endParaRPr lang="en-GB" altLang="en-US"/>
          </a:p>
          <a:p>
            <a:pPr lvl="1"/>
            <a:endParaRPr lang="en-GB" altLang="en-US"/>
          </a:p>
          <a:p>
            <a:pPr lvl="1"/>
            <a:r>
              <a:rPr lang="en-GB" altLang="en-US"/>
              <a:t>Jason is 15, Bryan is 40, Arthur is 70, Jim is 74</a:t>
            </a:r>
          </a:p>
          <a:p>
            <a:pPr lvl="1"/>
            <a:r>
              <a:rPr lang="en-GB" altLang="en-US"/>
              <a:t>How old is Julia?</a:t>
            </a:r>
          </a:p>
        </p:txBody>
      </p:sp>
      <p:pic>
        <p:nvPicPr>
          <p:cNvPr id="21508" name="Picture 4" descr="family1">
            <a:extLst>
              <a:ext uri="{FF2B5EF4-FFF2-40B4-BE49-F238E27FC236}">
                <a16:creationId xmlns:a16="http://schemas.microsoft.com/office/drawing/2014/main" id="{C7326CD6-54A9-DAFB-3814-1168A14BD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895600"/>
            <a:ext cx="580707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D6B60CC-A742-BF80-B476-6704D5744C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Semantic Networks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194061F-FDFE-28AF-0E43-B3F733C800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Because the syntax is the same</a:t>
            </a:r>
          </a:p>
          <a:p>
            <a:pPr lvl="1"/>
            <a:r>
              <a:rPr lang="en-GB" altLang="en-US"/>
              <a:t>We can guess that Julia’s age is similar to Bryan’s</a:t>
            </a:r>
          </a:p>
          <a:p>
            <a:r>
              <a:rPr lang="en-GB" altLang="en-US"/>
              <a:t>Formalism imposes restricted syntax</a:t>
            </a:r>
          </a:p>
        </p:txBody>
      </p:sp>
      <p:pic>
        <p:nvPicPr>
          <p:cNvPr id="22532" name="Picture 4" descr="family2">
            <a:extLst>
              <a:ext uri="{FF2B5EF4-FFF2-40B4-BE49-F238E27FC236}">
                <a16:creationId xmlns:a16="http://schemas.microsoft.com/office/drawing/2014/main" id="{C2EC917E-E7F5-CBEB-0712-8BCD24BF4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419475"/>
            <a:ext cx="5840413" cy="238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F05C6BA8-967C-0E88-44BC-EAC7A4F76D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Semantic Networks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3BBAF5D-9E37-261F-AB07-E28C80AAEF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Graphical representation (a graph)</a:t>
            </a:r>
          </a:p>
          <a:p>
            <a:pPr lvl="1"/>
            <a:r>
              <a:rPr lang="en-GB" altLang="en-US"/>
              <a:t>Links indicate subset, member, relation, ...</a:t>
            </a:r>
          </a:p>
          <a:p>
            <a:r>
              <a:rPr lang="en-GB" altLang="en-US"/>
              <a:t>Equivalent to logical statements (usually FOL)</a:t>
            </a:r>
          </a:p>
          <a:p>
            <a:pPr lvl="1"/>
            <a:r>
              <a:rPr lang="en-GB" altLang="en-US"/>
              <a:t>Easier to understand than FOL?</a:t>
            </a:r>
          </a:p>
          <a:p>
            <a:pPr lvl="1"/>
            <a:r>
              <a:rPr lang="en-GB" altLang="en-US"/>
              <a:t>Specialised SN reasoning algorithms can be faster</a:t>
            </a:r>
          </a:p>
          <a:p>
            <a:r>
              <a:rPr lang="en-GB" altLang="en-US"/>
              <a:t>Example: natural language understanding</a:t>
            </a:r>
          </a:p>
          <a:p>
            <a:pPr lvl="1"/>
            <a:r>
              <a:rPr lang="en-GB" altLang="en-US"/>
              <a:t>Sentences with same meaning have same graphs</a:t>
            </a:r>
          </a:p>
          <a:p>
            <a:pPr lvl="1"/>
            <a:r>
              <a:rPr lang="en-GB" altLang="en-US"/>
              <a:t>e.g. Conceptual Dependency Theory (Schank)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9101CCA-2117-5453-3A4B-6B0B09C48F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Conceptual Graphs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49580C7-A674-8EC9-3EFB-ECF4C3031A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Semantic network where each graph represents a single proposition</a:t>
            </a:r>
          </a:p>
          <a:p>
            <a:r>
              <a:rPr lang="en-GB" altLang="en-US"/>
              <a:t>Concept nodes can be</a:t>
            </a:r>
          </a:p>
          <a:p>
            <a:pPr lvl="1"/>
            <a:r>
              <a:rPr lang="en-GB" altLang="en-US"/>
              <a:t>Concrete (visualisable) such as restaurant, my dog Spot</a:t>
            </a:r>
          </a:p>
          <a:p>
            <a:pPr lvl="1"/>
            <a:r>
              <a:rPr lang="en-GB" altLang="en-US"/>
              <a:t>Abstract (not easily visualisable) such as anger</a:t>
            </a:r>
          </a:p>
          <a:p>
            <a:r>
              <a:rPr lang="en-GB" altLang="en-US"/>
              <a:t>Edges do not have labels</a:t>
            </a:r>
          </a:p>
          <a:p>
            <a:pPr lvl="1"/>
            <a:r>
              <a:rPr lang="en-GB" altLang="en-US"/>
              <a:t>Instead, conceptual relation nodes</a:t>
            </a:r>
          </a:p>
          <a:p>
            <a:pPr lvl="1"/>
            <a:r>
              <a:rPr lang="en-GB" altLang="en-US"/>
              <a:t>Easy to represent relations between multiple objects</a:t>
            </a:r>
          </a:p>
          <a:p>
            <a:endParaRPr lang="en-GB" altLang="en-US"/>
          </a:p>
          <a:p>
            <a:endParaRPr lang="en-GB" altLang="en-US"/>
          </a:p>
        </p:txBody>
      </p:sp>
      <p:pic>
        <p:nvPicPr>
          <p:cNvPr id="24580" name="Picture 4" descr="conceptual_graph1">
            <a:extLst>
              <a:ext uri="{FF2B5EF4-FFF2-40B4-BE49-F238E27FC236}">
                <a16:creationId xmlns:a16="http://schemas.microsoft.com/office/drawing/2014/main" id="{A8B75D93-EF8F-6BCC-9D2E-7B8FE7F96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334000"/>
            <a:ext cx="3200400" cy="130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2F2799A-9953-5515-ACA7-E4B58D145C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Frame Representations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87AD762-9602-71B1-513A-B2FF60AE7C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Semantic networks where nodes have structure</a:t>
            </a:r>
          </a:p>
          <a:p>
            <a:pPr lvl="1"/>
            <a:r>
              <a:rPr lang="en-GB" altLang="en-US"/>
              <a:t>Frame with a number of slots (age, height, ...)</a:t>
            </a:r>
          </a:p>
          <a:p>
            <a:pPr lvl="1"/>
            <a:r>
              <a:rPr lang="en-GB" altLang="en-US"/>
              <a:t>Each slot stores specific item of information</a:t>
            </a:r>
          </a:p>
          <a:p>
            <a:r>
              <a:rPr lang="en-GB" altLang="en-US"/>
              <a:t>When agent faces a new situation</a:t>
            </a:r>
          </a:p>
          <a:p>
            <a:pPr lvl="1"/>
            <a:r>
              <a:rPr lang="en-GB" altLang="en-US"/>
              <a:t>Slots can be filled in (value may be another frame)</a:t>
            </a:r>
          </a:p>
          <a:p>
            <a:pPr lvl="1"/>
            <a:r>
              <a:rPr lang="en-GB" altLang="en-US"/>
              <a:t>Filling in may trigger actions</a:t>
            </a:r>
          </a:p>
          <a:p>
            <a:pPr lvl="1"/>
            <a:r>
              <a:rPr lang="en-GB" altLang="en-US"/>
              <a:t>May trigger retrieval of other frames</a:t>
            </a:r>
          </a:p>
          <a:p>
            <a:r>
              <a:rPr lang="en-GB" altLang="en-US"/>
              <a:t>Inheritance of properties between frames</a:t>
            </a:r>
          </a:p>
          <a:p>
            <a:pPr lvl="1"/>
            <a:r>
              <a:rPr lang="en-GB" altLang="en-US"/>
              <a:t>Very similar to objects in OOP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2A5D7B3-EB65-510D-7346-7D9279B15E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Example: Frame Representation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0B864FB3-902B-5E4F-0926-D1624C1777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26628" name="Picture 4" descr="frames">
            <a:extLst>
              <a:ext uri="{FF2B5EF4-FFF2-40B4-BE49-F238E27FC236}">
                <a16:creationId xmlns:a16="http://schemas.microsoft.com/office/drawing/2014/main" id="{186387A6-5934-16F6-8FE1-CB1497136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590800"/>
            <a:ext cx="5791200" cy="343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89080D81-4F50-18C9-52DC-0A21BE0B53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Flexibility in Frames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FAACF9B2-0F12-FA3D-D72F-A2BE58F07C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Slots in a frame can contain</a:t>
            </a:r>
          </a:p>
          <a:p>
            <a:pPr lvl="1"/>
            <a:r>
              <a:rPr lang="en-GB" altLang="en-US"/>
              <a:t>Information for choosing a frame in a situation</a:t>
            </a:r>
          </a:p>
          <a:p>
            <a:pPr lvl="1"/>
            <a:r>
              <a:rPr lang="en-GB" altLang="en-US"/>
              <a:t>Relationships between this and other frames</a:t>
            </a:r>
          </a:p>
          <a:p>
            <a:pPr lvl="1"/>
            <a:r>
              <a:rPr lang="en-GB" altLang="en-US"/>
              <a:t>Procedures to carry out after various slots filled</a:t>
            </a:r>
          </a:p>
          <a:p>
            <a:pPr lvl="1"/>
            <a:r>
              <a:rPr lang="en-GB" altLang="en-US"/>
              <a:t>Default information to use where input is missing</a:t>
            </a:r>
          </a:p>
          <a:p>
            <a:pPr lvl="1"/>
            <a:r>
              <a:rPr lang="en-GB" altLang="en-US"/>
              <a:t>Blank slots: left blank unless required for a task</a:t>
            </a:r>
          </a:p>
          <a:p>
            <a:pPr lvl="1"/>
            <a:r>
              <a:rPr lang="en-GB" altLang="en-US"/>
              <a:t>Other frames, which gives a hierarchy</a:t>
            </a:r>
          </a:p>
          <a:p>
            <a:pPr lvl="1"/>
            <a:endParaRPr lang="en-GB" altLang="en-US"/>
          </a:p>
          <a:p>
            <a:r>
              <a:rPr lang="en-GB" altLang="en-US"/>
              <a:t>Can also be expressed in first order logic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200A4E4-E5C7-C47F-D0B5-D1C429041C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Representation &amp; Logic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7B276E9D-E445-FD6D-D1E0-5F40A8D3F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AI wanted “non-logical representations”</a:t>
            </a:r>
          </a:p>
          <a:p>
            <a:pPr lvl="1"/>
            <a:r>
              <a:rPr lang="en-GB" altLang="en-US"/>
              <a:t>Production rules</a:t>
            </a:r>
          </a:p>
          <a:p>
            <a:pPr lvl="1"/>
            <a:r>
              <a:rPr lang="en-GB" altLang="en-US"/>
              <a:t>Semantic networks</a:t>
            </a:r>
          </a:p>
          <a:p>
            <a:pPr lvl="2"/>
            <a:r>
              <a:rPr lang="en-GB" altLang="en-US"/>
              <a:t>Conceptual graphs, frames</a:t>
            </a:r>
          </a:p>
          <a:p>
            <a:r>
              <a:rPr lang="en-GB" altLang="en-US"/>
              <a:t>But all can be expressed in first order logic!</a:t>
            </a:r>
          </a:p>
          <a:p>
            <a:r>
              <a:rPr lang="en-GB" altLang="en-US"/>
              <a:t>Best of both worlds</a:t>
            </a:r>
          </a:p>
          <a:p>
            <a:pPr lvl="1"/>
            <a:r>
              <a:rPr lang="en-GB" altLang="en-US"/>
              <a:t>Logical reading ensures representation well-defined</a:t>
            </a:r>
          </a:p>
          <a:p>
            <a:pPr lvl="1"/>
            <a:r>
              <a:rPr lang="en-GB" altLang="en-US"/>
              <a:t>Representations specialised for applications</a:t>
            </a:r>
          </a:p>
          <a:p>
            <a:pPr lvl="1"/>
            <a:r>
              <a:rPr lang="en-GB" altLang="en-US"/>
              <a:t>Can make reasoning easier, more intuitive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Century Schoolbook"/>
        <a:ea typeface=""/>
        <a:cs typeface=""/>
      </a:majorFont>
      <a:minorFont>
        <a:latin typeface="Century School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2095</TotalTime>
  <Words>1388</Words>
  <Application>Microsoft Office PowerPoint</Application>
  <PresentationFormat>Widescreen</PresentationFormat>
  <Paragraphs>223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Century Schoolbook</vt:lpstr>
      <vt:lpstr>Arial</vt:lpstr>
      <vt:lpstr>Aptos</vt:lpstr>
      <vt:lpstr>Times New Roman</vt:lpstr>
      <vt:lpstr>Calibri</vt:lpstr>
      <vt:lpstr>Symbol</vt:lpstr>
      <vt:lpstr>Wingdings</vt:lpstr>
      <vt:lpstr>Wingdings 2</vt:lpstr>
      <vt:lpstr>Office Theme</vt:lpstr>
      <vt:lpstr>Artificial Intelligence  Knowledge Representation</vt:lpstr>
      <vt:lpstr>Representation </vt:lpstr>
      <vt:lpstr>Choosing a Representation</vt:lpstr>
      <vt:lpstr>Some General Representations</vt:lpstr>
      <vt:lpstr> What is a Logic?</vt:lpstr>
      <vt:lpstr> Syntax and Semantics</vt:lpstr>
      <vt:lpstr> Propositional Logic</vt:lpstr>
      <vt:lpstr> Predicate Logic</vt:lpstr>
      <vt:lpstr>First Order Logic</vt:lpstr>
      <vt:lpstr> Example: FOL Sentence</vt:lpstr>
      <vt:lpstr> Example: FOL Sentence</vt:lpstr>
      <vt:lpstr> Higher Order Logic</vt:lpstr>
      <vt:lpstr> Beyond True and False</vt:lpstr>
      <vt:lpstr>Logic is a Good Representation</vt:lpstr>
      <vt:lpstr>Non-Logical Representations?</vt:lpstr>
      <vt:lpstr>Production Rules</vt:lpstr>
      <vt:lpstr>Production Rules Example</vt:lpstr>
      <vt:lpstr>Graphical Representation</vt:lpstr>
      <vt:lpstr>Graphical Representation</vt:lpstr>
      <vt:lpstr>Semantic Networks</vt:lpstr>
      <vt:lpstr>Semantic Networks</vt:lpstr>
      <vt:lpstr>Conceptual Graphs</vt:lpstr>
      <vt:lpstr>Frame Representations</vt:lpstr>
      <vt:lpstr>Example: Frame Representation</vt:lpstr>
      <vt:lpstr>Flexibility in Frames</vt:lpstr>
      <vt:lpstr>Representation &amp; Logic</vt:lpstr>
    </vt:vector>
  </TitlesOfParts>
  <Company>Department Of Computing, Imperial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 4. Knowledge Representation</dc:title>
  <dc:creator>sgc</dc:creator>
  <cp:lastModifiedBy>Iftekhar Mahmud Towhid</cp:lastModifiedBy>
  <cp:revision>228</cp:revision>
  <dcterms:created xsi:type="dcterms:W3CDTF">2003-01-15T11:49:04Z</dcterms:created>
  <dcterms:modified xsi:type="dcterms:W3CDTF">2024-10-14T15:22:19Z</dcterms:modified>
</cp:coreProperties>
</file>