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874"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BAD6F-BD88-71A1-A16C-5000AA93A38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0D9CF29-6119-9377-0F6E-2CF2BD93F1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A02356-19B1-25FF-AB00-0B765F402B7F}"/>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3E87C475-1C32-0AB0-5EB7-9EECE911A7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B1506B-3FFC-C3F7-DE6A-147D16FCB8EB}"/>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6864684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31976-9D6F-9E36-ACDF-5E182C2164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53BB332-80C8-4EA3-D034-B90EF89F2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394E88F-560C-C3B5-A321-DDA787B5E3AB}"/>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62908891-D138-5C3B-1504-DB7302DBEC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EDFC23D-F0D8-9760-E838-9E09F7A3A2C7}"/>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110864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BF7046-2EEE-9455-3837-4335078BB1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76DFEF-B4E9-DF8B-9D2E-B8B92E2F4D1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9EF710D-F830-CCCE-44D1-5E4EC38CCACB}"/>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996AFC8C-2CA8-E1B1-B788-DDE5A87E7DD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30A0784-EA7D-9530-2317-4AAD4B4AC5F3}"/>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34258828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F0DC8-A496-1D1D-5155-7950753B70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ADB437F-3A9F-10A4-FA28-4B2CAE481EA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2A4B2C1-BE1B-BFDA-336A-2F08A71AC2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5D5CA8C-19B3-232C-6645-17A96BBB5CF7}"/>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6" name="Footer Placeholder 5">
            <a:extLst>
              <a:ext uri="{FF2B5EF4-FFF2-40B4-BE49-F238E27FC236}">
                <a16:creationId xmlns:a16="http://schemas.microsoft.com/office/drawing/2014/main" id="{80BEF0B3-20FD-5974-33C5-888C989B705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A8B0EE1-49F3-8AD0-1CA7-57F7FB34234B}"/>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23994693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E4F4E-A89C-B101-72DC-C4569EEC67D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4DC1D46-ACC2-99A5-6A19-28F2102925B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DE0F904-3589-3830-E4F3-85D1291F147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14DEED-B0A0-493A-2B9A-CF25DE6DAAA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0BFBEE55-E9AF-3478-B0DC-8CF58BDF6D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7734A9-A542-AED3-7486-4D6D608B922A}"/>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8" name="Footer Placeholder 7">
            <a:extLst>
              <a:ext uri="{FF2B5EF4-FFF2-40B4-BE49-F238E27FC236}">
                <a16:creationId xmlns:a16="http://schemas.microsoft.com/office/drawing/2014/main" id="{627DF9C5-33C1-27CE-D6AE-FA5CEEC9245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736C3FC-700C-7F7F-A685-2CFBE88ABC47}"/>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2118526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88C55-2885-67BE-FBA2-6BA5DD41E62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B3029F-2705-C219-70C3-16AD815B65AD}"/>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4" name="Footer Placeholder 3">
            <a:extLst>
              <a:ext uri="{FF2B5EF4-FFF2-40B4-BE49-F238E27FC236}">
                <a16:creationId xmlns:a16="http://schemas.microsoft.com/office/drawing/2014/main" id="{997A64D7-6176-2396-F42A-B071A27D21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7C7E2D-A5F1-1A9E-30CE-9A1FCDAB50A6}"/>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3855973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41046B6-C74B-AE49-765A-E5C785D07906}"/>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3" name="Footer Placeholder 2">
            <a:extLst>
              <a:ext uri="{FF2B5EF4-FFF2-40B4-BE49-F238E27FC236}">
                <a16:creationId xmlns:a16="http://schemas.microsoft.com/office/drawing/2014/main" id="{9BD72933-FA55-06F0-520C-FC2077A0BC6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3FD7D7-A5A0-5925-CA96-8500332C604C}"/>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15002734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C4D9FB-501A-29F8-3F25-65F8322843A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DF8DA4B-6DC9-0016-0A7F-5A5216114EB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72FC9D6-709A-3BF2-CDC3-C365BBA689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B33239-C3E3-1805-C867-166C8B135E23}"/>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6" name="Footer Placeholder 5">
            <a:extLst>
              <a:ext uri="{FF2B5EF4-FFF2-40B4-BE49-F238E27FC236}">
                <a16:creationId xmlns:a16="http://schemas.microsoft.com/office/drawing/2014/main" id="{6C740BC7-1255-C406-AD38-E23E74AAEB1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7549354-8EF4-62A4-ED75-2F2C604CA181}"/>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683888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1597D-6B97-061B-FFC1-F3B42E2D16E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8F2E14-57A5-1CC7-41C3-D6D17C1296B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150912-70FE-C855-24F9-3795617620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717075B-98EA-272C-BC53-0CC4AA3FD972}"/>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6" name="Footer Placeholder 5">
            <a:extLst>
              <a:ext uri="{FF2B5EF4-FFF2-40B4-BE49-F238E27FC236}">
                <a16:creationId xmlns:a16="http://schemas.microsoft.com/office/drawing/2014/main" id="{B017A239-853B-A243-65C5-0FE4138AA37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6278AF-B889-33F5-B458-0CED8CE8123F}"/>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27061442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89E112-E3D7-DA0B-EE3A-3F1BABA3A06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448AC41-3E3B-3094-C960-D9776F8082F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32182-BBE0-B18F-A8B2-BC0F07BA73C6}"/>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AA52CED8-7006-DA12-8CC4-FCC1B6EAA7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F2EE33-9BFD-3109-170F-E971B80419DE}"/>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868745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7D6AF6A-F1D9-BDED-41B5-75C41C5045AA}"/>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AF9ABF9-F81B-53AB-D168-8896F2CE565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01EC0DC-5309-8F9A-4D1A-553487F81DDA}"/>
              </a:ext>
            </a:extLst>
          </p:cNvPr>
          <p:cNvSpPr>
            <a:spLocks noGrp="1"/>
          </p:cNvSpPr>
          <p:nvPr>
            <p:ph type="dt" sz="half" idx="10"/>
          </p:nvPr>
        </p:nvSpPr>
        <p:spPr/>
        <p:txBody>
          <a:body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5A3459A3-66D3-FE06-77F1-C2417A9446B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8ED2579-E034-FE7F-374F-09377CA1D1DF}"/>
              </a:ext>
            </a:extLst>
          </p:cNvPr>
          <p:cNvSpPr>
            <a:spLocks noGrp="1"/>
          </p:cNvSpPr>
          <p:nvPr>
            <p:ph type="sldNum" sz="quarter" idx="12"/>
          </p:nvPr>
        </p:nvSpPr>
        <p:spPr/>
        <p:txBody>
          <a:bodyPr/>
          <a:lstStyle/>
          <a:p>
            <a:fld id="{9B0E2BD2-C8DA-45E1-BA59-3EB97EA36205}" type="slidenum">
              <a:rPr lang="en-US" smtClean="0"/>
              <a:t>‹#›</a:t>
            </a:fld>
            <a:endParaRPr lang="en-US"/>
          </a:p>
        </p:txBody>
      </p:sp>
    </p:spTree>
    <p:extLst>
      <p:ext uri="{BB962C8B-B14F-4D97-AF65-F5344CB8AC3E}">
        <p14:creationId xmlns:p14="http://schemas.microsoft.com/office/powerpoint/2010/main" val="100546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A3FE43B-E7E3-86C2-C581-7FC96385B8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6F115A7-488C-9BAF-588E-3C1ECEC336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735770B-19E3-F924-EE1C-814508EC25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C6A8D2B-64A0-4035-A4AB-5FDD250990A7}" type="datetimeFigureOut">
              <a:rPr lang="en-US" smtClean="0"/>
              <a:t>11/24/2024</a:t>
            </a:fld>
            <a:endParaRPr lang="en-US"/>
          </a:p>
        </p:txBody>
      </p:sp>
      <p:sp>
        <p:nvSpPr>
          <p:cNvPr id="5" name="Footer Placeholder 4">
            <a:extLst>
              <a:ext uri="{FF2B5EF4-FFF2-40B4-BE49-F238E27FC236}">
                <a16:creationId xmlns:a16="http://schemas.microsoft.com/office/drawing/2014/main" id="{EFC857DE-8E0B-8C53-E71E-4247A30F42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9FDDA08-CB81-587E-DD3A-AD6B4FE104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B0E2BD2-C8DA-45E1-BA59-3EB97EA36205}" type="slidenum">
              <a:rPr lang="en-US" smtClean="0"/>
              <a:t>‹#›</a:t>
            </a:fld>
            <a:endParaRPr lang="en-US"/>
          </a:p>
        </p:txBody>
      </p:sp>
    </p:spTree>
    <p:extLst>
      <p:ext uri="{BB962C8B-B14F-4D97-AF65-F5344CB8AC3E}">
        <p14:creationId xmlns:p14="http://schemas.microsoft.com/office/powerpoint/2010/main" val="25616355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www.cs.dartmouth.edu/~scot/cs10/lectures/19/19.html#:~:text=Let's%20define%20the%20frontier%20of,1%20from%20the%20start%20vertex."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31601E-61AA-6FB3-AE3D-4235E466F161}"/>
              </a:ext>
            </a:extLst>
          </p:cNvPr>
          <p:cNvSpPr>
            <a:spLocks noGrp="1"/>
          </p:cNvSpPr>
          <p:nvPr>
            <p:ph type="ctrTitle"/>
          </p:nvPr>
        </p:nvSpPr>
        <p:spPr/>
        <p:txBody>
          <a:bodyPr/>
          <a:lstStyle/>
          <a:p>
            <a:r>
              <a:rPr lang="en-US" dirty="0"/>
              <a:t>Uninformed Search</a:t>
            </a:r>
          </a:p>
        </p:txBody>
      </p:sp>
      <p:sp>
        <p:nvSpPr>
          <p:cNvPr id="3" name="Subtitle 2">
            <a:extLst>
              <a:ext uri="{FF2B5EF4-FFF2-40B4-BE49-F238E27FC236}">
                <a16:creationId xmlns:a16="http://schemas.microsoft.com/office/drawing/2014/main" id="{62D749E0-7827-B8DA-9363-6E60AD5AD368}"/>
              </a:ext>
            </a:extLst>
          </p:cNvPr>
          <p:cNvSpPr>
            <a:spLocks noGrp="1"/>
          </p:cNvSpPr>
          <p:nvPr>
            <p:ph type="subTitle" idx="1"/>
          </p:nvPr>
        </p:nvSpPr>
        <p:spPr/>
        <p:txBody>
          <a:bodyPr/>
          <a:lstStyle/>
          <a:p>
            <a:r>
              <a:rPr lang="en-US" dirty="0"/>
              <a:t>Iftekhar Mahmud Towhid</a:t>
            </a:r>
          </a:p>
        </p:txBody>
      </p:sp>
    </p:spTree>
    <p:extLst>
      <p:ext uri="{BB962C8B-B14F-4D97-AF65-F5344CB8AC3E}">
        <p14:creationId xmlns:p14="http://schemas.microsoft.com/office/powerpoint/2010/main" val="10552912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51C360-01A6-400A-8EC8-9B62575E2F85}"/>
              </a:ext>
            </a:extLst>
          </p:cNvPr>
          <p:cNvSpPr>
            <a:spLocks noGrp="1"/>
          </p:cNvSpPr>
          <p:nvPr>
            <p:ph type="title"/>
          </p:nvPr>
        </p:nvSpPr>
        <p:spPr/>
        <p:txBody>
          <a:bodyPr/>
          <a:lstStyle/>
          <a:p>
            <a:r>
              <a:rPr lang="en-US" dirty="0"/>
              <a:t>Uninformed Search</a:t>
            </a:r>
          </a:p>
        </p:txBody>
      </p:sp>
      <p:sp>
        <p:nvSpPr>
          <p:cNvPr id="3" name="Content Placeholder 2">
            <a:extLst>
              <a:ext uri="{FF2B5EF4-FFF2-40B4-BE49-F238E27FC236}">
                <a16:creationId xmlns:a16="http://schemas.microsoft.com/office/drawing/2014/main" id="{7FB1E841-9F9E-C08E-C7B3-84C2F27E519E}"/>
              </a:ext>
            </a:extLst>
          </p:cNvPr>
          <p:cNvSpPr>
            <a:spLocks noGrp="1"/>
          </p:cNvSpPr>
          <p:nvPr>
            <p:ph idx="1"/>
          </p:nvPr>
        </p:nvSpPr>
        <p:spPr/>
        <p:txBody>
          <a:bodyPr>
            <a:normAutofit/>
          </a:bodyPr>
          <a:lstStyle/>
          <a:p>
            <a:r>
              <a:rPr lang="en-GB" dirty="0"/>
              <a:t>Uninformed search algorithms are a class of search algorithms that do not have any additional information about the problem other than what is given in the problem definition. They are also known as blind search algorithms.</a:t>
            </a:r>
          </a:p>
          <a:p>
            <a:r>
              <a:rPr lang="en-GB" dirty="0"/>
              <a:t>In Artificial Intelligence (AI), search algorithms play a crucial role in finding solutions to problems. These algorithms systematically explore the search space to find the optimal path or solution.</a:t>
            </a:r>
            <a:endParaRPr lang="en-US" dirty="0"/>
          </a:p>
        </p:txBody>
      </p:sp>
    </p:spTree>
    <p:extLst>
      <p:ext uri="{BB962C8B-B14F-4D97-AF65-F5344CB8AC3E}">
        <p14:creationId xmlns:p14="http://schemas.microsoft.com/office/powerpoint/2010/main" val="13579131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3E767F-8E34-A0E8-493C-90570001C416}"/>
              </a:ext>
            </a:extLst>
          </p:cNvPr>
          <p:cNvSpPr>
            <a:spLocks noGrp="1"/>
          </p:cNvSpPr>
          <p:nvPr>
            <p:ph type="title"/>
          </p:nvPr>
        </p:nvSpPr>
        <p:spPr/>
        <p:txBody>
          <a:bodyPr/>
          <a:lstStyle/>
          <a:p>
            <a:r>
              <a:rPr lang="en-US" dirty="0"/>
              <a:t>Understanding Uninformed Search Algorithms</a:t>
            </a:r>
          </a:p>
        </p:txBody>
      </p:sp>
      <p:sp>
        <p:nvSpPr>
          <p:cNvPr id="3" name="Content Placeholder 2">
            <a:extLst>
              <a:ext uri="{FF2B5EF4-FFF2-40B4-BE49-F238E27FC236}">
                <a16:creationId xmlns:a16="http://schemas.microsoft.com/office/drawing/2014/main" id="{421E418E-E023-27EB-A3E0-95E78012DE9F}"/>
              </a:ext>
            </a:extLst>
          </p:cNvPr>
          <p:cNvSpPr>
            <a:spLocks noGrp="1"/>
          </p:cNvSpPr>
          <p:nvPr>
            <p:ph idx="1"/>
          </p:nvPr>
        </p:nvSpPr>
        <p:spPr/>
        <p:txBody>
          <a:bodyPr>
            <a:normAutofit lnSpcReduction="10000"/>
          </a:bodyPr>
          <a:lstStyle/>
          <a:p>
            <a:r>
              <a:rPr lang="en-GB" dirty="0"/>
              <a:t>Uninformed search algorithms, also known as blind search algorithms, are a class of search algorithms used in artificial intelligence that do not use any domain-specific knowledge about the problem being solved. </a:t>
            </a:r>
          </a:p>
          <a:p>
            <a:r>
              <a:rPr lang="en-GB" dirty="0"/>
              <a:t>These algorithms rely solely on the information provided in the problem definition, such as the initial state, actions available in each state, and the goal state. </a:t>
            </a:r>
          </a:p>
          <a:p>
            <a:r>
              <a:rPr lang="en-GB" dirty="0"/>
              <a:t>Uninformed search algorithms are called “blind” because they do not have a heuristic function to guide the search towards the goal; instead, they explore the search space systematically.</a:t>
            </a:r>
            <a:endParaRPr lang="en-US" dirty="0"/>
          </a:p>
        </p:txBody>
      </p:sp>
    </p:spTree>
    <p:extLst>
      <p:ext uri="{BB962C8B-B14F-4D97-AF65-F5344CB8AC3E}">
        <p14:creationId xmlns:p14="http://schemas.microsoft.com/office/powerpoint/2010/main" val="1137868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DC464-C3DD-669E-A94B-E49FFC17A029}"/>
              </a:ext>
            </a:extLst>
          </p:cNvPr>
          <p:cNvSpPr>
            <a:spLocks noGrp="1"/>
          </p:cNvSpPr>
          <p:nvPr>
            <p:ph type="title"/>
          </p:nvPr>
        </p:nvSpPr>
        <p:spPr/>
        <p:txBody>
          <a:bodyPr/>
          <a:lstStyle/>
          <a:p>
            <a:r>
              <a:rPr lang="en-US" dirty="0"/>
              <a:t>Cont.</a:t>
            </a:r>
          </a:p>
        </p:txBody>
      </p:sp>
      <p:sp>
        <p:nvSpPr>
          <p:cNvPr id="3" name="Content Placeholder 2">
            <a:extLst>
              <a:ext uri="{FF2B5EF4-FFF2-40B4-BE49-F238E27FC236}">
                <a16:creationId xmlns:a16="http://schemas.microsoft.com/office/drawing/2014/main" id="{DE9757C4-5AD1-E9BF-463F-336D33E0B0B1}"/>
              </a:ext>
            </a:extLst>
          </p:cNvPr>
          <p:cNvSpPr>
            <a:spLocks noGrp="1"/>
          </p:cNvSpPr>
          <p:nvPr>
            <p:ph idx="1"/>
          </p:nvPr>
        </p:nvSpPr>
        <p:spPr/>
        <p:txBody>
          <a:bodyPr>
            <a:normAutofit fontScale="92500" lnSpcReduction="10000"/>
          </a:bodyPr>
          <a:lstStyle/>
          <a:p>
            <a:r>
              <a:rPr lang="en-GB" dirty="0"/>
              <a:t>Uninformed search algorithms play a fundamental role in artificial intelligence (AI) by providing basic search strategies for exploring problem spaces where no additional knowledge is available beyond the problem definition. These algorithms are crucial for solving a wide range of problems in AI, such as pathfinding, puzzle solving, and state-space search.</a:t>
            </a:r>
          </a:p>
          <a:p>
            <a:endParaRPr lang="en-GB" dirty="0"/>
          </a:p>
          <a:p>
            <a:r>
              <a:rPr lang="en-GB" dirty="0"/>
              <a:t>The main role of uninformed search algorithms is to systematically explore the search space to find a solution, without using any domain-specific knowledge or heuristics. While these algorithms may not always be the most efficient, they provide a baseline for understanding and solving complex problems in AI.</a:t>
            </a:r>
            <a:endParaRPr lang="en-US" dirty="0"/>
          </a:p>
        </p:txBody>
      </p:sp>
    </p:spTree>
    <p:extLst>
      <p:ext uri="{BB962C8B-B14F-4D97-AF65-F5344CB8AC3E}">
        <p14:creationId xmlns:p14="http://schemas.microsoft.com/office/powerpoint/2010/main" val="3721674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DF094-EAE2-2B96-B73E-698354D6D6E0}"/>
              </a:ext>
            </a:extLst>
          </p:cNvPr>
          <p:cNvSpPr>
            <a:spLocks noGrp="1"/>
          </p:cNvSpPr>
          <p:nvPr>
            <p:ph type="title"/>
          </p:nvPr>
        </p:nvSpPr>
        <p:spPr/>
        <p:txBody>
          <a:bodyPr/>
          <a:lstStyle/>
          <a:p>
            <a:r>
              <a:rPr lang="en-US" dirty="0"/>
              <a:t>Uninformed Search Techniques</a:t>
            </a:r>
          </a:p>
        </p:txBody>
      </p:sp>
      <p:sp>
        <p:nvSpPr>
          <p:cNvPr id="3" name="Content Placeholder 2">
            <a:extLst>
              <a:ext uri="{FF2B5EF4-FFF2-40B4-BE49-F238E27FC236}">
                <a16:creationId xmlns:a16="http://schemas.microsoft.com/office/drawing/2014/main" id="{F49CF037-20F4-1184-0DC8-005876DA8B49}"/>
              </a:ext>
            </a:extLst>
          </p:cNvPr>
          <p:cNvSpPr>
            <a:spLocks noGrp="1"/>
          </p:cNvSpPr>
          <p:nvPr>
            <p:ph idx="1"/>
          </p:nvPr>
        </p:nvSpPr>
        <p:spPr/>
        <p:txBody>
          <a:bodyPr>
            <a:normAutofit/>
          </a:bodyPr>
          <a:lstStyle/>
          <a:p>
            <a:r>
              <a:rPr lang="en-GB" dirty="0"/>
              <a:t>Following are the various types of uninformed search algorithms:</a:t>
            </a:r>
          </a:p>
          <a:p>
            <a:pPr lvl="1"/>
            <a:r>
              <a:rPr lang="en-GB" dirty="0"/>
              <a:t>Breadth-first Search</a:t>
            </a:r>
          </a:p>
          <a:p>
            <a:pPr lvl="1"/>
            <a:r>
              <a:rPr lang="en-GB" dirty="0"/>
              <a:t>Depth-first Search</a:t>
            </a:r>
          </a:p>
          <a:p>
            <a:pPr lvl="1"/>
            <a:r>
              <a:rPr lang="en-GB" dirty="0"/>
              <a:t>Depth-limited Search</a:t>
            </a:r>
          </a:p>
          <a:p>
            <a:pPr lvl="1"/>
            <a:r>
              <a:rPr lang="en-GB" dirty="0"/>
              <a:t>Iterative deepening depth-first search</a:t>
            </a:r>
          </a:p>
          <a:p>
            <a:pPr lvl="1"/>
            <a:r>
              <a:rPr lang="en-GB" dirty="0"/>
              <a:t>Uniform cost search</a:t>
            </a:r>
          </a:p>
          <a:p>
            <a:pPr lvl="1"/>
            <a:r>
              <a:rPr lang="en-GB" dirty="0"/>
              <a:t>Bidirectional Search</a:t>
            </a:r>
            <a:endParaRPr lang="en-US" dirty="0"/>
          </a:p>
        </p:txBody>
      </p:sp>
    </p:spTree>
    <p:extLst>
      <p:ext uri="{BB962C8B-B14F-4D97-AF65-F5344CB8AC3E}">
        <p14:creationId xmlns:p14="http://schemas.microsoft.com/office/powerpoint/2010/main" val="11559475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DBEB5-6A02-88C8-E1BC-1B238C19A8C6}"/>
              </a:ext>
            </a:extLst>
          </p:cNvPr>
          <p:cNvSpPr>
            <a:spLocks noGrp="1"/>
          </p:cNvSpPr>
          <p:nvPr>
            <p:ph type="title"/>
          </p:nvPr>
        </p:nvSpPr>
        <p:spPr/>
        <p:txBody>
          <a:bodyPr/>
          <a:lstStyle/>
          <a:p>
            <a:r>
              <a:rPr lang="en-US" dirty="0"/>
              <a:t>Breadth-first Search</a:t>
            </a:r>
          </a:p>
        </p:txBody>
      </p:sp>
      <p:sp>
        <p:nvSpPr>
          <p:cNvPr id="3" name="Content Placeholder 2">
            <a:extLst>
              <a:ext uri="{FF2B5EF4-FFF2-40B4-BE49-F238E27FC236}">
                <a16:creationId xmlns:a16="http://schemas.microsoft.com/office/drawing/2014/main" id="{0E642B02-A4F7-6BD7-E6A2-AFD1B21C3FB4}"/>
              </a:ext>
            </a:extLst>
          </p:cNvPr>
          <p:cNvSpPr>
            <a:spLocks noGrp="1"/>
          </p:cNvSpPr>
          <p:nvPr>
            <p:ph idx="1"/>
          </p:nvPr>
        </p:nvSpPr>
        <p:spPr/>
        <p:txBody>
          <a:bodyPr>
            <a:normAutofit lnSpcReduction="10000"/>
          </a:bodyPr>
          <a:lstStyle/>
          <a:p>
            <a:r>
              <a:rPr lang="en-GB" dirty="0"/>
              <a:t>Breadth-first search is the most common search strategy for traversing a tree or graph. This algorithm searches breadthwise in a tree or graph, so it is called breadth-first search.</a:t>
            </a:r>
          </a:p>
          <a:p>
            <a:r>
              <a:rPr lang="en-GB" dirty="0"/>
              <a:t>BFS algorithm starts searching from the root node of the tree and expands all successor node at the current level before moving to nodes of next level.</a:t>
            </a:r>
          </a:p>
          <a:p>
            <a:r>
              <a:rPr lang="en-GB" dirty="0"/>
              <a:t>The breadth-first search algorithm is an example of a general-graph search algorithm.</a:t>
            </a:r>
          </a:p>
          <a:p>
            <a:r>
              <a:rPr lang="en-GB" dirty="0"/>
              <a:t>Breadth-first search implemented using FIFO queue data structure.</a:t>
            </a:r>
            <a:endParaRPr lang="en-US" dirty="0"/>
          </a:p>
        </p:txBody>
      </p:sp>
    </p:spTree>
    <p:extLst>
      <p:ext uri="{BB962C8B-B14F-4D97-AF65-F5344CB8AC3E}">
        <p14:creationId xmlns:p14="http://schemas.microsoft.com/office/powerpoint/2010/main" val="20161102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C9076-A273-1010-4DFB-5AC3BA7A6CB3}"/>
              </a:ext>
            </a:extLst>
          </p:cNvPr>
          <p:cNvSpPr>
            <a:spLocks noGrp="1"/>
          </p:cNvSpPr>
          <p:nvPr>
            <p:ph type="title"/>
          </p:nvPr>
        </p:nvSpPr>
        <p:spPr/>
        <p:txBody>
          <a:bodyPr/>
          <a:lstStyle/>
          <a:p>
            <a:r>
              <a:rPr lang="en-US" dirty="0"/>
              <a:t>BFS: Advantages</a:t>
            </a:r>
          </a:p>
        </p:txBody>
      </p:sp>
      <p:sp>
        <p:nvSpPr>
          <p:cNvPr id="3" name="Content Placeholder 2">
            <a:extLst>
              <a:ext uri="{FF2B5EF4-FFF2-40B4-BE49-F238E27FC236}">
                <a16:creationId xmlns:a16="http://schemas.microsoft.com/office/drawing/2014/main" id="{33930318-4985-2F04-90B7-FC67CF7CF15D}"/>
              </a:ext>
            </a:extLst>
          </p:cNvPr>
          <p:cNvSpPr>
            <a:spLocks noGrp="1"/>
          </p:cNvSpPr>
          <p:nvPr>
            <p:ph idx="1"/>
          </p:nvPr>
        </p:nvSpPr>
        <p:spPr/>
        <p:txBody>
          <a:bodyPr/>
          <a:lstStyle/>
          <a:p>
            <a:r>
              <a:rPr lang="en-GB" dirty="0"/>
              <a:t>BFS will provide a solution if any solution exists.</a:t>
            </a:r>
          </a:p>
          <a:p>
            <a:r>
              <a:rPr lang="en-GB" dirty="0"/>
              <a:t>If there are more than one solutions for a given problem, then BFS will provide the minimal solution which requires the least number of steps.</a:t>
            </a:r>
          </a:p>
          <a:p>
            <a:r>
              <a:rPr lang="en-GB" dirty="0"/>
              <a:t>It also helps in finding the shortest path in goal state, since it needs all nodes at the same hierarchical level before making a move to nodes at lower levels.</a:t>
            </a:r>
          </a:p>
          <a:p>
            <a:r>
              <a:rPr lang="en-GB" dirty="0"/>
              <a:t>It is also very easy to comprehend with the help of this we can assign the higher rank among path types.</a:t>
            </a:r>
            <a:endParaRPr lang="en-US" dirty="0"/>
          </a:p>
        </p:txBody>
      </p:sp>
    </p:spTree>
    <p:extLst>
      <p:ext uri="{BB962C8B-B14F-4D97-AF65-F5344CB8AC3E}">
        <p14:creationId xmlns:p14="http://schemas.microsoft.com/office/powerpoint/2010/main" val="17491265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0894F4-1A00-34FA-D7FF-B1C044F3C3CA}"/>
              </a:ext>
            </a:extLst>
          </p:cNvPr>
          <p:cNvSpPr>
            <a:spLocks noGrp="1"/>
          </p:cNvSpPr>
          <p:nvPr>
            <p:ph type="title"/>
          </p:nvPr>
        </p:nvSpPr>
        <p:spPr/>
        <p:txBody>
          <a:bodyPr/>
          <a:lstStyle/>
          <a:p>
            <a:r>
              <a:rPr lang="en-US" dirty="0"/>
              <a:t>BFS: Disadvantages</a:t>
            </a:r>
          </a:p>
        </p:txBody>
      </p:sp>
      <p:sp>
        <p:nvSpPr>
          <p:cNvPr id="3" name="Content Placeholder 2">
            <a:extLst>
              <a:ext uri="{FF2B5EF4-FFF2-40B4-BE49-F238E27FC236}">
                <a16:creationId xmlns:a16="http://schemas.microsoft.com/office/drawing/2014/main" id="{2F6AEB9B-8CB8-B535-8EB0-565F441EA5BF}"/>
              </a:ext>
            </a:extLst>
          </p:cNvPr>
          <p:cNvSpPr>
            <a:spLocks noGrp="1"/>
          </p:cNvSpPr>
          <p:nvPr>
            <p:ph idx="1"/>
          </p:nvPr>
        </p:nvSpPr>
        <p:spPr/>
        <p:txBody>
          <a:bodyPr/>
          <a:lstStyle/>
          <a:p>
            <a:r>
              <a:rPr lang="en-GB" dirty="0"/>
              <a:t>It requires lots of memory since each level of the tree must be saved into memory to expand the next level.</a:t>
            </a:r>
          </a:p>
          <a:p>
            <a:r>
              <a:rPr lang="en-GB" dirty="0"/>
              <a:t>BFS needs lots of time if the solution is far away from the root node.</a:t>
            </a:r>
          </a:p>
          <a:p>
            <a:r>
              <a:rPr lang="en-GB" dirty="0"/>
              <a:t>It can be very inefficient approach for searching through deeply layered spaces, as it needs to thoroughly explore all nodes at each level before moving on to the next</a:t>
            </a:r>
            <a:endParaRPr lang="en-US" dirty="0"/>
          </a:p>
        </p:txBody>
      </p:sp>
    </p:spTree>
    <p:extLst>
      <p:ext uri="{BB962C8B-B14F-4D97-AF65-F5344CB8AC3E}">
        <p14:creationId xmlns:p14="http://schemas.microsoft.com/office/powerpoint/2010/main" val="31561365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0F25E1-78CD-6DC9-CDD5-337EB39D48F0}"/>
              </a:ext>
            </a:extLst>
          </p:cNvPr>
          <p:cNvSpPr>
            <a:spLocks noGrp="1"/>
          </p:cNvSpPr>
          <p:nvPr>
            <p:ph type="title"/>
          </p:nvPr>
        </p:nvSpPr>
        <p:spPr/>
        <p:txBody>
          <a:bodyPr/>
          <a:lstStyle/>
          <a:p>
            <a:r>
              <a:rPr lang="en-US" dirty="0"/>
              <a:t>BFS: Example</a:t>
            </a:r>
          </a:p>
        </p:txBody>
      </p:sp>
      <p:sp>
        <p:nvSpPr>
          <p:cNvPr id="3" name="Content Placeholder 2">
            <a:extLst>
              <a:ext uri="{FF2B5EF4-FFF2-40B4-BE49-F238E27FC236}">
                <a16:creationId xmlns:a16="http://schemas.microsoft.com/office/drawing/2014/main" id="{CC6122BF-8D9E-1840-40B0-A8FEE4D9FF6B}"/>
              </a:ext>
            </a:extLst>
          </p:cNvPr>
          <p:cNvSpPr>
            <a:spLocks noGrp="1"/>
          </p:cNvSpPr>
          <p:nvPr>
            <p:ph idx="1"/>
          </p:nvPr>
        </p:nvSpPr>
        <p:spPr>
          <a:xfrm>
            <a:off x="838200" y="1825625"/>
            <a:ext cx="6137908" cy="4351338"/>
          </a:xfrm>
        </p:spPr>
        <p:txBody>
          <a:bodyPr>
            <a:normAutofit fontScale="92500"/>
          </a:bodyPr>
          <a:lstStyle/>
          <a:p>
            <a:r>
              <a:rPr lang="en-GB" dirty="0"/>
              <a:t>In the tree structure on the right, we have shown the traversing of the tree using BFS algorithm from the root node S to goal node K. BFS search algorithm traverse in layers, so it will follow the path which is shown by the dotted arrow, and the traversed path will be:</a:t>
            </a:r>
          </a:p>
          <a:p>
            <a:endParaRPr lang="en-GB" dirty="0"/>
          </a:p>
          <a:p>
            <a:r>
              <a:rPr lang="en-GB" dirty="0"/>
              <a:t>S---&gt; A---&gt;B----&gt;C---&gt;D----&gt;G---&gt;H---&gt;E----&gt;F----&gt;I----&gt;K </a:t>
            </a:r>
            <a:endParaRPr lang="en-US" dirty="0"/>
          </a:p>
        </p:txBody>
      </p:sp>
      <p:pic>
        <p:nvPicPr>
          <p:cNvPr id="4" name="Picture 3">
            <a:extLst>
              <a:ext uri="{FF2B5EF4-FFF2-40B4-BE49-F238E27FC236}">
                <a16:creationId xmlns:a16="http://schemas.microsoft.com/office/drawing/2014/main" id="{61127C5F-FF23-7A6D-7D7B-576131F8387D}"/>
              </a:ext>
            </a:extLst>
          </p:cNvPr>
          <p:cNvPicPr>
            <a:picLocks noChangeAspect="1"/>
          </p:cNvPicPr>
          <p:nvPr/>
        </p:nvPicPr>
        <p:blipFill>
          <a:blip r:embed="rId2"/>
          <a:stretch>
            <a:fillRect/>
          </a:stretch>
        </p:blipFill>
        <p:spPr>
          <a:xfrm>
            <a:off x="6976108" y="1971039"/>
            <a:ext cx="4813301" cy="3850641"/>
          </a:xfrm>
          <a:prstGeom prst="rect">
            <a:avLst/>
          </a:prstGeom>
        </p:spPr>
      </p:pic>
    </p:spTree>
    <p:extLst>
      <p:ext uri="{BB962C8B-B14F-4D97-AF65-F5344CB8AC3E}">
        <p14:creationId xmlns:p14="http://schemas.microsoft.com/office/powerpoint/2010/main" val="27819735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55674-9884-A627-B11B-745A39C21690}"/>
              </a:ext>
            </a:extLst>
          </p:cNvPr>
          <p:cNvSpPr>
            <a:spLocks noGrp="1"/>
          </p:cNvSpPr>
          <p:nvPr>
            <p:ph type="title"/>
          </p:nvPr>
        </p:nvSpPr>
        <p:spPr/>
        <p:txBody>
          <a:bodyPr/>
          <a:lstStyle/>
          <a:p>
            <a:r>
              <a:rPr lang="en-US" dirty="0"/>
              <a:t>BFS: Algorithm evaluation </a:t>
            </a:r>
          </a:p>
        </p:txBody>
      </p:sp>
      <p:sp>
        <p:nvSpPr>
          <p:cNvPr id="3" name="Content Placeholder 2">
            <a:extLst>
              <a:ext uri="{FF2B5EF4-FFF2-40B4-BE49-F238E27FC236}">
                <a16:creationId xmlns:a16="http://schemas.microsoft.com/office/drawing/2014/main" id="{B7135124-39A2-C17F-E9BE-091E3DCA72CE}"/>
              </a:ext>
            </a:extLst>
          </p:cNvPr>
          <p:cNvSpPr>
            <a:spLocks noGrp="1"/>
          </p:cNvSpPr>
          <p:nvPr>
            <p:ph idx="1"/>
          </p:nvPr>
        </p:nvSpPr>
        <p:spPr/>
        <p:txBody>
          <a:bodyPr>
            <a:normAutofit fontScale="92500" lnSpcReduction="10000"/>
          </a:bodyPr>
          <a:lstStyle/>
          <a:p>
            <a:pPr algn="just"/>
            <a:r>
              <a:rPr lang="en-GB" b="1" i="0" dirty="0">
                <a:solidFill>
                  <a:srgbClr val="2B2A29"/>
                </a:solidFill>
                <a:effectLst/>
              </a:rPr>
              <a:t>Time Complexity:</a:t>
            </a:r>
            <a:r>
              <a:rPr lang="en-GB" b="0" i="0" dirty="0">
                <a:solidFill>
                  <a:srgbClr val="2B2A29"/>
                </a:solidFill>
                <a:effectLst/>
              </a:rPr>
              <a:t> Time Complexity of BFS algorithm can be obtained by the number of nodes traversed in BFS until the shallowest Node. Where the </a:t>
            </a:r>
            <a:r>
              <a:rPr lang="en-GB" b="0" i="1" dirty="0">
                <a:solidFill>
                  <a:srgbClr val="2B2A29"/>
                </a:solidFill>
                <a:effectLst/>
              </a:rPr>
              <a:t>d</a:t>
            </a:r>
            <a:r>
              <a:rPr lang="en-GB" b="0" i="0" dirty="0">
                <a:solidFill>
                  <a:srgbClr val="2B2A29"/>
                </a:solidFill>
                <a:effectLst/>
              </a:rPr>
              <a:t>= depth of shallowest solution and </a:t>
            </a:r>
            <a:r>
              <a:rPr lang="en-GB" b="0" i="1" dirty="0">
                <a:solidFill>
                  <a:srgbClr val="2B2A29"/>
                </a:solidFill>
                <a:effectLst/>
              </a:rPr>
              <a:t>b</a:t>
            </a:r>
            <a:r>
              <a:rPr lang="en-GB" b="0" i="0" dirty="0">
                <a:solidFill>
                  <a:srgbClr val="2B2A29"/>
                </a:solidFill>
                <a:effectLst/>
              </a:rPr>
              <a:t> is a node at every state.</a:t>
            </a:r>
          </a:p>
          <a:p>
            <a:pPr marL="0" indent="0" algn="just">
              <a:buNone/>
            </a:pPr>
            <a:r>
              <a:rPr lang="en-GB" b="1" i="0" dirty="0">
                <a:solidFill>
                  <a:srgbClr val="2B2A29"/>
                </a:solidFill>
                <a:effectLst/>
              </a:rPr>
              <a:t>	</a:t>
            </a:r>
            <a:r>
              <a:rPr lang="en-GB" b="1" i="1" dirty="0">
                <a:solidFill>
                  <a:srgbClr val="2B2A29"/>
                </a:solidFill>
                <a:effectLst/>
              </a:rPr>
              <a:t>T(b) = 1+b</a:t>
            </a:r>
            <a:r>
              <a:rPr lang="en-GB" b="1" i="1" baseline="30000" dirty="0">
                <a:solidFill>
                  <a:srgbClr val="2B2A29"/>
                </a:solidFill>
                <a:effectLst/>
              </a:rPr>
              <a:t>2</a:t>
            </a:r>
            <a:r>
              <a:rPr lang="en-GB" b="1" i="1" dirty="0">
                <a:solidFill>
                  <a:srgbClr val="2B2A29"/>
                </a:solidFill>
                <a:effectLst/>
              </a:rPr>
              <a:t>+b</a:t>
            </a:r>
            <a:r>
              <a:rPr lang="en-GB" b="1" i="1" baseline="30000" dirty="0">
                <a:solidFill>
                  <a:srgbClr val="2B2A29"/>
                </a:solidFill>
                <a:effectLst/>
              </a:rPr>
              <a:t>3</a:t>
            </a:r>
            <a:r>
              <a:rPr lang="en-GB" b="1" i="1" dirty="0">
                <a:solidFill>
                  <a:srgbClr val="2B2A29"/>
                </a:solidFill>
                <a:effectLst/>
              </a:rPr>
              <a:t>+.......+ b</a:t>
            </a:r>
            <a:r>
              <a:rPr lang="en-GB" b="1" i="1" baseline="30000" dirty="0">
                <a:solidFill>
                  <a:srgbClr val="2B2A29"/>
                </a:solidFill>
                <a:effectLst/>
              </a:rPr>
              <a:t>d</a:t>
            </a:r>
            <a:r>
              <a:rPr lang="en-GB" b="1" i="1" dirty="0">
                <a:solidFill>
                  <a:srgbClr val="2B2A29"/>
                </a:solidFill>
                <a:effectLst/>
              </a:rPr>
              <a:t>= O (b</a:t>
            </a:r>
            <a:r>
              <a:rPr lang="en-GB" b="1" i="1" baseline="30000" dirty="0">
                <a:solidFill>
                  <a:srgbClr val="2B2A29"/>
                </a:solidFill>
                <a:effectLst/>
              </a:rPr>
              <a:t>d</a:t>
            </a:r>
            <a:r>
              <a:rPr lang="en-GB" b="1" i="1" dirty="0">
                <a:solidFill>
                  <a:srgbClr val="2B2A29"/>
                </a:solidFill>
                <a:effectLst/>
              </a:rPr>
              <a:t>)</a:t>
            </a:r>
            <a:endParaRPr lang="en-GB" b="0" i="1" dirty="0">
              <a:solidFill>
                <a:srgbClr val="2B2A29"/>
              </a:solidFill>
              <a:effectLst/>
            </a:endParaRPr>
          </a:p>
          <a:p>
            <a:pPr algn="just"/>
            <a:r>
              <a:rPr lang="en-GB" b="1" i="0" dirty="0">
                <a:solidFill>
                  <a:srgbClr val="2B2A29"/>
                </a:solidFill>
                <a:effectLst/>
              </a:rPr>
              <a:t>Space Complexity:</a:t>
            </a:r>
            <a:r>
              <a:rPr lang="en-GB" b="0" i="0" dirty="0">
                <a:solidFill>
                  <a:srgbClr val="2B2A29"/>
                </a:solidFill>
                <a:effectLst/>
              </a:rPr>
              <a:t> Space complexity of BFS algorithm is given by the Memory size of </a:t>
            </a:r>
            <a:r>
              <a:rPr lang="en-GB" b="0" i="0" dirty="0">
                <a:solidFill>
                  <a:srgbClr val="2B2A29"/>
                </a:solidFill>
                <a:effectLst/>
                <a:hlinkClick r:id="rId2"/>
              </a:rPr>
              <a:t>frontier</a:t>
            </a:r>
            <a:r>
              <a:rPr lang="en-GB" b="0" i="0" dirty="0">
                <a:solidFill>
                  <a:srgbClr val="2B2A29"/>
                </a:solidFill>
                <a:effectLst/>
              </a:rPr>
              <a:t> which is </a:t>
            </a:r>
            <a:r>
              <a:rPr lang="en-GB" b="0" i="1" dirty="0">
                <a:solidFill>
                  <a:srgbClr val="2B2A29"/>
                </a:solidFill>
                <a:effectLst/>
              </a:rPr>
              <a:t>O(b</a:t>
            </a:r>
            <a:r>
              <a:rPr lang="en-GB" b="0" i="1" baseline="30000" dirty="0">
                <a:solidFill>
                  <a:srgbClr val="2B2A29"/>
                </a:solidFill>
                <a:effectLst/>
              </a:rPr>
              <a:t>d</a:t>
            </a:r>
            <a:r>
              <a:rPr lang="en-GB" b="0" i="1" dirty="0">
                <a:solidFill>
                  <a:srgbClr val="2B2A29"/>
                </a:solidFill>
                <a:effectLst/>
              </a:rPr>
              <a:t>).</a:t>
            </a:r>
          </a:p>
          <a:p>
            <a:pPr algn="just"/>
            <a:r>
              <a:rPr lang="en-GB" b="1" i="0" dirty="0">
                <a:solidFill>
                  <a:srgbClr val="2B2A29"/>
                </a:solidFill>
                <a:effectLst/>
              </a:rPr>
              <a:t>Completeness:</a:t>
            </a:r>
            <a:r>
              <a:rPr lang="en-GB" b="0" i="0" dirty="0">
                <a:solidFill>
                  <a:srgbClr val="2B2A29"/>
                </a:solidFill>
                <a:effectLst/>
              </a:rPr>
              <a:t> BFS is complete, which means if the shallowest goal node is at some finite depth, then BFS will find a solution.</a:t>
            </a:r>
          </a:p>
          <a:p>
            <a:pPr algn="just"/>
            <a:r>
              <a:rPr lang="en-GB" b="1" i="0" dirty="0">
                <a:solidFill>
                  <a:srgbClr val="2B2A29"/>
                </a:solidFill>
                <a:effectLst/>
              </a:rPr>
              <a:t>Optimality:</a:t>
            </a:r>
            <a:r>
              <a:rPr lang="en-GB" b="0" i="0" dirty="0">
                <a:solidFill>
                  <a:srgbClr val="2B2A29"/>
                </a:solidFill>
                <a:effectLst/>
              </a:rPr>
              <a:t> BFS is optimal if path cost is a non-decreasing function of the depth of the node.</a:t>
            </a:r>
          </a:p>
          <a:p>
            <a:endParaRPr lang="en-US" dirty="0"/>
          </a:p>
        </p:txBody>
      </p:sp>
    </p:spTree>
    <p:extLst>
      <p:ext uri="{BB962C8B-B14F-4D97-AF65-F5344CB8AC3E}">
        <p14:creationId xmlns:p14="http://schemas.microsoft.com/office/powerpoint/2010/main" val="221979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AD570-6AEC-CD2F-701C-C08B18E078CB}"/>
              </a:ext>
            </a:extLst>
          </p:cNvPr>
          <p:cNvSpPr>
            <a:spLocks noGrp="1"/>
          </p:cNvSpPr>
          <p:nvPr>
            <p:ph type="title"/>
          </p:nvPr>
        </p:nvSpPr>
        <p:spPr/>
        <p:txBody>
          <a:bodyPr/>
          <a:lstStyle/>
          <a:p>
            <a:r>
              <a:rPr lang="en-US" dirty="0"/>
              <a:t>Depth-first search </a:t>
            </a:r>
          </a:p>
        </p:txBody>
      </p:sp>
      <p:sp>
        <p:nvSpPr>
          <p:cNvPr id="3" name="Content Placeholder 2">
            <a:extLst>
              <a:ext uri="{FF2B5EF4-FFF2-40B4-BE49-F238E27FC236}">
                <a16:creationId xmlns:a16="http://schemas.microsoft.com/office/drawing/2014/main" id="{9CC5C07F-228C-25FB-17E5-201B3B09725F}"/>
              </a:ext>
            </a:extLst>
          </p:cNvPr>
          <p:cNvSpPr>
            <a:spLocks noGrp="1"/>
          </p:cNvSpPr>
          <p:nvPr>
            <p:ph idx="1"/>
          </p:nvPr>
        </p:nvSpPr>
        <p:spPr/>
        <p:txBody>
          <a:bodyPr/>
          <a:lstStyle/>
          <a:p>
            <a:r>
              <a:rPr lang="en-GB" dirty="0"/>
              <a:t>Depth-first search is a recursive algorithm for traversing a tree or graph data structure.</a:t>
            </a:r>
          </a:p>
          <a:p>
            <a:r>
              <a:rPr lang="en-GB" dirty="0"/>
              <a:t>It is called the depth-first search because it starts from the root node and follows each path to its greatest depth node before moving to the next path.</a:t>
            </a:r>
          </a:p>
          <a:p>
            <a:r>
              <a:rPr lang="en-GB" dirty="0"/>
              <a:t>DFS uses a stack data structure for its implementation.</a:t>
            </a:r>
          </a:p>
          <a:p>
            <a:r>
              <a:rPr lang="en-GB" dirty="0"/>
              <a:t>The process of the DFS algorithm is similar to the BFS algorithm.</a:t>
            </a:r>
            <a:endParaRPr lang="en-US" dirty="0"/>
          </a:p>
        </p:txBody>
      </p:sp>
    </p:spTree>
    <p:extLst>
      <p:ext uri="{BB962C8B-B14F-4D97-AF65-F5344CB8AC3E}">
        <p14:creationId xmlns:p14="http://schemas.microsoft.com/office/powerpoint/2010/main" val="269977272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8C1B2-FB13-814C-D2C5-1230A16E307C}"/>
              </a:ext>
            </a:extLst>
          </p:cNvPr>
          <p:cNvSpPr>
            <a:spLocks noGrp="1"/>
          </p:cNvSpPr>
          <p:nvPr>
            <p:ph type="title"/>
          </p:nvPr>
        </p:nvSpPr>
        <p:spPr/>
        <p:txBody>
          <a:bodyPr/>
          <a:lstStyle/>
          <a:p>
            <a:r>
              <a:rPr lang="en-US" dirty="0"/>
              <a:t>DFS: Advantages</a:t>
            </a:r>
          </a:p>
        </p:txBody>
      </p:sp>
      <p:sp>
        <p:nvSpPr>
          <p:cNvPr id="3" name="Content Placeholder 2">
            <a:extLst>
              <a:ext uri="{FF2B5EF4-FFF2-40B4-BE49-F238E27FC236}">
                <a16:creationId xmlns:a16="http://schemas.microsoft.com/office/drawing/2014/main" id="{FD40B847-CF44-47C5-2EF8-04BA7B3AC613}"/>
              </a:ext>
            </a:extLst>
          </p:cNvPr>
          <p:cNvSpPr>
            <a:spLocks noGrp="1"/>
          </p:cNvSpPr>
          <p:nvPr>
            <p:ph idx="1"/>
          </p:nvPr>
        </p:nvSpPr>
        <p:spPr/>
        <p:txBody>
          <a:bodyPr/>
          <a:lstStyle/>
          <a:p>
            <a:r>
              <a:rPr lang="en-GB" dirty="0"/>
              <a:t>DFS requires very less memory as it only needs to store a stack of the nodes on the path from root node to the current node.</a:t>
            </a:r>
          </a:p>
          <a:p>
            <a:r>
              <a:rPr lang="en-GB" dirty="0"/>
              <a:t>It takes less time to reach to the goal node than BFS algorithm (if it traverses in the right path).</a:t>
            </a:r>
          </a:p>
          <a:p>
            <a:r>
              <a:rPr lang="en-GB" dirty="0"/>
              <a:t>With the help of this we can stores the route which is being tracked in memory to save time as it only needs to keep one at a particular time.</a:t>
            </a:r>
            <a:endParaRPr lang="en-US" dirty="0"/>
          </a:p>
        </p:txBody>
      </p:sp>
    </p:spTree>
    <p:extLst>
      <p:ext uri="{BB962C8B-B14F-4D97-AF65-F5344CB8AC3E}">
        <p14:creationId xmlns:p14="http://schemas.microsoft.com/office/powerpoint/2010/main" val="26160800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220B41-139D-2A52-4860-01F19AEB06A5}"/>
              </a:ext>
            </a:extLst>
          </p:cNvPr>
          <p:cNvSpPr>
            <a:spLocks noGrp="1"/>
          </p:cNvSpPr>
          <p:nvPr>
            <p:ph type="title"/>
          </p:nvPr>
        </p:nvSpPr>
        <p:spPr/>
        <p:txBody>
          <a:bodyPr/>
          <a:lstStyle/>
          <a:p>
            <a:r>
              <a:rPr lang="en-US" dirty="0"/>
              <a:t>DFS: Disadvantages</a:t>
            </a:r>
          </a:p>
        </p:txBody>
      </p:sp>
      <p:sp>
        <p:nvSpPr>
          <p:cNvPr id="3" name="Content Placeholder 2">
            <a:extLst>
              <a:ext uri="{FF2B5EF4-FFF2-40B4-BE49-F238E27FC236}">
                <a16:creationId xmlns:a16="http://schemas.microsoft.com/office/drawing/2014/main" id="{416363FA-9BC9-51D6-AFB8-57D200E81009}"/>
              </a:ext>
            </a:extLst>
          </p:cNvPr>
          <p:cNvSpPr>
            <a:spLocks noGrp="1"/>
          </p:cNvSpPr>
          <p:nvPr>
            <p:ph idx="1"/>
          </p:nvPr>
        </p:nvSpPr>
        <p:spPr/>
        <p:txBody>
          <a:bodyPr/>
          <a:lstStyle/>
          <a:p>
            <a:r>
              <a:rPr lang="en-GB" dirty="0"/>
              <a:t>There is the possibility that many states keep re-occurring, and there is no guarantee of finding the solution.</a:t>
            </a:r>
          </a:p>
          <a:p>
            <a:r>
              <a:rPr lang="en-GB" dirty="0"/>
              <a:t>DFS algorithm goes for deep down searching and sometimes it may go to the infinite loop.</a:t>
            </a:r>
          </a:p>
          <a:p>
            <a:r>
              <a:rPr lang="en-GB" dirty="0"/>
              <a:t>The depth-first search (DFS) algorithm does not always find the shortest path to a solution.</a:t>
            </a:r>
            <a:endParaRPr lang="en-US" dirty="0"/>
          </a:p>
        </p:txBody>
      </p:sp>
    </p:spTree>
    <p:extLst>
      <p:ext uri="{BB962C8B-B14F-4D97-AF65-F5344CB8AC3E}">
        <p14:creationId xmlns:p14="http://schemas.microsoft.com/office/powerpoint/2010/main" val="16760395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E9C09E-7AD5-4A44-EBB4-55C35AAFD15C}"/>
              </a:ext>
            </a:extLst>
          </p:cNvPr>
          <p:cNvSpPr>
            <a:spLocks noGrp="1"/>
          </p:cNvSpPr>
          <p:nvPr>
            <p:ph type="title"/>
          </p:nvPr>
        </p:nvSpPr>
        <p:spPr/>
        <p:txBody>
          <a:bodyPr/>
          <a:lstStyle/>
          <a:p>
            <a:r>
              <a:rPr lang="en-US" dirty="0"/>
              <a:t>DFS: Example</a:t>
            </a:r>
          </a:p>
        </p:txBody>
      </p:sp>
      <p:sp>
        <p:nvSpPr>
          <p:cNvPr id="3" name="Content Placeholder 2">
            <a:extLst>
              <a:ext uri="{FF2B5EF4-FFF2-40B4-BE49-F238E27FC236}">
                <a16:creationId xmlns:a16="http://schemas.microsoft.com/office/drawing/2014/main" id="{18315591-5459-5A95-358C-B24B1B2CA83B}"/>
              </a:ext>
            </a:extLst>
          </p:cNvPr>
          <p:cNvSpPr>
            <a:spLocks noGrp="1"/>
          </p:cNvSpPr>
          <p:nvPr>
            <p:ph idx="1"/>
          </p:nvPr>
        </p:nvSpPr>
        <p:spPr>
          <a:xfrm>
            <a:off x="838200" y="1825625"/>
            <a:ext cx="5979160" cy="4351338"/>
          </a:xfrm>
        </p:spPr>
        <p:txBody>
          <a:bodyPr>
            <a:normAutofit fontScale="85000" lnSpcReduction="10000"/>
          </a:bodyPr>
          <a:lstStyle/>
          <a:p>
            <a:r>
              <a:rPr lang="en-GB" dirty="0"/>
              <a:t>In the search tree on the right, we have shown the flow of depth-first search, and it will follow the order as:</a:t>
            </a:r>
          </a:p>
          <a:p>
            <a:pPr marL="0" indent="0">
              <a:buNone/>
            </a:pPr>
            <a:r>
              <a:rPr lang="en-GB" dirty="0"/>
              <a:t>	</a:t>
            </a:r>
            <a:r>
              <a:rPr lang="en-GB" sz="2100" dirty="0"/>
              <a:t>Root node---&gt;Left node ----&gt; right node.</a:t>
            </a:r>
          </a:p>
          <a:p>
            <a:endParaRPr lang="en-GB" dirty="0"/>
          </a:p>
          <a:p>
            <a:r>
              <a:rPr lang="en-GB" dirty="0"/>
              <a:t>It will start searching from root node S, and traverse A, then B, then D and E, after traversing E, it will backtrack the tree as E has no other successor and still goal node is not found. After backtracking it will traverse node C and then G, and here it will terminate as it found goal node.</a:t>
            </a:r>
            <a:endParaRPr lang="en-US" dirty="0"/>
          </a:p>
        </p:txBody>
      </p:sp>
      <p:pic>
        <p:nvPicPr>
          <p:cNvPr id="4" name="Picture 3">
            <a:extLst>
              <a:ext uri="{FF2B5EF4-FFF2-40B4-BE49-F238E27FC236}">
                <a16:creationId xmlns:a16="http://schemas.microsoft.com/office/drawing/2014/main" id="{A58D658A-2E92-7673-8F80-4020A0693CB9}"/>
              </a:ext>
            </a:extLst>
          </p:cNvPr>
          <p:cNvPicPr>
            <a:picLocks noChangeAspect="1"/>
          </p:cNvPicPr>
          <p:nvPr/>
        </p:nvPicPr>
        <p:blipFill>
          <a:blip r:embed="rId2"/>
          <a:stretch>
            <a:fillRect/>
          </a:stretch>
        </p:blipFill>
        <p:spPr>
          <a:xfrm>
            <a:off x="6935470" y="2001520"/>
            <a:ext cx="4762500" cy="3810000"/>
          </a:xfrm>
          <a:prstGeom prst="rect">
            <a:avLst/>
          </a:prstGeom>
        </p:spPr>
      </p:pic>
    </p:spTree>
    <p:extLst>
      <p:ext uri="{BB962C8B-B14F-4D97-AF65-F5344CB8AC3E}">
        <p14:creationId xmlns:p14="http://schemas.microsoft.com/office/powerpoint/2010/main" val="12576996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ACCA3-DC82-1C3A-FBA5-C3D660A59754}"/>
              </a:ext>
            </a:extLst>
          </p:cNvPr>
          <p:cNvSpPr>
            <a:spLocks noGrp="1"/>
          </p:cNvSpPr>
          <p:nvPr>
            <p:ph type="title"/>
          </p:nvPr>
        </p:nvSpPr>
        <p:spPr/>
        <p:txBody>
          <a:bodyPr/>
          <a:lstStyle/>
          <a:p>
            <a:r>
              <a:rPr lang="en-US" dirty="0"/>
              <a:t>DFS: Algorithm Evaluation</a:t>
            </a:r>
          </a:p>
        </p:txBody>
      </p:sp>
      <p:sp>
        <p:nvSpPr>
          <p:cNvPr id="3" name="Content Placeholder 2">
            <a:extLst>
              <a:ext uri="{FF2B5EF4-FFF2-40B4-BE49-F238E27FC236}">
                <a16:creationId xmlns:a16="http://schemas.microsoft.com/office/drawing/2014/main" id="{743FE7DB-AD52-BDFC-8C84-15B655C0882D}"/>
              </a:ext>
            </a:extLst>
          </p:cNvPr>
          <p:cNvSpPr>
            <a:spLocks noGrp="1"/>
          </p:cNvSpPr>
          <p:nvPr>
            <p:ph idx="1"/>
          </p:nvPr>
        </p:nvSpPr>
        <p:spPr/>
        <p:txBody>
          <a:bodyPr>
            <a:normAutofit fontScale="85000" lnSpcReduction="10000"/>
          </a:bodyPr>
          <a:lstStyle/>
          <a:p>
            <a:pPr algn="just"/>
            <a:r>
              <a:rPr lang="en-GB" b="1" i="0" dirty="0">
                <a:solidFill>
                  <a:srgbClr val="2B2A29"/>
                </a:solidFill>
                <a:effectLst/>
              </a:rPr>
              <a:t>Completeness:</a:t>
            </a:r>
            <a:r>
              <a:rPr lang="en-GB" b="0" i="0" dirty="0">
                <a:solidFill>
                  <a:srgbClr val="2B2A29"/>
                </a:solidFill>
                <a:effectLst/>
              </a:rPr>
              <a:t> DFS search algorithm is complete within finite state space as it will expand every node within a limited search tree.</a:t>
            </a:r>
          </a:p>
          <a:p>
            <a:pPr algn="just"/>
            <a:r>
              <a:rPr lang="en-GB" b="1" i="0" dirty="0">
                <a:solidFill>
                  <a:srgbClr val="2B2A29"/>
                </a:solidFill>
                <a:effectLst/>
              </a:rPr>
              <a:t>Time Complexity:</a:t>
            </a:r>
            <a:r>
              <a:rPr lang="en-GB" b="0" i="0" dirty="0">
                <a:solidFill>
                  <a:srgbClr val="2B2A29"/>
                </a:solidFill>
                <a:effectLst/>
              </a:rPr>
              <a:t> Time complexity of DFS will be equivalent to the node traversed by the algorithm. It is given by:</a:t>
            </a:r>
          </a:p>
          <a:p>
            <a:pPr marL="0" indent="0" algn="just">
              <a:buNone/>
            </a:pPr>
            <a:r>
              <a:rPr lang="en-GB" b="1" i="0" dirty="0">
                <a:solidFill>
                  <a:srgbClr val="2B2A29"/>
                </a:solidFill>
                <a:effectLst/>
              </a:rPr>
              <a:t>	</a:t>
            </a:r>
            <a:r>
              <a:rPr lang="en-GB" b="1" i="1" dirty="0">
                <a:solidFill>
                  <a:srgbClr val="2B2A29"/>
                </a:solidFill>
                <a:effectLst/>
              </a:rPr>
              <a:t>T(n)= 1+ n</a:t>
            </a:r>
            <a:r>
              <a:rPr lang="en-GB" b="1" i="1" baseline="30000" dirty="0">
                <a:solidFill>
                  <a:srgbClr val="2B2A29"/>
                </a:solidFill>
                <a:effectLst/>
              </a:rPr>
              <a:t>2</a:t>
            </a:r>
            <a:r>
              <a:rPr lang="en-GB" b="1" i="1" dirty="0">
                <a:solidFill>
                  <a:srgbClr val="2B2A29"/>
                </a:solidFill>
                <a:effectLst/>
              </a:rPr>
              <a:t>+ n</a:t>
            </a:r>
            <a:r>
              <a:rPr lang="en-GB" b="1" i="1" baseline="30000" dirty="0">
                <a:solidFill>
                  <a:srgbClr val="2B2A29"/>
                </a:solidFill>
                <a:effectLst/>
              </a:rPr>
              <a:t>3</a:t>
            </a:r>
            <a:r>
              <a:rPr lang="en-GB" b="1" i="1" dirty="0">
                <a:solidFill>
                  <a:srgbClr val="2B2A29"/>
                </a:solidFill>
                <a:effectLst/>
              </a:rPr>
              <a:t> +.........+ n</a:t>
            </a:r>
            <a:r>
              <a:rPr lang="en-GB" b="1" i="1" baseline="30000" dirty="0">
                <a:solidFill>
                  <a:srgbClr val="2B2A29"/>
                </a:solidFill>
                <a:effectLst/>
              </a:rPr>
              <a:t>m </a:t>
            </a:r>
            <a:r>
              <a:rPr lang="en-GB" b="1" i="1" dirty="0">
                <a:solidFill>
                  <a:srgbClr val="2B2A29"/>
                </a:solidFill>
                <a:effectLst/>
              </a:rPr>
              <a:t>= O(n</a:t>
            </a:r>
            <a:r>
              <a:rPr lang="en-GB" b="1" i="1" baseline="30000" dirty="0">
                <a:solidFill>
                  <a:srgbClr val="2B2A29"/>
                </a:solidFill>
                <a:effectLst/>
              </a:rPr>
              <a:t>m</a:t>
            </a:r>
            <a:r>
              <a:rPr lang="en-GB" b="1" i="1" dirty="0">
                <a:solidFill>
                  <a:srgbClr val="2B2A29"/>
                </a:solidFill>
                <a:effectLst/>
              </a:rPr>
              <a:t>)</a:t>
            </a:r>
            <a:endParaRPr lang="en-GB" b="0" i="1" dirty="0">
              <a:solidFill>
                <a:srgbClr val="2B2A29"/>
              </a:solidFill>
              <a:effectLst/>
            </a:endParaRPr>
          </a:p>
          <a:p>
            <a:pPr algn="just"/>
            <a:r>
              <a:rPr lang="en-GB" b="1" i="0" dirty="0">
                <a:solidFill>
                  <a:srgbClr val="2B2A29"/>
                </a:solidFill>
                <a:effectLst/>
              </a:rPr>
              <a:t>Where, m= maximum depth of any node and this can be much larger than d (Shallowest solution depth)</a:t>
            </a:r>
            <a:endParaRPr lang="en-GB" b="0" i="0" dirty="0">
              <a:solidFill>
                <a:srgbClr val="2B2A29"/>
              </a:solidFill>
              <a:effectLst/>
            </a:endParaRPr>
          </a:p>
          <a:p>
            <a:pPr algn="just"/>
            <a:r>
              <a:rPr lang="en-GB" b="1" i="0" dirty="0">
                <a:solidFill>
                  <a:srgbClr val="2B2A29"/>
                </a:solidFill>
                <a:effectLst/>
              </a:rPr>
              <a:t>Space Complexity:</a:t>
            </a:r>
            <a:r>
              <a:rPr lang="en-GB" b="0" i="0" dirty="0">
                <a:solidFill>
                  <a:srgbClr val="2B2A29"/>
                </a:solidFill>
                <a:effectLst/>
              </a:rPr>
              <a:t> DFS algorithm needs to store only single path from the root node, hence space complexity of DFS is equivalent to the size of the fringe set, which is </a:t>
            </a:r>
            <a:r>
              <a:rPr lang="en-GB" b="1" i="1" dirty="0">
                <a:solidFill>
                  <a:srgbClr val="2B2A29"/>
                </a:solidFill>
                <a:effectLst/>
              </a:rPr>
              <a:t>O(bm)</a:t>
            </a:r>
            <a:r>
              <a:rPr lang="en-GB" b="0" i="0" dirty="0">
                <a:solidFill>
                  <a:srgbClr val="2B2A29"/>
                </a:solidFill>
                <a:effectLst/>
              </a:rPr>
              <a:t>.</a:t>
            </a:r>
          </a:p>
          <a:p>
            <a:pPr algn="just"/>
            <a:r>
              <a:rPr lang="en-GB" b="1" i="0" dirty="0">
                <a:solidFill>
                  <a:srgbClr val="2B2A29"/>
                </a:solidFill>
                <a:effectLst/>
              </a:rPr>
              <a:t>Optimal:</a:t>
            </a:r>
            <a:r>
              <a:rPr lang="en-GB" b="0" i="0" dirty="0">
                <a:solidFill>
                  <a:srgbClr val="2B2A29"/>
                </a:solidFill>
                <a:effectLst/>
              </a:rPr>
              <a:t> DFS search algorithm is non-optimal, as it may generate a large number of steps or high cost to reach to the goal node.</a:t>
            </a:r>
          </a:p>
          <a:p>
            <a:endParaRPr lang="en-US" dirty="0"/>
          </a:p>
        </p:txBody>
      </p:sp>
    </p:spTree>
    <p:extLst>
      <p:ext uri="{BB962C8B-B14F-4D97-AF65-F5344CB8AC3E}">
        <p14:creationId xmlns:p14="http://schemas.microsoft.com/office/powerpoint/2010/main" val="19449502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C75B3-90AD-FDD7-B06D-4B8DF8F9382C}"/>
              </a:ext>
            </a:extLst>
          </p:cNvPr>
          <p:cNvSpPr>
            <a:spLocks noGrp="1"/>
          </p:cNvSpPr>
          <p:nvPr>
            <p:ph type="title"/>
          </p:nvPr>
        </p:nvSpPr>
        <p:spPr/>
        <p:txBody>
          <a:bodyPr/>
          <a:lstStyle/>
          <a:p>
            <a:r>
              <a:rPr lang="en-US" dirty="0"/>
              <a:t>Depth-Limited Search Algorithm</a:t>
            </a:r>
          </a:p>
        </p:txBody>
      </p:sp>
      <p:sp>
        <p:nvSpPr>
          <p:cNvPr id="3" name="Content Placeholder 2">
            <a:extLst>
              <a:ext uri="{FF2B5EF4-FFF2-40B4-BE49-F238E27FC236}">
                <a16:creationId xmlns:a16="http://schemas.microsoft.com/office/drawing/2014/main" id="{C19B4033-3668-5265-78F1-591695709B93}"/>
              </a:ext>
            </a:extLst>
          </p:cNvPr>
          <p:cNvSpPr>
            <a:spLocks noGrp="1"/>
          </p:cNvSpPr>
          <p:nvPr>
            <p:ph idx="1"/>
          </p:nvPr>
        </p:nvSpPr>
        <p:spPr/>
        <p:txBody>
          <a:bodyPr>
            <a:normAutofit/>
          </a:bodyPr>
          <a:lstStyle/>
          <a:p>
            <a:r>
              <a:rPr lang="en-GB" dirty="0"/>
              <a:t>A depth-limited search algorithm is similar to depth-first search with a predetermined limit. Depth-limited search can solve the drawback of the infinite path in the Depth-first search. In this algorithm, the node at the depth limit will treat as it has no successor nodes further.</a:t>
            </a:r>
          </a:p>
          <a:p>
            <a:r>
              <a:rPr lang="en-GB" dirty="0"/>
              <a:t>Depth-limited search can be terminated with two Conditions of failure:</a:t>
            </a:r>
          </a:p>
          <a:p>
            <a:pPr lvl="1"/>
            <a:r>
              <a:rPr lang="en-GB" dirty="0"/>
              <a:t>Standard failure value: It indicates that problem does not have any solution.</a:t>
            </a:r>
          </a:p>
          <a:p>
            <a:pPr lvl="1"/>
            <a:r>
              <a:rPr lang="en-GB" dirty="0"/>
              <a:t>Cutoff failure value: It defines no solution for the problem within a given depth limit.</a:t>
            </a:r>
            <a:endParaRPr lang="en-US" dirty="0"/>
          </a:p>
        </p:txBody>
      </p:sp>
    </p:spTree>
    <p:extLst>
      <p:ext uri="{BB962C8B-B14F-4D97-AF65-F5344CB8AC3E}">
        <p14:creationId xmlns:p14="http://schemas.microsoft.com/office/powerpoint/2010/main" val="34402278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F71665-2EEA-82F8-B416-D292F84F9C38}"/>
              </a:ext>
            </a:extLst>
          </p:cNvPr>
          <p:cNvSpPr>
            <a:spLocks noGrp="1"/>
          </p:cNvSpPr>
          <p:nvPr>
            <p:ph type="title"/>
          </p:nvPr>
        </p:nvSpPr>
        <p:spPr/>
        <p:txBody>
          <a:bodyPr/>
          <a:lstStyle/>
          <a:p>
            <a:r>
              <a:rPr lang="en-US" dirty="0"/>
              <a:t>DLS: Advantages</a:t>
            </a:r>
          </a:p>
        </p:txBody>
      </p:sp>
      <p:sp>
        <p:nvSpPr>
          <p:cNvPr id="3" name="Content Placeholder 2">
            <a:extLst>
              <a:ext uri="{FF2B5EF4-FFF2-40B4-BE49-F238E27FC236}">
                <a16:creationId xmlns:a16="http://schemas.microsoft.com/office/drawing/2014/main" id="{C0F139CF-FA9A-0FEB-0F93-8E8DE6865858}"/>
              </a:ext>
            </a:extLst>
          </p:cNvPr>
          <p:cNvSpPr>
            <a:spLocks noGrp="1"/>
          </p:cNvSpPr>
          <p:nvPr>
            <p:ph idx="1"/>
          </p:nvPr>
        </p:nvSpPr>
        <p:spPr/>
        <p:txBody>
          <a:bodyPr>
            <a:normAutofit fontScale="85000" lnSpcReduction="10000"/>
          </a:bodyPr>
          <a:lstStyle/>
          <a:p>
            <a:r>
              <a:rPr lang="en-GB" dirty="0"/>
              <a:t>Depth-Limited Search will restrict the search depth of the tree; thus, the algorithm will require fewer memory resources than the straight BFS (Breadth-First Search) and IDDFS (Iterative Deepening Depth-First Search). After all, this implies automatic selection of more segments of the search space and the consequent why consumption of the resources. Due to the depth restriction, DLS omits a predicament of holding the entire search tree within memory which contemplatively leaves room for a more memory-efficient vice for solving a particular kind of problems.</a:t>
            </a:r>
          </a:p>
          <a:p>
            <a:r>
              <a:rPr lang="en-GB" dirty="0"/>
              <a:t>When there is a leaf node depth which is as large as the highest level allowed, do not describe its children, and then discard it from the stack.</a:t>
            </a:r>
          </a:p>
          <a:p>
            <a:r>
              <a:rPr lang="en-GB" dirty="0"/>
              <a:t>Depth-Limited Search does not explain the infinite loops which can arise in classical when there are cycles in graph of cities.</a:t>
            </a:r>
            <a:endParaRPr lang="en-US" dirty="0"/>
          </a:p>
        </p:txBody>
      </p:sp>
    </p:spTree>
    <p:extLst>
      <p:ext uri="{BB962C8B-B14F-4D97-AF65-F5344CB8AC3E}">
        <p14:creationId xmlns:p14="http://schemas.microsoft.com/office/powerpoint/2010/main" val="441902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72CA-693A-EE79-97E1-68EFCEDF196A}"/>
              </a:ext>
            </a:extLst>
          </p:cNvPr>
          <p:cNvSpPr>
            <a:spLocks noGrp="1"/>
          </p:cNvSpPr>
          <p:nvPr>
            <p:ph type="title"/>
          </p:nvPr>
        </p:nvSpPr>
        <p:spPr/>
        <p:txBody>
          <a:bodyPr/>
          <a:lstStyle/>
          <a:p>
            <a:r>
              <a:rPr lang="en-US" dirty="0"/>
              <a:t>DLS: Disadvantages</a:t>
            </a:r>
          </a:p>
        </p:txBody>
      </p:sp>
      <p:sp>
        <p:nvSpPr>
          <p:cNvPr id="3" name="Content Placeholder 2">
            <a:extLst>
              <a:ext uri="{FF2B5EF4-FFF2-40B4-BE49-F238E27FC236}">
                <a16:creationId xmlns:a16="http://schemas.microsoft.com/office/drawing/2014/main" id="{15347A7F-645C-1A15-36D0-C2BC51554E5C}"/>
              </a:ext>
            </a:extLst>
          </p:cNvPr>
          <p:cNvSpPr>
            <a:spLocks noGrp="1"/>
          </p:cNvSpPr>
          <p:nvPr>
            <p:ph idx="1"/>
          </p:nvPr>
        </p:nvSpPr>
        <p:spPr/>
        <p:txBody>
          <a:bodyPr/>
          <a:lstStyle/>
          <a:p>
            <a:r>
              <a:rPr lang="en-GB" dirty="0"/>
              <a:t>Depth-limited search also has a disadvantage of incompleteness.</a:t>
            </a:r>
          </a:p>
          <a:p>
            <a:r>
              <a:rPr lang="en-GB" dirty="0"/>
              <a:t>It may not be optimal if the problem has more than one solution.</a:t>
            </a:r>
          </a:p>
          <a:p>
            <a:r>
              <a:rPr lang="en-GB" dirty="0"/>
              <a:t>The effectiveness of the Depth-Limited Search (DLS) algorithm is largely dependent on the depth limit specified. If the depth limit is set too low, the algorithm may fail to find the solution altogether.</a:t>
            </a:r>
            <a:endParaRPr lang="en-US" dirty="0"/>
          </a:p>
        </p:txBody>
      </p:sp>
    </p:spTree>
    <p:extLst>
      <p:ext uri="{BB962C8B-B14F-4D97-AF65-F5344CB8AC3E}">
        <p14:creationId xmlns:p14="http://schemas.microsoft.com/office/powerpoint/2010/main" val="16902323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67A63-8B89-2DF1-BEA7-CDE8C668F9B8}"/>
              </a:ext>
            </a:extLst>
          </p:cNvPr>
          <p:cNvSpPr>
            <a:spLocks noGrp="1"/>
          </p:cNvSpPr>
          <p:nvPr>
            <p:ph type="title"/>
          </p:nvPr>
        </p:nvSpPr>
        <p:spPr/>
        <p:txBody>
          <a:bodyPr/>
          <a:lstStyle/>
          <a:p>
            <a:r>
              <a:rPr lang="en-US" dirty="0"/>
              <a:t>DLS: Example</a:t>
            </a:r>
          </a:p>
        </p:txBody>
      </p:sp>
      <p:sp>
        <p:nvSpPr>
          <p:cNvPr id="6" name="Content Placeholder 5">
            <a:extLst>
              <a:ext uri="{FF2B5EF4-FFF2-40B4-BE49-F238E27FC236}">
                <a16:creationId xmlns:a16="http://schemas.microsoft.com/office/drawing/2014/main" id="{0796EEC9-9C5A-59AA-D0C1-204D2DE7447D}"/>
              </a:ext>
            </a:extLst>
          </p:cNvPr>
          <p:cNvSpPr>
            <a:spLocks noGrp="1"/>
          </p:cNvSpPr>
          <p:nvPr>
            <p:ph idx="1"/>
          </p:nvPr>
        </p:nvSpPr>
        <p:spPr/>
        <p:txBody>
          <a:bodyPr/>
          <a:lstStyle/>
          <a:p>
            <a:r>
              <a:rPr lang="en-US" dirty="0"/>
              <a:t>A Depth-Limited Search is shown with depth limit = 2</a:t>
            </a:r>
          </a:p>
          <a:p>
            <a:endParaRPr lang="en-US" dirty="0"/>
          </a:p>
        </p:txBody>
      </p:sp>
      <p:pic>
        <p:nvPicPr>
          <p:cNvPr id="7" name="Content Placeholder 3">
            <a:extLst>
              <a:ext uri="{FF2B5EF4-FFF2-40B4-BE49-F238E27FC236}">
                <a16:creationId xmlns:a16="http://schemas.microsoft.com/office/drawing/2014/main" id="{289D4DB2-120B-4D63-1991-3BFB2DD16B76}"/>
              </a:ext>
            </a:extLst>
          </p:cNvPr>
          <p:cNvPicPr>
            <a:picLocks noChangeAspect="1"/>
          </p:cNvPicPr>
          <p:nvPr/>
        </p:nvPicPr>
        <p:blipFill>
          <a:blip r:embed="rId2"/>
          <a:stretch>
            <a:fillRect/>
          </a:stretch>
        </p:blipFill>
        <p:spPr>
          <a:xfrm>
            <a:off x="3714750" y="2501900"/>
            <a:ext cx="4762500" cy="3810000"/>
          </a:xfrm>
          <a:prstGeom prst="rect">
            <a:avLst/>
          </a:prstGeom>
        </p:spPr>
      </p:pic>
    </p:spTree>
    <p:extLst>
      <p:ext uri="{BB962C8B-B14F-4D97-AF65-F5344CB8AC3E}">
        <p14:creationId xmlns:p14="http://schemas.microsoft.com/office/powerpoint/2010/main" val="226374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E1295A-11F7-540A-0465-51B1612748B6}"/>
              </a:ext>
            </a:extLst>
          </p:cNvPr>
          <p:cNvSpPr>
            <a:spLocks noGrp="1"/>
          </p:cNvSpPr>
          <p:nvPr>
            <p:ph type="title"/>
          </p:nvPr>
        </p:nvSpPr>
        <p:spPr/>
        <p:txBody>
          <a:bodyPr/>
          <a:lstStyle/>
          <a:p>
            <a:r>
              <a:rPr lang="en-US" dirty="0"/>
              <a:t>DLS: Algorithm evaluation</a:t>
            </a:r>
          </a:p>
        </p:txBody>
      </p:sp>
      <p:sp>
        <p:nvSpPr>
          <p:cNvPr id="3" name="Content Placeholder 2">
            <a:extLst>
              <a:ext uri="{FF2B5EF4-FFF2-40B4-BE49-F238E27FC236}">
                <a16:creationId xmlns:a16="http://schemas.microsoft.com/office/drawing/2014/main" id="{AFABEF91-8330-9CCA-EC60-A32B686A7122}"/>
              </a:ext>
            </a:extLst>
          </p:cNvPr>
          <p:cNvSpPr>
            <a:spLocks noGrp="1"/>
          </p:cNvSpPr>
          <p:nvPr>
            <p:ph idx="1"/>
          </p:nvPr>
        </p:nvSpPr>
        <p:spPr/>
        <p:txBody>
          <a:bodyPr/>
          <a:lstStyle/>
          <a:p>
            <a:pPr algn="just"/>
            <a:r>
              <a:rPr lang="en-GB" b="1" i="0" dirty="0">
                <a:solidFill>
                  <a:srgbClr val="2B2A29"/>
                </a:solidFill>
                <a:effectLst/>
              </a:rPr>
              <a:t>Completeness:</a:t>
            </a:r>
            <a:r>
              <a:rPr lang="en-GB" b="0" i="0" dirty="0">
                <a:solidFill>
                  <a:srgbClr val="2B2A29"/>
                </a:solidFill>
                <a:effectLst/>
              </a:rPr>
              <a:t> DLS search algorithm is complete if the solution is above the depth-limit.</a:t>
            </a:r>
          </a:p>
          <a:p>
            <a:pPr algn="just"/>
            <a:r>
              <a:rPr lang="en-GB" b="1" i="0" dirty="0">
                <a:solidFill>
                  <a:srgbClr val="2B2A29"/>
                </a:solidFill>
                <a:effectLst/>
              </a:rPr>
              <a:t>Time Complexity:</a:t>
            </a:r>
            <a:r>
              <a:rPr lang="en-GB" b="0" i="0" dirty="0">
                <a:solidFill>
                  <a:srgbClr val="2B2A29"/>
                </a:solidFill>
                <a:effectLst/>
              </a:rPr>
              <a:t> Time complexity of DLS algorithm is </a:t>
            </a:r>
            <a:r>
              <a:rPr lang="en-GB" b="1" i="1" dirty="0">
                <a:solidFill>
                  <a:srgbClr val="2B2A29"/>
                </a:solidFill>
                <a:effectLst/>
              </a:rPr>
              <a:t>O(b</a:t>
            </a:r>
            <a:r>
              <a:rPr lang="en-GB" b="1" i="1" baseline="30000" dirty="0">
                <a:solidFill>
                  <a:srgbClr val="2B2A29"/>
                </a:solidFill>
                <a:effectLst/>
              </a:rPr>
              <a:t>ℓ</a:t>
            </a:r>
            <a:r>
              <a:rPr lang="en-GB" b="1" i="1" dirty="0">
                <a:solidFill>
                  <a:srgbClr val="2B2A29"/>
                </a:solidFill>
                <a:effectLst/>
              </a:rPr>
              <a:t>)</a:t>
            </a:r>
            <a:r>
              <a:rPr lang="en-GB" b="0" i="1" dirty="0">
                <a:solidFill>
                  <a:srgbClr val="2B2A29"/>
                </a:solidFill>
                <a:effectLst/>
              </a:rPr>
              <a:t> </a:t>
            </a:r>
            <a:r>
              <a:rPr lang="en-GB" b="0" i="0" dirty="0">
                <a:solidFill>
                  <a:srgbClr val="2B2A29"/>
                </a:solidFill>
                <a:effectLst/>
              </a:rPr>
              <a:t>where b is the branching factor of the search tree, and l is the depth limit.</a:t>
            </a:r>
          </a:p>
          <a:p>
            <a:pPr algn="just"/>
            <a:r>
              <a:rPr lang="en-GB" b="1" i="0" dirty="0">
                <a:solidFill>
                  <a:srgbClr val="2B2A29"/>
                </a:solidFill>
                <a:effectLst/>
              </a:rPr>
              <a:t>Space Complexity:</a:t>
            </a:r>
            <a:r>
              <a:rPr lang="en-GB" b="0" i="0" dirty="0">
                <a:solidFill>
                  <a:srgbClr val="2B2A29"/>
                </a:solidFill>
                <a:effectLst/>
              </a:rPr>
              <a:t> Space complexity of DLS algorithm is </a:t>
            </a:r>
            <a:r>
              <a:rPr lang="en-GB" b="0" i="1" dirty="0">
                <a:solidFill>
                  <a:srgbClr val="2B2A29"/>
                </a:solidFill>
                <a:effectLst/>
              </a:rPr>
              <a:t>O</a:t>
            </a:r>
            <a:r>
              <a:rPr lang="en-GB" b="1" i="1" dirty="0">
                <a:solidFill>
                  <a:srgbClr val="2B2A29"/>
                </a:solidFill>
                <a:effectLst/>
              </a:rPr>
              <a:t>(b×ℓ)</a:t>
            </a:r>
            <a:r>
              <a:rPr lang="en-GB" b="0" i="0" dirty="0">
                <a:solidFill>
                  <a:srgbClr val="2B2A29"/>
                </a:solidFill>
                <a:effectLst/>
              </a:rPr>
              <a:t> where </a:t>
            </a:r>
            <a:r>
              <a:rPr lang="en-GB" b="1" i="0" dirty="0">
                <a:solidFill>
                  <a:srgbClr val="2B2A29"/>
                </a:solidFill>
                <a:effectLst/>
              </a:rPr>
              <a:t>b</a:t>
            </a:r>
            <a:r>
              <a:rPr lang="en-GB" b="0" i="0" dirty="0">
                <a:solidFill>
                  <a:srgbClr val="2B2A29"/>
                </a:solidFill>
                <a:effectLst/>
              </a:rPr>
              <a:t> is the branching factor of the search tree, and </a:t>
            </a:r>
            <a:r>
              <a:rPr lang="en-GB" b="1" i="0" dirty="0">
                <a:solidFill>
                  <a:srgbClr val="2B2A29"/>
                </a:solidFill>
                <a:effectLst/>
              </a:rPr>
              <a:t>l</a:t>
            </a:r>
            <a:r>
              <a:rPr lang="en-GB" b="0" i="0" dirty="0">
                <a:solidFill>
                  <a:srgbClr val="2B2A29"/>
                </a:solidFill>
                <a:effectLst/>
              </a:rPr>
              <a:t> is the depth limit.</a:t>
            </a:r>
          </a:p>
          <a:p>
            <a:pPr algn="just"/>
            <a:r>
              <a:rPr lang="en-GB" b="1" i="0" dirty="0">
                <a:solidFill>
                  <a:srgbClr val="2B2A29"/>
                </a:solidFill>
                <a:effectLst/>
              </a:rPr>
              <a:t>Optimal:</a:t>
            </a:r>
            <a:r>
              <a:rPr lang="en-GB" b="0" i="0" dirty="0">
                <a:solidFill>
                  <a:srgbClr val="2B2A29"/>
                </a:solidFill>
                <a:effectLst/>
              </a:rPr>
              <a:t> Depth-limited search can be viewed as a special case of DFS, and it is also not optimal even if </a:t>
            </a:r>
            <a:r>
              <a:rPr lang="en-GB" b="0" i="1" dirty="0">
                <a:solidFill>
                  <a:srgbClr val="2B2A29"/>
                </a:solidFill>
                <a:effectLst/>
              </a:rPr>
              <a:t>ℓ&gt;d</a:t>
            </a:r>
            <a:r>
              <a:rPr lang="en-GB" b="0" i="0" dirty="0">
                <a:solidFill>
                  <a:srgbClr val="2B2A29"/>
                </a:solidFill>
                <a:effectLst/>
              </a:rPr>
              <a:t>.</a:t>
            </a:r>
          </a:p>
          <a:p>
            <a:endParaRPr lang="en-US" dirty="0"/>
          </a:p>
        </p:txBody>
      </p:sp>
    </p:spTree>
    <p:extLst>
      <p:ext uri="{BB962C8B-B14F-4D97-AF65-F5344CB8AC3E}">
        <p14:creationId xmlns:p14="http://schemas.microsoft.com/office/powerpoint/2010/main" val="23315185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ACB834-221C-CFD4-6534-B9DCA99BB0FC}"/>
              </a:ext>
            </a:extLst>
          </p:cNvPr>
          <p:cNvSpPr>
            <a:spLocks noGrp="1"/>
          </p:cNvSpPr>
          <p:nvPr>
            <p:ph type="title"/>
          </p:nvPr>
        </p:nvSpPr>
        <p:spPr/>
        <p:txBody>
          <a:bodyPr/>
          <a:lstStyle/>
          <a:p>
            <a:r>
              <a:rPr lang="en-US" dirty="0"/>
              <a:t>Iterative deepening depth-first Search</a:t>
            </a:r>
          </a:p>
        </p:txBody>
      </p:sp>
      <p:sp>
        <p:nvSpPr>
          <p:cNvPr id="3" name="Content Placeholder 2">
            <a:extLst>
              <a:ext uri="{FF2B5EF4-FFF2-40B4-BE49-F238E27FC236}">
                <a16:creationId xmlns:a16="http://schemas.microsoft.com/office/drawing/2014/main" id="{AFA01582-C20F-BE4B-2D52-E7DFEDB11EF6}"/>
              </a:ext>
            </a:extLst>
          </p:cNvPr>
          <p:cNvSpPr>
            <a:spLocks noGrp="1"/>
          </p:cNvSpPr>
          <p:nvPr>
            <p:ph idx="1"/>
          </p:nvPr>
        </p:nvSpPr>
        <p:spPr/>
        <p:txBody>
          <a:bodyPr>
            <a:normAutofit fontScale="92500" lnSpcReduction="10000"/>
          </a:bodyPr>
          <a:lstStyle/>
          <a:p>
            <a:r>
              <a:rPr lang="en-GB" dirty="0"/>
              <a:t>The iterative deepening algorithm is a combination of DFS and BFS algorithms. This search algorithm finds out the best depth limit and does it by gradually increasing the limit until a goal is found.</a:t>
            </a:r>
          </a:p>
          <a:p>
            <a:r>
              <a:rPr lang="en-GB" dirty="0"/>
              <a:t>This algorithm performs depth-first search up to a certain "depth limit", and it keeps increasing the depth limit after each iteration until the goal node is found.</a:t>
            </a:r>
          </a:p>
          <a:p>
            <a:r>
              <a:rPr lang="en-GB" dirty="0"/>
              <a:t>This Search algorithm combines the benefits of Breadth-first search's fast search and depth-first search's memory efficiency.</a:t>
            </a:r>
          </a:p>
          <a:p>
            <a:r>
              <a:rPr lang="en-GB" dirty="0"/>
              <a:t>The iterative search algorithm is useful uninformed search when search space is large, and depth of goal node is unknown.</a:t>
            </a:r>
            <a:endParaRPr lang="en-US" dirty="0"/>
          </a:p>
        </p:txBody>
      </p:sp>
    </p:spTree>
    <p:extLst>
      <p:ext uri="{BB962C8B-B14F-4D97-AF65-F5344CB8AC3E}">
        <p14:creationId xmlns:p14="http://schemas.microsoft.com/office/powerpoint/2010/main" val="83942535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F119A-B747-197F-A217-8BC93BDA121D}"/>
              </a:ext>
            </a:extLst>
          </p:cNvPr>
          <p:cNvSpPr>
            <a:spLocks noGrp="1"/>
          </p:cNvSpPr>
          <p:nvPr>
            <p:ph type="title"/>
          </p:nvPr>
        </p:nvSpPr>
        <p:spPr/>
        <p:txBody>
          <a:bodyPr/>
          <a:lstStyle/>
          <a:p>
            <a:r>
              <a:rPr lang="en-US" dirty="0"/>
              <a:t>IDDFS Algorithm</a:t>
            </a:r>
          </a:p>
        </p:txBody>
      </p:sp>
      <p:sp>
        <p:nvSpPr>
          <p:cNvPr id="3" name="Content Placeholder 2">
            <a:extLst>
              <a:ext uri="{FF2B5EF4-FFF2-40B4-BE49-F238E27FC236}">
                <a16:creationId xmlns:a16="http://schemas.microsoft.com/office/drawing/2014/main" id="{A864480A-B4D4-3B7B-1798-5B7C487006D8}"/>
              </a:ext>
            </a:extLst>
          </p:cNvPr>
          <p:cNvSpPr>
            <a:spLocks noGrp="1"/>
          </p:cNvSpPr>
          <p:nvPr>
            <p:ph idx="1"/>
          </p:nvPr>
        </p:nvSpPr>
        <p:spPr/>
        <p:txBody>
          <a:bodyPr>
            <a:normAutofit/>
          </a:bodyPr>
          <a:lstStyle/>
          <a:p>
            <a:r>
              <a:rPr lang="en-GB" dirty="0"/>
              <a:t>Here are the steps for Iterative deepening depth first search algorithm:</a:t>
            </a:r>
          </a:p>
          <a:p>
            <a:endParaRPr lang="en-GB" dirty="0"/>
          </a:p>
          <a:p>
            <a:pPr lvl="1"/>
            <a:r>
              <a:rPr lang="en-GB" dirty="0"/>
              <a:t>Set the depth limit to 0.</a:t>
            </a:r>
          </a:p>
          <a:p>
            <a:pPr lvl="1"/>
            <a:r>
              <a:rPr lang="en-GB" dirty="0"/>
              <a:t>Perform DFS to the depth limit.</a:t>
            </a:r>
          </a:p>
          <a:p>
            <a:pPr lvl="1"/>
            <a:r>
              <a:rPr lang="en-GB" dirty="0"/>
              <a:t>If the goal state is found, return it.</a:t>
            </a:r>
          </a:p>
          <a:p>
            <a:pPr lvl="1"/>
            <a:r>
              <a:rPr lang="en-GB" dirty="0"/>
              <a:t>If the goal state is not found and the maximum depth has not been reached, increment the depth limit and repeat steps 2-4.</a:t>
            </a:r>
          </a:p>
          <a:p>
            <a:pPr lvl="1"/>
            <a:r>
              <a:rPr lang="en-GB" dirty="0"/>
              <a:t>If the goal state is not found and the maximum depth has been reached, terminate the search and return failure.</a:t>
            </a:r>
            <a:endParaRPr lang="en-US" dirty="0"/>
          </a:p>
        </p:txBody>
      </p:sp>
    </p:spTree>
    <p:extLst>
      <p:ext uri="{BB962C8B-B14F-4D97-AF65-F5344CB8AC3E}">
        <p14:creationId xmlns:p14="http://schemas.microsoft.com/office/powerpoint/2010/main" val="10998327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052DEE-2780-94F7-BCB5-4F17A1DB98B7}"/>
              </a:ext>
            </a:extLst>
          </p:cNvPr>
          <p:cNvSpPr>
            <a:spLocks noGrp="1"/>
          </p:cNvSpPr>
          <p:nvPr>
            <p:ph type="title"/>
          </p:nvPr>
        </p:nvSpPr>
        <p:spPr/>
        <p:txBody>
          <a:bodyPr/>
          <a:lstStyle/>
          <a:p>
            <a:r>
              <a:rPr lang="en-US" dirty="0"/>
              <a:t>IDDFS: Advantages</a:t>
            </a:r>
          </a:p>
        </p:txBody>
      </p:sp>
      <p:sp>
        <p:nvSpPr>
          <p:cNvPr id="3" name="Content Placeholder 2">
            <a:extLst>
              <a:ext uri="{FF2B5EF4-FFF2-40B4-BE49-F238E27FC236}">
                <a16:creationId xmlns:a16="http://schemas.microsoft.com/office/drawing/2014/main" id="{4D84B07D-456D-6406-22EA-D75087D25DD9}"/>
              </a:ext>
            </a:extLst>
          </p:cNvPr>
          <p:cNvSpPr>
            <a:spLocks noGrp="1"/>
          </p:cNvSpPr>
          <p:nvPr>
            <p:ph idx="1"/>
          </p:nvPr>
        </p:nvSpPr>
        <p:spPr/>
        <p:txBody>
          <a:bodyPr>
            <a:normAutofit fontScale="92500" lnSpcReduction="20000"/>
          </a:bodyPr>
          <a:lstStyle/>
          <a:p>
            <a:r>
              <a:rPr lang="en-GB" dirty="0"/>
              <a:t>It combines the benefits of BFS and DFS search algorithm in terms of fast search and memory efficiency.</a:t>
            </a:r>
          </a:p>
          <a:p>
            <a:r>
              <a:rPr lang="en-GB" dirty="0"/>
              <a:t>It is a type of straightforward which is used to put into practice since it builds upon the conventional depth-first search algorithm.</a:t>
            </a:r>
          </a:p>
          <a:p>
            <a:r>
              <a:rPr lang="en-GB" dirty="0"/>
              <a:t>It is a type </a:t>
            </a:r>
            <a:r>
              <a:rPr lang="en-GB" dirty="0" err="1"/>
              <a:t>ofsearch</a:t>
            </a:r>
            <a:r>
              <a:rPr lang="en-GB" dirty="0"/>
              <a:t> algorithm which provides guarantees to find the optimal solution, as long as the cost of each edge in the search space is the same.</a:t>
            </a:r>
          </a:p>
          <a:p>
            <a:r>
              <a:rPr lang="en-GB" dirty="0"/>
              <a:t>It is a type </a:t>
            </a:r>
            <a:r>
              <a:rPr lang="en-GB" dirty="0" err="1"/>
              <a:t>ofcomplete</a:t>
            </a:r>
            <a:r>
              <a:rPr lang="en-GB" dirty="0"/>
              <a:t> algorithm, and the meaning of this is it will always find a solution if one exists.</a:t>
            </a:r>
          </a:p>
          <a:p>
            <a:r>
              <a:rPr lang="en-GB" dirty="0"/>
              <a:t>The Iterative Deepening Depth-First Search (IDDFS) algorithm uses less memory compared to Breadth-First Search (BFS) because it only stores the current path in memory, rather than the entire search tree.</a:t>
            </a:r>
            <a:endParaRPr lang="en-US" dirty="0"/>
          </a:p>
        </p:txBody>
      </p:sp>
    </p:spTree>
    <p:extLst>
      <p:ext uri="{BB962C8B-B14F-4D97-AF65-F5344CB8AC3E}">
        <p14:creationId xmlns:p14="http://schemas.microsoft.com/office/powerpoint/2010/main" val="37632163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214F6-CCA0-5508-FAF8-7069BC30E487}"/>
              </a:ext>
            </a:extLst>
          </p:cNvPr>
          <p:cNvSpPr>
            <a:spLocks noGrp="1"/>
          </p:cNvSpPr>
          <p:nvPr>
            <p:ph type="title"/>
          </p:nvPr>
        </p:nvSpPr>
        <p:spPr/>
        <p:txBody>
          <a:bodyPr/>
          <a:lstStyle/>
          <a:p>
            <a:r>
              <a:rPr lang="en-US" dirty="0"/>
              <a:t>IDDFS: Disadvantages</a:t>
            </a:r>
          </a:p>
        </p:txBody>
      </p:sp>
      <p:sp>
        <p:nvSpPr>
          <p:cNvPr id="3" name="Content Placeholder 2">
            <a:extLst>
              <a:ext uri="{FF2B5EF4-FFF2-40B4-BE49-F238E27FC236}">
                <a16:creationId xmlns:a16="http://schemas.microsoft.com/office/drawing/2014/main" id="{EE0EF3C7-06AB-74A6-1329-69F6F61B86D1}"/>
              </a:ext>
            </a:extLst>
          </p:cNvPr>
          <p:cNvSpPr>
            <a:spLocks noGrp="1"/>
          </p:cNvSpPr>
          <p:nvPr>
            <p:ph idx="1"/>
          </p:nvPr>
        </p:nvSpPr>
        <p:spPr/>
        <p:txBody>
          <a:bodyPr/>
          <a:lstStyle/>
          <a:p>
            <a:r>
              <a:rPr lang="en-GB" dirty="0"/>
              <a:t>The main drawback of IDDFS is that it repeats all the work of the previous phase.</a:t>
            </a:r>
            <a:endParaRPr lang="en-US" dirty="0"/>
          </a:p>
        </p:txBody>
      </p:sp>
    </p:spTree>
    <p:extLst>
      <p:ext uri="{BB962C8B-B14F-4D97-AF65-F5344CB8AC3E}">
        <p14:creationId xmlns:p14="http://schemas.microsoft.com/office/powerpoint/2010/main" val="30204141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6E36F-0391-6803-5DBE-0DB43D8AC030}"/>
              </a:ext>
            </a:extLst>
          </p:cNvPr>
          <p:cNvSpPr>
            <a:spLocks noGrp="1"/>
          </p:cNvSpPr>
          <p:nvPr>
            <p:ph type="title"/>
          </p:nvPr>
        </p:nvSpPr>
        <p:spPr/>
        <p:txBody>
          <a:bodyPr/>
          <a:lstStyle/>
          <a:p>
            <a:r>
              <a:rPr lang="en-US" dirty="0"/>
              <a:t>IDDFS: Example</a:t>
            </a:r>
          </a:p>
        </p:txBody>
      </p:sp>
      <p:sp>
        <p:nvSpPr>
          <p:cNvPr id="3" name="Content Placeholder 2">
            <a:extLst>
              <a:ext uri="{FF2B5EF4-FFF2-40B4-BE49-F238E27FC236}">
                <a16:creationId xmlns:a16="http://schemas.microsoft.com/office/drawing/2014/main" id="{BA3774F8-A2D2-4318-F25B-884B3501B4E2}"/>
              </a:ext>
            </a:extLst>
          </p:cNvPr>
          <p:cNvSpPr>
            <a:spLocks noGrp="1"/>
          </p:cNvSpPr>
          <p:nvPr>
            <p:ph idx="1"/>
          </p:nvPr>
        </p:nvSpPr>
        <p:spPr>
          <a:xfrm>
            <a:off x="838200" y="1825625"/>
            <a:ext cx="5753100" cy="4351338"/>
          </a:xfrm>
        </p:spPr>
        <p:txBody>
          <a:bodyPr>
            <a:normAutofit fontScale="77500" lnSpcReduction="20000"/>
          </a:bodyPr>
          <a:lstStyle/>
          <a:p>
            <a:r>
              <a:rPr lang="en-GB" dirty="0"/>
              <a:t>Following tree structure is showing the iterative deepening depth-first search. IDDFS algorithm performs various iterations until it does not find the goal node. The iteration performed by the algorithm is given as:</a:t>
            </a:r>
          </a:p>
          <a:p>
            <a:endParaRPr lang="en-GB" dirty="0"/>
          </a:p>
          <a:p>
            <a:r>
              <a:rPr lang="en-GB" dirty="0"/>
              <a:t>1</a:t>
            </a:r>
            <a:r>
              <a:rPr lang="en-GB" baseline="30000" dirty="0"/>
              <a:t>st</a:t>
            </a:r>
            <a:r>
              <a:rPr lang="en-GB" dirty="0"/>
              <a:t> Iteration-----&gt; A</a:t>
            </a:r>
          </a:p>
          <a:p>
            <a:r>
              <a:rPr lang="en-GB" dirty="0"/>
              <a:t>2</a:t>
            </a:r>
            <a:r>
              <a:rPr lang="en-GB" baseline="30000" dirty="0"/>
              <a:t>nd</a:t>
            </a:r>
            <a:r>
              <a:rPr lang="en-GB" dirty="0"/>
              <a:t> Iteration----&gt; A, B, C</a:t>
            </a:r>
          </a:p>
          <a:p>
            <a:r>
              <a:rPr lang="en-GB" dirty="0"/>
              <a:t>3</a:t>
            </a:r>
            <a:r>
              <a:rPr lang="en-GB" baseline="30000" dirty="0"/>
              <a:t>rd</a:t>
            </a:r>
            <a:r>
              <a:rPr lang="en-GB" dirty="0"/>
              <a:t> Iteration------&gt;A, B, D, E, C, F, G</a:t>
            </a:r>
          </a:p>
          <a:p>
            <a:r>
              <a:rPr lang="en-GB" dirty="0"/>
              <a:t>4</a:t>
            </a:r>
            <a:r>
              <a:rPr lang="en-GB" baseline="30000" dirty="0"/>
              <a:t>th</a:t>
            </a:r>
            <a:r>
              <a:rPr lang="en-GB" dirty="0"/>
              <a:t> Iteration------&gt;A, B, D, H, I, E, C, F, K, G</a:t>
            </a:r>
          </a:p>
          <a:p>
            <a:r>
              <a:rPr lang="en-GB" dirty="0"/>
              <a:t>In the fourth iteration, the algorithm will find the goal node.</a:t>
            </a:r>
            <a:endParaRPr lang="en-US" dirty="0"/>
          </a:p>
        </p:txBody>
      </p:sp>
      <p:pic>
        <p:nvPicPr>
          <p:cNvPr id="4" name="Picture 3">
            <a:extLst>
              <a:ext uri="{FF2B5EF4-FFF2-40B4-BE49-F238E27FC236}">
                <a16:creationId xmlns:a16="http://schemas.microsoft.com/office/drawing/2014/main" id="{E024FAB6-A295-DCD4-CCE4-BCCF3DC97BE6}"/>
              </a:ext>
            </a:extLst>
          </p:cNvPr>
          <p:cNvPicPr>
            <a:picLocks noChangeAspect="1"/>
          </p:cNvPicPr>
          <p:nvPr/>
        </p:nvPicPr>
        <p:blipFill>
          <a:blip r:embed="rId2"/>
          <a:stretch>
            <a:fillRect/>
          </a:stretch>
        </p:blipFill>
        <p:spPr>
          <a:xfrm>
            <a:off x="6591300" y="2096294"/>
            <a:ext cx="4762500" cy="3810000"/>
          </a:xfrm>
          <a:prstGeom prst="rect">
            <a:avLst/>
          </a:prstGeom>
        </p:spPr>
      </p:pic>
    </p:spTree>
    <p:extLst>
      <p:ext uri="{BB962C8B-B14F-4D97-AF65-F5344CB8AC3E}">
        <p14:creationId xmlns:p14="http://schemas.microsoft.com/office/powerpoint/2010/main" val="23711607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5522CD-892D-93DD-442A-44AA5D3CDBEC}"/>
              </a:ext>
            </a:extLst>
          </p:cNvPr>
          <p:cNvSpPr>
            <a:spLocks noGrp="1"/>
          </p:cNvSpPr>
          <p:nvPr>
            <p:ph type="title"/>
          </p:nvPr>
        </p:nvSpPr>
        <p:spPr/>
        <p:txBody>
          <a:bodyPr/>
          <a:lstStyle/>
          <a:p>
            <a:r>
              <a:rPr lang="en-US" dirty="0"/>
              <a:t>IDDFS: Algorithm Evaluation</a:t>
            </a:r>
          </a:p>
        </p:txBody>
      </p:sp>
      <p:sp>
        <p:nvSpPr>
          <p:cNvPr id="3" name="Content Placeholder 2">
            <a:extLst>
              <a:ext uri="{FF2B5EF4-FFF2-40B4-BE49-F238E27FC236}">
                <a16:creationId xmlns:a16="http://schemas.microsoft.com/office/drawing/2014/main" id="{E29EF5B6-2FD0-C21A-63E6-14A9C599A4B9}"/>
              </a:ext>
            </a:extLst>
          </p:cNvPr>
          <p:cNvSpPr>
            <a:spLocks noGrp="1"/>
          </p:cNvSpPr>
          <p:nvPr>
            <p:ph idx="1"/>
          </p:nvPr>
        </p:nvSpPr>
        <p:spPr/>
        <p:txBody>
          <a:bodyPr>
            <a:normAutofit/>
          </a:bodyPr>
          <a:lstStyle/>
          <a:p>
            <a:r>
              <a:rPr lang="en-GB" b="1" dirty="0"/>
              <a:t>Completeness:</a:t>
            </a:r>
          </a:p>
          <a:p>
            <a:pPr lvl="1"/>
            <a:r>
              <a:rPr lang="en-GB" dirty="0"/>
              <a:t>This algorithm is complete is if the branching factor is finite.</a:t>
            </a:r>
          </a:p>
          <a:p>
            <a:r>
              <a:rPr lang="en-GB" b="1" dirty="0"/>
              <a:t>Time Complexity:</a:t>
            </a:r>
          </a:p>
          <a:p>
            <a:pPr lvl="1"/>
            <a:r>
              <a:rPr lang="en-GB" dirty="0"/>
              <a:t>Let's suppose b is the branching factor and depth is d then the worst-case time complexity is O(bd).</a:t>
            </a:r>
          </a:p>
          <a:p>
            <a:r>
              <a:rPr lang="en-GB" b="1" dirty="0"/>
              <a:t>Space Complexity:</a:t>
            </a:r>
          </a:p>
          <a:p>
            <a:pPr lvl="1"/>
            <a:r>
              <a:rPr lang="en-GB" dirty="0"/>
              <a:t>The space complexity of IDDFS will be O(bd).</a:t>
            </a:r>
          </a:p>
          <a:p>
            <a:r>
              <a:rPr lang="en-GB" b="1" dirty="0"/>
              <a:t>Optimality:</a:t>
            </a:r>
          </a:p>
          <a:p>
            <a:pPr lvl="1"/>
            <a:r>
              <a:rPr lang="en-GB" dirty="0"/>
              <a:t>IDDFS algorithm is optimal if path cost is a non- decreasing function of the depth of the node.</a:t>
            </a:r>
            <a:endParaRPr lang="en-US" dirty="0"/>
          </a:p>
        </p:txBody>
      </p:sp>
    </p:spTree>
    <p:extLst>
      <p:ext uri="{BB962C8B-B14F-4D97-AF65-F5344CB8AC3E}">
        <p14:creationId xmlns:p14="http://schemas.microsoft.com/office/powerpoint/2010/main" val="31440989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C24B1-9598-C7EB-B56C-041DCC678045}"/>
              </a:ext>
            </a:extLst>
          </p:cNvPr>
          <p:cNvSpPr>
            <a:spLocks noGrp="1"/>
          </p:cNvSpPr>
          <p:nvPr>
            <p:ph type="title"/>
          </p:nvPr>
        </p:nvSpPr>
        <p:spPr/>
        <p:txBody>
          <a:bodyPr/>
          <a:lstStyle/>
          <a:p>
            <a:r>
              <a:rPr lang="en-US" dirty="0"/>
              <a:t>Uniform-cost Search Algorithm</a:t>
            </a:r>
          </a:p>
        </p:txBody>
      </p:sp>
      <p:sp>
        <p:nvSpPr>
          <p:cNvPr id="3" name="Content Placeholder 2">
            <a:extLst>
              <a:ext uri="{FF2B5EF4-FFF2-40B4-BE49-F238E27FC236}">
                <a16:creationId xmlns:a16="http://schemas.microsoft.com/office/drawing/2014/main" id="{5C628DD3-C55D-51F6-0FBD-45BD6A124991}"/>
              </a:ext>
            </a:extLst>
          </p:cNvPr>
          <p:cNvSpPr>
            <a:spLocks noGrp="1"/>
          </p:cNvSpPr>
          <p:nvPr>
            <p:ph idx="1"/>
          </p:nvPr>
        </p:nvSpPr>
        <p:spPr/>
        <p:txBody>
          <a:bodyPr>
            <a:normAutofit lnSpcReduction="10000"/>
          </a:bodyPr>
          <a:lstStyle/>
          <a:p>
            <a:r>
              <a:rPr lang="en-GB" dirty="0"/>
              <a:t>Uniform-cost search is a searching algorithm used for traversing a weighted tree or graph. This algorithm comes into play when a different cost is available for each edge. The primary goal of the uniform-cost search is to find a path to the goal node which has the lowest cumulative cost. Uniform-cost search expands nodes according to their path costs form the root node. It can be used to solve any graph/tree where the optimal cost is in demand. A uniform-cost search algorithm is implemented by the priority queue. It gives maximum priority to the lowest cumulative cost. Uniform cost search is equivalent to BFS algorithm if the path cost of all edges is the same.</a:t>
            </a:r>
            <a:endParaRPr lang="en-US" dirty="0"/>
          </a:p>
        </p:txBody>
      </p:sp>
    </p:spTree>
    <p:extLst>
      <p:ext uri="{BB962C8B-B14F-4D97-AF65-F5344CB8AC3E}">
        <p14:creationId xmlns:p14="http://schemas.microsoft.com/office/powerpoint/2010/main" val="2306367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5BAB6-D8C2-042E-9333-8E8891B8E708}"/>
              </a:ext>
            </a:extLst>
          </p:cNvPr>
          <p:cNvSpPr>
            <a:spLocks noGrp="1"/>
          </p:cNvSpPr>
          <p:nvPr>
            <p:ph type="title"/>
          </p:nvPr>
        </p:nvSpPr>
        <p:spPr/>
        <p:txBody>
          <a:bodyPr/>
          <a:lstStyle/>
          <a:p>
            <a:r>
              <a:rPr lang="en-US" dirty="0"/>
              <a:t>UCS: Advantages</a:t>
            </a:r>
          </a:p>
        </p:txBody>
      </p:sp>
      <p:sp>
        <p:nvSpPr>
          <p:cNvPr id="3" name="Content Placeholder 2">
            <a:extLst>
              <a:ext uri="{FF2B5EF4-FFF2-40B4-BE49-F238E27FC236}">
                <a16:creationId xmlns:a16="http://schemas.microsoft.com/office/drawing/2014/main" id="{41DD5FEB-57D3-B794-6462-EA476DF372D8}"/>
              </a:ext>
            </a:extLst>
          </p:cNvPr>
          <p:cNvSpPr>
            <a:spLocks noGrp="1"/>
          </p:cNvSpPr>
          <p:nvPr>
            <p:ph idx="1"/>
          </p:nvPr>
        </p:nvSpPr>
        <p:spPr/>
        <p:txBody>
          <a:bodyPr>
            <a:normAutofit fontScale="92500" lnSpcReduction="10000"/>
          </a:bodyPr>
          <a:lstStyle/>
          <a:p>
            <a:r>
              <a:rPr lang="en-GB" dirty="0"/>
              <a:t>Uniform cost search is optimal because at every state the path with the least cost is chosen.</a:t>
            </a:r>
          </a:p>
          <a:p>
            <a:r>
              <a:rPr lang="en-GB" dirty="0"/>
              <a:t>It is an efficient when the edge weights are small, as it explores the paths in an order that ensures that the shortest path is found early.</a:t>
            </a:r>
          </a:p>
          <a:p>
            <a:r>
              <a:rPr lang="en-GB" dirty="0"/>
              <a:t>It's a fundamental search method that is not overly complex, making it accessible for many users.</a:t>
            </a:r>
          </a:p>
          <a:p>
            <a:r>
              <a:rPr lang="en-GB" dirty="0"/>
              <a:t>It is a type of comprehensive algorithm that will find a solution if one exists. This means the algorithm is complete, ensuring it can locate a solution whenever a viable one is available. The algorithm covers all the necessary steps to arrive at a resolution.</a:t>
            </a:r>
            <a:endParaRPr lang="en-US" dirty="0"/>
          </a:p>
        </p:txBody>
      </p:sp>
    </p:spTree>
    <p:extLst>
      <p:ext uri="{BB962C8B-B14F-4D97-AF65-F5344CB8AC3E}">
        <p14:creationId xmlns:p14="http://schemas.microsoft.com/office/powerpoint/2010/main" val="18664010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8704B-CF44-F4F3-F4E9-047A729D9FD5}"/>
              </a:ext>
            </a:extLst>
          </p:cNvPr>
          <p:cNvSpPr>
            <a:spLocks noGrp="1"/>
          </p:cNvSpPr>
          <p:nvPr>
            <p:ph type="title"/>
          </p:nvPr>
        </p:nvSpPr>
        <p:spPr/>
        <p:txBody>
          <a:bodyPr/>
          <a:lstStyle/>
          <a:p>
            <a:r>
              <a:rPr lang="en-US" dirty="0"/>
              <a:t>UCS: Disadvantages</a:t>
            </a:r>
          </a:p>
        </p:txBody>
      </p:sp>
      <p:sp>
        <p:nvSpPr>
          <p:cNvPr id="3" name="Content Placeholder 2">
            <a:extLst>
              <a:ext uri="{FF2B5EF4-FFF2-40B4-BE49-F238E27FC236}">
                <a16:creationId xmlns:a16="http://schemas.microsoft.com/office/drawing/2014/main" id="{AB07BECF-2063-6767-21F5-EE16ED7ED94F}"/>
              </a:ext>
            </a:extLst>
          </p:cNvPr>
          <p:cNvSpPr>
            <a:spLocks noGrp="1"/>
          </p:cNvSpPr>
          <p:nvPr>
            <p:ph idx="1"/>
          </p:nvPr>
        </p:nvSpPr>
        <p:spPr/>
        <p:txBody>
          <a:bodyPr>
            <a:normAutofit fontScale="85000" lnSpcReduction="20000"/>
          </a:bodyPr>
          <a:lstStyle/>
          <a:p>
            <a:r>
              <a:rPr lang="en-GB" dirty="0"/>
              <a:t>It does not care about the number of steps involve in searching and only concerned about path cost. Due to which this algorithm may be stuck in an infinite loop.</a:t>
            </a:r>
          </a:p>
          <a:p>
            <a:r>
              <a:rPr lang="en-GB" dirty="0"/>
              <a:t>When in operation, UCS shall know all the edge weights to start off the search.</a:t>
            </a:r>
          </a:p>
          <a:p>
            <a:r>
              <a:rPr lang="en-GB" dirty="0"/>
              <a:t>This search holds constant the list of the nodes that it has already discovered in a priority queue. Such is a much weightier thing if you have a large graph. Algorithm allocates the memory by storing the path sequence of prioritizes, which can be memory intensive as the graph gets </a:t>
            </a:r>
            <a:r>
              <a:rPr lang="en-GB" dirty="0" err="1"/>
              <a:t>larger.With</a:t>
            </a:r>
            <a:r>
              <a:rPr lang="en-GB" dirty="0"/>
              <a:t> the help of Uniform cost search we can end up with the problem if the graph has edge's cycles with smaller cost than that of the shortest path.</a:t>
            </a:r>
          </a:p>
          <a:p>
            <a:r>
              <a:rPr lang="en-GB" dirty="0"/>
              <a:t>The Uniform cost search will keep deploying priority queue so that the paths explored can be stored in any case as the graph size can be even bigger that can eventually result in too much memory being used.</a:t>
            </a:r>
            <a:endParaRPr lang="en-US" dirty="0"/>
          </a:p>
        </p:txBody>
      </p:sp>
    </p:spTree>
    <p:extLst>
      <p:ext uri="{BB962C8B-B14F-4D97-AF65-F5344CB8AC3E}">
        <p14:creationId xmlns:p14="http://schemas.microsoft.com/office/powerpoint/2010/main" val="379454306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036BC-3054-5BE5-0697-BD0ADDBCFDEB}"/>
              </a:ext>
            </a:extLst>
          </p:cNvPr>
          <p:cNvSpPr>
            <a:spLocks noGrp="1"/>
          </p:cNvSpPr>
          <p:nvPr>
            <p:ph type="title"/>
          </p:nvPr>
        </p:nvSpPr>
        <p:spPr/>
        <p:txBody>
          <a:bodyPr/>
          <a:lstStyle/>
          <a:p>
            <a:r>
              <a:rPr lang="en-US" dirty="0"/>
              <a:t>UCS: Example</a:t>
            </a:r>
          </a:p>
        </p:txBody>
      </p:sp>
      <p:pic>
        <p:nvPicPr>
          <p:cNvPr id="4" name="Content Placeholder 3">
            <a:extLst>
              <a:ext uri="{FF2B5EF4-FFF2-40B4-BE49-F238E27FC236}">
                <a16:creationId xmlns:a16="http://schemas.microsoft.com/office/drawing/2014/main" id="{B3B3B108-71D4-F034-F1D2-DF763B66697E}"/>
              </a:ext>
            </a:extLst>
          </p:cNvPr>
          <p:cNvPicPr>
            <a:picLocks noGrp="1" noChangeAspect="1"/>
          </p:cNvPicPr>
          <p:nvPr>
            <p:ph idx="1"/>
          </p:nvPr>
        </p:nvPicPr>
        <p:blipFill>
          <a:blip r:embed="rId2"/>
          <a:stretch>
            <a:fillRect/>
          </a:stretch>
        </p:blipFill>
        <p:spPr>
          <a:xfrm>
            <a:off x="2991684" y="1923573"/>
            <a:ext cx="5495726" cy="4396581"/>
          </a:xfrm>
          <a:prstGeom prst="rect">
            <a:avLst/>
          </a:prstGeom>
        </p:spPr>
      </p:pic>
    </p:spTree>
    <p:extLst>
      <p:ext uri="{BB962C8B-B14F-4D97-AF65-F5344CB8AC3E}">
        <p14:creationId xmlns:p14="http://schemas.microsoft.com/office/powerpoint/2010/main" val="25970606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445054-9B5D-ACE2-86E2-A3CF40C7655E}"/>
              </a:ext>
            </a:extLst>
          </p:cNvPr>
          <p:cNvSpPr>
            <a:spLocks noGrp="1"/>
          </p:cNvSpPr>
          <p:nvPr>
            <p:ph type="title"/>
          </p:nvPr>
        </p:nvSpPr>
        <p:spPr/>
        <p:txBody>
          <a:bodyPr/>
          <a:lstStyle/>
          <a:p>
            <a:r>
              <a:rPr lang="en-US" dirty="0"/>
              <a:t>UCS: Algorithm Evaluation</a:t>
            </a:r>
          </a:p>
        </p:txBody>
      </p:sp>
      <p:sp>
        <p:nvSpPr>
          <p:cNvPr id="3" name="Content Placeholder 2">
            <a:extLst>
              <a:ext uri="{FF2B5EF4-FFF2-40B4-BE49-F238E27FC236}">
                <a16:creationId xmlns:a16="http://schemas.microsoft.com/office/drawing/2014/main" id="{BCB8EBE9-C360-B5FE-6C62-73C5748F35B7}"/>
              </a:ext>
            </a:extLst>
          </p:cNvPr>
          <p:cNvSpPr>
            <a:spLocks noGrp="1"/>
          </p:cNvSpPr>
          <p:nvPr>
            <p:ph idx="1"/>
          </p:nvPr>
        </p:nvSpPr>
        <p:spPr/>
        <p:txBody>
          <a:bodyPr>
            <a:normAutofit fontScale="92500" lnSpcReduction="20000"/>
          </a:bodyPr>
          <a:lstStyle/>
          <a:p>
            <a:pPr algn="just"/>
            <a:r>
              <a:rPr lang="en-GB" b="1" i="0" dirty="0">
                <a:solidFill>
                  <a:srgbClr val="2B2A29"/>
                </a:solidFill>
                <a:effectLst/>
              </a:rPr>
              <a:t>Completeness: </a:t>
            </a:r>
            <a:r>
              <a:rPr lang="en-GB" b="0" i="0" dirty="0">
                <a:solidFill>
                  <a:srgbClr val="2B2A29"/>
                </a:solidFill>
                <a:effectLst/>
              </a:rPr>
              <a:t>Uniform-cost search is complete, such as if there is a solution, UCS will find it.</a:t>
            </a:r>
          </a:p>
          <a:p>
            <a:pPr algn="just"/>
            <a:r>
              <a:rPr lang="en-GB" b="1" i="0" dirty="0">
                <a:solidFill>
                  <a:srgbClr val="2B2A29"/>
                </a:solidFill>
                <a:effectLst/>
              </a:rPr>
              <a:t>Time Complexity: </a:t>
            </a:r>
            <a:r>
              <a:rPr lang="en-GB" b="0" i="0" dirty="0">
                <a:solidFill>
                  <a:srgbClr val="2B2A29"/>
                </a:solidFill>
                <a:effectLst/>
              </a:rPr>
              <a:t>Let C* </a:t>
            </a:r>
            <a:r>
              <a:rPr lang="en-GB" b="1" i="0" dirty="0">
                <a:solidFill>
                  <a:srgbClr val="2B2A29"/>
                </a:solidFill>
                <a:effectLst/>
              </a:rPr>
              <a:t>is Cost of the optimal solution</a:t>
            </a:r>
            <a:r>
              <a:rPr lang="en-GB" b="0" i="0" dirty="0">
                <a:solidFill>
                  <a:srgbClr val="2B2A29"/>
                </a:solidFill>
                <a:effectLst/>
              </a:rPr>
              <a:t>, and </a:t>
            </a:r>
            <a:r>
              <a:rPr lang="en-GB" b="1" i="0" dirty="0">
                <a:solidFill>
                  <a:srgbClr val="2B2A29"/>
                </a:solidFill>
                <a:effectLst/>
              </a:rPr>
              <a:t>ε</a:t>
            </a:r>
            <a:r>
              <a:rPr lang="en-GB" b="0" i="0" dirty="0">
                <a:solidFill>
                  <a:srgbClr val="2B2A29"/>
                </a:solidFill>
                <a:effectLst/>
              </a:rPr>
              <a:t> is each step to get closer to the goal node. Then the number of steps is = C*/ε+1. Here we have taken +1, as we start from state 0 and end to C*/ε.</a:t>
            </a:r>
          </a:p>
          <a:p>
            <a:pPr lvl="1" algn="just"/>
            <a:r>
              <a:rPr lang="en-GB" b="0" i="0" dirty="0">
                <a:solidFill>
                  <a:srgbClr val="2B2A29"/>
                </a:solidFill>
                <a:effectLst/>
              </a:rPr>
              <a:t>Hence, the worst-case time complexity of Uniform-cost search is </a:t>
            </a:r>
            <a:r>
              <a:rPr lang="en-GB" b="1" i="0" dirty="0">
                <a:solidFill>
                  <a:srgbClr val="2B2A29"/>
                </a:solidFill>
                <a:effectLst/>
              </a:rPr>
              <a:t>O(b</a:t>
            </a:r>
            <a:r>
              <a:rPr lang="en-GB" b="1" i="0" baseline="30000" dirty="0">
                <a:solidFill>
                  <a:srgbClr val="2B2A29"/>
                </a:solidFill>
                <a:effectLst/>
              </a:rPr>
              <a:t>1 + [C*/ε]</a:t>
            </a:r>
            <a:r>
              <a:rPr lang="en-GB" b="1" i="0" dirty="0">
                <a:solidFill>
                  <a:srgbClr val="2B2A29"/>
                </a:solidFill>
                <a:effectLst/>
              </a:rPr>
              <a:t>)/</a:t>
            </a:r>
            <a:r>
              <a:rPr lang="en-GB" b="0" i="0" dirty="0">
                <a:solidFill>
                  <a:srgbClr val="2B2A29"/>
                </a:solidFill>
                <a:effectLst/>
              </a:rPr>
              <a:t>.</a:t>
            </a:r>
          </a:p>
          <a:p>
            <a:pPr algn="just"/>
            <a:r>
              <a:rPr lang="en-GB" b="1" i="0" dirty="0">
                <a:solidFill>
                  <a:srgbClr val="2B2A29"/>
                </a:solidFill>
                <a:effectLst/>
              </a:rPr>
              <a:t>Space Complexity: </a:t>
            </a:r>
            <a:r>
              <a:rPr lang="en-GB" b="0" i="0" dirty="0">
                <a:solidFill>
                  <a:srgbClr val="2B2A29"/>
                </a:solidFill>
                <a:effectLst/>
              </a:rPr>
              <a:t>The same logic is for space complexity so, the worst-case space complexity of Uniform-cost search is </a:t>
            </a:r>
            <a:r>
              <a:rPr lang="en-GB" b="1" i="0" dirty="0">
                <a:solidFill>
                  <a:srgbClr val="2B2A29"/>
                </a:solidFill>
                <a:effectLst/>
              </a:rPr>
              <a:t>O(b</a:t>
            </a:r>
            <a:r>
              <a:rPr lang="en-GB" b="1" i="0" baseline="30000" dirty="0">
                <a:solidFill>
                  <a:srgbClr val="2B2A29"/>
                </a:solidFill>
                <a:effectLst/>
              </a:rPr>
              <a:t>1 + [C*/ε]</a:t>
            </a:r>
            <a:r>
              <a:rPr lang="en-GB" b="1" i="0" dirty="0">
                <a:solidFill>
                  <a:srgbClr val="2B2A29"/>
                </a:solidFill>
                <a:effectLst/>
              </a:rPr>
              <a:t>)</a:t>
            </a:r>
            <a:r>
              <a:rPr lang="en-GB" b="0" i="0" dirty="0">
                <a:solidFill>
                  <a:srgbClr val="2B2A29"/>
                </a:solidFill>
                <a:effectLst/>
              </a:rPr>
              <a:t>.</a:t>
            </a:r>
          </a:p>
          <a:p>
            <a:pPr algn="just"/>
            <a:r>
              <a:rPr lang="en-GB" b="1" i="0" dirty="0">
                <a:solidFill>
                  <a:srgbClr val="2B2A29"/>
                </a:solidFill>
                <a:effectLst/>
              </a:rPr>
              <a:t>Optimal: </a:t>
            </a:r>
            <a:r>
              <a:rPr lang="en-GB" b="0" i="0" dirty="0">
                <a:solidFill>
                  <a:srgbClr val="2B2A29"/>
                </a:solidFill>
                <a:effectLst/>
              </a:rPr>
              <a:t>Uniform-cost search is always optimal as it only selects a path with the lowest path cost.</a:t>
            </a:r>
          </a:p>
          <a:p>
            <a:endParaRPr lang="en-US" dirty="0"/>
          </a:p>
        </p:txBody>
      </p:sp>
    </p:spTree>
    <p:extLst>
      <p:ext uri="{BB962C8B-B14F-4D97-AF65-F5344CB8AC3E}">
        <p14:creationId xmlns:p14="http://schemas.microsoft.com/office/powerpoint/2010/main" val="315444925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F01B06-0808-8B43-4438-1E79E629870E}"/>
              </a:ext>
            </a:extLst>
          </p:cNvPr>
          <p:cNvSpPr>
            <a:spLocks noGrp="1"/>
          </p:cNvSpPr>
          <p:nvPr>
            <p:ph type="title"/>
          </p:nvPr>
        </p:nvSpPr>
        <p:spPr/>
        <p:txBody>
          <a:bodyPr/>
          <a:lstStyle/>
          <a:p>
            <a:r>
              <a:rPr lang="en-US" dirty="0"/>
              <a:t>Bidirectional Search Algorithm</a:t>
            </a:r>
          </a:p>
        </p:txBody>
      </p:sp>
      <p:sp>
        <p:nvSpPr>
          <p:cNvPr id="3" name="Content Placeholder 2">
            <a:extLst>
              <a:ext uri="{FF2B5EF4-FFF2-40B4-BE49-F238E27FC236}">
                <a16:creationId xmlns:a16="http://schemas.microsoft.com/office/drawing/2014/main" id="{124CCF31-2FFF-1826-B88F-34C879600FF1}"/>
              </a:ext>
            </a:extLst>
          </p:cNvPr>
          <p:cNvSpPr>
            <a:spLocks noGrp="1"/>
          </p:cNvSpPr>
          <p:nvPr>
            <p:ph idx="1"/>
          </p:nvPr>
        </p:nvSpPr>
        <p:spPr/>
        <p:txBody>
          <a:bodyPr>
            <a:normAutofit/>
          </a:bodyPr>
          <a:lstStyle/>
          <a:p>
            <a:r>
              <a:rPr lang="en-GB" dirty="0"/>
              <a:t>Bidirectional search algorithm runs two simultaneous searches, one form initial state called as forward-search and other from goal node called as backward-search, to find the goal node. Bidirectional search replaces one single search graph with two small subgraphs in which one starts the search from an initial vertex and other starts from goal vertex. The search stops when these two graphs intersect each other.</a:t>
            </a:r>
          </a:p>
          <a:p>
            <a:r>
              <a:rPr lang="en-GB" dirty="0"/>
              <a:t>Bidirectional search can use search techniques such as BFS, DFS, DLS, etc.</a:t>
            </a:r>
            <a:endParaRPr lang="en-US" dirty="0"/>
          </a:p>
        </p:txBody>
      </p:sp>
    </p:spTree>
    <p:extLst>
      <p:ext uri="{BB962C8B-B14F-4D97-AF65-F5344CB8AC3E}">
        <p14:creationId xmlns:p14="http://schemas.microsoft.com/office/powerpoint/2010/main" val="26477454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CB3F6-9123-62C3-6FB0-44476BEAB1FF}"/>
              </a:ext>
            </a:extLst>
          </p:cNvPr>
          <p:cNvSpPr>
            <a:spLocks noGrp="1"/>
          </p:cNvSpPr>
          <p:nvPr>
            <p:ph type="title"/>
          </p:nvPr>
        </p:nvSpPr>
        <p:spPr/>
        <p:txBody>
          <a:bodyPr/>
          <a:lstStyle/>
          <a:p>
            <a:r>
              <a:rPr lang="en-US" dirty="0"/>
              <a:t>Bidirectional search: Advantages</a:t>
            </a:r>
          </a:p>
        </p:txBody>
      </p:sp>
      <p:sp>
        <p:nvSpPr>
          <p:cNvPr id="3" name="Content Placeholder 2">
            <a:extLst>
              <a:ext uri="{FF2B5EF4-FFF2-40B4-BE49-F238E27FC236}">
                <a16:creationId xmlns:a16="http://schemas.microsoft.com/office/drawing/2014/main" id="{CB9050EF-9635-21CF-B4CD-8B18256C1347}"/>
              </a:ext>
            </a:extLst>
          </p:cNvPr>
          <p:cNvSpPr>
            <a:spLocks noGrp="1"/>
          </p:cNvSpPr>
          <p:nvPr>
            <p:ph idx="1"/>
          </p:nvPr>
        </p:nvSpPr>
        <p:spPr/>
        <p:txBody>
          <a:bodyPr/>
          <a:lstStyle/>
          <a:p>
            <a:r>
              <a:rPr lang="en-GB" dirty="0"/>
              <a:t>Bidirectional search is fast.</a:t>
            </a:r>
          </a:p>
          <a:p>
            <a:r>
              <a:rPr lang="en-GB" dirty="0"/>
              <a:t>Bidirectional search requires less memory</a:t>
            </a:r>
          </a:p>
          <a:p>
            <a:r>
              <a:rPr lang="en-GB" dirty="0"/>
              <a:t>The graph can be extremely helpful when it is very large in size and there is no way to make it smaller. In such cases, using this tool becomes particularly useful.</a:t>
            </a:r>
          </a:p>
          <a:p>
            <a:r>
              <a:rPr lang="en-GB" dirty="0"/>
              <a:t>The cost of expanding nodes can be high in certain cases. In such scenarios, using this approach can help reduce the number of nodes that need to be expanded.</a:t>
            </a:r>
            <a:endParaRPr lang="en-US" dirty="0"/>
          </a:p>
        </p:txBody>
      </p:sp>
    </p:spTree>
    <p:extLst>
      <p:ext uri="{BB962C8B-B14F-4D97-AF65-F5344CB8AC3E}">
        <p14:creationId xmlns:p14="http://schemas.microsoft.com/office/powerpoint/2010/main" val="5930550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73A7A7-2066-EFE3-EFF1-527A429A6762}"/>
              </a:ext>
            </a:extLst>
          </p:cNvPr>
          <p:cNvSpPr>
            <a:spLocks noGrp="1"/>
          </p:cNvSpPr>
          <p:nvPr>
            <p:ph type="title"/>
          </p:nvPr>
        </p:nvSpPr>
        <p:spPr/>
        <p:txBody>
          <a:bodyPr/>
          <a:lstStyle/>
          <a:p>
            <a:r>
              <a:rPr lang="en-US" dirty="0"/>
              <a:t>Bidirectional search: Dis-advantages</a:t>
            </a:r>
          </a:p>
        </p:txBody>
      </p:sp>
      <p:sp>
        <p:nvSpPr>
          <p:cNvPr id="3" name="Content Placeholder 2">
            <a:extLst>
              <a:ext uri="{FF2B5EF4-FFF2-40B4-BE49-F238E27FC236}">
                <a16:creationId xmlns:a16="http://schemas.microsoft.com/office/drawing/2014/main" id="{2C9325FB-1C5B-8156-0762-BA44F1DF6F96}"/>
              </a:ext>
            </a:extLst>
          </p:cNvPr>
          <p:cNvSpPr>
            <a:spLocks noGrp="1"/>
          </p:cNvSpPr>
          <p:nvPr>
            <p:ph idx="1"/>
          </p:nvPr>
        </p:nvSpPr>
        <p:spPr/>
        <p:txBody>
          <a:bodyPr/>
          <a:lstStyle/>
          <a:p>
            <a:r>
              <a:rPr lang="en-GB" dirty="0"/>
              <a:t>Implementation of the bidirectional search tree is difficult.</a:t>
            </a:r>
          </a:p>
          <a:p>
            <a:r>
              <a:rPr lang="en-GB" dirty="0"/>
              <a:t>In bidirectional search, one should know the goal state in advance.</a:t>
            </a:r>
          </a:p>
          <a:p>
            <a:r>
              <a:rPr lang="en-GB" dirty="0"/>
              <a:t>Finding an efficient way to check if a match exists between search trees can be tricky, which can increase the time it takes to complete the task.</a:t>
            </a:r>
            <a:endParaRPr lang="en-US" dirty="0"/>
          </a:p>
        </p:txBody>
      </p:sp>
    </p:spTree>
    <p:extLst>
      <p:ext uri="{BB962C8B-B14F-4D97-AF65-F5344CB8AC3E}">
        <p14:creationId xmlns:p14="http://schemas.microsoft.com/office/powerpoint/2010/main" val="25528222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086469-04EF-7CA4-D884-6C97B1CF7595}"/>
              </a:ext>
            </a:extLst>
          </p:cNvPr>
          <p:cNvSpPr>
            <a:spLocks noGrp="1"/>
          </p:cNvSpPr>
          <p:nvPr>
            <p:ph type="title"/>
          </p:nvPr>
        </p:nvSpPr>
        <p:spPr/>
        <p:txBody>
          <a:bodyPr/>
          <a:lstStyle/>
          <a:p>
            <a:r>
              <a:rPr lang="en-US" dirty="0"/>
              <a:t>Bidirectional search: Example</a:t>
            </a:r>
          </a:p>
        </p:txBody>
      </p:sp>
      <p:sp>
        <p:nvSpPr>
          <p:cNvPr id="3" name="Content Placeholder 2">
            <a:extLst>
              <a:ext uri="{FF2B5EF4-FFF2-40B4-BE49-F238E27FC236}">
                <a16:creationId xmlns:a16="http://schemas.microsoft.com/office/drawing/2014/main" id="{10C59CFE-0B8C-822C-755C-E762B3F5DEBF}"/>
              </a:ext>
            </a:extLst>
          </p:cNvPr>
          <p:cNvSpPr>
            <a:spLocks noGrp="1"/>
          </p:cNvSpPr>
          <p:nvPr>
            <p:ph idx="1"/>
          </p:nvPr>
        </p:nvSpPr>
        <p:spPr>
          <a:xfrm>
            <a:off x="838200" y="1825625"/>
            <a:ext cx="5003800" cy="4351338"/>
          </a:xfrm>
        </p:spPr>
        <p:txBody>
          <a:bodyPr>
            <a:normAutofit fontScale="92500" lnSpcReduction="20000"/>
          </a:bodyPr>
          <a:lstStyle/>
          <a:p>
            <a:r>
              <a:rPr lang="en-GB" dirty="0"/>
              <a:t>n the below search tree, bidirectional search algorithm is applied. This algorithm divides one graph/tree into two sub-graphs. It starts traversing from node 1 in the forward direction and starts from goal node 16 in the backward direction.</a:t>
            </a:r>
          </a:p>
          <a:p>
            <a:endParaRPr lang="en-GB" dirty="0"/>
          </a:p>
          <a:p>
            <a:r>
              <a:rPr lang="en-GB" dirty="0"/>
              <a:t>The algorithm terminates at node 9 where two searches meet.</a:t>
            </a:r>
            <a:endParaRPr lang="en-US" dirty="0"/>
          </a:p>
        </p:txBody>
      </p:sp>
      <p:pic>
        <p:nvPicPr>
          <p:cNvPr id="4" name="Picture 3">
            <a:extLst>
              <a:ext uri="{FF2B5EF4-FFF2-40B4-BE49-F238E27FC236}">
                <a16:creationId xmlns:a16="http://schemas.microsoft.com/office/drawing/2014/main" id="{CDA70401-DDF5-B997-1CA4-B65764E4B75E}"/>
              </a:ext>
            </a:extLst>
          </p:cNvPr>
          <p:cNvPicPr>
            <a:picLocks noChangeAspect="1"/>
          </p:cNvPicPr>
          <p:nvPr/>
        </p:nvPicPr>
        <p:blipFill>
          <a:blip r:embed="rId2"/>
          <a:stretch>
            <a:fillRect/>
          </a:stretch>
        </p:blipFill>
        <p:spPr>
          <a:xfrm>
            <a:off x="6350002" y="2096294"/>
            <a:ext cx="4762500" cy="3810000"/>
          </a:xfrm>
          <a:prstGeom prst="rect">
            <a:avLst/>
          </a:prstGeom>
        </p:spPr>
      </p:pic>
    </p:spTree>
    <p:extLst>
      <p:ext uri="{BB962C8B-B14F-4D97-AF65-F5344CB8AC3E}">
        <p14:creationId xmlns:p14="http://schemas.microsoft.com/office/powerpoint/2010/main" val="28468046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FC407-0386-0BF7-D91B-85F0C807C9F9}"/>
              </a:ext>
            </a:extLst>
          </p:cNvPr>
          <p:cNvSpPr>
            <a:spLocks noGrp="1"/>
          </p:cNvSpPr>
          <p:nvPr>
            <p:ph type="title"/>
          </p:nvPr>
        </p:nvSpPr>
        <p:spPr/>
        <p:txBody>
          <a:bodyPr/>
          <a:lstStyle/>
          <a:p>
            <a:r>
              <a:rPr lang="en-US" dirty="0"/>
              <a:t>Bidirectional search: Algorithm Evaluation</a:t>
            </a:r>
          </a:p>
        </p:txBody>
      </p:sp>
      <p:sp>
        <p:nvSpPr>
          <p:cNvPr id="3" name="Content Placeholder 2">
            <a:extLst>
              <a:ext uri="{FF2B5EF4-FFF2-40B4-BE49-F238E27FC236}">
                <a16:creationId xmlns:a16="http://schemas.microsoft.com/office/drawing/2014/main" id="{412211F7-0381-8287-513A-F302CD209C5E}"/>
              </a:ext>
            </a:extLst>
          </p:cNvPr>
          <p:cNvSpPr>
            <a:spLocks noGrp="1"/>
          </p:cNvSpPr>
          <p:nvPr>
            <p:ph idx="1"/>
          </p:nvPr>
        </p:nvSpPr>
        <p:spPr/>
        <p:txBody>
          <a:bodyPr/>
          <a:lstStyle/>
          <a:p>
            <a:pPr algn="just"/>
            <a:r>
              <a:rPr lang="en-GB" b="1" i="0" dirty="0">
                <a:solidFill>
                  <a:srgbClr val="2B2A29"/>
                </a:solidFill>
                <a:effectLst/>
              </a:rPr>
              <a:t>Completeness:</a:t>
            </a:r>
            <a:r>
              <a:rPr lang="en-GB" b="0" i="0" dirty="0">
                <a:solidFill>
                  <a:srgbClr val="2B2A29"/>
                </a:solidFill>
                <a:effectLst/>
              </a:rPr>
              <a:t> Bidirectional Search is complete if we use BFS in both searches.</a:t>
            </a:r>
          </a:p>
          <a:p>
            <a:pPr algn="just"/>
            <a:r>
              <a:rPr lang="en-GB" b="1" i="0" dirty="0">
                <a:solidFill>
                  <a:srgbClr val="2B2A29"/>
                </a:solidFill>
                <a:effectLst/>
              </a:rPr>
              <a:t>Time Complexity:</a:t>
            </a:r>
            <a:r>
              <a:rPr lang="en-GB" b="0" i="0" dirty="0">
                <a:solidFill>
                  <a:srgbClr val="2B2A29"/>
                </a:solidFill>
                <a:effectLst/>
              </a:rPr>
              <a:t> Time complexity of bidirectional search using BFS is </a:t>
            </a:r>
            <a:r>
              <a:rPr lang="en-GB" b="1" i="0" dirty="0">
                <a:solidFill>
                  <a:srgbClr val="2B2A29"/>
                </a:solidFill>
                <a:effectLst/>
              </a:rPr>
              <a:t>O(b</a:t>
            </a:r>
            <a:r>
              <a:rPr lang="en-GB" b="1" i="0" baseline="30000" dirty="0">
                <a:solidFill>
                  <a:srgbClr val="2B2A29"/>
                </a:solidFill>
                <a:effectLst/>
              </a:rPr>
              <a:t>d</a:t>
            </a:r>
            <a:r>
              <a:rPr lang="en-GB" b="1" i="0" dirty="0">
                <a:solidFill>
                  <a:srgbClr val="2B2A29"/>
                </a:solidFill>
                <a:effectLst/>
              </a:rPr>
              <a:t>)</a:t>
            </a:r>
            <a:r>
              <a:rPr lang="en-GB" b="0" i="0" dirty="0">
                <a:solidFill>
                  <a:srgbClr val="2B2A29"/>
                </a:solidFill>
                <a:effectLst/>
              </a:rPr>
              <a:t>.</a:t>
            </a:r>
          </a:p>
          <a:p>
            <a:pPr algn="just"/>
            <a:r>
              <a:rPr lang="en-GB" b="1" i="0" dirty="0">
                <a:solidFill>
                  <a:srgbClr val="2B2A29"/>
                </a:solidFill>
                <a:effectLst/>
              </a:rPr>
              <a:t>Space Complexity:</a:t>
            </a:r>
            <a:r>
              <a:rPr lang="en-GB" b="0" i="0" dirty="0">
                <a:solidFill>
                  <a:srgbClr val="2B2A29"/>
                </a:solidFill>
                <a:effectLst/>
              </a:rPr>
              <a:t> Space complexity of bidirectional search is </a:t>
            </a:r>
            <a:r>
              <a:rPr lang="en-GB" b="1" i="0" dirty="0">
                <a:solidFill>
                  <a:srgbClr val="2B2A29"/>
                </a:solidFill>
                <a:effectLst/>
              </a:rPr>
              <a:t>O(b</a:t>
            </a:r>
            <a:r>
              <a:rPr lang="en-GB" b="1" i="0" baseline="30000" dirty="0">
                <a:solidFill>
                  <a:srgbClr val="2B2A29"/>
                </a:solidFill>
                <a:effectLst/>
              </a:rPr>
              <a:t>d</a:t>
            </a:r>
            <a:r>
              <a:rPr lang="en-GB" b="1" i="0" dirty="0">
                <a:solidFill>
                  <a:srgbClr val="2B2A29"/>
                </a:solidFill>
                <a:effectLst/>
              </a:rPr>
              <a:t>)</a:t>
            </a:r>
            <a:r>
              <a:rPr lang="en-GB" b="0" i="0" dirty="0">
                <a:solidFill>
                  <a:srgbClr val="2B2A29"/>
                </a:solidFill>
                <a:effectLst/>
              </a:rPr>
              <a:t>.</a:t>
            </a:r>
          </a:p>
          <a:p>
            <a:pPr algn="just"/>
            <a:r>
              <a:rPr lang="en-GB" b="1" i="0" dirty="0">
                <a:solidFill>
                  <a:srgbClr val="2B2A29"/>
                </a:solidFill>
                <a:effectLst/>
              </a:rPr>
              <a:t>Optimal:</a:t>
            </a:r>
            <a:r>
              <a:rPr lang="en-GB" b="0" i="0" dirty="0">
                <a:solidFill>
                  <a:srgbClr val="2B2A29"/>
                </a:solidFill>
                <a:effectLst/>
              </a:rPr>
              <a:t> Bidirectional search is Optimal.</a:t>
            </a:r>
          </a:p>
          <a:p>
            <a:endParaRPr lang="en-US" dirty="0"/>
          </a:p>
        </p:txBody>
      </p:sp>
    </p:spTree>
    <p:extLst>
      <p:ext uri="{BB962C8B-B14F-4D97-AF65-F5344CB8AC3E}">
        <p14:creationId xmlns:p14="http://schemas.microsoft.com/office/powerpoint/2010/main" val="26591105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2289D-ABE7-69CA-A6F7-ECF42D8C0708}"/>
              </a:ext>
            </a:extLst>
          </p:cNvPr>
          <p:cNvSpPr>
            <a:spLocks noGrp="1"/>
          </p:cNvSpPr>
          <p:nvPr>
            <p:ph type="title"/>
          </p:nvPr>
        </p:nvSpPr>
        <p:spPr/>
        <p:txBody>
          <a:bodyPr/>
          <a:lstStyle/>
          <a:p>
            <a:r>
              <a:rPr lang="en-US" dirty="0"/>
              <a:t>BFS vs DFS</a:t>
            </a:r>
          </a:p>
        </p:txBody>
      </p:sp>
      <p:sp>
        <p:nvSpPr>
          <p:cNvPr id="3" name="Content Placeholder 2">
            <a:extLst>
              <a:ext uri="{FF2B5EF4-FFF2-40B4-BE49-F238E27FC236}">
                <a16:creationId xmlns:a16="http://schemas.microsoft.com/office/drawing/2014/main" id="{08929898-633D-00CC-7991-C09C5A134BCF}"/>
              </a:ext>
            </a:extLst>
          </p:cNvPr>
          <p:cNvSpPr>
            <a:spLocks noGrp="1"/>
          </p:cNvSpPr>
          <p:nvPr>
            <p:ph idx="1"/>
          </p:nvPr>
        </p:nvSpPr>
        <p:spPr/>
        <p:txBody>
          <a:bodyPr/>
          <a:lstStyle/>
          <a:p>
            <a:r>
              <a:rPr lang="en-US" dirty="0"/>
              <a:t>The difference between BFS and DFS is, </a:t>
            </a:r>
          </a:p>
          <a:p>
            <a:pPr lvl="1"/>
            <a:r>
              <a:rPr lang="en-US" dirty="0"/>
              <a:t>In BFS, The open list is used as a FIFO (First In First Out) queue.</a:t>
            </a:r>
          </a:p>
          <a:p>
            <a:pPr lvl="1"/>
            <a:r>
              <a:rPr lang="en-US" dirty="0"/>
              <a:t>In DFS, The open list is used as a LIFO (Last In First Out) queue.</a:t>
            </a:r>
          </a:p>
        </p:txBody>
      </p:sp>
    </p:spTree>
    <p:extLst>
      <p:ext uri="{BB962C8B-B14F-4D97-AF65-F5344CB8AC3E}">
        <p14:creationId xmlns:p14="http://schemas.microsoft.com/office/powerpoint/2010/main" val="262651207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2A0815-1E2E-4D4B-35C9-457F1C3A85AD}"/>
              </a:ext>
            </a:extLst>
          </p:cNvPr>
          <p:cNvSpPr>
            <a:spLocks noGrp="1"/>
          </p:cNvSpPr>
          <p:nvPr>
            <p:ph type="title"/>
          </p:nvPr>
        </p:nvSpPr>
        <p:spPr/>
        <p:txBody>
          <a:bodyPr/>
          <a:lstStyle/>
          <a:p>
            <a:r>
              <a:rPr lang="en-US" dirty="0"/>
              <a:t>Summary</a:t>
            </a:r>
          </a:p>
        </p:txBody>
      </p:sp>
      <p:graphicFrame>
        <p:nvGraphicFramePr>
          <p:cNvPr id="4" name="Content Placeholder 3">
            <a:extLst>
              <a:ext uri="{FF2B5EF4-FFF2-40B4-BE49-F238E27FC236}">
                <a16:creationId xmlns:a16="http://schemas.microsoft.com/office/drawing/2014/main" id="{CF40323D-3564-C0EB-9EDE-4E5C348D3C99}"/>
              </a:ext>
            </a:extLst>
          </p:cNvPr>
          <p:cNvGraphicFramePr>
            <a:graphicFrameLocks noGrp="1"/>
          </p:cNvGraphicFramePr>
          <p:nvPr>
            <p:ph idx="1"/>
            <p:extLst>
              <p:ext uri="{D42A27DB-BD31-4B8C-83A1-F6EECF244321}">
                <p14:modId xmlns:p14="http://schemas.microsoft.com/office/powerpoint/2010/main" val="2863695441"/>
              </p:ext>
            </p:extLst>
          </p:nvPr>
        </p:nvGraphicFramePr>
        <p:xfrm>
          <a:off x="838200" y="1835785"/>
          <a:ext cx="10515600" cy="3566160"/>
        </p:xfrm>
        <a:graphic>
          <a:graphicData uri="http://schemas.openxmlformats.org/drawingml/2006/table">
            <a:tbl>
              <a:tblPr firstRow="1" bandRow="1">
                <a:tableStyleId>{5940675A-B579-460E-94D1-54222C63F5DA}</a:tableStyleId>
              </a:tblPr>
              <a:tblGrid>
                <a:gridCol w="2941320">
                  <a:extLst>
                    <a:ext uri="{9D8B030D-6E8A-4147-A177-3AD203B41FA5}">
                      <a16:colId xmlns:a16="http://schemas.microsoft.com/office/drawing/2014/main" val="3117700075"/>
                    </a:ext>
                  </a:extLst>
                </a:gridCol>
                <a:gridCol w="1893570">
                  <a:extLst>
                    <a:ext uri="{9D8B030D-6E8A-4147-A177-3AD203B41FA5}">
                      <a16:colId xmlns:a16="http://schemas.microsoft.com/office/drawing/2014/main" val="2321091858"/>
                    </a:ext>
                  </a:extLst>
                </a:gridCol>
                <a:gridCol w="1893570">
                  <a:extLst>
                    <a:ext uri="{9D8B030D-6E8A-4147-A177-3AD203B41FA5}">
                      <a16:colId xmlns:a16="http://schemas.microsoft.com/office/drawing/2014/main" val="3234769365"/>
                    </a:ext>
                  </a:extLst>
                </a:gridCol>
                <a:gridCol w="1893570">
                  <a:extLst>
                    <a:ext uri="{9D8B030D-6E8A-4147-A177-3AD203B41FA5}">
                      <a16:colId xmlns:a16="http://schemas.microsoft.com/office/drawing/2014/main" val="1117190100"/>
                    </a:ext>
                  </a:extLst>
                </a:gridCol>
                <a:gridCol w="1893570">
                  <a:extLst>
                    <a:ext uri="{9D8B030D-6E8A-4147-A177-3AD203B41FA5}">
                      <a16:colId xmlns:a16="http://schemas.microsoft.com/office/drawing/2014/main" val="2907388405"/>
                    </a:ext>
                  </a:extLst>
                </a:gridCol>
              </a:tblGrid>
              <a:tr h="370840">
                <a:tc>
                  <a:txBody>
                    <a:bodyPr/>
                    <a:lstStyle/>
                    <a:p>
                      <a:r>
                        <a:rPr lang="en-US" sz="2400" dirty="0"/>
                        <a:t>Criterion</a:t>
                      </a:r>
                    </a:p>
                  </a:txBody>
                  <a:tcPr>
                    <a:solidFill>
                      <a:schemeClr val="bg1">
                        <a:lumMod val="85000"/>
                      </a:schemeClr>
                    </a:solidFill>
                  </a:tcPr>
                </a:tc>
                <a:tc>
                  <a:txBody>
                    <a:bodyPr/>
                    <a:lstStyle/>
                    <a:p>
                      <a:pPr algn="ctr"/>
                      <a:r>
                        <a:rPr lang="en-US" sz="2400" dirty="0"/>
                        <a:t>Time complexity</a:t>
                      </a:r>
                    </a:p>
                  </a:txBody>
                  <a:tcPr>
                    <a:solidFill>
                      <a:schemeClr val="bg1">
                        <a:lumMod val="85000"/>
                      </a:schemeClr>
                    </a:solidFill>
                  </a:tcPr>
                </a:tc>
                <a:tc>
                  <a:txBody>
                    <a:bodyPr/>
                    <a:lstStyle/>
                    <a:p>
                      <a:pPr algn="ctr"/>
                      <a:r>
                        <a:rPr lang="en-US" sz="2400" dirty="0"/>
                        <a:t>Space complexity</a:t>
                      </a:r>
                    </a:p>
                  </a:txBody>
                  <a:tcPr>
                    <a:solidFill>
                      <a:schemeClr val="bg1">
                        <a:lumMod val="85000"/>
                      </a:schemeClr>
                    </a:solidFill>
                  </a:tcPr>
                </a:tc>
                <a:tc>
                  <a:txBody>
                    <a:bodyPr/>
                    <a:lstStyle/>
                    <a:p>
                      <a:pPr algn="ctr"/>
                      <a:r>
                        <a:rPr lang="en-US" sz="2400"/>
                        <a:t>Optimal</a:t>
                      </a:r>
                      <a:r>
                        <a:rPr lang="en-US" sz="2400" dirty="0"/>
                        <a:t>?</a:t>
                      </a:r>
                    </a:p>
                  </a:txBody>
                  <a:tcPr>
                    <a:solidFill>
                      <a:schemeClr val="bg1">
                        <a:lumMod val="85000"/>
                      </a:schemeClr>
                    </a:solidFill>
                  </a:tcPr>
                </a:tc>
                <a:tc>
                  <a:txBody>
                    <a:bodyPr/>
                    <a:lstStyle/>
                    <a:p>
                      <a:pPr algn="ctr"/>
                      <a:r>
                        <a:rPr lang="en-US" sz="2400" dirty="0"/>
                        <a:t>Complete?</a:t>
                      </a:r>
                    </a:p>
                  </a:txBody>
                  <a:tcPr>
                    <a:solidFill>
                      <a:schemeClr val="bg1">
                        <a:lumMod val="85000"/>
                      </a:schemeClr>
                    </a:solidFill>
                  </a:tcPr>
                </a:tc>
                <a:extLst>
                  <a:ext uri="{0D108BD9-81ED-4DB2-BD59-A6C34878D82A}">
                    <a16:rowId xmlns:a16="http://schemas.microsoft.com/office/drawing/2014/main" val="4176354050"/>
                  </a:ext>
                </a:extLst>
              </a:tr>
              <a:tr h="370840">
                <a:tc>
                  <a:txBody>
                    <a:bodyPr/>
                    <a:lstStyle/>
                    <a:p>
                      <a:r>
                        <a:rPr lang="en-US" sz="2400" b="1" dirty="0"/>
                        <a:t>Breadth First</a:t>
                      </a:r>
                    </a:p>
                  </a:txBody>
                  <a:tcPr/>
                </a:tc>
                <a:tc>
                  <a:txBody>
                    <a:bodyPr/>
                    <a:lstStyle/>
                    <a:p>
                      <a:pPr algn="ctr"/>
                      <a:r>
                        <a:rPr lang="en-US" sz="2400" i="1" dirty="0"/>
                        <a:t>b</a:t>
                      </a:r>
                      <a:r>
                        <a:rPr lang="en-US" sz="2400" i="1" baseline="30000" dirty="0"/>
                        <a:t>d</a:t>
                      </a:r>
                    </a:p>
                  </a:txBody>
                  <a:tcPr/>
                </a:tc>
                <a:tc>
                  <a:txBody>
                    <a:bodyPr/>
                    <a:lstStyle/>
                    <a:p>
                      <a:pPr algn="ctr"/>
                      <a:r>
                        <a:rPr lang="en-US" sz="2400" i="1" dirty="0"/>
                        <a:t>b</a:t>
                      </a:r>
                      <a:r>
                        <a:rPr lang="en-US" sz="2400" i="1" baseline="30000" dirty="0"/>
                        <a:t>d</a:t>
                      </a:r>
                      <a:endParaRPr lang="en-US" sz="2400" dirty="0"/>
                    </a:p>
                  </a:txBody>
                  <a:tcPr/>
                </a:tc>
                <a:tc>
                  <a:txBody>
                    <a:bodyPr/>
                    <a:lstStyle/>
                    <a:p>
                      <a:pPr algn="ctr"/>
                      <a:r>
                        <a:rPr lang="en-US" sz="2400" dirty="0"/>
                        <a:t>Yes</a:t>
                      </a:r>
                    </a:p>
                  </a:txBody>
                  <a:tcPr/>
                </a:tc>
                <a:tc>
                  <a:txBody>
                    <a:bodyPr/>
                    <a:lstStyle/>
                    <a:p>
                      <a:pPr algn="ctr"/>
                      <a:r>
                        <a:rPr lang="en-US" sz="2400" dirty="0"/>
                        <a:t>Yes</a:t>
                      </a:r>
                    </a:p>
                  </a:txBody>
                  <a:tcPr/>
                </a:tc>
                <a:extLst>
                  <a:ext uri="{0D108BD9-81ED-4DB2-BD59-A6C34878D82A}">
                    <a16:rowId xmlns:a16="http://schemas.microsoft.com/office/drawing/2014/main" val="1905877259"/>
                  </a:ext>
                </a:extLst>
              </a:tr>
              <a:tr h="370840">
                <a:tc>
                  <a:txBody>
                    <a:bodyPr/>
                    <a:lstStyle/>
                    <a:p>
                      <a:r>
                        <a:rPr lang="en-US" sz="2400" b="1" dirty="0"/>
                        <a:t>Uniform Cost</a:t>
                      </a:r>
                    </a:p>
                  </a:txBody>
                  <a:tcPr/>
                </a:tc>
                <a:tc>
                  <a:txBody>
                    <a:bodyPr/>
                    <a:lstStyle/>
                    <a:p>
                      <a:pPr algn="ctr"/>
                      <a:r>
                        <a:rPr lang="en-US" sz="2400" i="1" dirty="0"/>
                        <a:t>b</a:t>
                      </a:r>
                      <a:r>
                        <a:rPr lang="en-US" sz="2400" i="1" baseline="30000" dirty="0"/>
                        <a:t>d</a:t>
                      </a:r>
                    </a:p>
                  </a:txBody>
                  <a:tcPr/>
                </a:tc>
                <a:tc>
                  <a:txBody>
                    <a:bodyPr/>
                    <a:lstStyle/>
                    <a:p>
                      <a:pPr algn="ctr"/>
                      <a:r>
                        <a:rPr lang="en-US" sz="2400" i="1" dirty="0"/>
                        <a:t>b</a:t>
                      </a:r>
                      <a:r>
                        <a:rPr lang="en-US" sz="2400" i="1" baseline="30000" dirty="0"/>
                        <a:t>d</a:t>
                      </a:r>
                      <a:endParaRPr lang="en-US" sz="2400" i="1" dirty="0"/>
                    </a:p>
                  </a:txBody>
                  <a:tcPr/>
                </a:tc>
                <a:tc>
                  <a:txBody>
                    <a:bodyPr/>
                    <a:lstStyle/>
                    <a:p>
                      <a:pPr algn="ctr"/>
                      <a:r>
                        <a:rPr lang="en-US" sz="2400" dirty="0"/>
                        <a:t>Yes</a:t>
                      </a:r>
                    </a:p>
                  </a:txBody>
                  <a:tcPr/>
                </a:tc>
                <a:tc>
                  <a:txBody>
                    <a:bodyPr/>
                    <a:lstStyle/>
                    <a:p>
                      <a:pPr algn="ctr"/>
                      <a:r>
                        <a:rPr lang="en-US" sz="2400" dirty="0"/>
                        <a:t>Yes</a:t>
                      </a:r>
                    </a:p>
                  </a:txBody>
                  <a:tcPr/>
                </a:tc>
                <a:extLst>
                  <a:ext uri="{0D108BD9-81ED-4DB2-BD59-A6C34878D82A}">
                    <a16:rowId xmlns:a16="http://schemas.microsoft.com/office/drawing/2014/main" val="2729574105"/>
                  </a:ext>
                </a:extLst>
              </a:tr>
              <a:tr h="370840">
                <a:tc>
                  <a:txBody>
                    <a:bodyPr/>
                    <a:lstStyle/>
                    <a:p>
                      <a:r>
                        <a:rPr lang="en-US" sz="2400" b="1" dirty="0"/>
                        <a:t>Depth First</a:t>
                      </a:r>
                    </a:p>
                  </a:txBody>
                  <a:tcPr/>
                </a:tc>
                <a:tc>
                  <a:txBody>
                    <a:bodyPr/>
                    <a:lstStyle/>
                    <a:p>
                      <a:pPr algn="ctr"/>
                      <a:r>
                        <a:rPr lang="en-US" sz="2400" i="1" dirty="0"/>
                        <a:t>b</a:t>
                      </a:r>
                      <a:r>
                        <a:rPr lang="en-US" sz="2400" i="1" baseline="30000" dirty="0"/>
                        <a:t>d</a:t>
                      </a:r>
                    </a:p>
                  </a:txBody>
                  <a:tcPr/>
                </a:tc>
                <a:tc>
                  <a:txBody>
                    <a:bodyPr/>
                    <a:lstStyle/>
                    <a:p>
                      <a:pPr algn="ctr"/>
                      <a:r>
                        <a:rPr lang="en-US" sz="2400" i="1" dirty="0"/>
                        <a:t>bm</a:t>
                      </a:r>
                    </a:p>
                  </a:txBody>
                  <a:tcPr/>
                </a:tc>
                <a:tc>
                  <a:txBody>
                    <a:bodyPr/>
                    <a:lstStyle/>
                    <a:p>
                      <a:pPr algn="ctr"/>
                      <a:r>
                        <a:rPr lang="en-US" sz="2400" dirty="0"/>
                        <a:t>No</a:t>
                      </a:r>
                    </a:p>
                  </a:txBody>
                  <a:tcPr/>
                </a:tc>
                <a:tc>
                  <a:txBody>
                    <a:bodyPr/>
                    <a:lstStyle/>
                    <a:p>
                      <a:pPr algn="ctr"/>
                      <a:r>
                        <a:rPr lang="en-US" sz="2400" dirty="0"/>
                        <a:t>No</a:t>
                      </a:r>
                    </a:p>
                  </a:txBody>
                  <a:tcPr/>
                </a:tc>
                <a:extLst>
                  <a:ext uri="{0D108BD9-81ED-4DB2-BD59-A6C34878D82A}">
                    <a16:rowId xmlns:a16="http://schemas.microsoft.com/office/drawing/2014/main" val="6116972"/>
                  </a:ext>
                </a:extLst>
              </a:tr>
              <a:tr h="370840">
                <a:tc>
                  <a:txBody>
                    <a:bodyPr/>
                    <a:lstStyle/>
                    <a:p>
                      <a:r>
                        <a:rPr lang="en-US" sz="2400" b="1" dirty="0"/>
                        <a:t>Depth-limited(l)</a:t>
                      </a:r>
                    </a:p>
                  </a:txBody>
                  <a:tcPr/>
                </a:tc>
                <a:tc>
                  <a:txBody>
                    <a:bodyPr/>
                    <a:lstStyle/>
                    <a:p>
                      <a:pPr algn="ctr"/>
                      <a:r>
                        <a:rPr lang="en-US" sz="2400" i="1" dirty="0"/>
                        <a:t>b</a:t>
                      </a:r>
                      <a:r>
                        <a:rPr lang="en-US" sz="2400" i="1" baseline="30000" dirty="0"/>
                        <a:t>l</a:t>
                      </a:r>
                    </a:p>
                  </a:txBody>
                  <a:tcPr/>
                </a:tc>
                <a:tc>
                  <a:txBody>
                    <a:bodyPr/>
                    <a:lstStyle/>
                    <a:p>
                      <a:pPr algn="ctr"/>
                      <a:r>
                        <a:rPr lang="en-US" sz="2400" i="1" dirty="0"/>
                        <a:t>bl</a:t>
                      </a:r>
                    </a:p>
                  </a:txBody>
                  <a:tcPr/>
                </a:tc>
                <a:tc>
                  <a:txBody>
                    <a:bodyPr/>
                    <a:lstStyle/>
                    <a:p>
                      <a:pPr algn="ctr"/>
                      <a:r>
                        <a:rPr lang="en-US" sz="2400" dirty="0"/>
                        <a:t>No</a:t>
                      </a:r>
                    </a:p>
                  </a:txBody>
                  <a:tcPr/>
                </a:tc>
                <a:tc>
                  <a:txBody>
                    <a:bodyPr/>
                    <a:lstStyle/>
                    <a:p>
                      <a:pPr algn="ctr"/>
                      <a:r>
                        <a:rPr lang="en-US" sz="2400" dirty="0"/>
                        <a:t>If </a:t>
                      </a:r>
                      <a:r>
                        <a:rPr lang="en-US" sz="2400" i="1" dirty="0" err="1"/>
                        <a:t>l</a:t>
                      </a:r>
                      <a:r>
                        <a:rPr lang="en-US" sz="2400" i="1" dirty="0" err="1">
                          <a:sym typeface="Symbol" panose="05050102010706020507" pitchFamily="18" charset="2"/>
                        </a:rPr>
                        <a:t></a:t>
                      </a:r>
                      <a:r>
                        <a:rPr lang="en-US" sz="2400" i="1" dirty="0" err="1"/>
                        <a:t>d</a:t>
                      </a:r>
                      <a:endParaRPr lang="en-US" sz="2400" i="1" dirty="0"/>
                    </a:p>
                  </a:txBody>
                  <a:tcPr/>
                </a:tc>
                <a:extLst>
                  <a:ext uri="{0D108BD9-81ED-4DB2-BD59-A6C34878D82A}">
                    <a16:rowId xmlns:a16="http://schemas.microsoft.com/office/drawing/2014/main" val="417538042"/>
                  </a:ext>
                </a:extLst>
              </a:tr>
              <a:tr h="370840">
                <a:tc>
                  <a:txBody>
                    <a:bodyPr/>
                    <a:lstStyle/>
                    <a:p>
                      <a:r>
                        <a:rPr lang="en-US" sz="2400" b="1" dirty="0" err="1"/>
                        <a:t>Iter</a:t>
                      </a:r>
                      <a:r>
                        <a:rPr lang="en-US" sz="2400" b="1" dirty="0"/>
                        <a:t>. Deepening</a:t>
                      </a:r>
                    </a:p>
                  </a:txBody>
                  <a:tcPr/>
                </a:tc>
                <a:tc>
                  <a:txBody>
                    <a:bodyPr/>
                    <a:lstStyle/>
                    <a:p>
                      <a:pPr algn="ctr"/>
                      <a:r>
                        <a:rPr lang="en-US" sz="2400" i="1" dirty="0"/>
                        <a:t>b</a:t>
                      </a:r>
                      <a:r>
                        <a:rPr lang="en-US" sz="2400" i="1" baseline="30000" dirty="0"/>
                        <a:t>d</a:t>
                      </a:r>
                    </a:p>
                  </a:txBody>
                  <a:tcPr/>
                </a:tc>
                <a:tc>
                  <a:txBody>
                    <a:bodyPr/>
                    <a:lstStyle/>
                    <a:p>
                      <a:pPr algn="ctr"/>
                      <a:r>
                        <a:rPr lang="en-US" sz="2400" i="1" dirty="0"/>
                        <a:t>bd</a:t>
                      </a:r>
                    </a:p>
                  </a:txBody>
                  <a:tcPr/>
                </a:tc>
                <a:tc>
                  <a:txBody>
                    <a:bodyPr/>
                    <a:lstStyle/>
                    <a:p>
                      <a:pPr algn="ctr"/>
                      <a:r>
                        <a:rPr lang="en-US" sz="2400" dirty="0"/>
                        <a:t>Yes</a:t>
                      </a:r>
                    </a:p>
                  </a:txBody>
                  <a:tcPr/>
                </a:tc>
                <a:tc>
                  <a:txBody>
                    <a:bodyPr/>
                    <a:lstStyle/>
                    <a:p>
                      <a:pPr algn="ctr"/>
                      <a:r>
                        <a:rPr lang="en-US" sz="2400" dirty="0"/>
                        <a:t>Yes</a:t>
                      </a:r>
                    </a:p>
                  </a:txBody>
                  <a:tcPr/>
                </a:tc>
                <a:extLst>
                  <a:ext uri="{0D108BD9-81ED-4DB2-BD59-A6C34878D82A}">
                    <a16:rowId xmlns:a16="http://schemas.microsoft.com/office/drawing/2014/main" val="885813095"/>
                  </a:ext>
                </a:extLst>
              </a:tr>
              <a:tr h="370840">
                <a:tc>
                  <a:txBody>
                    <a:bodyPr/>
                    <a:lstStyle/>
                    <a:p>
                      <a:r>
                        <a:rPr lang="en-US" sz="2400" b="1" dirty="0"/>
                        <a:t>Bidirectional</a:t>
                      </a:r>
                    </a:p>
                  </a:txBody>
                  <a:tcPr/>
                </a:tc>
                <a:tc>
                  <a:txBody>
                    <a:bodyPr/>
                    <a:lstStyle/>
                    <a:p>
                      <a:pPr algn="ctr"/>
                      <a:r>
                        <a:rPr lang="en-US" sz="2400" i="1" dirty="0"/>
                        <a:t>b</a:t>
                      </a:r>
                      <a:r>
                        <a:rPr lang="en-US" sz="2400" i="1" baseline="30000" dirty="0"/>
                        <a:t>d/2</a:t>
                      </a:r>
                    </a:p>
                  </a:txBody>
                  <a:tcPr/>
                </a:tc>
                <a:tc>
                  <a:txBody>
                    <a:bodyPr/>
                    <a:lstStyle/>
                    <a:p>
                      <a:pPr algn="ctr"/>
                      <a:r>
                        <a:rPr lang="en-US" sz="2400" i="1" dirty="0"/>
                        <a:t>b</a:t>
                      </a:r>
                      <a:r>
                        <a:rPr lang="en-US" sz="2400" i="1" baseline="30000" dirty="0"/>
                        <a:t>d/2</a:t>
                      </a:r>
                    </a:p>
                  </a:txBody>
                  <a:tcPr/>
                </a:tc>
                <a:tc>
                  <a:txBody>
                    <a:bodyPr/>
                    <a:lstStyle/>
                    <a:p>
                      <a:pPr algn="ctr"/>
                      <a:r>
                        <a:rPr lang="en-US" sz="2400" dirty="0"/>
                        <a:t>Yes</a:t>
                      </a:r>
                    </a:p>
                  </a:txBody>
                  <a:tcPr/>
                </a:tc>
                <a:tc>
                  <a:txBody>
                    <a:bodyPr/>
                    <a:lstStyle/>
                    <a:p>
                      <a:pPr algn="ctr"/>
                      <a:r>
                        <a:rPr lang="en-US" sz="2400" dirty="0"/>
                        <a:t>Yes</a:t>
                      </a:r>
                    </a:p>
                  </a:txBody>
                  <a:tcPr/>
                </a:tc>
                <a:extLst>
                  <a:ext uri="{0D108BD9-81ED-4DB2-BD59-A6C34878D82A}">
                    <a16:rowId xmlns:a16="http://schemas.microsoft.com/office/drawing/2014/main" val="22324295"/>
                  </a:ext>
                </a:extLst>
              </a:tr>
            </a:tbl>
          </a:graphicData>
        </a:graphic>
      </p:graphicFrame>
    </p:spTree>
    <p:extLst>
      <p:ext uri="{BB962C8B-B14F-4D97-AF65-F5344CB8AC3E}">
        <p14:creationId xmlns:p14="http://schemas.microsoft.com/office/powerpoint/2010/main" val="27418553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ustom 1">
      <a:majorFont>
        <a:latin typeface="Century Schoolbook"/>
        <a:ea typeface=""/>
        <a:cs typeface=""/>
      </a:majorFont>
      <a:minorFont>
        <a:latin typeface="Century School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59</TotalTime>
  <Words>3216</Words>
  <Application>Microsoft Office PowerPoint</Application>
  <PresentationFormat>Widescreen</PresentationFormat>
  <Paragraphs>208</Paragraphs>
  <Slides>38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38</vt:i4>
      </vt:variant>
    </vt:vector>
  </HeadingPairs>
  <TitlesOfParts>
    <vt:vector size="42" baseType="lpstr">
      <vt:lpstr>Arial</vt:lpstr>
      <vt:lpstr>Century Schoolbook</vt:lpstr>
      <vt:lpstr>Symbol</vt:lpstr>
      <vt:lpstr>Office Theme</vt:lpstr>
      <vt:lpstr>Uninformed Search</vt:lpstr>
      <vt:lpstr>Uninformed Search</vt:lpstr>
      <vt:lpstr>Understanding Uninformed Search Algorithms</vt:lpstr>
      <vt:lpstr>Cont.</vt:lpstr>
      <vt:lpstr>Uninformed Search Techniques</vt:lpstr>
      <vt:lpstr>Breadth-first Search</vt:lpstr>
      <vt:lpstr>BFS: Advantages</vt:lpstr>
      <vt:lpstr>BFS: Disadvantages</vt:lpstr>
      <vt:lpstr>BFS: Example</vt:lpstr>
      <vt:lpstr>BFS: Algorithm evaluation </vt:lpstr>
      <vt:lpstr>Depth-first search </vt:lpstr>
      <vt:lpstr>DFS: Advantages</vt:lpstr>
      <vt:lpstr>DFS: Disadvantages</vt:lpstr>
      <vt:lpstr>DFS: Example</vt:lpstr>
      <vt:lpstr>DFS: Algorithm Evaluation</vt:lpstr>
      <vt:lpstr>Depth-Limited Search Algorithm</vt:lpstr>
      <vt:lpstr>DLS: Advantages</vt:lpstr>
      <vt:lpstr>DLS: Disadvantages</vt:lpstr>
      <vt:lpstr>DLS: Example</vt:lpstr>
      <vt:lpstr>DLS: Algorithm evaluation</vt:lpstr>
      <vt:lpstr>Iterative deepening depth-first Search</vt:lpstr>
      <vt:lpstr>IDDFS Algorithm</vt:lpstr>
      <vt:lpstr>IDDFS: Advantages</vt:lpstr>
      <vt:lpstr>IDDFS: Disadvantages</vt:lpstr>
      <vt:lpstr>IDDFS: Example</vt:lpstr>
      <vt:lpstr>IDDFS: Algorithm Evaluation</vt:lpstr>
      <vt:lpstr>Uniform-cost Search Algorithm</vt:lpstr>
      <vt:lpstr>UCS: Advantages</vt:lpstr>
      <vt:lpstr>UCS: Disadvantages</vt:lpstr>
      <vt:lpstr>UCS: Example</vt:lpstr>
      <vt:lpstr>UCS: Algorithm Evaluation</vt:lpstr>
      <vt:lpstr>Bidirectional Search Algorithm</vt:lpstr>
      <vt:lpstr>Bidirectional search: Advantages</vt:lpstr>
      <vt:lpstr>Bidirectional search: Dis-advantages</vt:lpstr>
      <vt:lpstr>Bidirectional search: Example</vt:lpstr>
      <vt:lpstr>Bidirectional search: Algorithm Evaluation</vt:lpstr>
      <vt:lpstr>BFS vs DFS</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Iftekhar Mahmud Towhid</dc:creator>
  <cp:lastModifiedBy>Iftekhar Mahmud Towhid</cp:lastModifiedBy>
  <cp:revision>48</cp:revision>
  <dcterms:created xsi:type="dcterms:W3CDTF">2024-10-13T14:03:09Z</dcterms:created>
  <dcterms:modified xsi:type="dcterms:W3CDTF">2024-11-24T16:37:54Z</dcterms:modified>
</cp:coreProperties>
</file>