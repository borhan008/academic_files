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77" r:id="rId9"/>
    <p:sldId id="278" r:id="rId10"/>
    <p:sldId id="264" r:id="rId11"/>
    <p:sldId id="279"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253"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4282A-DD56-E0F4-821B-3695BC624C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800365-D615-9412-9599-30BDB3596B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3F44C5-1067-71D5-F8A4-2B6F723F92B5}"/>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F49F609F-099D-FC31-71AA-FCBB0C9A6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0487-8FD5-CB69-FEF2-6687180F8B1B}"/>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4128017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0A38-7DB8-8BED-0B2B-ABBBFD1578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3FA896-18F1-B36D-9530-E9FB7120CA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932C0-FB7B-A2C1-C831-2ECADE911774}"/>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BC029C63-D6D4-9870-2E33-F88274629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803B0-03CD-6C95-251A-BE7D3DE8FCBD}"/>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398472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497B-5FBB-706C-C3B4-F02F9CDE62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D4FF59-61AE-1EF0-777C-2C7EF7CC6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7C6E7A-A9A4-FB84-BDA0-13F81360812D}"/>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DCC1B196-C810-D88B-5A3E-66CB511D8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F0A6A-8699-C91A-F3A0-E10904E8BEA2}"/>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410596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EAE84-F2EF-ADA2-F950-8A0A6A8EAF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054DF0-1925-EDEE-45F5-1DFF7BE9BF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9593F2-6B41-CD10-D30B-3C0781578B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DEC898-0DC8-425C-B660-34299059C598}"/>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6" name="Footer Placeholder 5">
            <a:extLst>
              <a:ext uri="{FF2B5EF4-FFF2-40B4-BE49-F238E27FC236}">
                <a16:creationId xmlns:a16="http://schemas.microsoft.com/office/drawing/2014/main" id="{7A1A8A53-D47C-B085-0186-800ECD13D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CC206-E0AC-5AFB-D737-0F2565459211}"/>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32827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EF92-A882-2FBC-5AE7-ED1C3C3D73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6FCE60-2FA7-0B4A-9B80-F00F15599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719D1E-FB6E-8CDB-CE15-3D5B602245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2BAE23-A40D-3F7F-8A83-95FCD76FEC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BA2FA-CDEA-C79A-EE9A-440029BD2C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DEBDCC-F533-B56D-0F61-D1309919D31A}"/>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8" name="Footer Placeholder 7">
            <a:extLst>
              <a:ext uri="{FF2B5EF4-FFF2-40B4-BE49-F238E27FC236}">
                <a16:creationId xmlns:a16="http://schemas.microsoft.com/office/drawing/2014/main" id="{F89C03AD-FFF7-8904-9F3A-2F28C1F9E2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4A9AF9-FA29-B9DF-4AFF-5D719959444E}"/>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1797601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CB80-BD48-8B08-4569-CA8C202446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051314-8CC3-158D-83FF-2F1251932048}"/>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4" name="Footer Placeholder 3">
            <a:extLst>
              <a:ext uri="{FF2B5EF4-FFF2-40B4-BE49-F238E27FC236}">
                <a16:creationId xmlns:a16="http://schemas.microsoft.com/office/drawing/2014/main" id="{E6226F6E-FF3A-2CB3-D4EB-EFAC5BFE14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4765B0-AAE6-5330-1FA1-6757F08CF44C}"/>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3540593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710792-CD50-B8E5-A377-6B47B88CF468}"/>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3" name="Footer Placeholder 2">
            <a:extLst>
              <a:ext uri="{FF2B5EF4-FFF2-40B4-BE49-F238E27FC236}">
                <a16:creationId xmlns:a16="http://schemas.microsoft.com/office/drawing/2014/main" id="{2D02AEC8-86EF-5F23-D098-63DC871A38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FF3CA9-7404-FD6C-1B13-A423973B2B88}"/>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338972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6B79-CAAC-DD0E-9515-975BA4B4E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096640-881F-837C-00A0-F56E9B43DE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F2C85E-FE16-080F-25D2-73F5BC628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15874E-4150-6317-E24C-56C9BA24EEB9}"/>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6" name="Footer Placeholder 5">
            <a:extLst>
              <a:ext uri="{FF2B5EF4-FFF2-40B4-BE49-F238E27FC236}">
                <a16:creationId xmlns:a16="http://schemas.microsoft.com/office/drawing/2014/main" id="{CE115F4E-35C8-FF42-F839-6CADD5D41A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07EA0E-5ACA-53E5-4888-419A421E14DF}"/>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338063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5882F-5CE7-E47E-B7E0-FBD5EE14C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44F12D-992B-82A4-2495-251E8007F5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F73284-7BF7-67B9-E49A-21A50D159E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414F2B-2DBD-4DE8-6484-6EBC21864915}"/>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6" name="Footer Placeholder 5">
            <a:extLst>
              <a:ext uri="{FF2B5EF4-FFF2-40B4-BE49-F238E27FC236}">
                <a16:creationId xmlns:a16="http://schemas.microsoft.com/office/drawing/2014/main" id="{AFBFACF4-FFF0-85D6-C4BC-B978E3E2D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4527CB-33E2-371C-0C28-38E6F949F15B}"/>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4032576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66C2-775B-5F6D-2CD9-1F6A550A46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14B387-5C57-F1A3-06AD-44F839410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11A9EA-9752-C2E2-A724-7ADF656EEC9F}"/>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3E2166C3-E790-6414-8B95-EEE259CAF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22E51-16DC-9A71-F850-D833ECF2ADD2}"/>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1786040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96E6D2-9354-C33E-A138-8A77348F02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59AB2E-4DE9-F994-97AE-A233010B18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AD500-27E8-8FF2-B8B9-5824D1A25795}"/>
              </a:ext>
            </a:extLst>
          </p:cNvPr>
          <p:cNvSpPr>
            <a:spLocks noGrp="1"/>
          </p:cNvSpPr>
          <p:nvPr>
            <p:ph type="dt" sz="half" idx="10"/>
          </p:nvPr>
        </p:nvSpPr>
        <p:spPr/>
        <p:txBody>
          <a:body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BB85FC04-989D-B6F0-1DA5-9BC5F35160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1E7E3D-437E-416A-FA32-A8FD93808196}"/>
              </a:ext>
            </a:extLst>
          </p:cNvPr>
          <p:cNvSpPr>
            <a:spLocks noGrp="1"/>
          </p:cNvSpPr>
          <p:nvPr>
            <p:ph type="sldNum" sz="quarter" idx="12"/>
          </p:nvPr>
        </p:nvSpPr>
        <p:spPr/>
        <p:txBody>
          <a:bodyPr/>
          <a:lstStyle/>
          <a:p>
            <a:fld id="{632256E0-E19D-4C43-9695-3373D25B2F91}" type="slidenum">
              <a:rPr lang="en-US" smtClean="0"/>
              <a:t>‹#›</a:t>
            </a:fld>
            <a:endParaRPr lang="en-US"/>
          </a:p>
        </p:txBody>
      </p:sp>
    </p:spTree>
    <p:extLst>
      <p:ext uri="{BB962C8B-B14F-4D97-AF65-F5344CB8AC3E}">
        <p14:creationId xmlns:p14="http://schemas.microsoft.com/office/powerpoint/2010/main" val="1353305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83F2E0-38EF-51B1-0116-929DE09C0E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0E8E67-851B-2FCC-C42F-978F714D26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C5E7C2-8967-F0AF-75DA-ABE551F292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DB595E-E2E8-4D33-9FF3-877699F70DB3}" type="datetimeFigureOut">
              <a:rPr lang="en-US" smtClean="0"/>
              <a:t>2/27/2025</a:t>
            </a:fld>
            <a:endParaRPr lang="en-US"/>
          </a:p>
        </p:txBody>
      </p:sp>
      <p:sp>
        <p:nvSpPr>
          <p:cNvPr id="5" name="Footer Placeholder 4">
            <a:extLst>
              <a:ext uri="{FF2B5EF4-FFF2-40B4-BE49-F238E27FC236}">
                <a16:creationId xmlns:a16="http://schemas.microsoft.com/office/drawing/2014/main" id="{2E7D4564-250A-D130-6A0A-3E2E050EB7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EABD2A-3AD0-D8C3-AE5C-D9FD58D532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2256E0-E19D-4C43-9695-3373D25B2F91}" type="slidenum">
              <a:rPr lang="en-US" smtClean="0"/>
              <a:t>‹#›</a:t>
            </a:fld>
            <a:endParaRPr lang="en-US"/>
          </a:p>
        </p:txBody>
      </p:sp>
    </p:spTree>
    <p:extLst>
      <p:ext uri="{BB962C8B-B14F-4D97-AF65-F5344CB8AC3E}">
        <p14:creationId xmlns:p14="http://schemas.microsoft.com/office/powerpoint/2010/main" val="2138014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Method_stub" TargetMode="External"/><Relationship Id="rId2" Type="http://schemas.openxmlformats.org/officeDocument/2006/relationships/hyperlink" Target="https://www.igi-global.com/dictionary/strong-vs-weak-methods/35378" TargetMode="External"/><Relationship Id="rId1" Type="http://schemas.openxmlformats.org/officeDocument/2006/relationships/slideLayout" Target="../slideLayouts/slideLayout2.xml"/><Relationship Id="rId4" Type="http://schemas.openxmlformats.org/officeDocument/2006/relationships/hyperlink" Target="http://en.wikipedia.org/wiki/Combinatorial_explosi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en.wikipedia.org/wiki/Toy_proble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7D5482-C3CA-E9F0-3171-709DF206044B}"/>
              </a:ext>
            </a:extLst>
          </p:cNvPr>
          <p:cNvSpPr>
            <a:spLocks noGrp="1"/>
          </p:cNvSpPr>
          <p:nvPr>
            <p:ph type="ctrTitle"/>
          </p:nvPr>
        </p:nvSpPr>
        <p:spPr>
          <a:xfrm>
            <a:off x="3581400" y="965580"/>
            <a:ext cx="5204489" cy="3160593"/>
          </a:xfrm>
        </p:spPr>
        <p:txBody>
          <a:bodyPr>
            <a:normAutofit/>
          </a:bodyPr>
          <a:lstStyle/>
          <a:p>
            <a:r>
              <a:rPr lang="en-US" sz="5400" dirty="0">
                <a:solidFill>
                  <a:schemeClr val="bg1"/>
                </a:solidFill>
              </a:rPr>
              <a:t>State Space Search</a:t>
            </a:r>
          </a:p>
        </p:txBody>
      </p:sp>
      <p:sp>
        <p:nvSpPr>
          <p:cNvPr id="3" name="Subtitle 2">
            <a:extLst>
              <a:ext uri="{FF2B5EF4-FFF2-40B4-BE49-F238E27FC236}">
                <a16:creationId xmlns:a16="http://schemas.microsoft.com/office/drawing/2014/main" id="{6E1DE282-0514-8416-7B91-83B2B5EFC979}"/>
              </a:ext>
            </a:extLst>
          </p:cNvPr>
          <p:cNvSpPr>
            <a:spLocks noGrp="1"/>
          </p:cNvSpPr>
          <p:nvPr>
            <p:ph type="subTitle" idx="1"/>
          </p:nvPr>
        </p:nvSpPr>
        <p:spPr>
          <a:xfrm>
            <a:off x="3820817" y="4409960"/>
            <a:ext cx="4508641" cy="1116414"/>
          </a:xfrm>
        </p:spPr>
        <p:txBody>
          <a:bodyPr>
            <a:normAutofit/>
          </a:bodyPr>
          <a:lstStyle/>
          <a:p>
            <a:r>
              <a:rPr lang="en-US" sz="2000">
                <a:solidFill>
                  <a:schemeClr val="bg1"/>
                </a:solidFill>
              </a:rPr>
              <a:t>Iftekhar Mahmud Towhid</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046109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B51A9-6E23-C75B-0998-27A7CB8B1358}"/>
              </a:ext>
            </a:extLst>
          </p:cNvPr>
          <p:cNvSpPr>
            <a:spLocks noGrp="1"/>
          </p:cNvSpPr>
          <p:nvPr>
            <p:ph type="title"/>
          </p:nvPr>
        </p:nvSpPr>
        <p:spPr/>
        <p:txBody>
          <a:bodyPr/>
          <a:lstStyle/>
          <a:p>
            <a:r>
              <a:rPr lang="en-US"/>
              <a:t>State space</a:t>
            </a:r>
            <a:endParaRPr lang="en-US" dirty="0"/>
          </a:p>
        </p:txBody>
      </p:sp>
      <p:sp>
        <p:nvSpPr>
          <p:cNvPr id="3" name="Content Placeholder 2">
            <a:extLst>
              <a:ext uri="{FF2B5EF4-FFF2-40B4-BE49-F238E27FC236}">
                <a16:creationId xmlns:a16="http://schemas.microsoft.com/office/drawing/2014/main" id="{F57A299C-6890-0FB9-77C9-A24AE83C404A}"/>
              </a:ext>
            </a:extLst>
          </p:cNvPr>
          <p:cNvSpPr>
            <a:spLocks noGrp="1"/>
          </p:cNvSpPr>
          <p:nvPr>
            <p:ph idx="1"/>
          </p:nvPr>
        </p:nvSpPr>
        <p:spPr/>
        <p:txBody>
          <a:bodyPr/>
          <a:lstStyle/>
          <a:p>
            <a:r>
              <a:rPr lang="en-GB"/>
              <a:t>In the theory of discrete dynamical systems, a state space is the set of values which a process can take. For example, a system in queuing theory recording the number of customers in a line would have state space {0, 1, 2, 3, ....}.</a:t>
            </a:r>
          </a:p>
          <a:p>
            <a:r>
              <a:rPr lang="en-GB"/>
              <a:t>In games, the state space is the set of all possible configurations within the game which can be reached by legal actions. For instance, in chess, it consists of all the possible board configurations. Within this state space there is the subset of configurations which are valid according to the rules of chess. </a:t>
            </a:r>
          </a:p>
          <a:p>
            <a:endParaRPr lang="en-US" dirty="0"/>
          </a:p>
        </p:txBody>
      </p:sp>
    </p:spTree>
    <p:extLst>
      <p:ext uri="{BB962C8B-B14F-4D97-AF65-F5344CB8AC3E}">
        <p14:creationId xmlns:p14="http://schemas.microsoft.com/office/powerpoint/2010/main" val="3317795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AD40-37F1-DF59-5F3D-82D833BA4AEB}"/>
              </a:ext>
            </a:extLst>
          </p:cNvPr>
          <p:cNvSpPr>
            <a:spLocks noGrp="1"/>
          </p:cNvSpPr>
          <p:nvPr>
            <p:ph type="title"/>
          </p:nvPr>
        </p:nvSpPr>
        <p:spPr/>
        <p:txBody>
          <a:bodyPr/>
          <a:lstStyle/>
          <a:p>
            <a:r>
              <a:rPr lang="en-US" dirty="0"/>
              <a:t>State space</a:t>
            </a:r>
          </a:p>
        </p:txBody>
      </p:sp>
      <p:sp>
        <p:nvSpPr>
          <p:cNvPr id="3" name="Content Placeholder 2">
            <a:extLst>
              <a:ext uri="{FF2B5EF4-FFF2-40B4-BE49-F238E27FC236}">
                <a16:creationId xmlns:a16="http://schemas.microsoft.com/office/drawing/2014/main" id="{8AEF3E9B-74AE-0035-8017-741732F478CE}"/>
              </a:ext>
            </a:extLst>
          </p:cNvPr>
          <p:cNvSpPr>
            <a:spLocks noGrp="1"/>
          </p:cNvSpPr>
          <p:nvPr>
            <p:ph idx="1"/>
          </p:nvPr>
        </p:nvSpPr>
        <p:spPr/>
        <p:txBody>
          <a:bodyPr/>
          <a:lstStyle/>
          <a:p>
            <a:r>
              <a:rPr lang="en-GB" dirty="0"/>
              <a:t>A game's total state space is often readily calculated whereas finding the subset of valid configurations may be a considerable challenge. The size of a game's state space is related to its complexity. </a:t>
            </a:r>
          </a:p>
          <a:p>
            <a:r>
              <a:rPr lang="en-GB" dirty="0"/>
              <a:t>For some systems, the state space can be so huge that even for the fastest computer on earth, it may take thousands of years to explore all the states.</a:t>
            </a:r>
          </a:p>
          <a:p>
            <a:endParaRPr lang="en-GB" dirty="0"/>
          </a:p>
          <a:p>
            <a:pPr marL="0" indent="0">
              <a:buNone/>
            </a:pPr>
            <a:endParaRPr lang="en-US" dirty="0"/>
          </a:p>
        </p:txBody>
      </p:sp>
    </p:spTree>
    <p:extLst>
      <p:ext uri="{BB962C8B-B14F-4D97-AF65-F5344CB8AC3E}">
        <p14:creationId xmlns:p14="http://schemas.microsoft.com/office/powerpoint/2010/main" val="368680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BE17A-E495-B2E1-BC01-0D33A234DE50}"/>
              </a:ext>
            </a:extLst>
          </p:cNvPr>
          <p:cNvSpPr>
            <a:spLocks noGrp="1"/>
          </p:cNvSpPr>
          <p:nvPr>
            <p:ph type="title"/>
          </p:nvPr>
        </p:nvSpPr>
        <p:spPr/>
        <p:txBody>
          <a:bodyPr/>
          <a:lstStyle/>
          <a:p>
            <a:r>
              <a:rPr lang="en-US" dirty="0"/>
              <a:t>State space</a:t>
            </a:r>
          </a:p>
        </p:txBody>
      </p:sp>
      <p:sp>
        <p:nvSpPr>
          <p:cNvPr id="3" name="Content Placeholder 2">
            <a:extLst>
              <a:ext uri="{FF2B5EF4-FFF2-40B4-BE49-F238E27FC236}">
                <a16:creationId xmlns:a16="http://schemas.microsoft.com/office/drawing/2014/main" id="{7AF6ACC5-96AC-F7F0-7010-F9FE8992272A}"/>
              </a:ext>
            </a:extLst>
          </p:cNvPr>
          <p:cNvSpPr>
            <a:spLocks noGrp="1"/>
          </p:cNvSpPr>
          <p:nvPr>
            <p:ph idx="1"/>
          </p:nvPr>
        </p:nvSpPr>
        <p:spPr/>
        <p:txBody>
          <a:bodyPr/>
          <a:lstStyle/>
          <a:p>
            <a:r>
              <a:rPr lang="en-GB" dirty="0"/>
              <a:t>Here are the sizes of state space for some problems:</a:t>
            </a:r>
          </a:p>
          <a:p>
            <a:endParaRPr lang="en-GB" dirty="0"/>
          </a:p>
          <a:p>
            <a:endParaRPr lang="en-GB" dirty="0"/>
          </a:p>
          <a:p>
            <a:endParaRPr lang="en-US" dirty="0"/>
          </a:p>
        </p:txBody>
      </p:sp>
      <p:graphicFrame>
        <p:nvGraphicFramePr>
          <p:cNvPr id="7" name="Table 6">
            <a:extLst>
              <a:ext uri="{FF2B5EF4-FFF2-40B4-BE49-F238E27FC236}">
                <a16:creationId xmlns:a16="http://schemas.microsoft.com/office/drawing/2014/main" id="{985F1A1B-B78A-03C2-7D0B-4CD0E1AA4058}"/>
              </a:ext>
            </a:extLst>
          </p:cNvPr>
          <p:cNvGraphicFramePr>
            <a:graphicFrameLocks noGrp="1"/>
          </p:cNvGraphicFramePr>
          <p:nvPr>
            <p:extLst>
              <p:ext uri="{D42A27DB-BD31-4B8C-83A1-F6EECF244321}">
                <p14:modId xmlns:p14="http://schemas.microsoft.com/office/powerpoint/2010/main" val="2131009281"/>
              </p:ext>
            </p:extLst>
          </p:nvPr>
        </p:nvGraphicFramePr>
        <p:xfrm>
          <a:off x="2672080" y="2888931"/>
          <a:ext cx="6847840" cy="2037715"/>
        </p:xfrm>
        <a:graphic>
          <a:graphicData uri="http://schemas.openxmlformats.org/drawingml/2006/table">
            <a:tbl>
              <a:tblPr firstRow="1" firstCol="1" bandRow="1">
                <a:tableStyleId>{5940675A-B579-460E-94D1-54222C63F5DA}</a:tableStyleId>
              </a:tblPr>
              <a:tblGrid>
                <a:gridCol w="3971748">
                  <a:extLst>
                    <a:ext uri="{9D8B030D-6E8A-4147-A177-3AD203B41FA5}">
                      <a16:colId xmlns:a16="http://schemas.microsoft.com/office/drawing/2014/main" val="2880136160"/>
                    </a:ext>
                  </a:extLst>
                </a:gridCol>
                <a:gridCol w="2876092">
                  <a:extLst>
                    <a:ext uri="{9D8B030D-6E8A-4147-A177-3AD203B41FA5}">
                      <a16:colId xmlns:a16="http://schemas.microsoft.com/office/drawing/2014/main" val="1851807977"/>
                    </a:ext>
                  </a:extLst>
                </a:gridCol>
              </a:tblGrid>
              <a:tr h="108018">
                <a:tc>
                  <a:txBody>
                    <a:bodyPr/>
                    <a:lstStyle/>
                    <a:p>
                      <a:pPr marL="0" marR="0" algn="just">
                        <a:lnSpc>
                          <a:spcPct val="150000"/>
                        </a:lnSpc>
                        <a:spcBef>
                          <a:spcPts val="0"/>
                        </a:spcBef>
                        <a:spcAft>
                          <a:spcPts val="0"/>
                        </a:spcAft>
                      </a:pPr>
                      <a:r>
                        <a:rPr lang="en-US" sz="2000" b="1" dirty="0">
                          <a:solidFill>
                            <a:schemeClr val="tx1">
                              <a:lumMod val="95000"/>
                              <a:lumOff val="5000"/>
                            </a:schemeClr>
                          </a:solidFill>
                          <a:effectLst/>
                        </a:rPr>
                        <a:t>Problem</a:t>
                      </a:r>
                      <a:endParaRPr lang="en-US" sz="2000" dirty="0">
                        <a:solidFill>
                          <a:schemeClr val="tx1">
                            <a:lumMod val="95000"/>
                            <a:lumOff val="5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50000"/>
                        </a:lnSpc>
                        <a:spcBef>
                          <a:spcPts val="0"/>
                        </a:spcBef>
                        <a:spcAft>
                          <a:spcPts val="0"/>
                        </a:spcAft>
                      </a:pPr>
                      <a:r>
                        <a:rPr lang="en-US" sz="2000" b="1" dirty="0">
                          <a:solidFill>
                            <a:schemeClr val="tx1">
                              <a:lumMod val="95000"/>
                              <a:lumOff val="5000"/>
                            </a:schemeClr>
                          </a:solidFill>
                          <a:effectLst/>
                        </a:rPr>
                        <a:t>State space size</a:t>
                      </a:r>
                      <a:endParaRPr lang="en-US" sz="2000" dirty="0">
                        <a:solidFill>
                          <a:schemeClr val="tx1">
                            <a:lumMod val="95000"/>
                            <a:lumOff val="5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004463651"/>
                  </a:ext>
                </a:extLst>
              </a:tr>
              <a:tr h="0">
                <a:tc>
                  <a:txBody>
                    <a:bodyPr/>
                    <a:lstStyle/>
                    <a:p>
                      <a:pPr marL="0" marR="0" algn="just">
                        <a:lnSpc>
                          <a:spcPct val="150000"/>
                        </a:lnSpc>
                        <a:spcBef>
                          <a:spcPts val="0"/>
                        </a:spcBef>
                        <a:spcAft>
                          <a:spcPts val="0"/>
                        </a:spcAft>
                      </a:pPr>
                      <a:r>
                        <a:rPr lang="en-US" sz="2000" b="1" dirty="0">
                          <a:solidFill>
                            <a:srgbClr val="000000"/>
                          </a:solidFill>
                          <a:effectLst/>
                        </a:rPr>
                        <a:t>Theorem proving</a:t>
                      </a:r>
                      <a:endParaRPr lang="en-US" sz="20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50000"/>
                        </a:lnSpc>
                        <a:spcBef>
                          <a:spcPts val="0"/>
                        </a:spcBef>
                        <a:spcAft>
                          <a:spcPts val="0"/>
                        </a:spcAft>
                      </a:pPr>
                      <a:r>
                        <a:rPr lang="en-US" sz="2000" dirty="0">
                          <a:solidFill>
                            <a:srgbClr val="000000"/>
                          </a:solidFill>
                          <a:effectLst/>
                        </a:rPr>
                        <a:t>Infinite</a:t>
                      </a:r>
                      <a:endParaRPr lang="en-US" sz="20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543196931"/>
                  </a:ext>
                </a:extLst>
              </a:tr>
              <a:tr h="0">
                <a:tc>
                  <a:txBody>
                    <a:bodyPr/>
                    <a:lstStyle/>
                    <a:p>
                      <a:pPr marL="0" marR="0" algn="just">
                        <a:lnSpc>
                          <a:spcPct val="150000"/>
                        </a:lnSpc>
                        <a:spcBef>
                          <a:spcPts val="0"/>
                        </a:spcBef>
                        <a:spcAft>
                          <a:spcPts val="0"/>
                        </a:spcAft>
                      </a:pPr>
                      <a:r>
                        <a:rPr lang="en-US" sz="2000" b="1" dirty="0">
                          <a:effectLst/>
                        </a:rPr>
                        <a:t>Chess</a:t>
                      </a:r>
                      <a:endParaRPr lang="en-US" sz="20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50000"/>
                        </a:lnSpc>
                        <a:spcBef>
                          <a:spcPts val="0"/>
                        </a:spcBef>
                        <a:spcAft>
                          <a:spcPts val="0"/>
                        </a:spcAft>
                      </a:pPr>
                      <a:r>
                        <a:rPr lang="en-US" sz="2000">
                          <a:effectLst/>
                        </a:rPr>
                        <a:t>10</a:t>
                      </a:r>
                      <a:r>
                        <a:rPr lang="en-US" sz="2000" baseline="30000">
                          <a:effectLst/>
                        </a:rPr>
                        <a:t>120</a:t>
                      </a:r>
                      <a:endParaRPr lang="en-US" sz="20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133436656"/>
                  </a:ext>
                </a:extLst>
              </a:tr>
              <a:tr h="0">
                <a:tc>
                  <a:txBody>
                    <a:bodyPr/>
                    <a:lstStyle/>
                    <a:p>
                      <a:pPr marL="0" marR="0" algn="just">
                        <a:lnSpc>
                          <a:spcPct val="150000"/>
                        </a:lnSpc>
                        <a:spcBef>
                          <a:spcPts val="0"/>
                        </a:spcBef>
                        <a:spcAft>
                          <a:spcPts val="0"/>
                        </a:spcAft>
                      </a:pPr>
                      <a:r>
                        <a:rPr lang="en-US" sz="2000" b="1">
                          <a:solidFill>
                            <a:srgbClr val="000000"/>
                          </a:solidFill>
                          <a:effectLst/>
                        </a:rPr>
                        <a:t>Checkers</a:t>
                      </a:r>
                      <a:endParaRPr lang="en-US" sz="20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50000"/>
                        </a:lnSpc>
                        <a:spcBef>
                          <a:spcPts val="0"/>
                        </a:spcBef>
                        <a:spcAft>
                          <a:spcPts val="0"/>
                        </a:spcAft>
                      </a:pPr>
                      <a:r>
                        <a:rPr lang="en-US" sz="2000" dirty="0">
                          <a:solidFill>
                            <a:srgbClr val="000000"/>
                          </a:solidFill>
                          <a:effectLst/>
                        </a:rPr>
                        <a:t>10</a:t>
                      </a:r>
                      <a:r>
                        <a:rPr lang="en-US" sz="2000" baseline="30000" dirty="0">
                          <a:solidFill>
                            <a:srgbClr val="000000"/>
                          </a:solidFill>
                          <a:effectLst/>
                        </a:rPr>
                        <a:t>40</a:t>
                      </a:r>
                      <a:endParaRPr lang="en-US" sz="20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449633395"/>
                  </a:ext>
                </a:extLst>
              </a:tr>
              <a:tr h="0">
                <a:tc>
                  <a:txBody>
                    <a:bodyPr/>
                    <a:lstStyle/>
                    <a:p>
                      <a:pPr marL="0" marR="0" algn="just">
                        <a:lnSpc>
                          <a:spcPct val="150000"/>
                        </a:lnSpc>
                        <a:spcBef>
                          <a:spcPts val="0"/>
                        </a:spcBef>
                        <a:spcAft>
                          <a:spcPts val="0"/>
                        </a:spcAft>
                      </a:pPr>
                      <a:r>
                        <a:rPr lang="en-US" sz="2000" b="1">
                          <a:effectLst/>
                        </a:rPr>
                        <a:t>8-puzzle</a:t>
                      </a:r>
                      <a:endParaRPr lang="en-US" sz="20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50000"/>
                        </a:lnSpc>
                        <a:spcBef>
                          <a:spcPts val="0"/>
                        </a:spcBef>
                        <a:spcAft>
                          <a:spcPts val="0"/>
                        </a:spcAft>
                      </a:pPr>
                      <a:r>
                        <a:rPr lang="en-US" sz="2000" dirty="0">
                          <a:effectLst/>
                        </a:rPr>
                        <a:t>181,440</a:t>
                      </a:r>
                      <a:endParaRPr lang="en-US" sz="20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740108604"/>
                  </a:ext>
                </a:extLst>
              </a:tr>
            </a:tbl>
          </a:graphicData>
        </a:graphic>
      </p:graphicFrame>
      <p:sp>
        <p:nvSpPr>
          <p:cNvPr id="4" name="TextBox 3">
            <a:extLst>
              <a:ext uri="{FF2B5EF4-FFF2-40B4-BE49-F238E27FC236}">
                <a16:creationId xmlns:a16="http://schemas.microsoft.com/office/drawing/2014/main" id="{28097B15-C1B9-9A24-5F05-39C4CED69D42}"/>
              </a:ext>
            </a:extLst>
          </p:cNvPr>
          <p:cNvSpPr txBox="1"/>
          <p:nvPr/>
        </p:nvSpPr>
        <p:spPr>
          <a:xfrm>
            <a:off x="2672080" y="5139159"/>
            <a:ext cx="2130711" cy="369332"/>
          </a:xfrm>
          <a:prstGeom prst="rect">
            <a:avLst/>
          </a:prstGeom>
          <a:noFill/>
        </p:spPr>
        <p:txBody>
          <a:bodyPr wrap="none" rtlCol="0">
            <a:spAutoFit/>
          </a:bodyPr>
          <a:lstStyle/>
          <a:p>
            <a:r>
              <a:rPr lang="en-US" dirty="0"/>
              <a:t>See </a:t>
            </a:r>
            <a:r>
              <a:rPr lang="en-US" dirty="0">
                <a:hlinkClick r:id="rId2" action="ppaction://hlinksldjump"/>
              </a:rPr>
              <a:t>problem types</a:t>
            </a:r>
            <a:endParaRPr lang="en-US" dirty="0"/>
          </a:p>
        </p:txBody>
      </p:sp>
    </p:spTree>
    <p:extLst>
      <p:ext uri="{BB962C8B-B14F-4D97-AF65-F5344CB8AC3E}">
        <p14:creationId xmlns:p14="http://schemas.microsoft.com/office/powerpoint/2010/main" val="2752416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66B1F-379B-D014-BC6F-3995BE64D6D6}"/>
              </a:ext>
            </a:extLst>
          </p:cNvPr>
          <p:cNvSpPr>
            <a:spLocks noGrp="1"/>
          </p:cNvSpPr>
          <p:nvPr>
            <p:ph type="title"/>
          </p:nvPr>
        </p:nvSpPr>
        <p:spPr/>
        <p:txBody>
          <a:bodyPr/>
          <a:lstStyle/>
          <a:p>
            <a:r>
              <a:rPr lang="en-GB" dirty="0"/>
              <a:t>Problem solving by searching: State space search</a:t>
            </a:r>
            <a:endParaRPr lang="en-US" dirty="0"/>
          </a:p>
        </p:txBody>
      </p:sp>
      <p:sp>
        <p:nvSpPr>
          <p:cNvPr id="3" name="Content Placeholder 2">
            <a:extLst>
              <a:ext uri="{FF2B5EF4-FFF2-40B4-BE49-F238E27FC236}">
                <a16:creationId xmlns:a16="http://schemas.microsoft.com/office/drawing/2014/main" id="{1A105883-33B7-45C0-4370-D119D48E5EC7}"/>
              </a:ext>
            </a:extLst>
          </p:cNvPr>
          <p:cNvSpPr>
            <a:spLocks noGrp="1"/>
          </p:cNvSpPr>
          <p:nvPr>
            <p:ph idx="1"/>
          </p:nvPr>
        </p:nvSpPr>
        <p:spPr/>
        <p:txBody>
          <a:bodyPr/>
          <a:lstStyle/>
          <a:p>
            <a:r>
              <a:rPr lang="en-GB" dirty="0"/>
              <a:t>A wide range of AI problems can be formulated as searches.</a:t>
            </a:r>
          </a:p>
          <a:p>
            <a:r>
              <a:rPr lang="en-GB" dirty="0"/>
              <a:t>State space search is the process of searching for a sequence of actions that take from an initial state to a goal state to formulate a solution for a given problem.</a:t>
            </a:r>
          </a:p>
          <a:p>
            <a:endParaRPr lang="en-GB" dirty="0"/>
          </a:p>
          <a:p>
            <a:pPr marL="0" indent="0">
              <a:buNone/>
            </a:pPr>
            <a:endParaRPr lang="en-US" dirty="0"/>
          </a:p>
        </p:txBody>
      </p:sp>
      <p:pic>
        <p:nvPicPr>
          <p:cNvPr id="4" name="Picture 3">
            <a:extLst>
              <a:ext uri="{FF2B5EF4-FFF2-40B4-BE49-F238E27FC236}">
                <a16:creationId xmlns:a16="http://schemas.microsoft.com/office/drawing/2014/main" id="{70F4B79F-7A38-B7C4-4804-14BD0948DE6F}"/>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2693511" y="3700462"/>
            <a:ext cx="6804978" cy="1804533"/>
          </a:xfrm>
          <a:prstGeom prst="rect">
            <a:avLst/>
          </a:prstGeom>
        </p:spPr>
      </p:pic>
      <p:sp>
        <p:nvSpPr>
          <p:cNvPr id="5" name="TextBox 4">
            <a:extLst>
              <a:ext uri="{FF2B5EF4-FFF2-40B4-BE49-F238E27FC236}">
                <a16:creationId xmlns:a16="http://schemas.microsoft.com/office/drawing/2014/main" id="{69344CC9-E57F-0C8F-BAB0-26806E31AF37}"/>
              </a:ext>
            </a:extLst>
          </p:cNvPr>
          <p:cNvSpPr txBox="1"/>
          <p:nvPr/>
        </p:nvSpPr>
        <p:spPr>
          <a:xfrm>
            <a:off x="4744720" y="5574390"/>
            <a:ext cx="3373120" cy="369332"/>
          </a:xfrm>
          <a:prstGeom prst="rect">
            <a:avLst/>
          </a:prstGeom>
          <a:noFill/>
        </p:spPr>
        <p:txBody>
          <a:bodyPr wrap="square" rtlCol="0">
            <a:spAutoFit/>
          </a:bodyPr>
          <a:lstStyle/>
          <a:p>
            <a:r>
              <a:rPr lang="en-US" i="1" dirty="0"/>
              <a:t>Figure: State space search</a:t>
            </a:r>
          </a:p>
        </p:txBody>
      </p:sp>
    </p:spTree>
    <p:extLst>
      <p:ext uri="{BB962C8B-B14F-4D97-AF65-F5344CB8AC3E}">
        <p14:creationId xmlns:p14="http://schemas.microsoft.com/office/powerpoint/2010/main" val="2535608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8B77-B1D1-A1D8-E29E-316AD2400D73}"/>
              </a:ext>
            </a:extLst>
          </p:cNvPr>
          <p:cNvSpPr>
            <a:spLocks noGrp="1"/>
          </p:cNvSpPr>
          <p:nvPr>
            <p:ph type="title"/>
          </p:nvPr>
        </p:nvSpPr>
        <p:spPr/>
        <p:txBody>
          <a:bodyPr/>
          <a:lstStyle/>
          <a:p>
            <a:r>
              <a:rPr lang="en-US" dirty="0"/>
              <a:t>Application</a:t>
            </a:r>
          </a:p>
        </p:txBody>
      </p:sp>
      <p:sp>
        <p:nvSpPr>
          <p:cNvPr id="3" name="Content Placeholder 2">
            <a:extLst>
              <a:ext uri="{FF2B5EF4-FFF2-40B4-BE49-F238E27FC236}">
                <a16:creationId xmlns:a16="http://schemas.microsoft.com/office/drawing/2014/main" id="{6F3C87BF-0FCC-08A9-E3C8-D94BCF0D2F44}"/>
              </a:ext>
            </a:extLst>
          </p:cNvPr>
          <p:cNvSpPr>
            <a:spLocks noGrp="1"/>
          </p:cNvSpPr>
          <p:nvPr>
            <p:ph idx="1"/>
          </p:nvPr>
        </p:nvSpPr>
        <p:spPr/>
        <p:txBody>
          <a:bodyPr/>
          <a:lstStyle/>
          <a:p>
            <a:r>
              <a:rPr lang="en-GB" dirty="0"/>
              <a:t>Search can be applied to many problems:</a:t>
            </a:r>
          </a:p>
          <a:p>
            <a:pPr lvl="1"/>
            <a:r>
              <a:rPr lang="en-GB" dirty="0"/>
              <a:t>Solution to a puzzle.</a:t>
            </a:r>
          </a:p>
          <a:p>
            <a:pPr lvl="1"/>
            <a:r>
              <a:rPr lang="en-GB" dirty="0"/>
              <a:t>Shortest path on a map.</a:t>
            </a:r>
          </a:p>
          <a:p>
            <a:pPr lvl="1"/>
            <a:r>
              <a:rPr lang="en-GB" dirty="0"/>
              <a:t>Proof of a theorem.</a:t>
            </a:r>
          </a:p>
          <a:p>
            <a:pPr lvl="1"/>
            <a:r>
              <a:rPr lang="en-GB" dirty="0"/>
              <a:t>Sequence of moves to win a game.</a:t>
            </a:r>
          </a:p>
          <a:p>
            <a:pPr lvl="1"/>
            <a:r>
              <a:rPr lang="en-GB" dirty="0"/>
              <a:t>Sequence of transformations to solve a symbolic integration problem.</a:t>
            </a:r>
          </a:p>
          <a:p>
            <a:pPr lvl="1"/>
            <a:r>
              <a:rPr lang="en-GB" dirty="0"/>
              <a:t>Sequence of moves to achieve a desired state.</a:t>
            </a:r>
          </a:p>
          <a:p>
            <a:endParaRPr lang="en-US" dirty="0"/>
          </a:p>
        </p:txBody>
      </p:sp>
    </p:spTree>
    <p:extLst>
      <p:ext uri="{BB962C8B-B14F-4D97-AF65-F5344CB8AC3E}">
        <p14:creationId xmlns:p14="http://schemas.microsoft.com/office/powerpoint/2010/main" val="2203473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6D7923-E45D-9D4B-38B9-05C5DCF00D62}"/>
              </a:ext>
            </a:extLst>
          </p:cNvPr>
          <p:cNvSpPr>
            <a:spLocks noGrp="1"/>
          </p:cNvSpPr>
          <p:nvPr>
            <p:ph idx="1"/>
          </p:nvPr>
        </p:nvSpPr>
        <p:spPr/>
        <p:txBody>
          <a:bodyPr/>
          <a:lstStyle/>
          <a:p>
            <a:r>
              <a:rPr lang="en-GB" dirty="0"/>
              <a:t>State space search is an example of a </a:t>
            </a:r>
            <a:r>
              <a:rPr lang="en-GB" dirty="0">
                <a:hlinkClick r:id="rId2"/>
              </a:rPr>
              <a:t>weak method</a:t>
            </a:r>
            <a:r>
              <a:rPr lang="en-GB" dirty="0"/>
              <a:t>.</a:t>
            </a:r>
          </a:p>
          <a:p>
            <a:r>
              <a:rPr lang="en-GB" dirty="0"/>
              <a:t>A weak method is:</a:t>
            </a:r>
          </a:p>
          <a:p>
            <a:pPr lvl="1"/>
            <a:r>
              <a:rPr lang="en-GB" dirty="0"/>
              <a:t>a problem-independent framework for solving problems</a:t>
            </a:r>
          </a:p>
          <a:p>
            <a:pPr lvl="1"/>
            <a:r>
              <a:rPr lang="en-GB" dirty="0"/>
              <a:t>It may have "</a:t>
            </a:r>
            <a:r>
              <a:rPr lang="en-GB" dirty="0">
                <a:hlinkClick r:id="rId3"/>
              </a:rPr>
              <a:t>stubs</a:t>
            </a:r>
            <a:r>
              <a:rPr lang="en-GB" dirty="0"/>
              <a:t>" for incorporating domain knowledge</a:t>
            </a:r>
          </a:p>
          <a:p>
            <a:r>
              <a:rPr lang="en-GB" dirty="0"/>
              <a:t>However: weak methods usually cannot overcome the </a:t>
            </a:r>
            <a:r>
              <a:rPr lang="en-GB" dirty="0">
                <a:hlinkClick r:id="rId4"/>
              </a:rPr>
              <a:t>combinatorial explosion</a:t>
            </a:r>
            <a:r>
              <a:rPr lang="en-GB" dirty="0"/>
              <a:t>.</a:t>
            </a:r>
          </a:p>
          <a:p>
            <a:pPr marL="0" indent="0">
              <a:buNone/>
            </a:pPr>
            <a:endParaRPr lang="en-US" dirty="0"/>
          </a:p>
        </p:txBody>
      </p:sp>
    </p:spTree>
    <p:extLst>
      <p:ext uri="{BB962C8B-B14F-4D97-AF65-F5344CB8AC3E}">
        <p14:creationId xmlns:p14="http://schemas.microsoft.com/office/powerpoint/2010/main" val="2643912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F15B-4F42-12AD-A2AA-F48FC0C5CD6B}"/>
              </a:ext>
            </a:extLst>
          </p:cNvPr>
          <p:cNvSpPr>
            <a:spLocks noGrp="1"/>
          </p:cNvSpPr>
          <p:nvPr>
            <p:ph type="title"/>
          </p:nvPr>
        </p:nvSpPr>
        <p:spPr/>
        <p:txBody>
          <a:bodyPr/>
          <a:lstStyle/>
          <a:p>
            <a:r>
              <a:rPr lang="en-US" dirty="0"/>
              <a:t>Formulating State Space Search</a:t>
            </a:r>
          </a:p>
        </p:txBody>
      </p:sp>
      <p:sp>
        <p:nvSpPr>
          <p:cNvPr id="3" name="Content Placeholder 2">
            <a:extLst>
              <a:ext uri="{FF2B5EF4-FFF2-40B4-BE49-F238E27FC236}">
                <a16:creationId xmlns:a16="http://schemas.microsoft.com/office/drawing/2014/main" id="{CC1ABB71-4B06-91BB-3A87-FBD4EBD85098}"/>
              </a:ext>
            </a:extLst>
          </p:cNvPr>
          <p:cNvSpPr>
            <a:spLocks noGrp="1"/>
          </p:cNvSpPr>
          <p:nvPr>
            <p:ph idx="1"/>
          </p:nvPr>
        </p:nvSpPr>
        <p:spPr/>
        <p:txBody>
          <a:bodyPr/>
          <a:lstStyle/>
          <a:p>
            <a:r>
              <a:rPr lang="en-US" dirty="0"/>
              <a:t>What kind of problems can we solve using state space search?</a:t>
            </a:r>
          </a:p>
          <a:p>
            <a:pPr lvl="1"/>
            <a:r>
              <a:rPr lang="en-US" dirty="0"/>
              <a:t>We can discretize the underlying system into distinct state.</a:t>
            </a:r>
          </a:p>
          <a:p>
            <a:pPr lvl="1"/>
            <a:r>
              <a:rPr lang="en-US" dirty="0"/>
              <a:t>We can move from one state to another state by performing some action (from a set of valid actions)</a:t>
            </a:r>
          </a:p>
        </p:txBody>
      </p:sp>
    </p:spTree>
    <p:extLst>
      <p:ext uri="{BB962C8B-B14F-4D97-AF65-F5344CB8AC3E}">
        <p14:creationId xmlns:p14="http://schemas.microsoft.com/office/powerpoint/2010/main" val="202390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6FAB-8509-72D1-36F8-B3A4FB38B1DB}"/>
              </a:ext>
            </a:extLst>
          </p:cNvPr>
          <p:cNvSpPr>
            <a:spLocks noGrp="1"/>
          </p:cNvSpPr>
          <p:nvPr>
            <p:ph type="title"/>
          </p:nvPr>
        </p:nvSpPr>
        <p:spPr/>
        <p:txBody>
          <a:bodyPr/>
          <a:lstStyle/>
          <a:p>
            <a:r>
              <a:rPr lang="en-US" dirty="0"/>
              <a:t>Formulating State Space Search</a:t>
            </a:r>
          </a:p>
        </p:txBody>
      </p:sp>
      <p:grpSp>
        <p:nvGrpSpPr>
          <p:cNvPr id="49" name="Group 48">
            <a:extLst>
              <a:ext uri="{FF2B5EF4-FFF2-40B4-BE49-F238E27FC236}">
                <a16:creationId xmlns:a16="http://schemas.microsoft.com/office/drawing/2014/main" id="{E7322D9F-4E6A-1660-F0F6-30E5721F3433}"/>
              </a:ext>
            </a:extLst>
          </p:cNvPr>
          <p:cNvGrpSpPr/>
          <p:nvPr/>
        </p:nvGrpSpPr>
        <p:grpSpPr>
          <a:xfrm>
            <a:off x="982225" y="1851950"/>
            <a:ext cx="5667432" cy="4004840"/>
            <a:chOff x="2174417" y="1840375"/>
            <a:chExt cx="5667432" cy="4004840"/>
          </a:xfrm>
        </p:grpSpPr>
        <p:sp>
          <p:nvSpPr>
            <p:cNvPr id="4" name="Oval 3">
              <a:extLst>
                <a:ext uri="{FF2B5EF4-FFF2-40B4-BE49-F238E27FC236}">
                  <a16:creationId xmlns:a16="http://schemas.microsoft.com/office/drawing/2014/main" id="{0057169D-3E94-CBD7-84F5-EB173EC9ABAF}"/>
                </a:ext>
              </a:extLst>
            </p:cNvPr>
            <p:cNvSpPr/>
            <p:nvPr/>
          </p:nvSpPr>
          <p:spPr>
            <a:xfrm>
              <a:off x="2916821" y="1840375"/>
              <a:ext cx="682906" cy="68290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5" name="Oval 4">
              <a:extLst>
                <a:ext uri="{FF2B5EF4-FFF2-40B4-BE49-F238E27FC236}">
                  <a16:creationId xmlns:a16="http://schemas.microsoft.com/office/drawing/2014/main" id="{6FA80B44-C9A7-6B4A-347F-6F19D4465409}"/>
                </a:ext>
              </a:extLst>
            </p:cNvPr>
            <p:cNvSpPr/>
            <p:nvPr/>
          </p:nvSpPr>
          <p:spPr>
            <a:xfrm>
              <a:off x="2174417" y="3694406"/>
              <a:ext cx="682906" cy="682906"/>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S4</a:t>
              </a:r>
            </a:p>
          </p:txBody>
        </p:sp>
        <p:sp>
          <p:nvSpPr>
            <p:cNvPr id="6" name="Oval 5">
              <a:extLst>
                <a:ext uri="{FF2B5EF4-FFF2-40B4-BE49-F238E27FC236}">
                  <a16:creationId xmlns:a16="http://schemas.microsoft.com/office/drawing/2014/main" id="{7BD40E68-350E-FD9D-73D3-242BF0C6B245}"/>
                </a:ext>
              </a:extLst>
            </p:cNvPr>
            <p:cNvSpPr/>
            <p:nvPr/>
          </p:nvSpPr>
          <p:spPr>
            <a:xfrm>
              <a:off x="3819647" y="5162309"/>
              <a:ext cx="682906" cy="682906"/>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S5</a:t>
              </a:r>
            </a:p>
          </p:txBody>
        </p:sp>
        <p:sp>
          <p:nvSpPr>
            <p:cNvPr id="7" name="Oval 6">
              <a:extLst>
                <a:ext uri="{FF2B5EF4-FFF2-40B4-BE49-F238E27FC236}">
                  <a16:creationId xmlns:a16="http://schemas.microsoft.com/office/drawing/2014/main" id="{79CEA6E5-FE7C-D07C-105C-2CF109B3ECCF}"/>
                </a:ext>
              </a:extLst>
            </p:cNvPr>
            <p:cNvSpPr/>
            <p:nvPr/>
          </p:nvSpPr>
          <p:spPr>
            <a:xfrm>
              <a:off x="6817490" y="1851949"/>
              <a:ext cx="682906" cy="682906"/>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S3</a:t>
              </a:r>
            </a:p>
          </p:txBody>
        </p:sp>
        <p:sp>
          <p:nvSpPr>
            <p:cNvPr id="8" name="Oval 7">
              <a:extLst>
                <a:ext uri="{FF2B5EF4-FFF2-40B4-BE49-F238E27FC236}">
                  <a16:creationId xmlns:a16="http://schemas.microsoft.com/office/drawing/2014/main" id="{51F2B2D7-0B48-49A6-A97D-AF359A0A444B}"/>
                </a:ext>
              </a:extLst>
            </p:cNvPr>
            <p:cNvSpPr/>
            <p:nvPr/>
          </p:nvSpPr>
          <p:spPr>
            <a:xfrm>
              <a:off x="7158943" y="4398380"/>
              <a:ext cx="682906" cy="68290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S6</a:t>
              </a:r>
            </a:p>
          </p:txBody>
        </p:sp>
        <p:sp>
          <p:nvSpPr>
            <p:cNvPr id="9" name="Oval 8">
              <a:extLst>
                <a:ext uri="{FF2B5EF4-FFF2-40B4-BE49-F238E27FC236}">
                  <a16:creationId xmlns:a16="http://schemas.microsoft.com/office/drawing/2014/main" id="{F0D43CA9-5C35-232C-6B47-5FF645B0CFBC}"/>
                </a:ext>
              </a:extLst>
            </p:cNvPr>
            <p:cNvSpPr/>
            <p:nvPr/>
          </p:nvSpPr>
          <p:spPr>
            <a:xfrm>
              <a:off x="4745621" y="3374021"/>
              <a:ext cx="682906" cy="682906"/>
            </a:xfrm>
            <a:prstGeom prst="ellipse">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S2</a:t>
              </a:r>
            </a:p>
          </p:txBody>
        </p:sp>
        <p:cxnSp>
          <p:nvCxnSpPr>
            <p:cNvPr id="11" name="Straight Arrow Connector 10">
              <a:extLst>
                <a:ext uri="{FF2B5EF4-FFF2-40B4-BE49-F238E27FC236}">
                  <a16:creationId xmlns:a16="http://schemas.microsoft.com/office/drawing/2014/main" id="{BA522714-08C6-2E17-200B-C70FBB47622E}"/>
                </a:ext>
              </a:extLst>
            </p:cNvPr>
            <p:cNvCxnSpPr>
              <a:stCxn id="4" idx="5"/>
              <a:endCxn id="9" idx="1"/>
            </p:cNvCxnSpPr>
            <p:nvPr/>
          </p:nvCxnSpPr>
          <p:spPr>
            <a:xfrm>
              <a:off x="3499718" y="2423272"/>
              <a:ext cx="1345912" cy="105075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528975F-60DA-DECB-A8FE-D017E185AE6D}"/>
                </a:ext>
              </a:extLst>
            </p:cNvPr>
            <p:cNvCxnSpPr>
              <a:cxnSpLocks/>
              <a:stCxn id="9" idx="7"/>
              <a:endCxn id="7" idx="3"/>
            </p:cNvCxnSpPr>
            <p:nvPr/>
          </p:nvCxnSpPr>
          <p:spPr>
            <a:xfrm flipV="1">
              <a:off x="5328518" y="2434846"/>
              <a:ext cx="1588981" cy="103918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5791E22-6BDB-74F1-B20D-332D48D98BE3}"/>
                </a:ext>
              </a:extLst>
            </p:cNvPr>
            <p:cNvCxnSpPr>
              <a:stCxn id="7" idx="4"/>
              <a:endCxn id="8" idx="0"/>
            </p:cNvCxnSpPr>
            <p:nvPr/>
          </p:nvCxnSpPr>
          <p:spPr>
            <a:xfrm>
              <a:off x="7158943" y="2534855"/>
              <a:ext cx="341453" cy="186352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64781CE-A39B-6481-7834-B690DA83F11B}"/>
                </a:ext>
              </a:extLst>
            </p:cNvPr>
            <p:cNvCxnSpPr>
              <a:stCxn id="9" idx="5"/>
              <a:endCxn id="8" idx="2"/>
            </p:cNvCxnSpPr>
            <p:nvPr/>
          </p:nvCxnSpPr>
          <p:spPr>
            <a:xfrm>
              <a:off x="5328518" y="3956918"/>
              <a:ext cx="1830425" cy="78291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C8091D8-6BB2-60D0-27DA-2F53DF0C90A8}"/>
                </a:ext>
              </a:extLst>
            </p:cNvPr>
            <p:cNvCxnSpPr>
              <a:stCxn id="9" idx="3"/>
            </p:cNvCxnSpPr>
            <p:nvPr/>
          </p:nvCxnSpPr>
          <p:spPr>
            <a:xfrm flipH="1">
              <a:off x="4346295" y="3956918"/>
              <a:ext cx="499335" cy="121039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01B870D-8A3C-A01B-1F4E-0C8AD7E04083}"/>
                </a:ext>
              </a:extLst>
            </p:cNvPr>
            <p:cNvCxnSpPr>
              <a:cxnSpLocks/>
              <a:stCxn id="5" idx="6"/>
              <a:endCxn id="9" idx="2"/>
            </p:cNvCxnSpPr>
            <p:nvPr/>
          </p:nvCxnSpPr>
          <p:spPr>
            <a:xfrm flipV="1">
              <a:off x="2857323" y="3715474"/>
              <a:ext cx="1888298" cy="32038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DE5AD47-4E16-7EE2-F6C1-B45D6AF908CF}"/>
                </a:ext>
              </a:extLst>
            </p:cNvPr>
            <p:cNvCxnSpPr>
              <a:cxnSpLocks/>
              <a:stCxn id="6" idx="6"/>
              <a:endCxn id="8" idx="3"/>
            </p:cNvCxnSpPr>
            <p:nvPr/>
          </p:nvCxnSpPr>
          <p:spPr>
            <a:xfrm flipV="1">
              <a:off x="4502553" y="4981277"/>
              <a:ext cx="2756399" cy="52248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B4EA8D9A-5B03-EFC3-D771-93D94CEBBBD4}"/>
                </a:ext>
              </a:extLst>
            </p:cNvPr>
            <p:cNvSpPr txBox="1"/>
            <p:nvPr/>
          </p:nvSpPr>
          <p:spPr>
            <a:xfrm>
              <a:off x="4061407" y="2542725"/>
              <a:ext cx="441146" cy="369332"/>
            </a:xfrm>
            <a:prstGeom prst="rect">
              <a:avLst/>
            </a:prstGeom>
            <a:noFill/>
          </p:spPr>
          <p:txBody>
            <a:bodyPr wrap="none" rtlCol="0">
              <a:spAutoFit/>
            </a:bodyPr>
            <a:lstStyle/>
            <a:p>
              <a:r>
                <a:rPr lang="en-US" dirty="0"/>
                <a:t>a1</a:t>
              </a:r>
            </a:p>
          </p:txBody>
        </p:sp>
        <p:sp>
          <p:nvSpPr>
            <p:cNvPr id="36" name="TextBox 35">
              <a:extLst>
                <a:ext uri="{FF2B5EF4-FFF2-40B4-BE49-F238E27FC236}">
                  <a16:creationId xmlns:a16="http://schemas.microsoft.com/office/drawing/2014/main" id="{C7F121AB-17C7-AFD6-5D8A-5585BC758C0C}"/>
                </a:ext>
              </a:extLst>
            </p:cNvPr>
            <p:cNvSpPr txBox="1"/>
            <p:nvPr/>
          </p:nvSpPr>
          <p:spPr>
            <a:xfrm>
              <a:off x="3389263" y="3557664"/>
              <a:ext cx="441146" cy="369332"/>
            </a:xfrm>
            <a:prstGeom prst="rect">
              <a:avLst/>
            </a:prstGeom>
            <a:noFill/>
          </p:spPr>
          <p:txBody>
            <a:bodyPr wrap="none" rtlCol="0">
              <a:spAutoFit/>
            </a:bodyPr>
            <a:lstStyle/>
            <a:p>
              <a:r>
                <a:rPr lang="en-US" dirty="0"/>
                <a:t>a2</a:t>
              </a:r>
            </a:p>
          </p:txBody>
        </p:sp>
        <p:sp>
          <p:nvSpPr>
            <p:cNvPr id="37" name="TextBox 36">
              <a:extLst>
                <a:ext uri="{FF2B5EF4-FFF2-40B4-BE49-F238E27FC236}">
                  <a16:creationId xmlns:a16="http://schemas.microsoft.com/office/drawing/2014/main" id="{81036A29-14C1-E4EB-43B3-4C1B52835A8C}"/>
                </a:ext>
              </a:extLst>
            </p:cNvPr>
            <p:cNvSpPr txBox="1"/>
            <p:nvPr/>
          </p:nvSpPr>
          <p:spPr>
            <a:xfrm>
              <a:off x="4061407" y="4414418"/>
              <a:ext cx="441146" cy="369332"/>
            </a:xfrm>
            <a:prstGeom prst="rect">
              <a:avLst/>
            </a:prstGeom>
            <a:noFill/>
          </p:spPr>
          <p:txBody>
            <a:bodyPr wrap="none" rtlCol="0">
              <a:spAutoFit/>
            </a:bodyPr>
            <a:lstStyle/>
            <a:p>
              <a:r>
                <a:rPr lang="en-US" dirty="0"/>
                <a:t>a3</a:t>
              </a:r>
            </a:p>
          </p:txBody>
        </p:sp>
        <p:sp>
          <p:nvSpPr>
            <p:cNvPr id="38" name="TextBox 37">
              <a:extLst>
                <a:ext uri="{FF2B5EF4-FFF2-40B4-BE49-F238E27FC236}">
                  <a16:creationId xmlns:a16="http://schemas.microsoft.com/office/drawing/2014/main" id="{8CE62D13-37F5-524D-A73C-A3D671D3EE2C}"/>
                </a:ext>
              </a:extLst>
            </p:cNvPr>
            <p:cNvSpPr txBox="1"/>
            <p:nvPr/>
          </p:nvSpPr>
          <p:spPr>
            <a:xfrm>
              <a:off x="5582012" y="2542725"/>
              <a:ext cx="441146" cy="369332"/>
            </a:xfrm>
            <a:prstGeom prst="rect">
              <a:avLst/>
            </a:prstGeom>
            <a:noFill/>
          </p:spPr>
          <p:txBody>
            <a:bodyPr wrap="none" rtlCol="0">
              <a:spAutoFit/>
            </a:bodyPr>
            <a:lstStyle/>
            <a:p>
              <a:r>
                <a:rPr lang="en-US" dirty="0"/>
                <a:t>a1</a:t>
              </a:r>
            </a:p>
          </p:txBody>
        </p:sp>
        <p:sp>
          <p:nvSpPr>
            <p:cNvPr id="39" name="TextBox 38">
              <a:extLst>
                <a:ext uri="{FF2B5EF4-FFF2-40B4-BE49-F238E27FC236}">
                  <a16:creationId xmlns:a16="http://schemas.microsoft.com/office/drawing/2014/main" id="{D6F730A3-E49C-5FAE-02BB-529AEE4E2FD7}"/>
                </a:ext>
              </a:extLst>
            </p:cNvPr>
            <p:cNvSpPr txBox="1"/>
            <p:nvPr/>
          </p:nvSpPr>
          <p:spPr>
            <a:xfrm>
              <a:off x="5140866" y="4853389"/>
              <a:ext cx="441146" cy="369332"/>
            </a:xfrm>
            <a:prstGeom prst="rect">
              <a:avLst/>
            </a:prstGeom>
            <a:noFill/>
          </p:spPr>
          <p:txBody>
            <a:bodyPr wrap="none" rtlCol="0">
              <a:spAutoFit/>
            </a:bodyPr>
            <a:lstStyle/>
            <a:p>
              <a:r>
                <a:rPr lang="en-US" dirty="0"/>
                <a:t>a1</a:t>
              </a:r>
            </a:p>
          </p:txBody>
        </p:sp>
        <p:sp>
          <p:nvSpPr>
            <p:cNvPr id="40" name="TextBox 39">
              <a:extLst>
                <a:ext uri="{FF2B5EF4-FFF2-40B4-BE49-F238E27FC236}">
                  <a16:creationId xmlns:a16="http://schemas.microsoft.com/office/drawing/2014/main" id="{7553A355-34B5-54FD-FFD9-A3D961348BB8}"/>
                </a:ext>
              </a:extLst>
            </p:cNvPr>
            <p:cNvSpPr txBox="1"/>
            <p:nvPr/>
          </p:nvSpPr>
          <p:spPr>
            <a:xfrm>
              <a:off x="5661727" y="4241327"/>
              <a:ext cx="441146" cy="369332"/>
            </a:xfrm>
            <a:prstGeom prst="rect">
              <a:avLst/>
            </a:prstGeom>
            <a:noFill/>
          </p:spPr>
          <p:txBody>
            <a:bodyPr wrap="none" rtlCol="0">
              <a:spAutoFit/>
            </a:bodyPr>
            <a:lstStyle/>
            <a:p>
              <a:r>
                <a:rPr lang="en-US" dirty="0"/>
                <a:t>a2</a:t>
              </a:r>
            </a:p>
          </p:txBody>
        </p:sp>
        <p:cxnSp>
          <p:nvCxnSpPr>
            <p:cNvPr id="44" name="Straight Arrow Connector 43">
              <a:extLst>
                <a:ext uri="{FF2B5EF4-FFF2-40B4-BE49-F238E27FC236}">
                  <a16:creationId xmlns:a16="http://schemas.microsoft.com/office/drawing/2014/main" id="{81497278-08C0-3BC9-82C6-A8212EB7BDC9}"/>
                </a:ext>
              </a:extLst>
            </p:cNvPr>
            <p:cNvCxnSpPr>
              <a:cxnSpLocks/>
              <a:stCxn id="4" idx="3"/>
              <a:endCxn id="5" idx="0"/>
            </p:cNvCxnSpPr>
            <p:nvPr/>
          </p:nvCxnSpPr>
          <p:spPr>
            <a:xfrm flipH="1">
              <a:off x="2515870" y="2423272"/>
              <a:ext cx="500960" cy="127113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372A028B-0925-D1FD-977E-594F45C46DD0}"/>
                </a:ext>
              </a:extLst>
            </p:cNvPr>
            <p:cNvSpPr txBox="1"/>
            <p:nvPr/>
          </p:nvSpPr>
          <p:spPr>
            <a:xfrm>
              <a:off x="2751111" y="2886533"/>
              <a:ext cx="441146" cy="369332"/>
            </a:xfrm>
            <a:prstGeom prst="rect">
              <a:avLst/>
            </a:prstGeom>
            <a:noFill/>
          </p:spPr>
          <p:txBody>
            <a:bodyPr wrap="none" rtlCol="0">
              <a:spAutoFit/>
            </a:bodyPr>
            <a:lstStyle/>
            <a:p>
              <a:r>
                <a:rPr lang="en-US" dirty="0"/>
                <a:t>a3</a:t>
              </a:r>
            </a:p>
          </p:txBody>
        </p:sp>
        <p:sp>
          <p:nvSpPr>
            <p:cNvPr id="48" name="TextBox 47">
              <a:extLst>
                <a:ext uri="{FF2B5EF4-FFF2-40B4-BE49-F238E27FC236}">
                  <a16:creationId xmlns:a16="http://schemas.microsoft.com/office/drawing/2014/main" id="{1D498A88-D13F-3BAD-7DB7-2893CFF48264}"/>
                </a:ext>
              </a:extLst>
            </p:cNvPr>
            <p:cNvSpPr txBox="1"/>
            <p:nvPr/>
          </p:nvSpPr>
          <p:spPr>
            <a:xfrm>
              <a:off x="7329669" y="3104698"/>
              <a:ext cx="441146" cy="369332"/>
            </a:xfrm>
            <a:prstGeom prst="rect">
              <a:avLst/>
            </a:prstGeom>
            <a:noFill/>
          </p:spPr>
          <p:txBody>
            <a:bodyPr wrap="none" rtlCol="0">
              <a:spAutoFit/>
            </a:bodyPr>
            <a:lstStyle/>
            <a:p>
              <a:r>
                <a:rPr lang="en-US" dirty="0"/>
                <a:t>a3</a:t>
              </a:r>
            </a:p>
          </p:txBody>
        </p:sp>
      </p:grpSp>
      <p:sp>
        <p:nvSpPr>
          <p:cNvPr id="50" name="Content Placeholder 2">
            <a:extLst>
              <a:ext uri="{FF2B5EF4-FFF2-40B4-BE49-F238E27FC236}">
                <a16:creationId xmlns:a16="http://schemas.microsoft.com/office/drawing/2014/main" id="{53FC31A8-2C30-D87D-FE4F-65DA3384EFC6}"/>
              </a:ext>
            </a:extLst>
          </p:cNvPr>
          <p:cNvSpPr>
            <a:spLocks noGrp="1"/>
          </p:cNvSpPr>
          <p:nvPr>
            <p:ph idx="1"/>
          </p:nvPr>
        </p:nvSpPr>
        <p:spPr>
          <a:xfrm>
            <a:off x="7016438" y="1886674"/>
            <a:ext cx="4612694" cy="4351338"/>
          </a:xfrm>
        </p:spPr>
        <p:txBody>
          <a:bodyPr>
            <a:normAutofit fontScale="92500" lnSpcReduction="20000"/>
          </a:bodyPr>
          <a:lstStyle/>
          <a:p>
            <a:pPr marL="0" indent="0">
              <a:buNone/>
            </a:pPr>
            <a:r>
              <a:rPr lang="en-US" dirty="0"/>
              <a:t>The underlying state space is a Graph –</a:t>
            </a:r>
            <a:br>
              <a:rPr lang="en-US" dirty="0"/>
            </a:br>
            <a:endParaRPr lang="en-US" dirty="0"/>
          </a:p>
          <a:p>
            <a:pPr marL="0" indent="0">
              <a:buNone/>
            </a:pPr>
            <a:r>
              <a:rPr lang="en-US" sz="3900" i="1" dirty="0"/>
              <a:t>G = (S, A)</a:t>
            </a:r>
          </a:p>
          <a:p>
            <a:pPr marL="0" indent="0">
              <a:buNone/>
            </a:pPr>
            <a:r>
              <a:rPr lang="en-US" dirty="0"/>
              <a:t>Where, </a:t>
            </a:r>
          </a:p>
          <a:p>
            <a:pPr lvl="1"/>
            <a:r>
              <a:rPr lang="en-US" dirty="0"/>
              <a:t>S = Set of States</a:t>
            </a:r>
          </a:p>
          <a:p>
            <a:pPr lvl="1"/>
            <a:r>
              <a:rPr lang="en-US" dirty="0"/>
              <a:t>A = Set of Actions</a:t>
            </a:r>
          </a:p>
          <a:p>
            <a:pPr lvl="1"/>
            <a:endParaRPr lang="en-US" dirty="0"/>
          </a:p>
          <a:p>
            <a:pPr marL="0" indent="0">
              <a:buNone/>
            </a:pPr>
            <a:r>
              <a:rPr lang="en-US" dirty="0"/>
              <a:t>We also have a partial function </a:t>
            </a:r>
            <a:r>
              <a:rPr lang="en-GB" sz="2800" i="1" dirty="0"/>
              <a:t>ρ: S × A → S</a:t>
            </a:r>
            <a:r>
              <a:rPr lang="en-GB" sz="2800" dirty="0"/>
              <a:t>, that tells you for each state, which actions will take you to which states.</a:t>
            </a:r>
          </a:p>
          <a:p>
            <a:endParaRPr lang="en-US" dirty="0"/>
          </a:p>
          <a:p>
            <a:pPr lvl="1"/>
            <a:endParaRPr lang="en-US" dirty="0"/>
          </a:p>
        </p:txBody>
      </p:sp>
    </p:spTree>
    <p:extLst>
      <p:ext uri="{BB962C8B-B14F-4D97-AF65-F5344CB8AC3E}">
        <p14:creationId xmlns:p14="http://schemas.microsoft.com/office/powerpoint/2010/main" val="333598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DEE4-61BD-F5C6-6722-3FD7241C4DC0}"/>
              </a:ext>
            </a:extLst>
          </p:cNvPr>
          <p:cNvSpPr>
            <a:spLocks noGrp="1"/>
          </p:cNvSpPr>
          <p:nvPr>
            <p:ph type="title"/>
          </p:nvPr>
        </p:nvSpPr>
        <p:spPr/>
        <p:txBody>
          <a:bodyPr/>
          <a:lstStyle/>
          <a:p>
            <a:r>
              <a:rPr lang="en-GB" dirty="0"/>
              <a:t>Formulating state space search</a:t>
            </a:r>
            <a:endParaRPr lang="en-US" dirty="0"/>
          </a:p>
        </p:txBody>
      </p:sp>
      <p:sp>
        <p:nvSpPr>
          <p:cNvPr id="3" name="Content Placeholder 2">
            <a:extLst>
              <a:ext uri="{FF2B5EF4-FFF2-40B4-BE49-F238E27FC236}">
                <a16:creationId xmlns:a16="http://schemas.microsoft.com/office/drawing/2014/main" id="{CB375DAB-572E-B06E-1373-E520FD043EBB}"/>
              </a:ext>
            </a:extLst>
          </p:cNvPr>
          <p:cNvSpPr>
            <a:spLocks noGrp="1"/>
          </p:cNvSpPr>
          <p:nvPr>
            <p:ph idx="1"/>
          </p:nvPr>
        </p:nvSpPr>
        <p:spPr/>
        <p:txBody>
          <a:bodyPr>
            <a:normAutofit lnSpcReduction="10000"/>
          </a:bodyPr>
          <a:lstStyle/>
          <a:p>
            <a:r>
              <a:rPr lang="en-GB" dirty="0"/>
              <a:t>State space search can be applied for those systems which have a set of distinct states, and the system can go from one state to another by applying an action/operator from a set of legal actions/operators. The search is started from a given initial state and run until a desired goal state is reached.</a:t>
            </a:r>
          </a:p>
          <a:p>
            <a:r>
              <a:rPr lang="en-GB" dirty="0"/>
              <a:t>Simply, a state space search is represented by:</a:t>
            </a:r>
          </a:p>
          <a:p>
            <a:pPr lvl="1"/>
            <a:r>
              <a:rPr lang="en-GB" dirty="0"/>
              <a:t>A set of states: the state space.</a:t>
            </a:r>
          </a:p>
          <a:p>
            <a:pPr lvl="1"/>
            <a:r>
              <a:rPr lang="en-GB" dirty="0"/>
              <a:t>An initial state.</a:t>
            </a:r>
          </a:p>
          <a:p>
            <a:pPr lvl="1"/>
            <a:r>
              <a:rPr lang="en-GB" dirty="0"/>
              <a:t>A set of operators/actions</a:t>
            </a:r>
          </a:p>
          <a:p>
            <a:pPr lvl="1"/>
            <a:r>
              <a:rPr lang="en-GB" dirty="0"/>
              <a:t>A set of goal states, or a single goal state</a:t>
            </a:r>
          </a:p>
          <a:p>
            <a:pPr lvl="1"/>
            <a:r>
              <a:rPr lang="en-GB" dirty="0"/>
              <a:t>An optional path cost function</a:t>
            </a:r>
          </a:p>
          <a:p>
            <a:endParaRPr lang="en-US" dirty="0"/>
          </a:p>
        </p:txBody>
      </p:sp>
    </p:spTree>
    <p:extLst>
      <p:ext uri="{BB962C8B-B14F-4D97-AF65-F5344CB8AC3E}">
        <p14:creationId xmlns:p14="http://schemas.microsoft.com/office/powerpoint/2010/main" val="3595622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F6A2-1C9D-DF3B-2D7D-265F1D5C9F86}"/>
              </a:ext>
            </a:extLst>
          </p:cNvPr>
          <p:cNvSpPr>
            <a:spLocks noGrp="1"/>
          </p:cNvSpPr>
          <p:nvPr>
            <p:ph type="title"/>
          </p:nvPr>
        </p:nvSpPr>
        <p:spPr/>
        <p:txBody>
          <a:bodyPr/>
          <a:lstStyle/>
          <a:p>
            <a:r>
              <a:rPr lang="en-US" dirty="0"/>
              <a:t>Types of State Space Search Problems</a:t>
            </a:r>
          </a:p>
        </p:txBody>
      </p:sp>
      <p:sp>
        <p:nvSpPr>
          <p:cNvPr id="3" name="Content Placeholder 2">
            <a:extLst>
              <a:ext uri="{FF2B5EF4-FFF2-40B4-BE49-F238E27FC236}">
                <a16:creationId xmlns:a16="http://schemas.microsoft.com/office/drawing/2014/main" id="{DF568E1D-5362-3C5C-6CCF-017C91E4F22A}"/>
              </a:ext>
            </a:extLst>
          </p:cNvPr>
          <p:cNvSpPr>
            <a:spLocks noGrp="1"/>
          </p:cNvSpPr>
          <p:nvPr>
            <p:ph idx="1"/>
          </p:nvPr>
        </p:nvSpPr>
        <p:spPr/>
        <p:txBody>
          <a:bodyPr>
            <a:normAutofit lnSpcReduction="10000"/>
          </a:bodyPr>
          <a:lstStyle/>
          <a:p>
            <a:pPr marL="0" indent="0">
              <a:buNone/>
            </a:pPr>
            <a:r>
              <a:rPr lang="en-US" dirty="0"/>
              <a:t>We can classify by whether we are given any initial state to search our start</a:t>
            </a:r>
          </a:p>
          <a:p>
            <a:r>
              <a:rPr lang="en-US" dirty="0"/>
              <a:t>With initial state</a:t>
            </a:r>
          </a:p>
          <a:p>
            <a:pPr lvl="1"/>
            <a:r>
              <a:rPr lang="en-US" dirty="0"/>
              <a:t>Path finding problem (Also known as route finding problem)</a:t>
            </a:r>
          </a:p>
          <a:p>
            <a:pPr lvl="2"/>
            <a:r>
              <a:rPr lang="en-US" dirty="0"/>
              <a:t>The problem P = (S, A, Si, Sg, </a:t>
            </a:r>
            <a:r>
              <a:rPr lang="en-GB" i="1" dirty="0"/>
              <a:t>ρ)</a:t>
            </a:r>
          </a:p>
          <a:p>
            <a:pPr lvl="1"/>
            <a:r>
              <a:rPr lang="en-GB" dirty="0"/>
              <a:t>Path with least cost problem</a:t>
            </a:r>
          </a:p>
          <a:p>
            <a:pPr lvl="2"/>
            <a:r>
              <a:rPr lang="en-US" dirty="0"/>
              <a:t>The problem P = (S, A, Si, Sg, </a:t>
            </a:r>
            <a:r>
              <a:rPr lang="en-GB" i="1" dirty="0"/>
              <a:t>ρ, </a:t>
            </a:r>
            <a:r>
              <a:rPr lang="en-GB" sz="2000" i="1" dirty="0"/>
              <a:t>P: S × (A × S)*</a:t>
            </a:r>
            <a:r>
              <a:rPr lang="en-GB" sz="2000" dirty="0"/>
              <a:t> </a:t>
            </a:r>
            <a:r>
              <a:rPr lang="en-GB" i="1" dirty="0"/>
              <a:t>)</a:t>
            </a:r>
          </a:p>
          <a:p>
            <a:pPr lvl="2"/>
            <a:endParaRPr lang="en-US" dirty="0"/>
          </a:p>
          <a:p>
            <a:r>
              <a:rPr lang="en-US" dirty="0"/>
              <a:t>Without any initial state</a:t>
            </a:r>
          </a:p>
          <a:p>
            <a:pPr lvl="1"/>
            <a:r>
              <a:rPr lang="en-US" dirty="0"/>
              <a:t>Goal finding problem</a:t>
            </a:r>
          </a:p>
          <a:p>
            <a:pPr lvl="2"/>
            <a:r>
              <a:rPr lang="en-US" dirty="0"/>
              <a:t>Constraint Satisfaction Problem</a:t>
            </a:r>
          </a:p>
        </p:txBody>
      </p:sp>
    </p:spTree>
    <p:extLst>
      <p:ext uri="{BB962C8B-B14F-4D97-AF65-F5344CB8AC3E}">
        <p14:creationId xmlns:p14="http://schemas.microsoft.com/office/powerpoint/2010/main" val="1673461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0A856-4CF8-62E5-4407-7A214CA706BE}"/>
              </a:ext>
            </a:extLst>
          </p:cNvPr>
          <p:cNvSpPr>
            <a:spLocks noGrp="1"/>
          </p:cNvSpPr>
          <p:nvPr>
            <p:ph type="title"/>
          </p:nvPr>
        </p:nvSpPr>
        <p:spPr/>
        <p:txBody>
          <a:bodyPr/>
          <a:lstStyle/>
          <a:p>
            <a:r>
              <a:rPr lang="en-US" dirty="0"/>
              <a:t>Formal representation of State Space Search Problem</a:t>
            </a:r>
          </a:p>
        </p:txBody>
      </p:sp>
      <p:sp>
        <p:nvSpPr>
          <p:cNvPr id="3" name="Content Placeholder 2">
            <a:extLst>
              <a:ext uri="{FF2B5EF4-FFF2-40B4-BE49-F238E27FC236}">
                <a16:creationId xmlns:a16="http://schemas.microsoft.com/office/drawing/2014/main" id="{93702BAF-3A83-3C7F-A42E-EB911A3F2AB9}"/>
              </a:ext>
            </a:extLst>
          </p:cNvPr>
          <p:cNvSpPr>
            <a:spLocks noGrp="1"/>
          </p:cNvSpPr>
          <p:nvPr>
            <p:ph idx="1"/>
          </p:nvPr>
        </p:nvSpPr>
        <p:spPr>
          <a:xfrm>
            <a:off x="838200" y="1825624"/>
            <a:ext cx="10515600" cy="4575175"/>
          </a:xfrm>
        </p:spPr>
        <p:txBody>
          <a:bodyPr>
            <a:normAutofit fontScale="92500" lnSpcReduction="10000"/>
          </a:bodyPr>
          <a:lstStyle/>
          <a:p>
            <a:r>
              <a:rPr lang="en-GB" sz="2400" dirty="0"/>
              <a:t>In summary, A problem is a tuple (</a:t>
            </a:r>
            <a:r>
              <a:rPr lang="en-GB" sz="2400" i="1" dirty="0"/>
              <a:t>S, s, A, ρ, G, P</a:t>
            </a:r>
            <a:r>
              <a:rPr lang="en-GB" sz="2400" dirty="0"/>
              <a:t>), where - </a:t>
            </a:r>
          </a:p>
          <a:p>
            <a:pPr lvl="1"/>
            <a:r>
              <a:rPr lang="en-GB" sz="2000" i="1" dirty="0"/>
              <a:t>S</a:t>
            </a:r>
            <a:r>
              <a:rPr lang="en-GB" sz="2000" dirty="0"/>
              <a:t> is a set of states</a:t>
            </a:r>
          </a:p>
          <a:p>
            <a:pPr lvl="1"/>
            <a:r>
              <a:rPr lang="en-GB" sz="2000" i="1" dirty="0"/>
              <a:t>s ∈ S </a:t>
            </a:r>
            <a:r>
              <a:rPr lang="en-GB" sz="2000" dirty="0"/>
              <a:t>is the initial state</a:t>
            </a:r>
          </a:p>
          <a:p>
            <a:pPr lvl="1"/>
            <a:r>
              <a:rPr lang="en-GB" sz="2000" i="1" dirty="0"/>
              <a:t>A</a:t>
            </a:r>
            <a:r>
              <a:rPr lang="en-GB" sz="2000" dirty="0"/>
              <a:t> is a set of actions (sometimes called operators)</a:t>
            </a:r>
          </a:p>
          <a:p>
            <a:pPr lvl="1"/>
            <a:r>
              <a:rPr lang="en-GB" sz="2000" i="1" dirty="0"/>
              <a:t>ρ: S × A → S</a:t>
            </a:r>
            <a:r>
              <a:rPr lang="en-GB" sz="2000" dirty="0"/>
              <a:t>, is a partial function, that tells you for each state, which actions will take you to which states.</a:t>
            </a:r>
          </a:p>
          <a:p>
            <a:pPr lvl="1"/>
            <a:r>
              <a:rPr lang="en-GB" sz="2000" i="1" dirty="0"/>
              <a:t>G: S </a:t>
            </a:r>
            <a:r>
              <a:rPr lang="en-GB" sz="2000" dirty="0"/>
              <a:t>→ bool, is the goal test function, which tells you whether a state is a goal state or not.</a:t>
            </a:r>
          </a:p>
          <a:p>
            <a:pPr lvl="1"/>
            <a:r>
              <a:rPr lang="en-GB" sz="2000" i="1" dirty="0"/>
              <a:t>P: S × (A × S)*</a:t>
            </a:r>
            <a:r>
              <a:rPr lang="en-GB" sz="2000" dirty="0"/>
              <a:t> </a:t>
            </a:r>
            <a:r>
              <a:rPr lang="en-GB" sz="2000" i="1" dirty="0"/>
              <a:t>→ real</a:t>
            </a:r>
            <a:r>
              <a:rPr lang="en-GB" sz="2000" dirty="0"/>
              <a:t>, is the path cost function. A path is a sequence {s</a:t>
            </a:r>
            <a:r>
              <a:rPr lang="en-GB" sz="2000" baseline="-25000" dirty="0"/>
              <a:t>0</a:t>
            </a:r>
            <a:r>
              <a:rPr lang="en-GB" sz="2000" dirty="0"/>
              <a:t> a</a:t>
            </a:r>
            <a:r>
              <a:rPr lang="en-GB" sz="2000" baseline="-25000" dirty="0"/>
              <a:t>1</a:t>
            </a:r>
            <a:r>
              <a:rPr lang="en-GB" sz="2000" dirty="0"/>
              <a:t> s</a:t>
            </a:r>
            <a:r>
              <a:rPr lang="en-GB" sz="2000" baseline="-25000" dirty="0"/>
              <a:t>1</a:t>
            </a:r>
            <a:r>
              <a:rPr lang="en-GB" sz="2000" dirty="0"/>
              <a:t> a</a:t>
            </a:r>
            <a:r>
              <a:rPr lang="en-GB" sz="2000" baseline="-25000" dirty="0"/>
              <a:t>2</a:t>
            </a:r>
            <a:r>
              <a:rPr lang="en-GB" sz="2000" dirty="0"/>
              <a:t> ...</a:t>
            </a:r>
            <a:r>
              <a:rPr lang="en-GB" sz="2000" dirty="0" err="1"/>
              <a:t>a</a:t>
            </a:r>
            <a:r>
              <a:rPr lang="en-GB" sz="2000" baseline="-25000" dirty="0" err="1"/>
              <a:t>k</a:t>
            </a:r>
            <a:r>
              <a:rPr lang="en-GB" sz="2000" dirty="0"/>
              <a:t> s</a:t>
            </a:r>
            <a:r>
              <a:rPr lang="en-GB" sz="2000" baseline="-25000" dirty="0"/>
              <a:t>k+1</a:t>
            </a:r>
            <a:r>
              <a:rPr lang="en-GB" sz="2000" dirty="0"/>
              <a:t> } such that </a:t>
            </a:r>
            <a:r>
              <a:rPr lang="en-GB" sz="2000" i="1" dirty="0"/>
              <a:t>∀</a:t>
            </a:r>
            <a:r>
              <a:rPr lang="en-GB" sz="2000" i="1" dirty="0" err="1"/>
              <a:t>i</a:t>
            </a:r>
            <a:r>
              <a:rPr lang="en-GB" sz="2000" i="1" dirty="0"/>
              <a:t> ∈ {1..k}, ρ(s</a:t>
            </a:r>
            <a:r>
              <a:rPr lang="en-GB" sz="2000" i="1" baseline="-25000" dirty="0"/>
              <a:t>i-1</a:t>
            </a:r>
            <a:r>
              <a:rPr lang="en-GB" sz="2000" i="1" dirty="0"/>
              <a:t>, a</a:t>
            </a:r>
            <a:r>
              <a:rPr lang="en-GB" sz="2000" i="1" baseline="-25000" dirty="0"/>
              <a:t>i</a:t>
            </a:r>
            <a:r>
              <a:rPr lang="en-GB" sz="2000" i="1" dirty="0"/>
              <a:t>) = </a:t>
            </a:r>
            <a:r>
              <a:rPr lang="en-GB" sz="2000" i="1" dirty="0" err="1"/>
              <a:t>s</a:t>
            </a:r>
            <a:r>
              <a:rPr lang="en-GB" sz="2000" i="1" baseline="-25000" dirty="0" err="1"/>
              <a:t>i</a:t>
            </a:r>
            <a:r>
              <a:rPr lang="en-GB" sz="2000" dirty="0"/>
              <a:t>. </a:t>
            </a:r>
          </a:p>
          <a:p>
            <a:pPr lvl="1"/>
            <a:endParaRPr lang="en-GB" sz="2000" dirty="0"/>
          </a:p>
          <a:p>
            <a:pPr lvl="1"/>
            <a:endParaRPr lang="en-GB" sz="2000" dirty="0"/>
          </a:p>
          <a:p>
            <a:pPr marL="457200" lvl="1" indent="0">
              <a:buNone/>
            </a:pPr>
            <a:endParaRPr lang="en-GB" sz="2000" dirty="0"/>
          </a:p>
          <a:p>
            <a:pPr marL="457200" lvl="1" indent="0">
              <a:buNone/>
            </a:pPr>
            <a:endParaRPr lang="en-GB" sz="2000" dirty="0"/>
          </a:p>
          <a:p>
            <a:pPr marL="457200" lvl="1" indent="0">
              <a:buNone/>
            </a:pPr>
            <a:r>
              <a:rPr lang="en-GB" sz="2000" dirty="0"/>
              <a:t>Usually, but not always, this is the sum of the "step costs" assigned by a simpler step cost function (of type </a:t>
            </a:r>
            <a:r>
              <a:rPr lang="en-GB" sz="2000" i="1" dirty="0"/>
              <a:t>S × A × S → real</a:t>
            </a:r>
            <a:r>
              <a:rPr lang="en-GB" sz="2000" dirty="0"/>
              <a:t>).</a:t>
            </a:r>
          </a:p>
          <a:p>
            <a:pPr marL="457200" lvl="1" indent="0">
              <a:buNone/>
            </a:pPr>
            <a:endParaRPr lang="en-GB" dirty="0"/>
          </a:p>
          <a:p>
            <a:pPr marL="0" indent="0">
              <a:buNone/>
            </a:pPr>
            <a:endParaRPr lang="en-US" dirty="0"/>
          </a:p>
        </p:txBody>
      </p:sp>
      <p:grpSp>
        <p:nvGrpSpPr>
          <p:cNvPr id="32" name="Group 31">
            <a:extLst>
              <a:ext uri="{FF2B5EF4-FFF2-40B4-BE49-F238E27FC236}">
                <a16:creationId xmlns:a16="http://schemas.microsoft.com/office/drawing/2014/main" id="{D8DDE8CA-1114-D74C-B972-F9A767344344}"/>
              </a:ext>
            </a:extLst>
          </p:cNvPr>
          <p:cNvGrpSpPr/>
          <p:nvPr/>
        </p:nvGrpSpPr>
        <p:grpSpPr>
          <a:xfrm>
            <a:off x="3553427" y="4896694"/>
            <a:ext cx="5257800" cy="653494"/>
            <a:chOff x="2743200" y="5787946"/>
            <a:chExt cx="5257800" cy="653494"/>
          </a:xfrm>
        </p:grpSpPr>
        <p:sp>
          <p:nvSpPr>
            <p:cNvPr id="4" name="Oval 3">
              <a:extLst>
                <a:ext uri="{FF2B5EF4-FFF2-40B4-BE49-F238E27FC236}">
                  <a16:creationId xmlns:a16="http://schemas.microsoft.com/office/drawing/2014/main" id="{2984C509-E8CE-EF4A-C9F8-1EA9E0345630}"/>
                </a:ext>
              </a:extLst>
            </p:cNvPr>
            <p:cNvSpPr/>
            <p:nvPr/>
          </p:nvSpPr>
          <p:spPr>
            <a:xfrm>
              <a:off x="2743200" y="589280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a:t>
              </a:r>
              <a:r>
                <a:rPr lang="en-US" sz="1400" baseline="-25000" dirty="0"/>
                <a:t>0</a:t>
              </a:r>
            </a:p>
          </p:txBody>
        </p:sp>
        <p:sp>
          <p:nvSpPr>
            <p:cNvPr id="5" name="Oval 4">
              <a:extLst>
                <a:ext uri="{FF2B5EF4-FFF2-40B4-BE49-F238E27FC236}">
                  <a16:creationId xmlns:a16="http://schemas.microsoft.com/office/drawing/2014/main" id="{7C4995AB-147C-E076-AFA1-4856A6F8D2AD}"/>
                </a:ext>
              </a:extLst>
            </p:cNvPr>
            <p:cNvSpPr/>
            <p:nvPr/>
          </p:nvSpPr>
          <p:spPr>
            <a:xfrm>
              <a:off x="4099560" y="589280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a:t>
              </a:r>
              <a:r>
                <a:rPr lang="en-US" sz="1400" baseline="-25000" dirty="0"/>
                <a:t>1</a:t>
              </a:r>
            </a:p>
          </p:txBody>
        </p:sp>
        <p:sp>
          <p:nvSpPr>
            <p:cNvPr id="6" name="Oval 5">
              <a:extLst>
                <a:ext uri="{FF2B5EF4-FFF2-40B4-BE49-F238E27FC236}">
                  <a16:creationId xmlns:a16="http://schemas.microsoft.com/office/drawing/2014/main" id="{1EC80D8B-E9A7-06FE-BD63-887FCD5816F5}"/>
                </a:ext>
              </a:extLst>
            </p:cNvPr>
            <p:cNvSpPr/>
            <p:nvPr/>
          </p:nvSpPr>
          <p:spPr>
            <a:xfrm>
              <a:off x="5364480" y="589280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a:t>
              </a:r>
              <a:r>
                <a:rPr lang="en-US" sz="1400" baseline="-25000" dirty="0"/>
                <a:t>2</a:t>
              </a:r>
            </a:p>
          </p:txBody>
        </p:sp>
        <p:sp>
          <p:nvSpPr>
            <p:cNvPr id="7" name="Oval 6">
              <a:extLst>
                <a:ext uri="{FF2B5EF4-FFF2-40B4-BE49-F238E27FC236}">
                  <a16:creationId xmlns:a16="http://schemas.microsoft.com/office/drawing/2014/main" id="{4A321CFF-CD84-A058-875B-3ABA58A8C4D3}"/>
                </a:ext>
              </a:extLst>
            </p:cNvPr>
            <p:cNvSpPr/>
            <p:nvPr/>
          </p:nvSpPr>
          <p:spPr>
            <a:xfrm>
              <a:off x="7452360" y="5892800"/>
              <a:ext cx="548640" cy="548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S</a:t>
              </a:r>
              <a:r>
                <a:rPr lang="en-US" sz="1400" baseline="-25000" dirty="0" err="1"/>
                <a:t>k</a:t>
              </a:r>
              <a:endParaRPr lang="en-US" sz="1400" baseline="-25000" dirty="0"/>
            </a:p>
          </p:txBody>
        </p:sp>
        <p:cxnSp>
          <p:nvCxnSpPr>
            <p:cNvPr id="9" name="Straight Arrow Connector 8">
              <a:extLst>
                <a:ext uri="{FF2B5EF4-FFF2-40B4-BE49-F238E27FC236}">
                  <a16:creationId xmlns:a16="http://schemas.microsoft.com/office/drawing/2014/main" id="{071CDB9B-5715-5E3A-4F8D-1E05CCD5F108}"/>
                </a:ext>
              </a:extLst>
            </p:cNvPr>
            <p:cNvCxnSpPr>
              <a:cxnSpLocks/>
              <a:stCxn id="4" idx="6"/>
              <a:endCxn id="5" idx="2"/>
            </p:cNvCxnSpPr>
            <p:nvPr/>
          </p:nvCxnSpPr>
          <p:spPr>
            <a:xfrm>
              <a:off x="3291840" y="6167120"/>
              <a:ext cx="8077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22D970A-7C12-70CC-61CE-F1E4D2EEA1F7}"/>
                </a:ext>
              </a:extLst>
            </p:cNvPr>
            <p:cNvCxnSpPr>
              <a:cxnSpLocks/>
              <a:stCxn id="5" idx="6"/>
              <a:endCxn id="6" idx="2"/>
            </p:cNvCxnSpPr>
            <p:nvPr/>
          </p:nvCxnSpPr>
          <p:spPr>
            <a:xfrm>
              <a:off x="4648200" y="6167120"/>
              <a:ext cx="7162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255360AA-2AED-72A0-73C8-B61B6A97F39D}"/>
                </a:ext>
              </a:extLst>
            </p:cNvPr>
            <p:cNvCxnSpPr>
              <a:cxnSpLocks/>
              <a:endCxn id="7" idx="2"/>
            </p:cNvCxnSpPr>
            <p:nvPr/>
          </p:nvCxnSpPr>
          <p:spPr>
            <a:xfrm>
              <a:off x="6979920" y="6165076"/>
              <a:ext cx="472440" cy="2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0E7AD72-C3A7-5C79-FC95-CFB01072FDBB}"/>
                </a:ext>
              </a:extLst>
            </p:cNvPr>
            <p:cNvSpPr txBox="1"/>
            <p:nvPr/>
          </p:nvSpPr>
          <p:spPr>
            <a:xfrm>
              <a:off x="3460394" y="5795744"/>
              <a:ext cx="397866" cy="369332"/>
            </a:xfrm>
            <a:prstGeom prst="rect">
              <a:avLst/>
            </a:prstGeom>
            <a:noFill/>
          </p:spPr>
          <p:txBody>
            <a:bodyPr wrap="none" rtlCol="0">
              <a:spAutoFit/>
            </a:bodyPr>
            <a:lstStyle/>
            <a:p>
              <a:r>
                <a:rPr lang="en-US" sz="1800" dirty="0"/>
                <a:t>a</a:t>
              </a:r>
              <a:r>
                <a:rPr lang="en-US" sz="1800" baseline="-25000" dirty="0"/>
                <a:t>1</a:t>
              </a:r>
              <a:endParaRPr lang="en-US" dirty="0"/>
            </a:p>
          </p:txBody>
        </p:sp>
        <p:sp>
          <p:nvSpPr>
            <p:cNvPr id="25" name="TextBox 24">
              <a:extLst>
                <a:ext uri="{FF2B5EF4-FFF2-40B4-BE49-F238E27FC236}">
                  <a16:creationId xmlns:a16="http://schemas.microsoft.com/office/drawing/2014/main" id="{2E6DD94C-9922-6F05-7987-66E0DB0165AC}"/>
                </a:ext>
              </a:extLst>
            </p:cNvPr>
            <p:cNvSpPr txBox="1"/>
            <p:nvPr/>
          </p:nvSpPr>
          <p:spPr>
            <a:xfrm>
              <a:off x="4787544" y="5787946"/>
              <a:ext cx="397866" cy="369332"/>
            </a:xfrm>
            <a:prstGeom prst="rect">
              <a:avLst/>
            </a:prstGeom>
            <a:noFill/>
          </p:spPr>
          <p:txBody>
            <a:bodyPr wrap="none" rtlCol="0">
              <a:spAutoFit/>
            </a:bodyPr>
            <a:lstStyle/>
            <a:p>
              <a:r>
                <a:rPr lang="en-US" sz="1800" dirty="0"/>
                <a:t>a</a:t>
              </a:r>
              <a:r>
                <a:rPr lang="en-US" sz="1800" baseline="-25000" dirty="0"/>
                <a:t>2</a:t>
              </a:r>
              <a:endParaRPr lang="en-US" dirty="0"/>
            </a:p>
          </p:txBody>
        </p:sp>
        <p:sp>
          <p:nvSpPr>
            <p:cNvPr id="27" name="TextBox 26">
              <a:extLst>
                <a:ext uri="{FF2B5EF4-FFF2-40B4-BE49-F238E27FC236}">
                  <a16:creationId xmlns:a16="http://schemas.microsoft.com/office/drawing/2014/main" id="{AFD9AF7D-2717-2B14-BE50-3A7F46E44995}"/>
                </a:ext>
              </a:extLst>
            </p:cNvPr>
            <p:cNvSpPr txBox="1"/>
            <p:nvPr/>
          </p:nvSpPr>
          <p:spPr>
            <a:xfrm>
              <a:off x="6959676" y="5807631"/>
              <a:ext cx="404278" cy="369332"/>
            </a:xfrm>
            <a:prstGeom prst="rect">
              <a:avLst/>
            </a:prstGeom>
            <a:noFill/>
          </p:spPr>
          <p:txBody>
            <a:bodyPr wrap="none" rtlCol="0">
              <a:spAutoFit/>
            </a:bodyPr>
            <a:lstStyle/>
            <a:p>
              <a:r>
                <a:rPr lang="en-US" sz="1800" dirty="0" err="1"/>
                <a:t>a</a:t>
              </a:r>
              <a:r>
                <a:rPr lang="en-US" sz="1800" baseline="-25000" dirty="0" err="1"/>
                <a:t>k</a:t>
              </a:r>
              <a:endParaRPr lang="en-US" dirty="0"/>
            </a:p>
          </p:txBody>
        </p:sp>
        <p:cxnSp>
          <p:nvCxnSpPr>
            <p:cNvPr id="29" name="Straight Connector 28">
              <a:extLst>
                <a:ext uri="{FF2B5EF4-FFF2-40B4-BE49-F238E27FC236}">
                  <a16:creationId xmlns:a16="http://schemas.microsoft.com/office/drawing/2014/main" id="{082B96C0-0480-C134-1343-2763662A6EA0}"/>
                </a:ext>
              </a:extLst>
            </p:cNvPr>
            <p:cNvCxnSpPr>
              <a:cxnSpLocks/>
              <a:stCxn id="6" idx="6"/>
            </p:cNvCxnSpPr>
            <p:nvPr/>
          </p:nvCxnSpPr>
          <p:spPr>
            <a:xfrm flipV="1">
              <a:off x="5913120" y="6165076"/>
              <a:ext cx="1066800" cy="2044"/>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76823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AF9E-AF9F-2898-CF15-0C60DB1D349C}"/>
              </a:ext>
            </a:extLst>
          </p:cNvPr>
          <p:cNvSpPr>
            <a:spLocks noGrp="1"/>
          </p:cNvSpPr>
          <p:nvPr>
            <p:ph type="title"/>
          </p:nvPr>
        </p:nvSpPr>
        <p:spPr/>
        <p:txBody>
          <a:bodyPr/>
          <a:lstStyle/>
          <a:p>
            <a:r>
              <a:rPr lang="en-GB" dirty="0"/>
              <a:t>Formal representation of State Space Search Problem</a:t>
            </a:r>
            <a:endParaRPr lang="en-US" dirty="0"/>
          </a:p>
        </p:txBody>
      </p:sp>
      <p:sp>
        <p:nvSpPr>
          <p:cNvPr id="3" name="Content Placeholder 2">
            <a:extLst>
              <a:ext uri="{FF2B5EF4-FFF2-40B4-BE49-F238E27FC236}">
                <a16:creationId xmlns:a16="http://schemas.microsoft.com/office/drawing/2014/main" id="{72C0D321-CDBC-899C-6C27-C42D040D78B1}"/>
              </a:ext>
            </a:extLst>
          </p:cNvPr>
          <p:cNvSpPr>
            <a:spLocks noGrp="1"/>
          </p:cNvSpPr>
          <p:nvPr>
            <p:ph idx="1"/>
          </p:nvPr>
        </p:nvSpPr>
        <p:spPr/>
        <p:txBody>
          <a:bodyPr/>
          <a:lstStyle/>
          <a:p>
            <a:r>
              <a:rPr lang="en-GB" dirty="0"/>
              <a:t>The task is to find:</a:t>
            </a:r>
          </a:p>
          <a:p>
            <a:pPr lvl="1"/>
            <a:r>
              <a:rPr lang="en-GB" dirty="0"/>
              <a:t>a sequence of operators that leads from the initial state to a goal state</a:t>
            </a:r>
          </a:p>
          <a:p>
            <a:pPr lvl="1"/>
            <a:endParaRPr lang="en-GB" dirty="0"/>
          </a:p>
          <a:p>
            <a:pPr marL="457200" lvl="1" indent="0">
              <a:buNone/>
            </a:pPr>
            <a:endParaRPr lang="en-GB" dirty="0"/>
          </a:p>
          <a:p>
            <a:endParaRPr lang="en-US" dirty="0"/>
          </a:p>
        </p:txBody>
      </p:sp>
      <p:graphicFrame>
        <p:nvGraphicFramePr>
          <p:cNvPr id="4" name="Table 3">
            <a:extLst>
              <a:ext uri="{FF2B5EF4-FFF2-40B4-BE49-F238E27FC236}">
                <a16:creationId xmlns:a16="http://schemas.microsoft.com/office/drawing/2014/main" id="{E1B888AC-3F4D-0A34-5154-CFC8649F8BED}"/>
              </a:ext>
            </a:extLst>
          </p:cNvPr>
          <p:cNvGraphicFramePr>
            <a:graphicFrameLocks noGrp="1"/>
          </p:cNvGraphicFramePr>
          <p:nvPr>
            <p:extLst>
              <p:ext uri="{D42A27DB-BD31-4B8C-83A1-F6EECF244321}">
                <p14:modId xmlns:p14="http://schemas.microsoft.com/office/powerpoint/2010/main" val="2822396954"/>
              </p:ext>
            </p:extLst>
          </p:nvPr>
        </p:nvGraphicFramePr>
        <p:xfrm>
          <a:off x="1574157" y="3159889"/>
          <a:ext cx="9016678" cy="2899042"/>
        </p:xfrm>
        <a:graphic>
          <a:graphicData uri="http://schemas.openxmlformats.org/drawingml/2006/table">
            <a:tbl>
              <a:tblPr firstRow="1" bandRow="1">
                <a:tableStyleId>{5940675A-B579-460E-94D1-54222C63F5DA}</a:tableStyleId>
              </a:tblPr>
              <a:tblGrid>
                <a:gridCol w="3010314">
                  <a:extLst>
                    <a:ext uri="{9D8B030D-6E8A-4147-A177-3AD203B41FA5}">
                      <a16:colId xmlns:a16="http://schemas.microsoft.com/office/drawing/2014/main" val="3042041920"/>
                    </a:ext>
                  </a:extLst>
                </a:gridCol>
                <a:gridCol w="6006364">
                  <a:extLst>
                    <a:ext uri="{9D8B030D-6E8A-4147-A177-3AD203B41FA5}">
                      <a16:colId xmlns:a16="http://schemas.microsoft.com/office/drawing/2014/main" val="4093918565"/>
                    </a:ext>
                  </a:extLst>
                </a:gridCol>
              </a:tblGrid>
              <a:tr h="672281">
                <a:tc>
                  <a:txBody>
                    <a:bodyPr/>
                    <a:lstStyle/>
                    <a:p>
                      <a:r>
                        <a:rPr lang="en-US" dirty="0"/>
                        <a:t>Goal finding problem</a:t>
                      </a:r>
                    </a:p>
                  </a:txBody>
                  <a:tcPr/>
                </a:tc>
                <a:tc>
                  <a:txBody>
                    <a:bodyPr/>
                    <a:lstStyle/>
                    <a:p>
                      <a:r>
                        <a:rPr lang="en-US" dirty="0"/>
                        <a:t>Reach a/the goal state starting from the initial state</a:t>
                      </a:r>
                    </a:p>
                  </a:txBody>
                  <a:tcPr/>
                </a:tc>
                <a:extLst>
                  <a:ext uri="{0D108BD9-81ED-4DB2-BD59-A6C34878D82A}">
                    <a16:rowId xmlns:a16="http://schemas.microsoft.com/office/drawing/2014/main" val="1111785934"/>
                  </a:ext>
                </a:extLst>
              </a:tr>
              <a:tr h="389496">
                <a:tc>
                  <a:txBody>
                    <a:bodyPr/>
                    <a:lstStyle/>
                    <a:p>
                      <a:r>
                        <a:rPr lang="en-US" dirty="0"/>
                        <a:t>Path / Route finding problem</a:t>
                      </a:r>
                    </a:p>
                  </a:txBody>
                  <a:tcPr/>
                </a:tc>
                <a:tc>
                  <a:txBody>
                    <a:bodyPr/>
                    <a:lstStyle/>
                    <a:p>
                      <a:r>
                        <a:rPr lang="en-US" dirty="0"/>
                        <a:t>Find a path from the initial state to the goal state</a:t>
                      </a:r>
                    </a:p>
                  </a:txBody>
                  <a:tcPr/>
                </a:tc>
                <a:extLst>
                  <a:ext uri="{0D108BD9-81ED-4DB2-BD59-A6C34878D82A}">
                    <a16:rowId xmlns:a16="http://schemas.microsoft.com/office/drawing/2014/main" val="2584902264"/>
                  </a:ext>
                </a:extLst>
              </a:tr>
              <a:tr h="672281">
                <a:tc>
                  <a:txBody>
                    <a:bodyPr/>
                    <a:lstStyle/>
                    <a:p>
                      <a:r>
                        <a:rPr lang="en-US" dirty="0"/>
                        <a:t>Minimum path cost</a:t>
                      </a:r>
                    </a:p>
                  </a:txBody>
                  <a:tcPr/>
                </a:tc>
                <a:tc>
                  <a:txBody>
                    <a:bodyPr/>
                    <a:lstStyle/>
                    <a:p>
                      <a:r>
                        <a:rPr lang="en-US" dirty="0"/>
                        <a:t>Find the path with least cost from the initial state to the goal state</a:t>
                      </a:r>
                    </a:p>
                  </a:txBody>
                  <a:tcPr/>
                </a:tc>
                <a:extLst>
                  <a:ext uri="{0D108BD9-81ED-4DB2-BD59-A6C34878D82A}">
                    <a16:rowId xmlns:a16="http://schemas.microsoft.com/office/drawing/2014/main" val="3783554906"/>
                  </a:ext>
                </a:extLst>
              </a:tr>
              <a:tr h="672281">
                <a:tc>
                  <a:txBody>
                    <a:bodyPr/>
                    <a:lstStyle/>
                    <a:p>
                      <a:r>
                        <a:rPr lang="en-US" dirty="0"/>
                        <a:t>Local search problem</a:t>
                      </a:r>
                    </a:p>
                  </a:txBody>
                  <a:tcPr/>
                </a:tc>
                <a:tc>
                  <a:txBody>
                    <a:bodyPr/>
                    <a:lstStyle/>
                    <a:p>
                      <a:r>
                        <a:rPr lang="en-US" dirty="0"/>
                        <a:t>Find a goal state that meets a certain criteria. We are not interested in the state the search starts from, or the path taken to find the goal state</a:t>
                      </a:r>
                    </a:p>
                  </a:txBody>
                  <a:tcPr/>
                </a:tc>
                <a:extLst>
                  <a:ext uri="{0D108BD9-81ED-4DB2-BD59-A6C34878D82A}">
                    <a16:rowId xmlns:a16="http://schemas.microsoft.com/office/drawing/2014/main" val="800186846"/>
                  </a:ext>
                </a:extLst>
              </a:tr>
            </a:tbl>
          </a:graphicData>
        </a:graphic>
      </p:graphicFrame>
    </p:spTree>
    <p:extLst>
      <p:ext uri="{BB962C8B-B14F-4D97-AF65-F5344CB8AC3E}">
        <p14:creationId xmlns:p14="http://schemas.microsoft.com/office/powerpoint/2010/main" val="3637912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C766-B2EB-5B06-1840-21B3ADA1F157}"/>
              </a:ext>
            </a:extLst>
          </p:cNvPr>
          <p:cNvSpPr>
            <a:spLocks noGrp="1"/>
          </p:cNvSpPr>
          <p:nvPr>
            <p:ph type="title"/>
          </p:nvPr>
        </p:nvSpPr>
        <p:spPr/>
        <p:txBody>
          <a:bodyPr/>
          <a:lstStyle/>
          <a:p>
            <a:r>
              <a:rPr lang="en-US" dirty="0"/>
              <a:t>The search agent</a:t>
            </a:r>
          </a:p>
        </p:txBody>
      </p:sp>
      <p:sp>
        <p:nvSpPr>
          <p:cNvPr id="3" name="Content Placeholder 2">
            <a:extLst>
              <a:ext uri="{FF2B5EF4-FFF2-40B4-BE49-F238E27FC236}">
                <a16:creationId xmlns:a16="http://schemas.microsoft.com/office/drawing/2014/main" id="{8AF6B728-FD44-8F22-4F78-172B976E2FC0}"/>
              </a:ext>
            </a:extLst>
          </p:cNvPr>
          <p:cNvSpPr>
            <a:spLocks noGrp="1"/>
          </p:cNvSpPr>
          <p:nvPr>
            <p:ph idx="1"/>
          </p:nvPr>
        </p:nvSpPr>
        <p:spPr/>
        <p:txBody>
          <a:bodyPr/>
          <a:lstStyle/>
          <a:p>
            <a:r>
              <a:rPr lang="en-GB" dirty="0"/>
              <a:t>An agent that tries to come up with a sequence of actions that will bring the environment into a desired state is called the search agent. Generally, the search agent is a goal-based agent.</a:t>
            </a:r>
          </a:p>
          <a:p>
            <a:endParaRPr lang="en-GB" dirty="0"/>
          </a:p>
          <a:p>
            <a:endParaRPr lang="en-US" dirty="0"/>
          </a:p>
        </p:txBody>
      </p:sp>
      <p:pic>
        <p:nvPicPr>
          <p:cNvPr id="6" name="Picture 5">
            <a:extLst>
              <a:ext uri="{FF2B5EF4-FFF2-40B4-BE49-F238E27FC236}">
                <a16:creationId xmlns:a16="http://schemas.microsoft.com/office/drawing/2014/main" id="{582A999A-FEE5-F053-C74E-2ECB3E2A0AA7}"/>
              </a:ext>
            </a:extLst>
          </p:cNvPr>
          <p:cNvPicPr>
            <a:picLocks noChangeAspect="1"/>
          </p:cNvPicPr>
          <p:nvPr/>
        </p:nvPicPr>
        <p:blipFill>
          <a:blip r:embed="rId2"/>
          <a:stretch>
            <a:fillRect/>
          </a:stretch>
        </p:blipFill>
        <p:spPr>
          <a:xfrm>
            <a:off x="3737436" y="3291661"/>
            <a:ext cx="5348691" cy="2951799"/>
          </a:xfrm>
          <a:prstGeom prst="rect">
            <a:avLst/>
          </a:prstGeom>
        </p:spPr>
      </p:pic>
      <p:sp>
        <p:nvSpPr>
          <p:cNvPr id="7" name="TextBox 6">
            <a:extLst>
              <a:ext uri="{FF2B5EF4-FFF2-40B4-BE49-F238E27FC236}">
                <a16:creationId xmlns:a16="http://schemas.microsoft.com/office/drawing/2014/main" id="{B9EC0528-CD86-5CC1-573E-86DEC9FF3697}"/>
              </a:ext>
            </a:extLst>
          </p:cNvPr>
          <p:cNvSpPr txBox="1"/>
          <p:nvPr/>
        </p:nvSpPr>
        <p:spPr>
          <a:xfrm>
            <a:off x="4838217" y="6243460"/>
            <a:ext cx="3004349" cy="369332"/>
          </a:xfrm>
          <a:prstGeom prst="rect">
            <a:avLst/>
          </a:prstGeom>
          <a:noFill/>
        </p:spPr>
        <p:txBody>
          <a:bodyPr wrap="none" rtlCol="0">
            <a:spAutoFit/>
          </a:bodyPr>
          <a:lstStyle/>
          <a:p>
            <a:r>
              <a:rPr lang="en-US" i="1" dirty="0"/>
              <a:t>Figure: a goal-based agent</a:t>
            </a:r>
          </a:p>
        </p:txBody>
      </p:sp>
    </p:spTree>
    <p:extLst>
      <p:ext uri="{BB962C8B-B14F-4D97-AF65-F5344CB8AC3E}">
        <p14:creationId xmlns:p14="http://schemas.microsoft.com/office/powerpoint/2010/main" val="1494599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811A-B8DD-3CB1-4FD4-DF275B9EC1F3}"/>
              </a:ext>
            </a:extLst>
          </p:cNvPr>
          <p:cNvSpPr>
            <a:spLocks noGrp="1"/>
          </p:cNvSpPr>
          <p:nvPr>
            <p:ph type="title"/>
          </p:nvPr>
        </p:nvSpPr>
        <p:spPr/>
        <p:txBody>
          <a:bodyPr/>
          <a:lstStyle/>
          <a:p>
            <a:r>
              <a:rPr lang="en-GB" dirty="0"/>
              <a:t>Some Classical search problems</a:t>
            </a:r>
            <a:endParaRPr lang="en-US" dirty="0"/>
          </a:p>
        </p:txBody>
      </p:sp>
      <p:sp>
        <p:nvSpPr>
          <p:cNvPr id="3" name="Content Placeholder 2">
            <a:extLst>
              <a:ext uri="{FF2B5EF4-FFF2-40B4-BE49-F238E27FC236}">
                <a16:creationId xmlns:a16="http://schemas.microsoft.com/office/drawing/2014/main" id="{8E422AE9-649E-0002-1DD1-8CD046BE0412}"/>
              </a:ext>
            </a:extLst>
          </p:cNvPr>
          <p:cNvSpPr>
            <a:spLocks noGrp="1"/>
          </p:cNvSpPr>
          <p:nvPr>
            <p:ph idx="1"/>
          </p:nvPr>
        </p:nvSpPr>
        <p:spPr/>
        <p:txBody>
          <a:bodyPr/>
          <a:lstStyle/>
          <a:p>
            <a:r>
              <a:rPr lang="en-US" dirty="0"/>
              <a:t>The water-jug problem</a:t>
            </a:r>
          </a:p>
          <a:p>
            <a:pPr lvl="1"/>
            <a:r>
              <a:rPr lang="en-GB" dirty="0"/>
              <a:t>Suppose you are given two jugs with no measuring marks, a 3-gallon one and a 4-gallon one. There is a pump to fill the jugs with water.  How can you get exactly 2 gallons of water into the 4-gallon jug?</a:t>
            </a:r>
          </a:p>
          <a:p>
            <a:pPr lvl="1"/>
            <a:endParaRPr lang="en-US" dirty="0"/>
          </a:p>
        </p:txBody>
      </p:sp>
      <p:pic>
        <p:nvPicPr>
          <p:cNvPr id="4" name="Picture 3">
            <a:extLst>
              <a:ext uri="{FF2B5EF4-FFF2-40B4-BE49-F238E27FC236}">
                <a16:creationId xmlns:a16="http://schemas.microsoft.com/office/drawing/2014/main" id="{BE3D0D10-FC5B-9174-102C-D9CE6F419FB7}"/>
              </a:ext>
            </a:extLst>
          </p:cNvPr>
          <p:cNvPicPr>
            <a:picLocks noChangeAspect="1"/>
          </p:cNvPicPr>
          <p:nvPr/>
        </p:nvPicPr>
        <p:blipFill>
          <a:blip r:embed="rId2"/>
          <a:stretch>
            <a:fillRect/>
          </a:stretch>
        </p:blipFill>
        <p:spPr>
          <a:xfrm>
            <a:off x="2816766" y="4147388"/>
            <a:ext cx="6298730" cy="1639954"/>
          </a:xfrm>
          <a:prstGeom prst="rect">
            <a:avLst/>
          </a:prstGeom>
        </p:spPr>
      </p:pic>
    </p:spTree>
    <p:extLst>
      <p:ext uri="{BB962C8B-B14F-4D97-AF65-F5344CB8AC3E}">
        <p14:creationId xmlns:p14="http://schemas.microsoft.com/office/powerpoint/2010/main" val="3695799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3EC4-50C5-8DD9-DDB9-6601888DFCDE}"/>
              </a:ext>
            </a:extLst>
          </p:cNvPr>
          <p:cNvSpPr>
            <a:spLocks noGrp="1"/>
          </p:cNvSpPr>
          <p:nvPr>
            <p:ph type="title"/>
          </p:nvPr>
        </p:nvSpPr>
        <p:spPr/>
        <p:txBody>
          <a:bodyPr/>
          <a:lstStyle/>
          <a:p>
            <a:r>
              <a:rPr lang="en-GB" dirty="0"/>
              <a:t>Formulating water-jug problem as a state space search problem</a:t>
            </a:r>
            <a:endParaRPr lang="en-US" dirty="0"/>
          </a:p>
        </p:txBody>
      </p:sp>
      <p:sp>
        <p:nvSpPr>
          <p:cNvPr id="3" name="Content Placeholder 2">
            <a:extLst>
              <a:ext uri="{FF2B5EF4-FFF2-40B4-BE49-F238E27FC236}">
                <a16:creationId xmlns:a16="http://schemas.microsoft.com/office/drawing/2014/main" id="{5E43C8A0-E5DE-2835-771A-D082FD20F3C8}"/>
              </a:ext>
            </a:extLst>
          </p:cNvPr>
          <p:cNvSpPr>
            <a:spLocks noGrp="1"/>
          </p:cNvSpPr>
          <p:nvPr>
            <p:ph idx="1"/>
          </p:nvPr>
        </p:nvSpPr>
        <p:spPr/>
        <p:txBody>
          <a:bodyPr>
            <a:normAutofit lnSpcReduction="10000"/>
          </a:bodyPr>
          <a:lstStyle/>
          <a:p>
            <a:pPr marL="509588" indent="-342900" algn="just">
              <a:lnSpc>
                <a:spcPct val="150000"/>
              </a:lnSpc>
              <a:spcBef>
                <a:spcPts val="0"/>
              </a:spcBef>
            </a:pPr>
            <a:r>
              <a:rPr lang="en-US" sz="2400" b="1" dirty="0">
                <a:effectLst/>
                <a:ea typeface="Calibri" panose="020F0502020204030204" pitchFamily="34" charset="0"/>
                <a:cs typeface="Vrinda" panose="020B0502040204020203" pitchFamily="34" charset="0"/>
              </a:rPr>
              <a:t>State representation: </a:t>
            </a:r>
            <a:r>
              <a:rPr lang="en-US" sz="2400" dirty="0">
                <a:effectLst/>
                <a:ea typeface="Calibri" panose="020F0502020204030204" pitchFamily="34" charset="0"/>
                <a:cs typeface="Vrinda" panose="020B0502040204020203" pitchFamily="34" charset="0"/>
              </a:rPr>
              <a:t>We can represent the states as (</a:t>
            </a:r>
            <a:r>
              <a:rPr lang="en-US" sz="2400" i="1" dirty="0">
                <a:effectLst/>
                <a:ea typeface="Calibri" panose="020F0502020204030204" pitchFamily="34" charset="0"/>
                <a:cs typeface="Vrinda" panose="020B0502040204020203" pitchFamily="34" charset="0"/>
              </a:rPr>
              <a:t>m</a:t>
            </a:r>
            <a:r>
              <a:rPr lang="en-US" sz="2400" dirty="0">
                <a:effectLst/>
                <a:ea typeface="Calibri" panose="020F0502020204030204" pitchFamily="34" charset="0"/>
                <a:cs typeface="Vrinda" panose="020B0502040204020203" pitchFamily="34" charset="0"/>
              </a:rPr>
              <a:t>, </a:t>
            </a:r>
            <a:r>
              <a:rPr lang="en-US" sz="2400" i="1" dirty="0">
                <a:effectLst/>
                <a:ea typeface="Calibri" panose="020F0502020204030204" pitchFamily="34" charset="0"/>
                <a:cs typeface="Vrinda" panose="020B0502040204020203" pitchFamily="34" charset="0"/>
              </a:rPr>
              <a:t>n</a:t>
            </a:r>
            <a:r>
              <a:rPr lang="en-US" sz="2400" dirty="0">
                <a:effectLst/>
                <a:ea typeface="Calibri" panose="020F0502020204030204" pitchFamily="34" charset="0"/>
                <a:cs typeface="Vrinda" panose="020B0502040204020203" pitchFamily="34" charset="0"/>
              </a:rPr>
              <a:t>) where </a:t>
            </a:r>
            <a:r>
              <a:rPr lang="en-US" sz="2400" i="1" dirty="0">
                <a:effectLst/>
                <a:ea typeface="Calibri" panose="020F0502020204030204" pitchFamily="34" charset="0"/>
                <a:cs typeface="Vrinda" panose="020B0502040204020203" pitchFamily="34" charset="0"/>
              </a:rPr>
              <a:t>m</a:t>
            </a:r>
            <a:r>
              <a:rPr lang="en-US" sz="2400" dirty="0">
                <a:effectLst/>
                <a:ea typeface="Calibri" panose="020F0502020204030204" pitchFamily="34" charset="0"/>
                <a:cs typeface="Vrinda" panose="020B0502040204020203" pitchFamily="34" charset="0"/>
              </a:rPr>
              <a:t> and </a:t>
            </a:r>
            <a:r>
              <a:rPr lang="en-US" sz="2400" i="1" dirty="0">
                <a:effectLst/>
                <a:ea typeface="Calibri" panose="020F0502020204030204" pitchFamily="34" charset="0"/>
                <a:cs typeface="Vrinda" panose="020B0502040204020203" pitchFamily="34" charset="0"/>
              </a:rPr>
              <a:t>n</a:t>
            </a:r>
            <a:r>
              <a:rPr lang="en-US" sz="2400" dirty="0">
                <a:effectLst/>
                <a:ea typeface="Calibri" panose="020F0502020204030204" pitchFamily="34" charset="0"/>
                <a:cs typeface="Vrinda" panose="020B0502040204020203" pitchFamily="34" charset="0"/>
              </a:rPr>
              <a:t> represents the current amount of water in jug 1 and 2 respectively. </a:t>
            </a:r>
            <a:r>
              <a:rPr lang="en-US" sz="2400" i="1" dirty="0">
                <a:effectLst/>
                <a:ea typeface="Calibri" panose="020F0502020204030204" pitchFamily="34" charset="0"/>
                <a:cs typeface="Vrinda" panose="020B0502040204020203" pitchFamily="34" charset="0"/>
              </a:rPr>
              <a:t>m </a:t>
            </a:r>
            <a:r>
              <a:rPr lang="en-US" sz="2400" dirty="0">
                <a:effectLst/>
                <a:ea typeface="Calibri" panose="020F0502020204030204" pitchFamily="34" charset="0"/>
                <a:cs typeface="Vrinda" panose="020B0502040204020203" pitchFamily="34" charset="0"/>
                <a:sym typeface="Symbol" panose="05050102010706020507" pitchFamily="18" charset="2"/>
              </a:rPr>
              <a:t></a:t>
            </a:r>
            <a:r>
              <a:rPr lang="en-US" sz="2400" dirty="0">
                <a:effectLst/>
                <a:ea typeface="Calibri" panose="020F0502020204030204" pitchFamily="34" charset="0"/>
                <a:cs typeface="Vrinda" panose="020B0502040204020203" pitchFamily="34" charset="0"/>
              </a:rPr>
              <a:t> {0, 1, 2, 3} and </a:t>
            </a:r>
            <a:r>
              <a:rPr lang="en-US" sz="2400" i="1" dirty="0">
                <a:effectLst/>
                <a:ea typeface="Calibri" panose="020F0502020204030204" pitchFamily="34" charset="0"/>
                <a:cs typeface="Vrinda" panose="020B0502040204020203" pitchFamily="34" charset="0"/>
              </a:rPr>
              <a:t>n </a:t>
            </a:r>
            <a:r>
              <a:rPr lang="en-US" sz="2400" dirty="0">
                <a:effectLst/>
                <a:ea typeface="Calibri" panose="020F0502020204030204" pitchFamily="34" charset="0"/>
                <a:cs typeface="Vrinda" panose="020B0502040204020203" pitchFamily="34" charset="0"/>
                <a:sym typeface="Symbol" panose="05050102010706020507" pitchFamily="18" charset="2"/>
              </a:rPr>
              <a:t></a:t>
            </a:r>
            <a:r>
              <a:rPr lang="en-US" sz="2400" dirty="0">
                <a:effectLst/>
                <a:ea typeface="Calibri" panose="020F0502020204030204" pitchFamily="34" charset="0"/>
                <a:cs typeface="Vrinda" panose="020B0502040204020203" pitchFamily="34" charset="0"/>
              </a:rPr>
              <a:t> {0, 1, 2, 3, 4}.</a:t>
            </a:r>
          </a:p>
          <a:p>
            <a:pPr marL="509588" indent="-342900" algn="just">
              <a:lnSpc>
                <a:spcPct val="150000"/>
              </a:lnSpc>
              <a:spcBef>
                <a:spcPts val="0"/>
              </a:spcBef>
            </a:pPr>
            <a:r>
              <a:rPr lang="en-US" sz="2400" b="1" dirty="0">
                <a:effectLst/>
                <a:ea typeface="Calibri" panose="020F0502020204030204" pitchFamily="34" charset="0"/>
                <a:cs typeface="Vrinda" panose="020B0502040204020203" pitchFamily="34" charset="0"/>
              </a:rPr>
              <a:t>Initial state: </a:t>
            </a:r>
            <a:r>
              <a:rPr lang="en-US" sz="2400" dirty="0">
                <a:effectLst/>
                <a:ea typeface="Calibri" panose="020F0502020204030204" pitchFamily="34" charset="0"/>
                <a:cs typeface="Vrinda" panose="020B0502040204020203" pitchFamily="34" charset="0"/>
              </a:rPr>
              <a:t>The initial state is (0, 0).</a:t>
            </a:r>
          </a:p>
          <a:p>
            <a:pPr marL="509588" indent="-342900" algn="just">
              <a:lnSpc>
                <a:spcPct val="150000"/>
              </a:lnSpc>
              <a:spcBef>
                <a:spcPts val="0"/>
              </a:spcBef>
            </a:pPr>
            <a:r>
              <a:rPr lang="en-US" sz="2400" b="1" dirty="0">
                <a:effectLst/>
                <a:ea typeface="Calibri" panose="020F0502020204030204" pitchFamily="34" charset="0"/>
                <a:cs typeface="Vrinda" panose="020B0502040204020203" pitchFamily="34" charset="0"/>
              </a:rPr>
              <a:t>Goal state:</a:t>
            </a:r>
            <a:r>
              <a:rPr lang="en-US" sz="2400" dirty="0">
                <a:effectLst/>
                <a:ea typeface="Calibri" panose="020F0502020204030204" pitchFamily="34" charset="0"/>
                <a:cs typeface="Vrinda" panose="020B0502040204020203" pitchFamily="34" charset="0"/>
              </a:rPr>
              <a:t> The goal state is (</a:t>
            </a:r>
            <a:r>
              <a:rPr lang="en-US" sz="2400" i="1" dirty="0">
                <a:effectLst/>
                <a:ea typeface="Calibri" panose="020F0502020204030204" pitchFamily="34" charset="0"/>
                <a:cs typeface="Vrinda" panose="020B0502040204020203" pitchFamily="34" charset="0"/>
              </a:rPr>
              <a:t>x</a:t>
            </a:r>
            <a:r>
              <a:rPr lang="en-US" sz="2400" dirty="0">
                <a:effectLst/>
                <a:ea typeface="Calibri" panose="020F0502020204030204" pitchFamily="34" charset="0"/>
                <a:cs typeface="Vrinda" panose="020B0502040204020203" pitchFamily="34" charset="0"/>
              </a:rPr>
              <a:t>, 2); </a:t>
            </a:r>
            <a:r>
              <a:rPr lang="en-US" sz="2400" i="1" dirty="0">
                <a:effectLst/>
                <a:ea typeface="Calibri" panose="020F0502020204030204" pitchFamily="34" charset="0"/>
                <a:cs typeface="Vrinda" panose="020B0502040204020203" pitchFamily="34" charset="0"/>
              </a:rPr>
              <a:t>x </a:t>
            </a:r>
            <a:r>
              <a:rPr lang="en-US" sz="2400" dirty="0">
                <a:effectLst/>
                <a:ea typeface="Calibri" panose="020F0502020204030204" pitchFamily="34" charset="0"/>
                <a:cs typeface="Vrinda" panose="020B0502040204020203" pitchFamily="34" charset="0"/>
                <a:sym typeface="Symbol" panose="05050102010706020507" pitchFamily="18" charset="2"/>
              </a:rPr>
              <a:t></a:t>
            </a:r>
            <a:r>
              <a:rPr lang="en-US" sz="2400" dirty="0">
                <a:effectLst/>
                <a:ea typeface="Calibri" panose="020F0502020204030204" pitchFamily="34" charset="0"/>
                <a:cs typeface="Vrinda" panose="020B0502040204020203" pitchFamily="34" charset="0"/>
              </a:rPr>
              <a:t> {0, 1, 2, 3}</a:t>
            </a:r>
          </a:p>
          <a:p>
            <a:pPr marL="509588" indent="-342900" algn="just">
              <a:lnSpc>
                <a:spcPct val="150000"/>
              </a:lnSpc>
              <a:spcBef>
                <a:spcPts val="0"/>
              </a:spcBef>
            </a:pPr>
            <a:r>
              <a:rPr lang="en-US" sz="2400" b="1" dirty="0">
                <a:effectLst/>
                <a:ea typeface="Calibri" panose="020F0502020204030204" pitchFamily="34" charset="0"/>
                <a:cs typeface="Vrinda" panose="020B0502040204020203" pitchFamily="34" charset="0"/>
              </a:rPr>
              <a:t>Actions:</a:t>
            </a:r>
            <a:r>
              <a:rPr lang="en-US" sz="2400" dirty="0">
                <a:effectLst/>
                <a:ea typeface="Calibri" panose="020F0502020204030204" pitchFamily="34" charset="0"/>
                <a:cs typeface="Vrinda" panose="020B0502040204020203" pitchFamily="34" charset="0"/>
              </a:rPr>
              <a:t> There are three actions we can apply to any of the jugs: fill, empty and pour from one jug to another.</a:t>
            </a:r>
          </a:p>
          <a:p>
            <a:pPr marL="509588" indent="-342900" algn="just">
              <a:lnSpc>
                <a:spcPct val="150000"/>
              </a:lnSpc>
              <a:spcBef>
                <a:spcPts val="0"/>
              </a:spcBef>
            </a:pPr>
            <a:r>
              <a:rPr lang="en-US" sz="2400" b="1" dirty="0">
                <a:effectLst/>
                <a:ea typeface="Calibri" panose="020F0502020204030204" pitchFamily="34" charset="0"/>
                <a:cs typeface="Vrinda" panose="020B0502040204020203" pitchFamily="34" charset="0"/>
              </a:rPr>
              <a:t>Path cost:</a:t>
            </a:r>
            <a:r>
              <a:rPr lang="en-US" sz="2400" dirty="0">
                <a:effectLst/>
                <a:ea typeface="Calibri" panose="020F0502020204030204" pitchFamily="34" charset="0"/>
                <a:cs typeface="Vrinda" panose="020B0502040204020203" pitchFamily="34" charset="0"/>
              </a:rPr>
              <a:t> No path cost function for this problem.</a:t>
            </a:r>
          </a:p>
          <a:p>
            <a:endParaRPr lang="en-US" dirty="0"/>
          </a:p>
        </p:txBody>
      </p:sp>
    </p:spTree>
    <p:extLst>
      <p:ext uri="{BB962C8B-B14F-4D97-AF65-F5344CB8AC3E}">
        <p14:creationId xmlns:p14="http://schemas.microsoft.com/office/powerpoint/2010/main" val="2910580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5445-77AB-CE05-4DD6-95E68A82C501}"/>
              </a:ext>
            </a:extLst>
          </p:cNvPr>
          <p:cNvSpPr>
            <a:spLocks noGrp="1"/>
          </p:cNvSpPr>
          <p:nvPr>
            <p:ph type="title"/>
          </p:nvPr>
        </p:nvSpPr>
        <p:spPr/>
        <p:txBody>
          <a:bodyPr/>
          <a:lstStyle/>
          <a:p>
            <a:r>
              <a:rPr lang="en-GB" dirty="0"/>
              <a:t>The 8-puzzle problem</a:t>
            </a:r>
            <a:endParaRPr lang="en-US" dirty="0"/>
          </a:p>
        </p:txBody>
      </p:sp>
      <p:sp>
        <p:nvSpPr>
          <p:cNvPr id="3" name="Content Placeholder 2">
            <a:extLst>
              <a:ext uri="{FF2B5EF4-FFF2-40B4-BE49-F238E27FC236}">
                <a16:creationId xmlns:a16="http://schemas.microsoft.com/office/drawing/2014/main" id="{B743B26B-5698-549B-DB52-44DE37D50FD1}"/>
              </a:ext>
            </a:extLst>
          </p:cNvPr>
          <p:cNvSpPr>
            <a:spLocks noGrp="1"/>
          </p:cNvSpPr>
          <p:nvPr>
            <p:ph idx="1"/>
          </p:nvPr>
        </p:nvSpPr>
        <p:spPr>
          <a:xfrm>
            <a:off x="838200" y="1825625"/>
            <a:ext cx="6928413" cy="4351338"/>
          </a:xfrm>
        </p:spPr>
        <p:txBody>
          <a:bodyPr>
            <a:normAutofit fontScale="92500" lnSpcReduction="20000"/>
          </a:bodyPr>
          <a:lstStyle/>
          <a:p>
            <a:r>
              <a:rPr lang="en-GB" dirty="0"/>
              <a:t>The 8-puzzle is a square board with 9 positions, filled by 8 numbered tiles and one gap. At any point, a tile adjacent to the gap can be moved into the gap, creating a new gap position. In other words the gap can be swapped with an adjacent (horizontally and vertically) tile. The objective in the game is to begin with an arbitrary configuration of tiles, and move them so as to get the numbered tiles arranged in ascending order either running around the perimeter of the board or ordered from left to right, with 1 in the top left-hand position. An example scenario is shown.</a:t>
            </a:r>
            <a:endParaRPr lang="en-US" dirty="0"/>
          </a:p>
        </p:txBody>
      </p:sp>
      <p:pic>
        <p:nvPicPr>
          <p:cNvPr id="4" name="Picture 3">
            <a:extLst>
              <a:ext uri="{FF2B5EF4-FFF2-40B4-BE49-F238E27FC236}">
                <a16:creationId xmlns:a16="http://schemas.microsoft.com/office/drawing/2014/main" id="{417A1158-490C-EE7F-BC62-460BE070BE45}"/>
              </a:ext>
            </a:extLst>
          </p:cNvPr>
          <p:cNvPicPr>
            <a:picLocks noChangeAspect="1"/>
          </p:cNvPicPr>
          <p:nvPr/>
        </p:nvPicPr>
        <p:blipFill>
          <a:blip r:embed="rId2"/>
          <a:stretch>
            <a:fillRect/>
          </a:stretch>
        </p:blipFill>
        <p:spPr>
          <a:xfrm>
            <a:off x="7766613" y="2766690"/>
            <a:ext cx="3983917" cy="2430343"/>
          </a:xfrm>
          <a:prstGeom prst="rect">
            <a:avLst/>
          </a:prstGeom>
        </p:spPr>
      </p:pic>
    </p:spTree>
    <p:extLst>
      <p:ext uri="{BB962C8B-B14F-4D97-AF65-F5344CB8AC3E}">
        <p14:creationId xmlns:p14="http://schemas.microsoft.com/office/powerpoint/2010/main" val="719411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FDA59-BE79-E716-CB58-9EFF1227BEF4}"/>
              </a:ext>
            </a:extLst>
          </p:cNvPr>
          <p:cNvSpPr>
            <a:spLocks noGrp="1"/>
          </p:cNvSpPr>
          <p:nvPr>
            <p:ph type="title"/>
          </p:nvPr>
        </p:nvSpPr>
        <p:spPr/>
        <p:txBody>
          <a:bodyPr/>
          <a:lstStyle/>
          <a:p>
            <a:r>
              <a:rPr lang="en-GB" dirty="0"/>
              <a:t>N-Queen or 8-Queen problem</a:t>
            </a:r>
            <a:endParaRPr lang="en-US" dirty="0"/>
          </a:p>
        </p:txBody>
      </p:sp>
      <p:sp>
        <p:nvSpPr>
          <p:cNvPr id="3" name="Content Placeholder 2">
            <a:extLst>
              <a:ext uri="{FF2B5EF4-FFF2-40B4-BE49-F238E27FC236}">
                <a16:creationId xmlns:a16="http://schemas.microsoft.com/office/drawing/2014/main" id="{876DB04A-4FB4-4C48-120E-8CEF9EF4577E}"/>
              </a:ext>
            </a:extLst>
          </p:cNvPr>
          <p:cNvSpPr>
            <a:spLocks noGrp="1"/>
          </p:cNvSpPr>
          <p:nvPr>
            <p:ph idx="1"/>
          </p:nvPr>
        </p:nvSpPr>
        <p:spPr/>
        <p:txBody>
          <a:bodyPr/>
          <a:lstStyle/>
          <a:p>
            <a:r>
              <a:rPr lang="en-GB" dirty="0"/>
              <a:t>Place N queens in a N </a:t>
            </a:r>
            <a:r>
              <a:rPr lang="en-GB" dirty="0">
                <a:sym typeface="Symbol" panose="05050102010706020507" pitchFamily="18" charset="2"/>
              </a:rPr>
              <a:t></a:t>
            </a:r>
            <a:r>
              <a:rPr lang="en-GB" dirty="0"/>
              <a:t> N chessboard so that no queen can attack another.</a:t>
            </a:r>
            <a:endParaRPr lang="en-US" dirty="0"/>
          </a:p>
        </p:txBody>
      </p:sp>
      <p:pic>
        <p:nvPicPr>
          <p:cNvPr id="4" name="Picture 3">
            <a:extLst>
              <a:ext uri="{FF2B5EF4-FFF2-40B4-BE49-F238E27FC236}">
                <a16:creationId xmlns:a16="http://schemas.microsoft.com/office/drawing/2014/main" id="{2FBADE57-4862-1DEF-7E1F-4F686842BD71}"/>
              </a:ext>
            </a:extLst>
          </p:cNvPr>
          <p:cNvPicPr>
            <a:picLocks noChangeAspect="1"/>
          </p:cNvPicPr>
          <p:nvPr/>
        </p:nvPicPr>
        <p:blipFill>
          <a:blip r:embed="rId2"/>
          <a:stretch>
            <a:fillRect/>
          </a:stretch>
        </p:blipFill>
        <p:spPr>
          <a:xfrm>
            <a:off x="4226135" y="2629120"/>
            <a:ext cx="3739730" cy="3682780"/>
          </a:xfrm>
          <a:prstGeom prst="rect">
            <a:avLst/>
          </a:prstGeom>
        </p:spPr>
      </p:pic>
    </p:spTree>
    <p:extLst>
      <p:ext uri="{BB962C8B-B14F-4D97-AF65-F5344CB8AC3E}">
        <p14:creationId xmlns:p14="http://schemas.microsoft.com/office/powerpoint/2010/main" val="4172860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4DD2-71E1-9018-E42B-7AC24E8BFAEA}"/>
              </a:ext>
            </a:extLst>
          </p:cNvPr>
          <p:cNvSpPr>
            <a:spLocks noGrp="1"/>
          </p:cNvSpPr>
          <p:nvPr>
            <p:ph type="title"/>
          </p:nvPr>
        </p:nvSpPr>
        <p:spPr/>
        <p:txBody>
          <a:bodyPr/>
          <a:lstStyle/>
          <a:p>
            <a:r>
              <a:rPr lang="en-US" dirty="0"/>
              <a:t>Route finding problem</a:t>
            </a:r>
          </a:p>
        </p:txBody>
      </p:sp>
      <p:sp>
        <p:nvSpPr>
          <p:cNvPr id="3" name="Content Placeholder 2">
            <a:extLst>
              <a:ext uri="{FF2B5EF4-FFF2-40B4-BE49-F238E27FC236}">
                <a16:creationId xmlns:a16="http://schemas.microsoft.com/office/drawing/2014/main" id="{A230454F-CAC8-6F84-C898-809E35840D79}"/>
              </a:ext>
            </a:extLst>
          </p:cNvPr>
          <p:cNvSpPr>
            <a:spLocks noGrp="1"/>
          </p:cNvSpPr>
          <p:nvPr>
            <p:ph idx="1"/>
          </p:nvPr>
        </p:nvSpPr>
        <p:spPr/>
        <p:txBody>
          <a:bodyPr/>
          <a:lstStyle/>
          <a:p>
            <a:r>
              <a:rPr lang="en-GB" dirty="0"/>
              <a:t>Find the quickest route from Arad to Bucharest.</a:t>
            </a:r>
            <a:endParaRPr lang="en-US" dirty="0"/>
          </a:p>
        </p:txBody>
      </p:sp>
      <p:pic>
        <p:nvPicPr>
          <p:cNvPr id="4" name="Picture 3">
            <a:extLst>
              <a:ext uri="{FF2B5EF4-FFF2-40B4-BE49-F238E27FC236}">
                <a16:creationId xmlns:a16="http://schemas.microsoft.com/office/drawing/2014/main" id="{8F845F14-52AD-1A40-05A9-92A8D8AAE81D}"/>
              </a:ext>
            </a:extLst>
          </p:cNvPr>
          <p:cNvPicPr>
            <a:picLocks noChangeAspect="1"/>
          </p:cNvPicPr>
          <p:nvPr/>
        </p:nvPicPr>
        <p:blipFill>
          <a:blip r:embed="rId2"/>
          <a:stretch>
            <a:fillRect/>
          </a:stretch>
        </p:blipFill>
        <p:spPr>
          <a:xfrm>
            <a:off x="2978637" y="2506662"/>
            <a:ext cx="6234726" cy="4071815"/>
          </a:xfrm>
          <a:prstGeom prst="rect">
            <a:avLst/>
          </a:prstGeom>
        </p:spPr>
      </p:pic>
    </p:spTree>
    <p:extLst>
      <p:ext uri="{BB962C8B-B14F-4D97-AF65-F5344CB8AC3E}">
        <p14:creationId xmlns:p14="http://schemas.microsoft.com/office/powerpoint/2010/main" val="1090604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05B22-6565-6250-0E03-FCCC25BBD351}"/>
              </a:ext>
            </a:extLst>
          </p:cNvPr>
          <p:cNvSpPr>
            <a:spLocks noGrp="1"/>
          </p:cNvSpPr>
          <p:nvPr>
            <p:ph type="title"/>
          </p:nvPr>
        </p:nvSpPr>
        <p:spPr/>
        <p:txBody>
          <a:bodyPr/>
          <a:lstStyle/>
          <a:p>
            <a:r>
              <a:rPr lang="en-US" dirty="0"/>
              <a:t>More examples</a:t>
            </a:r>
          </a:p>
        </p:txBody>
      </p:sp>
      <p:sp>
        <p:nvSpPr>
          <p:cNvPr id="3" name="Content Placeholder 2">
            <a:extLst>
              <a:ext uri="{FF2B5EF4-FFF2-40B4-BE49-F238E27FC236}">
                <a16:creationId xmlns:a16="http://schemas.microsoft.com/office/drawing/2014/main" id="{7755EC5F-5E70-BCCF-D8D7-980B7067F31B}"/>
              </a:ext>
            </a:extLst>
          </p:cNvPr>
          <p:cNvSpPr>
            <a:spLocks noGrp="1"/>
          </p:cNvSpPr>
          <p:nvPr>
            <p:ph idx="1"/>
          </p:nvPr>
        </p:nvSpPr>
        <p:spPr/>
        <p:txBody>
          <a:bodyPr>
            <a:normAutofit fontScale="85000" lnSpcReduction="20000"/>
          </a:bodyPr>
          <a:lstStyle/>
          <a:p>
            <a:r>
              <a:rPr lang="en-US" dirty="0"/>
              <a:t>Puzzles: Rubik’s Cube, Towers of Hanoi etc.</a:t>
            </a:r>
          </a:p>
          <a:p>
            <a:r>
              <a:rPr lang="en-US" dirty="0"/>
              <a:t>Detecting bugs in software and hardware.</a:t>
            </a:r>
          </a:p>
          <a:p>
            <a:r>
              <a:rPr lang="en-US" dirty="0"/>
              <a:t>Solitaire games (FreeCell ...).</a:t>
            </a:r>
          </a:p>
          <a:p>
            <a:r>
              <a:rPr lang="en-US" dirty="0"/>
              <a:t>Non-player-characters in computer games.</a:t>
            </a:r>
          </a:p>
          <a:p>
            <a:r>
              <a:rPr lang="en-US" dirty="0"/>
              <a:t>Travelling Salesman Problem (TSP)</a:t>
            </a:r>
          </a:p>
          <a:p>
            <a:r>
              <a:rPr lang="en-GB" dirty="0"/>
              <a:t>Robot assembly sequencing: Planning of the assembly of complex objects.</a:t>
            </a:r>
          </a:p>
          <a:p>
            <a:r>
              <a:rPr lang="en-GB" dirty="0"/>
              <a:t>Attack planning: Finding a hack into a secured network. Used for regular security testing</a:t>
            </a:r>
          </a:p>
          <a:p>
            <a:r>
              <a:rPr lang="en-GB" dirty="0"/>
              <a:t>Query optimization in databases.</a:t>
            </a:r>
          </a:p>
          <a:p>
            <a:r>
              <a:rPr lang="en-GB" dirty="0"/>
              <a:t>Sequence alignment in Bioinformatics. </a:t>
            </a:r>
          </a:p>
          <a:p>
            <a:r>
              <a:rPr lang="en-GB" dirty="0"/>
              <a:t>And many more...</a:t>
            </a:r>
          </a:p>
          <a:p>
            <a:endParaRPr lang="en-US" dirty="0"/>
          </a:p>
          <a:p>
            <a:endParaRPr lang="en-US" dirty="0"/>
          </a:p>
        </p:txBody>
      </p:sp>
    </p:spTree>
    <p:extLst>
      <p:ext uri="{BB962C8B-B14F-4D97-AF65-F5344CB8AC3E}">
        <p14:creationId xmlns:p14="http://schemas.microsoft.com/office/powerpoint/2010/main" val="3769764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3B200-B688-F99F-9DBF-A9E0FFB11247}"/>
              </a:ext>
            </a:extLst>
          </p:cNvPr>
          <p:cNvSpPr>
            <a:spLocks noGrp="1"/>
          </p:cNvSpPr>
          <p:nvPr>
            <p:ph type="title"/>
          </p:nvPr>
        </p:nvSpPr>
        <p:spPr/>
        <p:txBody>
          <a:bodyPr/>
          <a:lstStyle/>
          <a:p>
            <a:r>
              <a:rPr lang="en-GB" dirty="0"/>
              <a:t>Toy Problems versus Real-world problems</a:t>
            </a:r>
            <a:endParaRPr lang="en-US" dirty="0"/>
          </a:p>
        </p:txBody>
      </p:sp>
      <p:sp>
        <p:nvSpPr>
          <p:cNvPr id="3" name="Content Placeholder 2">
            <a:extLst>
              <a:ext uri="{FF2B5EF4-FFF2-40B4-BE49-F238E27FC236}">
                <a16:creationId xmlns:a16="http://schemas.microsoft.com/office/drawing/2014/main" id="{086065B6-9FEC-FF46-29BB-B5E6D28A867C}"/>
              </a:ext>
            </a:extLst>
          </p:cNvPr>
          <p:cNvSpPr>
            <a:spLocks noGrp="1"/>
          </p:cNvSpPr>
          <p:nvPr>
            <p:ph idx="1"/>
          </p:nvPr>
        </p:nvSpPr>
        <p:spPr/>
        <p:txBody>
          <a:bodyPr>
            <a:normAutofit/>
          </a:bodyPr>
          <a:lstStyle/>
          <a:p>
            <a:r>
              <a:rPr lang="en-GB" dirty="0"/>
              <a:t>Most of the problems we will work on will be </a:t>
            </a:r>
            <a:r>
              <a:rPr lang="en-GB" dirty="0">
                <a:hlinkClick r:id="rId2"/>
              </a:rPr>
              <a:t>toy problems</a:t>
            </a:r>
            <a:r>
              <a:rPr lang="en-GB" dirty="0"/>
              <a:t>:</a:t>
            </a:r>
          </a:p>
          <a:p>
            <a:pPr lvl="1"/>
            <a:r>
              <a:rPr lang="en-GB" dirty="0"/>
              <a:t>Puzzle-solving (8, 15-puzzle)</a:t>
            </a:r>
          </a:p>
          <a:p>
            <a:pPr lvl="1"/>
            <a:r>
              <a:rPr lang="en-GB" dirty="0"/>
              <a:t>8-queens</a:t>
            </a:r>
          </a:p>
          <a:p>
            <a:pPr lvl="1"/>
            <a:r>
              <a:rPr lang="en-GB" dirty="0"/>
              <a:t>Cryptarithmetic</a:t>
            </a:r>
          </a:p>
          <a:p>
            <a:r>
              <a:rPr lang="en-GB" dirty="0"/>
              <a:t>But in fact, these techniques are used to solve Real problems:</a:t>
            </a:r>
          </a:p>
          <a:p>
            <a:pPr lvl="1"/>
            <a:r>
              <a:rPr lang="en-GB" dirty="0"/>
              <a:t>Route-finding in airline travel planners</a:t>
            </a:r>
          </a:p>
          <a:p>
            <a:pPr lvl="1"/>
            <a:r>
              <a:rPr lang="en-GB" dirty="0"/>
              <a:t>Travelling Salesperson Problem</a:t>
            </a:r>
          </a:p>
          <a:p>
            <a:pPr lvl="1"/>
            <a:r>
              <a:rPr lang="en-GB" dirty="0"/>
              <a:t>VLSI layout (cell layout and channel routing)</a:t>
            </a:r>
          </a:p>
          <a:p>
            <a:pPr lvl="1"/>
            <a:r>
              <a:rPr lang="en-GB" dirty="0"/>
              <a:t>Automatic manufacturing (assembly sequencing)</a:t>
            </a:r>
          </a:p>
          <a:p>
            <a:endParaRPr lang="en-US" dirty="0"/>
          </a:p>
        </p:txBody>
      </p:sp>
    </p:spTree>
    <p:extLst>
      <p:ext uri="{BB962C8B-B14F-4D97-AF65-F5344CB8AC3E}">
        <p14:creationId xmlns:p14="http://schemas.microsoft.com/office/powerpoint/2010/main" val="1690041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ED0E-6ECE-D367-71D7-1C482223271E}"/>
              </a:ext>
            </a:extLst>
          </p:cNvPr>
          <p:cNvSpPr>
            <a:spLocks noGrp="1"/>
          </p:cNvSpPr>
          <p:nvPr>
            <p:ph type="title"/>
          </p:nvPr>
        </p:nvSpPr>
        <p:spPr/>
        <p:txBody>
          <a:bodyPr/>
          <a:lstStyle/>
          <a:p>
            <a:r>
              <a:rPr lang="en-US" dirty="0"/>
              <a:t>Problem types</a:t>
            </a:r>
          </a:p>
        </p:txBody>
      </p:sp>
      <p:sp>
        <p:nvSpPr>
          <p:cNvPr id="3" name="Content Placeholder 2">
            <a:extLst>
              <a:ext uri="{FF2B5EF4-FFF2-40B4-BE49-F238E27FC236}">
                <a16:creationId xmlns:a16="http://schemas.microsoft.com/office/drawing/2014/main" id="{798D720B-CB25-E8EC-4AAD-7C2B3FA9D1BA}"/>
              </a:ext>
            </a:extLst>
          </p:cNvPr>
          <p:cNvSpPr>
            <a:spLocks noGrp="1"/>
          </p:cNvSpPr>
          <p:nvPr>
            <p:ph idx="1"/>
          </p:nvPr>
        </p:nvSpPr>
        <p:spPr/>
        <p:txBody>
          <a:bodyPr>
            <a:normAutofit fontScale="92500" lnSpcReduction="20000"/>
          </a:bodyPr>
          <a:lstStyle/>
          <a:p>
            <a:r>
              <a:rPr lang="en-GB" dirty="0"/>
              <a:t>There are basically three types of search problems. </a:t>
            </a:r>
          </a:p>
          <a:p>
            <a:pPr lvl="1"/>
            <a:r>
              <a:rPr lang="en-GB" b="1" dirty="0"/>
              <a:t>Representation problems</a:t>
            </a:r>
            <a:r>
              <a:rPr lang="en-GB" dirty="0"/>
              <a:t>: Only need a representation of the system in a desired state, e.g. crossword puzzles. </a:t>
            </a:r>
          </a:p>
          <a:p>
            <a:pPr lvl="1"/>
            <a:r>
              <a:rPr lang="en-GB" b="1" dirty="0"/>
              <a:t>Goal finding problems</a:t>
            </a:r>
            <a:r>
              <a:rPr lang="en-GB" dirty="0"/>
              <a:t>: We only know the properties that a goal state should have, but we don't even know if any goal states exist. We just need to find a state that satisfies certain constraints for being a goal state. We don't care what action sequence gets us there. In these problems, optimality is concerned with the "best state". Examples: N-queens, integrated circuit layout and most other kinds of optimization problems.</a:t>
            </a:r>
          </a:p>
          <a:p>
            <a:pPr lvl="1"/>
            <a:r>
              <a:rPr lang="en-GB" b="1" dirty="0"/>
              <a:t>Action sequence finding problems</a:t>
            </a:r>
            <a:r>
              <a:rPr lang="en-GB" dirty="0"/>
              <a:t>: We know the state space in advance. We know which states are goals. We have to find the sequence of actions that get us to a goal state. In these problems, optimality is concerned with "cheapest path". Examples: mathematical theorems, Towers of Hanoi, 8 puzzle, water-jug problem and many other robotics problems.</a:t>
            </a:r>
          </a:p>
          <a:p>
            <a:endParaRPr lang="en-US" dirty="0"/>
          </a:p>
        </p:txBody>
      </p:sp>
    </p:spTree>
    <p:extLst>
      <p:ext uri="{BB962C8B-B14F-4D97-AF65-F5344CB8AC3E}">
        <p14:creationId xmlns:p14="http://schemas.microsoft.com/office/powerpoint/2010/main" val="959871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DC982-A4D1-9BDB-E00A-57B1B819C813}"/>
              </a:ext>
            </a:extLst>
          </p:cNvPr>
          <p:cNvSpPr>
            <a:spLocks noGrp="1"/>
          </p:cNvSpPr>
          <p:nvPr>
            <p:ph type="title"/>
          </p:nvPr>
        </p:nvSpPr>
        <p:spPr/>
        <p:txBody>
          <a:bodyPr/>
          <a:lstStyle/>
          <a:p>
            <a:r>
              <a:rPr lang="en-GB" dirty="0"/>
              <a:t>What You Should Know</a:t>
            </a:r>
            <a:endParaRPr lang="en-US" dirty="0"/>
          </a:p>
        </p:txBody>
      </p:sp>
      <p:sp>
        <p:nvSpPr>
          <p:cNvPr id="3" name="Content Placeholder 2">
            <a:extLst>
              <a:ext uri="{FF2B5EF4-FFF2-40B4-BE49-F238E27FC236}">
                <a16:creationId xmlns:a16="http://schemas.microsoft.com/office/drawing/2014/main" id="{E12D8869-C111-ED78-26EA-385070835128}"/>
              </a:ext>
            </a:extLst>
          </p:cNvPr>
          <p:cNvSpPr>
            <a:spLocks noGrp="1"/>
          </p:cNvSpPr>
          <p:nvPr>
            <p:ph idx="1"/>
          </p:nvPr>
        </p:nvSpPr>
        <p:spPr/>
        <p:txBody>
          <a:bodyPr>
            <a:normAutofit/>
          </a:bodyPr>
          <a:lstStyle/>
          <a:p>
            <a:r>
              <a:rPr lang="en-GB" dirty="0"/>
              <a:t>Most problem solving tasks may be formulated as state space search.</a:t>
            </a:r>
          </a:p>
          <a:p>
            <a:r>
              <a:rPr lang="en-GB" dirty="0"/>
              <a:t> Mathematical representations for search are graphs and search trees.</a:t>
            </a:r>
          </a:p>
          <a:p>
            <a:r>
              <a:rPr lang="en-GB" dirty="0"/>
              <a:t> Depth-first and breadth-first search may be framed, among others, as instances of a generic search strategy.</a:t>
            </a:r>
          </a:p>
          <a:p>
            <a:r>
              <a:rPr lang="en-GB" dirty="0"/>
              <a:t> Cycle detection is required to achieve efficiency and completeness.</a:t>
            </a:r>
            <a:endParaRPr lang="en-US" dirty="0"/>
          </a:p>
        </p:txBody>
      </p:sp>
    </p:spTree>
    <p:extLst>
      <p:ext uri="{BB962C8B-B14F-4D97-AF65-F5344CB8AC3E}">
        <p14:creationId xmlns:p14="http://schemas.microsoft.com/office/powerpoint/2010/main" val="3310673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1753</TotalTime>
  <Words>1769</Words>
  <Application>Microsoft Office PowerPoint</Application>
  <PresentationFormat>Widescreen</PresentationFormat>
  <Paragraphs>165</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Century Schoolbook</vt:lpstr>
      <vt:lpstr>Symbol</vt:lpstr>
      <vt:lpstr>Office Theme</vt:lpstr>
      <vt:lpstr>State Space Search</vt:lpstr>
      <vt:lpstr>State space</vt:lpstr>
      <vt:lpstr>State space</vt:lpstr>
      <vt:lpstr>State space</vt:lpstr>
      <vt:lpstr>Problem solving by searching: State space search</vt:lpstr>
      <vt:lpstr>Application</vt:lpstr>
      <vt:lpstr>PowerPoint Presentation</vt:lpstr>
      <vt:lpstr>Formulating State Space Search</vt:lpstr>
      <vt:lpstr>Formulating State Space Search</vt:lpstr>
      <vt:lpstr>Formulating state space search</vt:lpstr>
      <vt:lpstr>Types of State Space Search Problems</vt:lpstr>
      <vt:lpstr>Formal representation of State Space Search Problem</vt:lpstr>
      <vt:lpstr>Formal representation of State Space Search Problem</vt:lpstr>
      <vt:lpstr>The search agent</vt:lpstr>
      <vt:lpstr>Some Classical search problems</vt:lpstr>
      <vt:lpstr>Formulating water-jug problem as a state space search problem</vt:lpstr>
      <vt:lpstr>The 8-puzzle problem</vt:lpstr>
      <vt:lpstr>N-Queen or 8-Queen problem</vt:lpstr>
      <vt:lpstr>Route finding problem</vt:lpstr>
      <vt:lpstr>More examples</vt:lpstr>
      <vt:lpstr>Toy Problems versus Real-world problems</vt:lpstr>
      <vt:lpstr>Problem types</vt:lpstr>
      <vt:lpstr>What You Should Know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Space Search</dc:title>
  <dc:creator>Iftekhar Mahmud Towhid</dc:creator>
  <cp:lastModifiedBy>Iftekhar Mahmud Towhid</cp:lastModifiedBy>
  <cp:revision>47</cp:revision>
  <dcterms:created xsi:type="dcterms:W3CDTF">2024-05-14T15:33:10Z</dcterms:created>
  <dcterms:modified xsi:type="dcterms:W3CDTF">2025-02-27T09:52:21Z</dcterms:modified>
</cp:coreProperties>
</file>