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43" r:id="rId3"/>
    <p:sldId id="257" r:id="rId4"/>
    <p:sldId id="258" r:id="rId5"/>
    <p:sldId id="260" r:id="rId6"/>
    <p:sldId id="319" r:id="rId7"/>
    <p:sldId id="339" r:id="rId8"/>
    <p:sldId id="340" r:id="rId9"/>
    <p:sldId id="341" r:id="rId10"/>
    <p:sldId id="342" r:id="rId11"/>
    <p:sldId id="259" r:id="rId12"/>
    <p:sldId id="261" r:id="rId13"/>
    <p:sldId id="320" r:id="rId14"/>
    <p:sldId id="322" r:id="rId15"/>
    <p:sldId id="321"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35" r:id="rId29"/>
    <p:sldId id="336" r:id="rId30"/>
    <p:sldId id="337" r:id="rId31"/>
    <p:sldId id="345" r:id="rId32"/>
    <p:sldId id="338" r:id="rId33"/>
    <p:sldId id="344" r:id="rId34"/>
    <p:sldId id="34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0884C7-52B3-47DB-AF32-26306DFAF9B7}" type="datetimeFigureOut">
              <a:rPr lang="en-US" smtClean="0"/>
              <a:t>10/14/2024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59E54-6E65-400D-B3ED-A72BD132C46B}" type="slidenum">
              <a:rPr lang="en-US" smtClean="0"/>
              <a:t>‹#›</a:t>
            </a:fld>
            <a:endParaRPr lang="en-US"/>
          </a:p>
        </p:txBody>
      </p:sp>
    </p:spTree>
    <p:extLst>
      <p:ext uri="{BB962C8B-B14F-4D97-AF65-F5344CB8AC3E}">
        <p14:creationId xmlns:p14="http://schemas.microsoft.com/office/powerpoint/2010/main" val="1307307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F622488-CB91-7DE8-8324-A45C4CDC2DB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85E6FEA-7C30-4044-A149-6112C5A9CFD1}" type="slidenum">
              <a:rPr lang="en-US" altLang="en-US"/>
              <a:pPr/>
              <a:t>6</a:t>
            </a:fld>
            <a:endParaRPr lang="en-US" altLang="en-US"/>
          </a:p>
        </p:txBody>
      </p:sp>
      <p:sp>
        <p:nvSpPr>
          <p:cNvPr id="39939" name="Rectangle 2">
            <a:extLst>
              <a:ext uri="{FF2B5EF4-FFF2-40B4-BE49-F238E27FC236}">
                <a16:creationId xmlns:a16="http://schemas.microsoft.com/office/drawing/2014/main" id="{7503220C-1418-EE0F-84E3-CFD61E96B743}"/>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650D91BC-BAE7-F0D5-CC99-77A2ACD5CE2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9224-2660-4079-2AB6-E42C389170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EF7841-9FF1-C123-DD60-EF87E7ADA9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647DA9-A030-5343-A81D-D80C7ED828A2}"/>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5" name="Footer Placeholder 4">
            <a:extLst>
              <a:ext uri="{FF2B5EF4-FFF2-40B4-BE49-F238E27FC236}">
                <a16:creationId xmlns:a16="http://schemas.microsoft.com/office/drawing/2014/main" id="{79D3182A-1E5C-933E-046D-C1A36A6CDB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C2CD07-1F57-4937-C5BD-39FE2D214E6A}"/>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104440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B085A-DBCC-D3D9-F280-C3B00ECD25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5BC089-C065-4C21-3E90-A27BEDDF06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78755-EF2D-F484-D05A-EE3757956E0F}"/>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5" name="Footer Placeholder 4">
            <a:extLst>
              <a:ext uri="{FF2B5EF4-FFF2-40B4-BE49-F238E27FC236}">
                <a16:creationId xmlns:a16="http://schemas.microsoft.com/office/drawing/2014/main" id="{3114AAFE-963B-6DC6-9688-BA13C4B01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D035CF-BAE7-20EC-745E-B63358B020C3}"/>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3739713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B39EA-9533-6DE4-D471-9DE87FFDB4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FB95EE-44C7-0CEB-BCA8-2CD100D269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DEE948-0726-7E5D-AC7E-0A265DAE5A91}"/>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5" name="Footer Placeholder 4">
            <a:extLst>
              <a:ext uri="{FF2B5EF4-FFF2-40B4-BE49-F238E27FC236}">
                <a16:creationId xmlns:a16="http://schemas.microsoft.com/office/drawing/2014/main" id="{765C505A-FBC1-8F7A-7EE0-31DBEC2B3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3B8CE7-C34F-98C3-4CFD-CCFEE28E5D68}"/>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3631066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89C36-D577-6403-5880-FE86E0F25B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44B090-9466-831A-DE8E-53766E39B2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87A7B5-8300-C77F-6E5A-CE8A9AB2B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EBEAFB-E340-4D5D-C38B-C299A3D7EF87}"/>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6" name="Footer Placeholder 5">
            <a:extLst>
              <a:ext uri="{FF2B5EF4-FFF2-40B4-BE49-F238E27FC236}">
                <a16:creationId xmlns:a16="http://schemas.microsoft.com/office/drawing/2014/main" id="{0053FE89-1E39-0623-9108-11B1AB485F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7651A-5FAC-CF26-E4E0-8771A340249A}"/>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2606736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C7E7-9DF1-C0E5-F5E2-252AD2BE80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47C6CE-E445-AB72-932E-78503CF631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89C487-7603-E5C1-1965-9469E17909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B2E26A-E9AA-96DC-07E8-1105A20EEB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EB1DE9-F501-E738-E1A2-0DDC5A0B49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09D0B5-C5D6-6643-66DC-88E2D0004107}"/>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8" name="Footer Placeholder 7">
            <a:extLst>
              <a:ext uri="{FF2B5EF4-FFF2-40B4-BE49-F238E27FC236}">
                <a16:creationId xmlns:a16="http://schemas.microsoft.com/office/drawing/2014/main" id="{B6CC42B3-F2CA-49E9-6CDB-967CF8F83C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201BD1-F7CA-F00C-3AF9-439ADB5368DE}"/>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3721440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001B8-565A-D4C3-1189-D319A7CB31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6A98DE-F919-14FC-69BD-B5D68F0A2055}"/>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4" name="Footer Placeholder 3">
            <a:extLst>
              <a:ext uri="{FF2B5EF4-FFF2-40B4-BE49-F238E27FC236}">
                <a16:creationId xmlns:a16="http://schemas.microsoft.com/office/drawing/2014/main" id="{76611091-DBA1-850E-E92B-ECDA33088C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6CAFBB-DE05-24D8-3FC0-412204CF7003}"/>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2301127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C1C28-E943-D4EB-6B04-4636F438AEB2}"/>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3" name="Footer Placeholder 2">
            <a:extLst>
              <a:ext uri="{FF2B5EF4-FFF2-40B4-BE49-F238E27FC236}">
                <a16:creationId xmlns:a16="http://schemas.microsoft.com/office/drawing/2014/main" id="{2E13DF94-F11D-E05F-BB44-CDCDD6C139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F53B5C-25F6-1CFB-A3E1-239FF35F0513}"/>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4132265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E259B-1F8F-49D3-5967-C8273C7422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8FC69-D58C-8E16-6D6C-60757D6D08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3EE47D-6F98-22EA-72CD-1DA0D04C2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C15E6-474D-3419-8B43-69A49D252E89}"/>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6" name="Footer Placeholder 5">
            <a:extLst>
              <a:ext uri="{FF2B5EF4-FFF2-40B4-BE49-F238E27FC236}">
                <a16:creationId xmlns:a16="http://schemas.microsoft.com/office/drawing/2014/main" id="{1316340E-BEE7-141F-B3DF-10616C59E5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ABC2D4-9BA3-0873-B172-FA8E376D45FB}"/>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2177812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D8677-8372-8ABC-068B-E9A9AC4890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9583B2-8B66-E807-ECCF-C681E26D59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0A1093-806D-F517-6C77-BCE9A087D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992973-2678-D9B1-5F77-203922D0D245}"/>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6" name="Footer Placeholder 5">
            <a:extLst>
              <a:ext uri="{FF2B5EF4-FFF2-40B4-BE49-F238E27FC236}">
                <a16:creationId xmlns:a16="http://schemas.microsoft.com/office/drawing/2014/main" id="{B95719A2-3A14-05B8-F155-079A13B656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F0DBC4-93E9-9B56-5A6C-3ED408A5B53A}"/>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1736264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D314-8BE3-237F-80F2-1DD06CE321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9F6921-BDF9-B298-1BE8-5F1363F3EA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511038-F6B8-9F97-97C3-10CD0AE895F7}"/>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5" name="Footer Placeholder 4">
            <a:extLst>
              <a:ext uri="{FF2B5EF4-FFF2-40B4-BE49-F238E27FC236}">
                <a16:creationId xmlns:a16="http://schemas.microsoft.com/office/drawing/2014/main" id="{CA874E7A-994A-FAE0-63B8-97068789F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F4C77-6F60-719F-D05F-3E9C25FA73B4}"/>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76775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CEB63A-7F15-9E25-0EA9-B3C2ED765A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9F51B8-EF1F-92BB-07DC-5DFDA7408E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5380F8-CCCD-2C00-6436-2DE1626B6941}"/>
              </a:ext>
            </a:extLst>
          </p:cNvPr>
          <p:cNvSpPr>
            <a:spLocks noGrp="1"/>
          </p:cNvSpPr>
          <p:nvPr>
            <p:ph type="dt" sz="half" idx="10"/>
          </p:nvPr>
        </p:nvSpPr>
        <p:spPr/>
        <p:txBody>
          <a:bodyPr/>
          <a:lstStyle/>
          <a:p>
            <a:fld id="{071AAF6F-4B02-426A-9305-677F23554F30}" type="datetimeFigureOut">
              <a:rPr lang="en-US" smtClean="0"/>
              <a:t>10/14/2024</a:t>
            </a:fld>
            <a:endParaRPr lang="en-US"/>
          </a:p>
        </p:txBody>
      </p:sp>
      <p:sp>
        <p:nvSpPr>
          <p:cNvPr id="5" name="Footer Placeholder 4">
            <a:extLst>
              <a:ext uri="{FF2B5EF4-FFF2-40B4-BE49-F238E27FC236}">
                <a16:creationId xmlns:a16="http://schemas.microsoft.com/office/drawing/2014/main" id="{895AD938-5F6E-5187-A101-19986F57E2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5A5475-43B8-EA0C-8F75-0F7B9ADFB9B3}"/>
              </a:ext>
            </a:extLst>
          </p:cNvPr>
          <p:cNvSpPr>
            <a:spLocks noGrp="1"/>
          </p:cNvSpPr>
          <p:nvPr>
            <p:ph type="sldNum" sz="quarter" idx="12"/>
          </p:nvPr>
        </p:nvSpPr>
        <p:spPr/>
        <p:txBody>
          <a:bodyPr/>
          <a:lstStyle/>
          <a:p>
            <a:fld id="{1AB017F9-1720-41F5-B8DD-E28E2A82C68F}" type="slidenum">
              <a:rPr lang="en-US" smtClean="0"/>
              <a:t>‹#›</a:t>
            </a:fld>
            <a:endParaRPr lang="en-US"/>
          </a:p>
        </p:txBody>
      </p:sp>
    </p:spTree>
    <p:extLst>
      <p:ext uri="{BB962C8B-B14F-4D97-AF65-F5344CB8AC3E}">
        <p14:creationId xmlns:p14="http://schemas.microsoft.com/office/powerpoint/2010/main" val="2614838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C13960-2F8C-DF93-3DE6-6DCCD9C767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3CCF3D-6E01-F253-5C05-3CF2314F9F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A1833C-46DC-011F-7766-BA9EBD0B6D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1AAF6F-4B02-426A-9305-677F23554F30}" type="datetimeFigureOut">
              <a:rPr lang="en-US" smtClean="0"/>
              <a:t>10/14/2024</a:t>
            </a:fld>
            <a:endParaRPr lang="en-US"/>
          </a:p>
        </p:txBody>
      </p:sp>
      <p:sp>
        <p:nvSpPr>
          <p:cNvPr id="5" name="Footer Placeholder 4">
            <a:extLst>
              <a:ext uri="{FF2B5EF4-FFF2-40B4-BE49-F238E27FC236}">
                <a16:creationId xmlns:a16="http://schemas.microsoft.com/office/drawing/2014/main" id="{AFEAA932-41EE-448B-B026-3CE1F22466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FDD36AF-2D1D-9945-9FDC-3BB7ABC0DE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B017F9-1720-41F5-B8DD-E28E2A82C68F}" type="slidenum">
              <a:rPr lang="en-US" smtClean="0"/>
              <a:t>‹#›</a:t>
            </a:fld>
            <a:endParaRPr lang="en-US"/>
          </a:p>
        </p:txBody>
      </p:sp>
    </p:spTree>
    <p:extLst>
      <p:ext uri="{BB962C8B-B14F-4D97-AF65-F5344CB8AC3E}">
        <p14:creationId xmlns:p14="http://schemas.microsoft.com/office/powerpoint/2010/main" val="1338463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HZGCoVF3YvM" TargetMode="External"/><Relationship Id="rId2" Type="http://schemas.openxmlformats.org/officeDocument/2006/relationships/hyperlink" Target="https://www.youtube.com/watch?v=R13BD8qKeTg" TargetMode="External"/><Relationship Id="rId1" Type="http://schemas.openxmlformats.org/officeDocument/2006/relationships/slideLayout" Target="../slideLayouts/slideLayout2.xml"/><Relationship Id="rId4" Type="http://schemas.openxmlformats.org/officeDocument/2006/relationships/hyperlink" Target="https://www.youtube.com/watch?v=XQoLVl31ZfQ"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R13BD8qKeT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n.wikipedia.org/wiki/Arg_max"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8CE4A-E992-FD16-DDC9-47241B904F64}"/>
              </a:ext>
            </a:extLst>
          </p:cNvPr>
          <p:cNvSpPr>
            <a:spLocks noGrp="1"/>
          </p:cNvSpPr>
          <p:nvPr>
            <p:ph type="ctrTitle"/>
          </p:nvPr>
        </p:nvSpPr>
        <p:spPr/>
        <p:txBody>
          <a:bodyPr/>
          <a:lstStyle/>
          <a:p>
            <a:r>
              <a:rPr lang="en-US" dirty="0"/>
              <a:t>Bayesian Network</a:t>
            </a:r>
            <a:br>
              <a:rPr lang="en-US" dirty="0"/>
            </a:br>
            <a:r>
              <a:rPr lang="en-US" dirty="0"/>
              <a:t>Bayesian Reasoning</a:t>
            </a:r>
          </a:p>
        </p:txBody>
      </p:sp>
      <p:sp>
        <p:nvSpPr>
          <p:cNvPr id="3" name="Subtitle 2">
            <a:extLst>
              <a:ext uri="{FF2B5EF4-FFF2-40B4-BE49-F238E27FC236}">
                <a16:creationId xmlns:a16="http://schemas.microsoft.com/office/drawing/2014/main" id="{6B287FDC-4B0C-6A0E-9E34-917C403685B0}"/>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406924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0BAD6-6DB3-0DDC-4E0B-0E95E2B27943}"/>
              </a:ext>
            </a:extLst>
          </p:cNvPr>
          <p:cNvSpPr>
            <a:spLocks noGrp="1"/>
          </p:cNvSpPr>
          <p:nvPr>
            <p:ph type="title"/>
          </p:nvPr>
        </p:nvSpPr>
        <p:spPr/>
        <p:txBody>
          <a:bodyPr/>
          <a:lstStyle/>
          <a:p>
            <a:r>
              <a:rPr lang="en-US" dirty="0"/>
              <a:t>Recommended</a:t>
            </a:r>
          </a:p>
        </p:txBody>
      </p:sp>
      <p:sp>
        <p:nvSpPr>
          <p:cNvPr id="3" name="Content Placeholder 2">
            <a:extLst>
              <a:ext uri="{FF2B5EF4-FFF2-40B4-BE49-F238E27FC236}">
                <a16:creationId xmlns:a16="http://schemas.microsoft.com/office/drawing/2014/main" id="{F46F86D9-D672-4B08-7652-5DAFC1BE3BEB}"/>
              </a:ext>
            </a:extLst>
          </p:cNvPr>
          <p:cNvSpPr>
            <a:spLocks noGrp="1"/>
          </p:cNvSpPr>
          <p:nvPr>
            <p:ph idx="1"/>
          </p:nvPr>
        </p:nvSpPr>
        <p:spPr/>
        <p:txBody>
          <a:bodyPr/>
          <a:lstStyle/>
          <a:p>
            <a:r>
              <a:rPr lang="en-US" dirty="0"/>
              <a:t>To get a visual understanding of this topic, watch the following videos:</a:t>
            </a:r>
          </a:p>
          <a:p>
            <a:pPr lvl="1"/>
            <a:r>
              <a:rPr lang="en-GB" dirty="0">
                <a:hlinkClick r:id="rId2"/>
              </a:rPr>
              <a:t>(123) The Bayesian Trap – YouTube</a:t>
            </a:r>
            <a:endParaRPr lang="en-US" dirty="0"/>
          </a:p>
          <a:p>
            <a:pPr lvl="1"/>
            <a:r>
              <a:rPr lang="en-GB" dirty="0">
                <a:hlinkClick r:id="rId3"/>
              </a:rPr>
              <a:t>Bayes theorem, the geometry of changing beliefs – YouTube</a:t>
            </a:r>
            <a:endParaRPr lang="en-US" dirty="0"/>
          </a:p>
          <a:p>
            <a:pPr lvl="1"/>
            <a:r>
              <a:rPr lang="en-GB" dirty="0">
                <a:hlinkClick r:id="rId4"/>
              </a:rPr>
              <a:t>Bayes' Theorem - The Simplest Case (youtube.com)</a:t>
            </a:r>
            <a:endParaRPr lang="en-US" dirty="0"/>
          </a:p>
        </p:txBody>
      </p:sp>
    </p:spTree>
    <p:extLst>
      <p:ext uri="{BB962C8B-B14F-4D97-AF65-F5344CB8AC3E}">
        <p14:creationId xmlns:p14="http://schemas.microsoft.com/office/powerpoint/2010/main" val="2074742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91067-9BE9-8ED8-1EB5-40F2097484A8}"/>
              </a:ext>
            </a:extLst>
          </p:cNvPr>
          <p:cNvSpPr>
            <a:spLocks noGrp="1"/>
          </p:cNvSpPr>
          <p:nvPr>
            <p:ph type="title"/>
          </p:nvPr>
        </p:nvSpPr>
        <p:spPr/>
        <p:txBody>
          <a:bodyPr/>
          <a:lstStyle/>
          <a:p>
            <a:r>
              <a:rPr lang="en-US" dirty="0"/>
              <a:t>Bayesian Reasoning</a:t>
            </a:r>
          </a:p>
        </p:txBody>
      </p:sp>
      <p:sp>
        <p:nvSpPr>
          <p:cNvPr id="3" name="Content Placeholder 2">
            <a:extLst>
              <a:ext uri="{FF2B5EF4-FFF2-40B4-BE49-F238E27FC236}">
                <a16:creationId xmlns:a16="http://schemas.microsoft.com/office/drawing/2014/main" id="{E57F57FD-ED0C-21E2-7B8F-C990354D7000}"/>
              </a:ext>
            </a:extLst>
          </p:cNvPr>
          <p:cNvSpPr>
            <a:spLocks noGrp="1"/>
          </p:cNvSpPr>
          <p:nvPr>
            <p:ph idx="1"/>
          </p:nvPr>
        </p:nvSpPr>
        <p:spPr/>
        <p:txBody>
          <a:bodyPr/>
          <a:lstStyle/>
          <a:p>
            <a:r>
              <a:rPr lang="en-GB" dirty="0"/>
              <a:t>Practical AI systems have to cope with </a:t>
            </a:r>
            <a:r>
              <a:rPr lang="en-GB" b="1" dirty="0"/>
              <a:t>uncertainty</a:t>
            </a:r>
            <a:r>
              <a:rPr lang="en-GB" dirty="0"/>
              <a:t> — that is, they have to deal with incomplete evidence leading to beliefs that fall short of knowledge, with fallible conclusions and the need to recover from error, called </a:t>
            </a:r>
            <a:r>
              <a:rPr lang="en-GB" b="1"/>
              <a:t>non-monotonic reasoning</a:t>
            </a:r>
            <a:r>
              <a:rPr lang="en-GB"/>
              <a:t>. </a:t>
            </a:r>
            <a:endParaRPr lang="en-GB" dirty="0"/>
          </a:p>
          <a:p>
            <a:r>
              <a:rPr lang="en-GB" dirty="0"/>
              <a:t>General-purpose AI need to be able to reason probabilistically, what we call here </a:t>
            </a:r>
            <a:r>
              <a:rPr lang="en-GB" b="1"/>
              <a:t>Bayesian reasoning</a:t>
            </a:r>
            <a:r>
              <a:rPr lang="en-GB"/>
              <a:t>.</a:t>
            </a:r>
            <a:endParaRPr lang="en-GB" dirty="0"/>
          </a:p>
          <a:p>
            <a:endParaRPr lang="en-US" dirty="0"/>
          </a:p>
        </p:txBody>
      </p:sp>
    </p:spTree>
    <p:extLst>
      <p:ext uri="{BB962C8B-B14F-4D97-AF65-F5344CB8AC3E}">
        <p14:creationId xmlns:p14="http://schemas.microsoft.com/office/powerpoint/2010/main" val="3541447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9C5F1-0238-68B3-1E8B-C03FCFA6E135}"/>
              </a:ext>
            </a:extLst>
          </p:cNvPr>
          <p:cNvSpPr>
            <a:spLocks noGrp="1"/>
          </p:cNvSpPr>
          <p:nvPr>
            <p:ph type="title"/>
          </p:nvPr>
        </p:nvSpPr>
        <p:spPr/>
        <p:txBody>
          <a:bodyPr/>
          <a:lstStyle/>
          <a:p>
            <a:r>
              <a:rPr lang="en-US" dirty="0"/>
              <a:t>Bayesian Reasoning</a:t>
            </a:r>
          </a:p>
        </p:txBody>
      </p:sp>
      <p:sp>
        <p:nvSpPr>
          <p:cNvPr id="3" name="Content Placeholder 2">
            <a:extLst>
              <a:ext uri="{FF2B5EF4-FFF2-40B4-BE49-F238E27FC236}">
                <a16:creationId xmlns:a16="http://schemas.microsoft.com/office/drawing/2014/main" id="{31FD90B6-DDD4-E2B8-7458-90DE240A1EEB}"/>
              </a:ext>
            </a:extLst>
          </p:cNvPr>
          <p:cNvSpPr>
            <a:spLocks noGrp="1"/>
          </p:cNvSpPr>
          <p:nvPr>
            <p:ph idx="1"/>
          </p:nvPr>
        </p:nvSpPr>
        <p:spPr/>
        <p:txBody>
          <a:bodyPr>
            <a:normAutofit fontScale="92500" lnSpcReduction="20000"/>
          </a:bodyPr>
          <a:lstStyle/>
          <a:p>
            <a:r>
              <a:rPr lang="en-GB" dirty="0"/>
              <a:t>There are at least three distinct forms of uncertainty which an intelligent system operating in anything like our world shall need to cope with:</a:t>
            </a:r>
          </a:p>
          <a:p>
            <a:pPr marL="914400" lvl="1" indent="-457200">
              <a:buFont typeface="+mj-lt"/>
              <a:buAutoNum type="arabicPeriod"/>
            </a:pPr>
            <a:r>
              <a:rPr lang="en-GB" dirty="0"/>
              <a:t> </a:t>
            </a:r>
            <a:r>
              <a:rPr lang="en-GB" b="1" dirty="0"/>
              <a:t>Ignorance:</a:t>
            </a:r>
            <a:r>
              <a:rPr lang="en-GB" dirty="0"/>
              <a:t> The limits of our knowledge lead us to be uncertain about </a:t>
            </a:r>
            <a:r>
              <a:rPr lang="en-GB"/>
              <a:t>many things. </a:t>
            </a:r>
            <a:r>
              <a:rPr lang="en-GB" dirty="0"/>
              <a:t>Does our poker opponent have a flush or is she bluffing?</a:t>
            </a:r>
          </a:p>
          <a:p>
            <a:pPr marL="914400" lvl="1" indent="-457200">
              <a:buFont typeface="+mj-lt"/>
              <a:buAutoNum type="arabicPeriod"/>
            </a:pPr>
            <a:r>
              <a:rPr lang="en-GB" dirty="0"/>
              <a:t> </a:t>
            </a:r>
            <a:r>
              <a:rPr lang="en-GB" b="1" dirty="0"/>
              <a:t>Physical randomness or indeterminism:</a:t>
            </a:r>
            <a:r>
              <a:rPr lang="en-GB" dirty="0"/>
              <a:t> Even if we know everything that we might care to investigate about a coin and how we impart spin to it when we toss it, there will remain an inescapable degree of uncertainty about whether it will land heads or tails when we </a:t>
            </a:r>
            <a:r>
              <a:rPr lang="en-GB"/>
              <a:t>toss it. </a:t>
            </a:r>
            <a:r>
              <a:rPr lang="en-GB" dirty="0"/>
              <a:t>A die-hard determinist might claim otherwise, that some unimagined amount of detailed investigation might someday reveal which way the coin will fall; but such a view is for the foreseeable future a mere act of </a:t>
            </a:r>
            <a:r>
              <a:rPr lang="en-GB"/>
              <a:t>scientistic faith. </a:t>
            </a:r>
            <a:r>
              <a:rPr lang="en-GB" dirty="0"/>
              <a:t>We are all </a:t>
            </a:r>
            <a:r>
              <a:rPr lang="en-GB"/>
              <a:t>practical indeterminists.</a:t>
            </a:r>
            <a:endParaRPr lang="en-GB" dirty="0"/>
          </a:p>
          <a:p>
            <a:pPr marL="914400" lvl="1" indent="-457200">
              <a:buFont typeface="+mj-lt"/>
              <a:buAutoNum type="arabicPeriod"/>
            </a:pPr>
            <a:r>
              <a:rPr lang="en-GB" dirty="0"/>
              <a:t> </a:t>
            </a:r>
            <a:r>
              <a:rPr lang="en-GB" b="1" dirty="0"/>
              <a:t>Vagueness:</a:t>
            </a:r>
            <a:r>
              <a:rPr lang="en-GB" dirty="0"/>
              <a:t> Many of the predicates we employ appear to </a:t>
            </a:r>
            <a:r>
              <a:rPr lang="en-GB"/>
              <a:t>be vague. </a:t>
            </a:r>
            <a:r>
              <a:rPr lang="en-GB" dirty="0"/>
              <a:t>It is unclear whether to classify a dog as a spaniel or not, a human as brave or not, a thought as knowledge </a:t>
            </a:r>
            <a:r>
              <a:rPr lang="en-GB"/>
              <a:t>or opinion.</a:t>
            </a:r>
            <a:endParaRPr lang="en-US" dirty="0"/>
          </a:p>
        </p:txBody>
      </p:sp>
    </p:spTree>
    <p:extLst>
      <p:ext uri="{BB962C8B-B14F-4D97-AF65-F5344CB8AC3E}">
        <p14:creationId xmlns:p14="http://schemas.microsoft.com/office/powerpoint/2010/main" val="4129770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9F053-0FC6-4067-F006-FA7A87D2E9CB}"/>
              </a:ext>
            </a:extLst>
          </p:cNvPr>
          <p:cNvSpPr>
            <a:spLocks noGrp="1"/>
          </p:cNvSpPr>
          <p:nvPr>
            <p:ph type="title"/>
          </p:nvPr>
        </p:nvSpPr>
        <p:spPr/>
        <p:txBody>
          <a:bodyPr/>
          <a:lstStyle/>
          <a:p>
            <a:r>
              <a:rPr lang="en-US" dirty="0"/>
              <a:t>Bayes Rule Refresher</a:t>
            </a:r>
          </a:p>
        </p:txBody>
      </p:sp>
      <p:sp>
        <p:nvSpPr>
          <p:cNvPr id="3" name="Content Placeholder 2">
            <a:extLst>
              <a:ext uri="{FF2B5EF4-FFF2-40B4-BE49-F238E27FC236}">
                <a16:creationId xmlns:a16="http://schemas.microsoft.com/office/drawing/2014/main" id="{43103F6F-C0A7-9DA1-E562-0D1C3FD10862}"/>
              </a:ext>
            </a:extLst>
          </p:cNvPr>
          <p:cNvSpPr>
            <a:spLocks noGrp="1"/>
          </p:cNvSpPr>
          <p:nvPr>
            <p:ph idx="1"/>
          </p:nvPr>
        </p:nvSpPr>
        <p:spPr/>
        <p:txBody>
          <a:bodyPr/>
          <a:lstStyle/>
          <a:p>
            <a:r>
              <a:rPr lang="en-US" dirty="0"/>
              <a:t>Conditional Probability: If A and B are dependent variables, then probability of event A occurring given event B already occurred is :  </a:t>
            </a:r>
          </a:p>
          <a:p>
            <a:pPr lvl="1"/>
            <a:r>
              <a:rPr lang="en-US" dirty="0"/>
              <a:t>P(A|B) = P(A </a:t>
            </a:r>
            <a:r>
              <a:rPr lang="en-US" altLang="en-US" dirty="0">
                <a:sym typeface="Symbol" panose="05050102010706020507" pitchFamily="18" charset="2"/>
              </a:rPr>
              <a:t></a:t>
            </a:r>
            <a:r>
              <a:rPr lang="en-US" dirty="0"/>
              <a:t> B) / P(B)</a:t>
            </a:r>
          </a:p>
          <a:p>
            <a:r>
              <a:rPr lang="en-US" dirty="0"/>
              <a:t>Bayesian Approach:</a:t>
            </a:r>
          </a:p>
          <a:p>
            <a:pPr lvl="1"/>
            <a:r>
              <a:rPr lang="en-US" dirty="0"/>
              <a:t>Single hypothesis H, single event E</a:t>
            </a:r>
            <a:br>
              <a:rPr lang="en-US" dirty="0"/>
            </a:br>
            <a:r>
              <a:rPr lang="en-US" dirty="0"/>
              <a:t>	P(H|E) = (P(E|H) * P(H)) / P(E)</a:t>
            </a:r>
            <a:br>
              <a:rPr lang="en-US" dirty="0"/>
            </a:br>
            <a:r>
              <a:rPr lang="en-US" dirty="0"/>
              <a:t>or,</a:t>
            </a:r>
          </a:p>
          <a:p>
            <a:pPr marL="457200" lvl="1" indent="0">
              <a:buNone/>
            </a:pPr>
            <a:r>
              <a:rPr lang="en-US" dirty="0"/>
              <a:t>	P(H|E) = (P(E|H) * P(H) / </a:t>
            </a:r>
            <a:br>
              <a:rPr lang="en-US" dirty="0"/>
            </a:br>
            <a:r>
              <a:rPr lang="en-US" dirty="0"/>
              <a:t>               (P(E|H) * P(H) + P(E|</a:t>
            </a:r>
            <a:r>
              <a:rPr lang="en-US" altLang="en-US" dirty="0">
                <a:sym typeface="Symbol" panose="05050102010706020507" pitchFamily="18" charset="2"/>
              </a:rPr>
              <a:t>  </a:t>
            </a:r>
            <a:r>
              <a:rPr lang="en-US" dirty="0"/>
              <a:t>H) * P(</a:t>
            </a:r>
            <a:r>
              <a:rPr lang="en-US" altLang="en-US" dirty="0">
                <a:sym typeface="Symbol" panose="05050102010706020507" pitchFamily="18" charset="2"/>
              </a:rPr>
              <a:t> </a:t>
            </a:r>
            <a:r>
              <a:rPr lang="en-US" dirty="0"/>
              <a:t>H) )</a:t>
            </a:r>
          </a:p>
          <a:p>
            <a:endParaRPr lang="en-US" dirty="0"/>
          </a:p>
        </p:txBody>
      </p:sp>
    </p:spTree>
    <p:extLst>
      <p:ext uri="{BB962C8B-B14F-4D97-AF65-F5344CB8AC3E}">
        <p14:creationId xmlns:p14="http://schemas.microsoft.com/office/powerpoint/2010/main" val="99850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826813CE-5248-CE7D-9F3E-880011B3B532}"/>
              </a:ext>
            </a:extLst>
          </p:cNvPr>
          <p:cNvSpPr>
            <a:spLocks noGrp="1" noChangeArrowheads="1"/>
          </p:cNvSpPr>
          <p:nvPr>
            <p:ph type="title"/>
          </p:nvPr>
        </p:nvSpPr>
        <p:spPr/>
        <p:txBody>
          <a:bodyPr/>
          <a:lstStyle/>
          <a:p>
            <a:pPr eaLnBrk="1" hangingPunct="1"/>
            <a:r>
              <a:rPr lang="en-US" altLang="en-US" sz="3500"/>
              <a:t>Bayes Example: Diagnosing Meningitis</a:t>
            </a:r>
            <a:endParaRPr lang="en-US" altLang="en-US"/>
          </a:p>
        </p:txBody>
      </p:sp>
      <p:sp>
        <p:nvSpPr>
          <p:cNvPr id="38916" name="Rectangle 3">
            <a:extLst>
              <a:ext uri="{FF2B5EF4-FFF2-40B4-BE49-F238E27FC236}">
                <a16:creationId xmlns:a16="http://schemas.microsoft.com/office/drawing/2014/main" id="{03A1A070-8B3D-B608-EEEB-895C6F43867E}"/>
              </a:ext>
            </a:extLst>
          </p:cNvPr>
          <p:cNvSpPr>
            <a:spLocks noGrp="1" noChangeArrowheads="1"/>
          </p:cNvSpPr>
          <p:nvPr>
            <p:ph idx="1"/>
          </p:nvPr>
        </p:nvSpPr>
        <p:spPr/>
        <p:txBody>
          <a:bodyPr/>
          <a:lstStyle/>
          <a:p>
            <a:pPr eaLnBrk="1" hangingPunct="1">
              <a:lnSpc>
                <a:spcPct val="90000"/>
              </a:lnSpc>
            </a:pPr>
            <a:r>
              <a:rPr lang="en-US" altLang="en-US" dirty="0"/>
              <a:t>Suppose we know that</a:t>
            </a:r>
          </a:p>
          <a:p>
            <a:pPr lvl="1" eaLnBrk="1" hangingPunct="1">
              <a:lnSpc>
                <a:spcPct val="90000"/>
              </a:lnSpc>
            </a:pPr>
            <a:r>
              <a:rPr lang="en-US" altLang="en-US" dirty="0"/>
              <a:t>Stiff neck is a symptom in 50% of meningitis cases</a:t>
            </a:r>
          </a:p>
          <a:p>
            <a:pPr lvl="1" eaLnBrk="1" hangingPunct="1">
              <a:lnSpc>
                <a:spcPct val="90000"/>
              </a:lnSpc>
            </a:pPr>
            <a:r>
              <a:rPr lang="en-US" altLang="en-US" dirty="0"/>
              <a:t>Meningitis (m) occurs in 1/50,000 patients</a:t>
            </a:r>
          </a:p>
          <a:p>
            <a:pPr lvl="1" eaLnBrk="1" hangingPunct="1">
              <a:lnSpc>
                <a:spcPct val="90000"/>
              </a:lnSpc>
            </a:pPr>
            <a:r>
              <a:rPr lang="en-US" altLang="en-US" dirty="0"/>
              <a:t>Stiff neck (s) occurs in 1/20 patients</a:t>
            </a:r>
          </a:p>
          <a:p>
            <a:pPr eaLnBrk="1" hangingPunct="1">
              <a:lnSpc>
                <a:spcPct val="90000"/>
              </a:lnSpc>
            </a:pPr>
            <a:r>
              <a:rPr lang="en-US" altLang="en-US" dirty="0"/>
              <a:t>Then</a:t>
            </a:r>
          </a:p>
          <a:p>
            <a:pPr lvl="1" eaLnBrk="1" hangingPunct="1">
              <a:lnSpc>
                <a:spcPct val="90000"/>
              </a:lnSpc>
            </a:pPr>
            <a:r>
              <a:rPr lang="en-US" altLang="en-US" dirty="0"/>
              <a:t>P(</a:t>
            </a:r>
            <a:r>
              <a:rPr lang="en-US" altLang="en-US" dirty="0" err="1"/>
              <a:t>s|m</a:t>
            </a:r>
            <a:r>
              <a:rPr lang="en-US" altLang="en-US" dirty="0"/>
              <a:t>)	</a:t>
            </a:r>
            <a:r>
              <a:rPr lang="en-US" altLang="en-US"/>
              <a:t>= 0.5</a:t>
            </a:r>
            <a:r>
              <a:rPr lang="en-US" altLang="en-US" dirty="0"/>
              <a:t>, P(m) = 1/50000, P(s) = 1/20</a:t>
            </a:r>
          </a:p>
          <a:p>
            <a:pPr lvl="1" eaLnBrk="1" hangingPunct="1">
              <a:lnSpc>
                <a:spcPct val="90000"/>
              </a:lnSpc>
            </a:pPr>
            <a:r>
              <a:rPr lang="en-US" altLang="en-US" dirty="0"/>
              <a:t>P(</a:t>
            </a:r>
            <a:r>
              <a:rPr lang="en-US" altLang="en-US" dirty="0" err="1"/>
              <a:t>m|s</a:t>
            </a:r>
            <a:r>
              <a:rPr lang="en-US" altLang="en-US" dirty="0"/>
              <a:t>)	= (P(</a:t>
            </a:r>
            <a:r>
              <a:rPr lang="en-US" altLang="en-US" dirty="0" err="1"/>
              <a:t>s|m</a:t>
            </a:r>
            <a:r>
              <a:rPr lang="en-US" altLang="en-US" dirty="0"/>
              <a:t>) P(m))/P(s)</a:t>
            </a:r>
          </a:p>
          <a:p>
            <a:pPr lvl="1" eaLnBrk="1" hangingPunct="1">
              <a:lnSpc>
                <a:spcPct val="90000"/>
              </a:lnSpc>
              <a:buFont typeface="Wingdings" panose="05000000000000000000" pitchFamily="2" charset="2"/>
              <a:buNone/>
            </a:pPr>
            <a:r>
              <a:rPr lang="en-US" altLang="en-US" dirty="0"/>
              <a:t>           	= </a:t>
            </a:r>
            <a:r>
              <a:rPr lang="en-US" altLang="en-US"/>
              <a:t>(0.5 </a:t>
            </a:r>
            <a:r>
              <a:rPr lang="en-US" altLang="en-US" dirty="0"/>
              <a:t>x 1/50000) / 1/20  </a:t>
            </a:r>
            <a:r>
              <a:rPr lang="en-US" altLang="en-US"/>
              <a:t>= .0002</a:t>
            </a:r>
            <a:endParaRPr lang="en-US" altLang="en-US" dirty="0"/>
          </a:p>
          <a:p>
            <a:pPr eaLnBrk="1" hangingPunct="1">
              <a:lnSpc>
                <a:spcPct val="90000"/>
              </a:lnSpc>
            </a:pPr>
            <a:r>
              <a:rPr lang="en-US" altLang="en-US" dirty="0"/>
              <a:t>So, we expect that one in 5000 patients with a stiff neck to </a:t>
            </a:r>
            <a:r>
              <a:rPr lang="en-US" altLang="en-US"/>
              <a:t>have meningitis.</a:t>
            </a:r>
            <a:endParaRPr lang="en-US" altLang="en-US" dirty="0"/>
          </a:p>
          <a:p>
            <a:pPr lvl="1" eaLnBrk="1" hangingPunct="1">
              <a:lnSpc>
                <a:spcPct val="90000"/>
              </a:lnSpc>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B031-A1DA-DCCC-3212-01FC0012543F}"/>
              </a:ext>
            </a:extLst>
          </p:cNvPr>
          <p:cNvSpPr>
            <a:spLocks noGrp="1"/>
          </p:cNvSpPr>
          <p:nvPr>
            <p:ph type="title"/>
          </p:nvPr>
        </p:nvSpPr>
        <p:spPr/>
        <p:txBody>
          <a:bodyPr/>
          <a:lstStyle/>
          <a:p>
            <a:r>
              <a:rPr lang="en-US" dirty="0"/>
              <a:t>Bayes Rule Example 2: Cancer Test</a:t>
            </a:r>
          </a:p>
        </p:txBody>
      </p:sp>
      <p:sp>
        <p:nvSpPr>
          <p:cNvPr id="3" name="Content Placeholder 2">
            <a:extLst>
              <a:ext uri="{FF2B5EF4-FFF2-40B4-BE49-F238E27FC236}">
                <a16:creationId xmlns:a16="http://schemas.microsoft.com/office/drawing/2014/main" id="{EF1C4D1F-3966-62ED-14BF-7A7D9CCABC10}"/>
              </a:ext>
            </a:extLst>
          </p:cNvPr>
          <p:cNvSpPr>
            <a:spLocks noGrp="1"/>
          </p:cNvSpPr>
          <p:nvPr>
            <p:ph idx="1"/>
          </p:nvPr>
        </p:nvSpPr>
        <p:spPr/>
        <p:txBody>
          <a:bodyPr>
            <a:normAutofit fontScale="92500" lnSpcReduction="10000"/>
          </a:bodyPr>
          <a:lstStyle/>
          <a:p>
            <a:r>
              <a:rPr lang="en-US" dirty="0"/>
              <a:t>We have some probabilities of cancer tests results form empirical data. The test procedure is not 100% perfect, thus we get some incorrect results.</a:t>
            </a:r>
          </a:p>
          <a:p>
            <a:pPr marL="0" indent="0">
              <a:buNone/>
            </a:pPr>
            <a:endParaRPr lang="en-US" dirty="0"/>
          </a:p>
          <a:p>
            <a:pPr lvl="1"/>
            <a:r>
              <a:rPr lang="en-US" dirty="0"/>
              <a:t>Suppose the following probabilities are given:</a:t>
            </a:r>
          </a:p>
          <a:p>
            <a:pPr lvl="2"/>
            <a:r>
              <a:rPr lang="en-US" dirty="0"/>
              <a:t>P(Test+|Cancer) = 0.9</a:t>
            </a:r>
          </a:p>
          <a:p>
            <a:pPr lvl="2"/>
            <a:r>
              <a:rPr lang="en-US" dirty="0"/>
              <a:t>P(Test-|Cancer) = 0.1 </a:t>
            </a:r>
            <a:r>
              <a:rPr lang="en-US" i="1" dirty="0"/>
              <a:t>[False negative]</a:t>
            </a:r>
          </a:p>
          <a:p>
            <a:pPr lvl="2"/>
            <a:r>
              <a:rPr lang="en-US" dirty="0"/>
              <a:t>P(Test+|No cancer) = 0.001 </a:t>
            </a:r>
            <a:r>
              <a:rPr lang="en-US" i="1" dirty="0"/>
              <a:t>[False positive]</a:t>
            </a:r>
          </a:p>
          <a:p>
            <a:pPr lvl="2"/>
            <a:r>
              <a:rPr lang="en-US" dirty="0"/>
              <a:t>P(Test-|No cancer) = 0.999</a:t>
            </a:r>
          </a:p>
          <a:p>
            <a:pPr lvl="2"/>
            <a:r>
              <a:rPr lang="en-US" dirty="0"/>
              <a:t>P(Cancer) = 0.0001 </a:t>
            </a:r>
            <a:r>
              <a:rPr lang="en-US" i="1" dirty="0"/>
              <a:t>[Cancer happens in 1 in 10000 people]</a:t>
            </a:r>
          </a:p>
          <a:p>
            <a:pPr lvl="2"/>
            <a:endParaRPr lang="en-US" i="1" dirty="0"/>
          </a:p>
          <a:p>
            <a:pPr lvl="1"/>
            <a:r>
              <a:rPr lang="en-US" b="1" i="1" dirty="0">
                <a:solidFill>
                  <a:srgbClr val="C00000"/>
                </a:solidFill>
              </a:rPr>
              <a:t>We want to know if a patient is tested positive for cancer, what is the actual probability that they have cancer?</a:t>
            </a:r>
          </a:p>
        </p:txBody>
      </p:sp>
    </p:spTree>
    <p:extLst>
      <p:ext uri="{BB962C8B-B14F-4D97-AF65-F5344CB8AC3E}">
        <p14:creationId xmlns:p14="http://schemas.microsoft.com/office/powerpoint/2010/main" val="3492873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5C5FA-6D26-6377-BDA2-26C386A94F29}"/>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CD1D1D65-8451-FFA4-7239-939124A8EFCA}"/>
              </a:ext>
            </a:extLst>
          </p:cNvPr>
          <p:cNvSpPr>
            <a:spLocks noGrp="1"/>
          </p:cNvSpPr>
          <p:nvPr>
            <p:ph idx="1"/>
          </p:nvPr>
        </p:nvSpPr>
        <p:spPr/>
        <p:txBody>
          <a:bodyPr>
            <a:normAutofit fontScale="92500" lnSpcReduction="20000"/>
          </a:bodyPr>
          <a:lstStyle/>
          <a:p>
            <a:r>
              <a:rPr lang="en-US" dirty="0"/>
              <a:t>From Bayes’ rule, we know that:</a:t>
            </a:r>
          </a:p>
          <a:p>
            <a:pPr lvl="1"/>
            <a:r>
              <a:rPr lang="en-US" dirty="0"/>
              <a:t>P(</a:t>
            </a:r>
            <a:r>
              <a:rPr lang="en-US" dirty="0" err="1"/>
              <a:t>Cancer|Test</a:t>
            </a:r>
            <a:r>
              <a:rPr lang="en-US" dirty="0"/>
              <a:t>+) = (P(Test+|Cancer) </a:t>
            </a:r>
            <a:r>
              <a:rPr lang="en-US" dirty="0">
                <a:sym typeface="Symbol" panose="05050102010706020507" pitchFamily="18" charset="2"/>
              </a:rPr>
              <a:t> P(Cancer)) / P(Test+)</a:t>
            </a:r>
          </a:p>
          <a:p>
            <a:r>
              <a:rPr lang="en-US" dirty="0">
                <a:sym typeface="Symbol" panose="05050102010706020507" pitchFamily="18" charset="2"/>
              </a:rPr>
              <a:t>First, we find P(Test+):</a:t>
            </a:r>
          </a:p>
          <a:p>
            <a:pPr lvl="1"/>
            <a:r>
              <a:rPr lang="en-US" sz="2000" dirty="0">
                <a:sym typeface="Symbol" panose="05050102010706020507" pitchFamily="18" charset="2"/>
              </a:rPr>
              <a:t>P(Test+) = P(Test+|Cancer)  P(Cancer) + P(Test+|No cancer) * P(No cancer)</a:t>
            </a:r>
            <a:endParaRPr lang="en-US" sz="1600" dirty="0">
              <a:sym typeface="Symbol" panose="05050102010706020507" pitchFamily="18" charset="2"/>
            </a:endParaRPr>
          </a:p>
          <a:p>
            <a:pPr marL="457200" lvl="1" indent="0">
              <a:buNone/>
            </a:pPr>
            <a:r>
              <a:rPr lang="en-US" sz="1600" dirty="0">
                <a:sym typeface="Symbol" panose="05050102010706020507" pitchFamily="18" charset="2"/>
              </a:rPr>
              <a:t>		= 0.9  .0001 + .01  (1 – .0001)</a:t>
            </a:r>
          </a:p>
          <a:p>
            <a:pPr marL="457200" lvl="1" indent="0">
              <a:buNone/>
            </a:pPr>
            <a:r>
              <a:rPr lang="en-US" sz="1600" dirty="0">
                <a:sym typeface="Symbol" panose="05050102010706020507" pitchFamily="18" charset="2"/>
              </a:rPr>
              <a:t>		= 0.0010899</a:t>
            </a:r>
            <a:endParaRPr lang="en-US" sz="2000" dirty="0">
              <a:sym typeface="Symbol" panose="05050102010706020507" pitchFamily="18" charset="2"/>
            </a:endParaRPr>
          </a:p>
          <a:p>
            <a:r>
              <a:rPr lang="en-US" dirty="0">
                <a:sym typeface="Symbol" panose="05050102010706020507" pitchFamily="18" charset="2"/>
              </a:rPr>
              <a:t>Now we have all the necessary information:</a:t>
            </a:r>
          </a:p>
          <a:p>
            <a:pPr lvl="1"/>
            <a:r>
              <a:rPr lang="en-US" dirty="0">
                <a:sym typeface="Symbol" panose="05050102010706020507" pitchFamily="18" charset="2"/>
              </a:rPr>
              <a:t>P(Test+|Cancer) = 0.9, P(Cancer) = .0001, P(Test+) = 0.0010899</a:t>
            </a:r>
          </a:p>
          <a:p>
            <a:pPr lvl="1"/>
            <a:r>
              <a:rPr lang="en-US" dirty="0">
                <a:sym typeface="Symbol" panose="05050102010706020507" pitchFamily="18" charset="2"/>
              </a:rPr>
              <a:t>Thus, P(</a:t>
            </a:r>
            <a:r>
              <a:rPr lang="en-US" dirty="0" err="1">
                <a:sym typeface="Symbol" panose="05050102010706020507" pitchFamily="18" charset="2"/>
              </a:rPr>
              <a:t>Cancer|Test</a:t>
            </a:r>
            <a:r>
              <a:rPr lang="en-US" dirty="0">
                <a:sym typeface="Symbol" panose="05050102010706020507" pitchFamily="18" charset="2"/>
              </a:rPr>
              <a:t>+) = (0.9 </a:t>
            </a:r>
            <a:r>
              <a:rPr lang="en-US" sz="2400" dirty="0">
                <a:sym typeface="Symbol" panose="05050102010706020507" pitchFamily="18" charset="2"/>
              </a:rPr>
              <a:t> .0001) / </a:t>
            </a:r>
            <a:r>
              <a:rPr lang="en-US" dirty="0">
                <a:sym typeface="Symbol" panose="05050102010706020507" pitchFamily="18" charset="2"/>
              </a:rPr>
              <a:t>0.0010899</a:t>
            </a:r>
          </a:p>
          <a:p>
            <a:pPr marL="457200" lvl="1" indent="0">
              <a:buNone/>
            </a:pPr>
            <a:r>
              <a:rPr lang="en-US" dirty="0">
                <a:sym typeface="Symbol" panose="05050102010706020507" pitchFamily="18" charset="2"/>
              </a:rPr>
              <a:t>				     = ~0.0826</a:t>
            </a:r>
          </a:p>
          <a:p>
            <a:r>
              <a:rPr lang="en-US" i="1" dirty="0">
                <a:solidFill>
                  <a:srgbClr val="C00000"/>
                </a:solidFill>
                <a:sym typeface="Symbol" panose="05050102010706020507" pitchFamily="18" charset="2"/>
              </a:rPr>
              <a:t>Thus, we can say that, for the given probabilities, if a patient is tested positive for cancer, the probability that they really have cancer is only ~8%.</a:t>
            </a:r>
          </a:p>
          <a:p>
            <a:pPr lvl="1"/>
            <a:endParaRPr lang="en-US" sz="1600" dirty="0">
              <a:sym typeface="Symbol" panose="05050102010706020507" pitchFamily="18" charset="2"/>
            </a:endParaRPr>
          </a:p>
        </p:txBody>
      </p:sp>
    </p:spTree>
    <p:extLst>
      <p:ext uri="{BB962C8B-B14F-4D97-AF65-F5344CB8AC3E}">
        <p14:creationId xmlns:p14="http://schemas.microsoft.com/office/powerpoint/2010/main" val="3746704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103F-BB62-B8D6-1523-6C38045882F8}"/>
              </a:ext>
            </a:extLst>
          </p:cNvPr>
          <p:cNvSpPr>
            <a:spLocks noGrp="1"/>
          </p:cNvSpPr>
          <p:nvPr>
            <p:ph type="title"/>
          </p:nvPr>
        </p:nvSpPr>
        <p:spPr/>
        <p:txBody>
          <a:bodyPr/>
          <a:lstStyle/>
          <a:p>
            <a:r>
              <a:rPr lang="en-US" dirty="0"/>
              <a:t>Belief Update</a:t>
            </a:r>
          </a:p>
        </p:txBody>
      </p:sp>
      <p:sp>
        <p:nvSpPr>
          <p:cNvPr id="3" name="Content Placeholder 2">
            <a:extLst>
              <a:ext uri="{FF2B5EF4-FFF2-40B4-BE49-F238E27FC236}">
                <a16:creationId xmlns:a16="http://schemas.microsoft.com/office/drawing/2014/main" id="{6798389C-0066-BBB6-7176-832E755B9900}"/>
              </a:ext>
            </a:extLst>
          </p:cNvPr>
          <p:cNvSpPr>
            <a:spLocks noGrp="1"/>
          </p:cNvSpPr>
          <p:nvPr>
            <p:ph idx="1"/>
          </p:nvPr>
        </p:nvSpPr>
        <p:spPr/>
        <p:txBody>
          <a:bodyPr>
            <a:normAutofit lnSpcReduction="10000"/>
          </a:bodyPr>
          <a:lstStyle/>
          <a:p>
            <a:r>
              <a:rPr lang="en-US" dirty="0"/>
              <a:t>One on the useful aspects of Bayes’ rule is that we can update beliefs.</a:t>
            </a:r>
          </a:p>
          <a:p>
            <a:pPr lvl="1"/>
            <a:r>
              <a:rPr lang="en-US" dirty="0"/>
              <a:t>Our previous belief about an event is called </a:t>
            </a:r>
            <a:r>
              <a:rPr lang="en-US" b="1" i="1" dirty="0"/>
              <a:t>prior belief</a:t>
            </a:r>
            <a:r>
              <a:rPr lang="en-US" dirty="0"/>
              <a:t>.</a:t>
            </a:r>
          </a:p>
          <a:p>
            <a:pPr lvl="1"/>
            <a:r>
              <a:rPr lang="en-US" dirty="0"/>
              <a:t>Our updated belief after observing an event is called </a:t>
            </a:r>
            <a:r>
              <a:rPr lang="en-US" b="1" i="1" dirty="0"/>
              <a:t>posterior belief</a:t>
            </a:r>
            <a:r>
              <a:rPr lang="en-US" i="1" dirty="0"/>
              <a:t>.</a:t>
            </a:r>
          </a:p>
          <a:p>
            <a:r>
              <a:rPr lang="en-US" dirty="0"/>
              <a:t>For example, continuing from the previous example of Cancer test, if the patient now goes through a second test and tests positive again, what is probability that they really have cancer?</a:t>
            </a:r>
          </a:p>
          <a:p>
            <a:pPr lvl="1"/>
            <a:r>
              <a:rPr lang="en-US" dirty="0"/>
              <a:t>It still is not 100%, as there is still a chance that the second test is also false positive.</a:t>
            </a:r>
          </a:p>
        </p:txBody>
      </p:sp>
    </p:spTree>
    <p:extLst>
      <p:ext uri="{BB962C8B-B14F-4D97-AF65-F5344CB8AC3E}">
        <p14:creationId xmlns:p14="http://schemas.microsoft.com/office/powerpoint/2010/main" val="1405594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DB3A2-96F5-7EAE-B11A-72D51DCB7E59}"/>
              </a:ext>
            </a:extLst>
          </p:cNvPr>
          <p:cNvSpPr>
            <a:spLocks noGrp="1"/>
          </p:cNvSpPr>
          <p:nvPr>
            <p:ph type="title"/>
          </p:nvPr>
        </p:nvSpPr>
        <p:spPr/>
        <p:txBody>
          <a:bodyPr/>
          <a:lstStyle/>
          <a:p>
            <a:r>
              <a:rPr lang="en-US" dirty="0"/>
              <a:t>Belief Update</a:t>
            </a:r>
          </a:p>
        </p:txBody>
      </p:sp>
      <p:sp>
        <p:nvSpPr>
          <p:cNvPr id="3" name="Content Placeholder 2">
            <a:extLst>
              <a:ext uri="{FF2B5EF4-FFF2-40B4-BE49-F238E27FC236}">
                <a16:creationId xmlns:a16="http://schemas.microsoft.com/office/drawing/2014/main" id="{384E0DD7-04B6-793A-F94E-2BDE766E0382}"/>
              </a:ext>
            </a:extLst>
          </p:cNvPr>
          <p:cNvSpPr>
            <a:spLocks noGrp="1"/>
          </p:cNvSpPr>
          <p:nvPr>
            <p:ph idx="1"/>
          </p:nvPr>
        </p:nvSpPr>
        <p:spPr/>
        <p:txBody>
          <a:bodyPr>
            <a:normAutofit fontScale="62500" lnSpcReduction="20000"/>
          </a:bodyPr>
          <a:lstStyle/>
          <a:p>
            <a:r>
              <a:rPr lang="en-US" dirty="0"/>
              <a:t>In this case, we will use the same formula to find P(</a:t>
            </a:r>
            <a:r>
              <a:rPr lang="en-US" dirty="0" err="1"/>
              <a:t>Cancer|Test</a:t>
            </a:r>
            <a:r>
              <a:rPr lang="en-US" dirty="0"/>
              <a:t>+) as before.</a:t>
            </a:r>
          </a:p>
          <a:p>
            <a:r>
              <a:rPr lang="en-US" dirty="0"/>
              <a:t>However, now we know, given the results of previous test (Test 1), the patient have probability 0.0826 of having cancer, instead of our prior belief of 0.0001.</a:t>
            </a:r>
          </a:p>
          <a:p>
            <a:r>
              <a:rPr lang="en-US" dirty="0"/>
              <a:t>Thus, after test 2, </a:t>
            </a:r>
          </a:p>
          <a:p>
            <a:pPr marL="457200" lvl="1" indent="0">
              <a:buNone/>
            </a:pPr>
            <a:r>
              <a:rPr lang="en-US" dirty="0"/>
              <a:t>P(Cancer) = 0.0826, P(No cancer) = 1 – 0.0826 = 0.9174</a:t>
            </a:r>
          </a:p>
          <a:p>
            <a:pPr marL="457200" lvl="1" indent="0">
              <a:buNone/>
            </a:pPr>
            <a:r>
              <a:rPr lang="en-US" dirty="0"/>
              <a:t>P(Test+) = P(Test+|Cancer) </a:t>
            </a:r>
            <a:r>
              <a:rPr lang="en-US" dirty="0">
                <a:sym typeface="Symbol" panose="05050102010706020507" pitchFamily="18" charset="2"/>
              </a:rPr>
              <a:t> P(Cancer) + P(Test+|No cancer)  P(No cancer)</a:t>
            </a:r>
          </a:p>
          <a:p>
            <a:pPr marL="457200" lvl="1" indent="0">
              <a:buNone/>
            </a:pPr>
            <a:r>
              <a:rPr lang="en-US" dirty="0"/>
              <a:t>		= 0.9 </a:t>
            </a:r>
            <a:r>
              <a:rPr lang="en-US" sz="2400" dirty="0">
                <a:sym typeface="Symbol" panose="05050102010706020507" pitchFamily="18" charset="2"/>
              </a:rPr>
              <a:t> </a:t>
            </a:r>
            <a:r>
              <a:rPr lang="en-US" dirty="0"/>
              <a:t>0.0826 + 0.001 </a:t>
            </a:r>
            <a:r>
              <a:rPr lang="en-US" sz="2400" dirty="0">
                <a:sym typeface="Symbol" panose="05050102010706020507" pitchFamily="18" charset="2"/>
              </a:rPr>
              <a:t> </a:t>
            </a:r>
            <a:r>
              <a:rPr lang="en-US" dirty="0"/>
              <a:t>0.9174</a:t>
            </a:r>
          </a:p>
          <a:p>
            <a:pPr marL="457200" lvl="1" indent="0">
              <a:buNone/>
            </a:pPr>
            <a:r>
              <a:rPr lang="en-US" dirty="0"/>
              <a:t>		= 0.0753</a:t>
            </a:r>
          </a:p>
          <a:p>
            <a:pPr marL="457200" lvl="1" indent="0">
              <a:buNone/>
            </a:pPr>
            <a:r>
              <a:rPr lang="en-US" dirty="0"/>
              <a:t>P(</a:t>
            </a:r>
            <a:r>
              <a:rPr lang="en-US" dirty="0" err="1"/>
              <a:t>Cancer|Test</a:t>
            </a:r>
            <a:r>
              <a:rPr lang="en-US" dirty="0"/>
              <a:t>+) = (P(Test+|Cancer) </a:t>
            </a:r>
            <a:r>
              <a:rPr lang="en-US" dirty="0">
                <a:sym typeface="Symbol" panose="05050102010706020507" pitchFamily="18" charset="2"/>
              </a:rPr>
              <a:t> P(Cancer)) / P(Test+)</a:t>
            </a:r>
          </a:p>
          <a:p>
            <a:pPr marL="457200" lvl="1" indent="0">
              <a:buNone/>
            </a:pPr>
            <a:r>
              <a:rPr lang="en-US" dirty="0">
                <a:sym typeface="Symbol" panose="05050102010706020507" pitchFamily="18" charset="2"/>
              </a:rPr>
              <a:t>			   = (0.9 </a:t>
            </a:r>
            <a:r>
              <a:rPr lang="en-US" sz="2400" dirty="0">
                <a:sym typeface="Symbol" panose="05050102010706020507" pitchFamily="18" charset="2"/>
              </a:rPr>
              <a:t> 0.0826) / </a:t>
            </a:r>
            <a:r>
              <a:rPr lang="en-US" dirty="0"/>
              <a:t>0.0753</a:t>
            </a:r>
          </a:p>
          <a:p>
            <a:pPr marL="457200" lvl="1" indent="0">
              <a:buNone/>
            </a:pPr>
            <a:r>
              <a:rPr lang="en-US" dirty="0"/>
              <a:t>			   = ~0.987</a:t>
            </a:r>
          </a:p>
          <a:p>
            <a:pPr marL="0" indent="0">
              <a:buNone/>
            </a:pPr>
            <a:r>
              <a:rPr lang="en-US" b="1" i="1" dirty="0">
                <a:solidFill>
                  <a:srgbClr val="C00000"/>
                </a:solidFill>
              </a:rPr>
              <a:t>Thus, we can say that there is now 98% chance that the patient have cancer after the second test coming positive.</a:t>
            </a:r>
          </a:p>
          <a:p>
            <a:pPr marL="0" indent="0">
              <a:buNone/>
            </a:pPr>
            <a:endParaRPr lang="en-US" b="1" i="1" dirty="0">
              <a:solidFill>
                <a:srgbClr val="C00000"/>
              </a:solidFill>
            </a:endParaRPr>
          </a:p>
          <a:p>
            <a:pPr marL="0" indent="0">
              <a:buNone/>
            </a:pPr>
            <a:r>
              <a:rPr lang="en-US" b="1" i="1" dirty="0">
                <a:solidFill>
                  <a:srgbClr val="C00000"/>
                </a:solidFill>
              </a:rPr>
              <a:t>To view a visual representation of a similar case, watch this </a:t>
            </a:r>
            <a:r>
              <a:rPr lang="en-US" b="1" i="1" dirty="0" err="1">
                <a:solidFill>
                  <a:srgbClr val="C00000"/>
                </a:solidFill>
              </a:rPr>
              <a:t>Veritasium</a:t>
            </a:r>
            <a:r>
              <a:rPr lang="en-US" b="1" i="1" dirty="0">
                <a:solidFill>
                  <a:srgbClr val="C00000"/>
                </a:solidFill>
              </a:rPr>
              <a:t> video: </a:t>
            </a:r>
            <a:r>
              <a:rPr lang="en-GB">
                <a:hlinkClick r:id="rId2"/>
              </a:rPr>
              <a:t>(123) The Bayesian Trap - YouTube</a:t>
            </a:r>
            <a:endParaRPr lang="en-US" b="1" i="1" dirty="0">
              <a:solidFill>
                <a:srgbClr val="C00000"/>
              </a:solidFill>
            </a:endParaRPr>
          </a:p>
          <a:p>
            <a:pPr marL="457200" lvl="1" indent="0">
              <a:buNone/>
            </a:pPr>
            <a:endParaRPr lang="en-US" dirty="0"/>
          </a:p>
        </p:txBody>
      </p:sp>
    </p:spTree>
    <p:extLst>
      <p:ext uri="{BB962C8B-B14F-4D97-AF65-F5344CB8AC3E}">
        <p14:creationId xmlns:p14="http://schemas.microsoft.com/office/powerpoint/2010/main" val="101608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5848-6428-B175-66B2-4DD9E586EA92}"/>
              </a:ext>
            </a:extLst>
          </p:cNvPr>
          <p:cNvSpPr>
            <a:spLocks noGrp="1"/>
          </p:cNvSpPr>
          <p:nvPr>
            <p:ph type="title"/>
          </p:nvPr>
        </p:nvSpPr>
        <p:spPr/>
        <p:txBody>
          <a:bodyPr/>
          <a:lstStyle/>
          <a:p>
            <a:r>
              <a:rPr lang="en-US" dirty="0"/>
              <a:t>Bayesian Network</a:t>
            </a:r>
          </a:p>
        </p:txBody>
      </p:sp>
      <p:sp>
        <p:nvSpPr>
          <p:cNvPr id="3" name="Content Placeholder 2">
            <a:extLst>
              <a:ext uri="{FF2B5EF4-FFF2-40B4-BE49-F238E27FC236}">
                <a16:creationId xmlns:a16="http://schemas.microsoft.com/office/drawing/2014/main" id="{9B5090C2-0C31-9520-ED84-E722A40B229D}"/>
              </a:ext>
            </a:extLst>
          </p:cNvPr>
          <p:cNvSpPr>
            <a:spLocks noGrp="1"/>
          </p:cNvSpPr>
          <p:nvPr>
            <p:ph idx="1"/>
          </p:nvPr>
        </p:nvSpPr>
        <p:spPr/>
        <p:txBody>
          <a:bodyPr>
            <a:normAutofit fontScale="77500" lnSpcReduction="20000"/>
          </a:bodyPr>
          <a:lstStyle/>
          <a:p>
            <a:r>
              <a:rPr lang="en-GB" dirty="0"/>
              <a:t>A Bayesian network (BN) is a probabilistic graphical model for representing knowledge about an uncertain domain where each node corresponds to a random variable and each edge represents the conditional probability for the corresponding </a:t>
            </a:r>
            <a:r>
              <a:rPr lang="en-GB"/>
              <a:t>random variables.</a:t>
            </a:r>
            <a:endParaRPr lang="en-GB" dirty="0"/>
          </a:p>
          <a:p>
            <a:r>
              <a:rPr lang="en-GB" dirty="0"/>
              <a:t>This allows us to reason or infer about </a:t>
            </a:r>
            <a:r>
              <a:rPr lang="en-GB"/>
              <a:t>the domain.</a:t>
            </a:r>
            <a:endParaRPr lang="en-GB" dirty="0"/>
          </a:p>
          <a:p>
            <a:r>
              <a:rPr lang="en-GB" dirty="0"/>
              <a:t>It is also called a Bayes network, belief network, decision network, or </a:t>
            </a:r>
            <a:r>
              <a:rPr lang="en-GB"/>
              <a:t>Bayesian model.</a:t>
            </a:r>
            <a:endParaRPr lang="en-GB" dirty="0"/>
          </a:p>
          <a:p>
            <a:r>
              <a:rPr lang="en-GB" dirty="0"/>
              <a:t>Bayesian networks are ideal for taking an event that occurred and predicting the likelihood that any one of several possible known causes was the contributing factor (For example, Medical symptom </a:t>
            </a:r>
            <a:r>
              <a:rPr lang="en-GB"/>
              <a:t>diagnosis). </a:t>
            </a:r>
            <a:endParaRPr lang="en-GB" dirty="0"/>
          </a:p>
          <a:p>
            <a:r>
              <a:rPr lang="en-GB" dirty="0"/>
              <a:t>Real world applications are probabilistic in nature, and to represent the relationship between multiple events, we need a </a:t>
            </a:r>
            <a:r>
              <a:rPr lang="en-GB"/>
              <a:t>Bayesian network. </a:t>
            </a:r>
            <a:r>
              <a:rPr lang="en-GB" dirty="0"/>
              <a:t>It can also be used in various tasks including </a:t>
            </a:r>
            <a:r>
              <a:rPr lang="en-GB" b="1" dirty="0"/>
              <a:t>prediction</a:t>
            </a:r>
            <a:r>
              <a:rPr lang="en-GB" dirty="0"/>
              <a:t>, </a:t>
            </a:r>
            <a:r>
              <a:rPr lang="en-GB" b="1" dirty="0"/>
              <a:t>anomaly detection</a:t>
            </a:r>
            <a:r>
              <a:rPr lang="en-GB" dirty="0"/>
              <a:t>, </a:t>
            </a:r>
            <a:r>
              <a:rPr lang="en-GB" b="1" dirty="0"/>
              <a:t>diagnostics</a:t>
            </a:r>
            <a:r>
              <a:rPr lang="en-GB" dirty="0"/>
              <a:t>, </a:t>
            </a:r>
            <a:r>
              <a:rPr lang="en-GB" b="1" dirty="0"/>
              <a:t>automated insight</a:t>
            </a:r>
            <a:r>
              <a:rPr lang="en-GB" dirty="0"/>
              <a:t>, </a:t>
            </a:r>
            <a:r>
              <a:rPr lang="en-GB" b="1" dirty="0"/>
              <a:t>reasoning</a:t>
            </a:r>
            <a:r>
              <a:rPr lang="en-GB" dirty="0"/>
              <a:t>, </a:t>
            </a:r>
            <a:r>
              <a:rPr lang="en-GB" b="1" dirty="0"/>
              <a:t>time series prediction</a:t>
            </a:r>
            <a:r>
              <a:rPr lang="en-GB" dirty="0"/>
              <a:t>, and </a:t>
            </a:r>
            <a:r>
              <a:rPr lang="en-GB" b="1" dirty="0"/>
              <a:t>decision making </a:t>
            </a:r>
            <a:r>
              <a:rPr lang="en-GB" b="1"/>
              <a:t>under uncertainty</a:t>
            </a:r>
            <a:r>
              <a:rPr lang="en-GB"/>
              <a:t>.</a:t>
            </a:r>
            <a:endParaRPr lang="en-GB" dirty="0"/>
          </a:p>
          <a:p>
            <a:endParaRPr lang="en-US" dirty="0"/>
          </a:p>
        </p:txBody>
      </p:sp>
    </p:spTree>
    <p:extLst>
      <p:ext uri="{BB962C8B-B14F-4D97-AF65-F5344CB8AC3E}">
        <p14:creationId xmlns:p14="http://schemas.microsoft.com/office/powerpoint/2010/main" val="309340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63155-A311-EA7A-2F55-2C2D6D92B157}"/>
              </a:ext>
            </a:extLst>
          </p:cNvPr>
          <p:cNvSpPr>
            <a:spLocks noGrp="1"/>
          </p:cNvSpPr>
          <p:nvPr>
            <p:ph type="title"/>
          </p:nvPr>
        </p:nvSpPr>
        <p:spPr/>
        <p:txBody>
          <a:bodyPr/>
          <a:lstStyle/>
          <a:p>
            <a:r>
              <a:rPr lang="en-US" dirty="0"/>
              <a:t>Graphical Model</a:t>
            </a:r>
          </a:p>
        </p:txBody>
      </p:sp>
      <p:sp>
        <p:nvSpPr>
          <p:cNvPr id="3" name="Content Placeholder 2">
            <a:extLst>
              <a:ext uri="{FF2B5EF4-FFF2-40B4-BE49-F238E27FC236}">
                <a16:creationId xmlns:a16="http://schemas.microsoft.com/office/drawing/2014/main" id="{1FB397EE-00DE-9A7B-A998-A205368F4FC8}"/>
              </a:ext>
            </a:extLst>
          </p:cNvPr>
          <p:cNvSpPr>
            <a:spLocks noGrp="1"/>
          </p:cNvSpPr>
          <p:nvPr>
            <p:ph idx="1"/>
          </p:nvPr>
        </p:nvSpPr>
        <p:spPr/>
        <p:txBody>
          <a:bodyPr>
            <a:normAutofit fontScale="77500" lnSpcReduction="20000"/>
          </a:bodyPr>
          <a:lstStyle/>
          <a:p>
            <a:r>
              <a:rPr lang="en-GB" dirty="0"/>
              <a:t>Formally, Bayesian networks are </a:t>
            </a:r>
            <a:r>
              <a:rPr lang="en-GB" b="1" dirty="0"/>
              <a:t>directed acyclic graphs </a:t>
            </a:r>
            <a:r>
              <a:rPr lang="en-GB" dirty="0"/>
              <a:t>(</a:t>
            </a:r>
            <a:r>
              <a:rPr lang="en-GB"/>
              <a:t>DAGs).</a:t>
            </a:r>
            <a:endParaRPr lang="en-GB" dirty="0"/>
          </a:p>
          <a:p>
            <a:r>
              <a:rPr lang="en-GB" dirty="0"/>
              <a:t>Nodes represent variables in the Bayesian sense: they may be observable quantities, latent variables, unknown parameters </a:t>
            </a:r>
            <a:r>
              <a:rPr lang="en-GB"/>
              <a:t>or hypotheses.</a:t>
            </a:r>
            <a:endParaRPr lang="en-GB" dirty="0"/>
          </a:p>
          <a:p>
            <a:r>
              <a:rPr lang="en-GB" dirty="0"/>
              <a:t>Each edge represents a direct </a:t>
            </a:r>
            <a:r>
              <a:rPr lang="en-GB"/>
              <a:t>conditional dependency. </a:t>
            </a:r>
            <a:r>
              <a:rPr lang="en-GB" dirty="0"/>
              <a:t>Any pair of nodes that are not connected </a:t>
            </a:r>
            <a:r>
              <a:rPr lang="en-GB"/>
              <a:t>(i.e. </a:t>
            </a:r>
            <a:r>
              <a:rPr lang="en-GB" dirty="0"/>
              <a:t>no path connects one node to the other) represent variables that are conditionally independent of </a:t>
            </a:r>
            <a:r>
              <a:rPr lang="en-GB"/>
              <a:t>each other.</a:t>
            </a:r>
            <a:endParaRPr lang="en-GB" dirty="0"/>
          </a:p>
          <a:p>
            <a:r>
              <a:rPr lang="en-GB" dirty="0"/>
              <a:t>Each node is associated with a probability function that takes, as input, a particular set of values for the node's parent variables and gives (as output) the probability (or probability distribution, if applicable) of the variable represented by </a:t>
            </a:r>
            <a:r>
              <a:rPr lang="en-GB"/>
              <a:t>the node. </a:t>
            </a:r>
            <a:r>
              <a:rPr lang="en-GB" dirty="0"/>
              <a:t>For example, if </a:t>
            </a:r>
            <a:r>
              <a:rPr lang="en-GB" i="1" dirty="0"/>
              <a:t>m</a:t>
            </a:r>
            <a:r>
              <a:rPr lang="en-GB" dirty="0"/>
              <a:t> parent nodes represent </a:t>
            </a:r>
            <a:r>
              <a:rPr lang="en-GB" i="1" dirty="0"/>
              <a:t>m</a:t>
            </a:r>
            <a:r>
              <a:rPr lang="en-GB" dirty="0"/>
              <a:t> Boolean variables, then the probability function could be represented by a table of </a:t>
            </a:r>
            <a:r>
              <a:rPr lang="en-GB" i="1" dirty="0"/>
              <a:t>2</a:t>
            </a:r>
            <a:r>
              <a:rPr lang="en-GB" i="1" baseline="30000" dirty="0"/>
              <a:t>m</a:t>
            </a:r>
            <a:r>
              <a:rPr lang="en-GB" dirty="0"/>
              <a:t> entries, one entry for each of the </a:t>
            </a:r>
            <a:r>
              <a:rPr lang="en-GB" i="1" dirty="0"/>
              <a:t>2</a:t>
            </a:r>
            <a:r>
              <a:rPr lang="en-GB" i="1" baseline="30000" dirty="0"/>
              <a:t>m</a:t>
            </a:r>
            <a:r>
              <a:rPr lang="en-GB" dirty="0"/>
              <a:t> possible </a:t>
            </a:r>
            <a:r>
              <a:rPr lang="en-GB"/>
              <a:t>parent combinations.</a:t>
            </a:r>
            <a:endParaRPr lang="en-GB" dirty="0"/>
          </a:p>
          <a:p>
            <a:r>
              <a:rPr lang="en-GB" dirty="0"/>
              <a:t>Similar ideas may be applied to undirected, and possibly cyclic, graphs such as </a:t>
            </a:r>
            <a:r>
              <a:rPr lang="en-GB"/>
              <a:t>Markov networks.</a:t>
            </a:r>
            <a:endParaRPr lang="en-US" dirty="0"/>
          </a:p>
        </p:txBody>
      </p:sp>
    </p:spTree>
    <p:extLst>
      <p:ext uri="{BB962C8B-B14F-4D97-AF65-F5344CB8AC3E}">
        <p14:creationId xmlns:p14="http://schemas.microsoft.com/office/powerpoint/2010/main" val="3337562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E22FE-2199-0D00-2B69-D21484A570D9}"/>
              </a:ext>
            </a:extLst>
          </p:cNvPr>
          <p:cNvSpPr>
            <a:spLocks noGrp="1"/>
          </p:cNvSpPr>
          <p:nvPr>
            <p:ph type="title"/>
          </p:nvPr>
        </p:nvSpPr>
        <p:spPr/>
        <p:txBody>
          <a:bodyPr/>
          <a:lstStyle/>
          <a:p>
            <a:r>
              <a:rPr lang="en-US" dirty="0"/>
              <a:t>Computational Model</a:t>
            </a:r>
          </a:p>
        </p:txBody>
      </p:sp>
      <p:sp>
        <p:nvSpPr>
          <p:cNvPr id="3" name="Content Placeholder 2">
            <a:extLst>
              <a:ext uri="{FF2B5EF4-FFF2-40B4-BE49-F238E27FC236}">
                <a16:creationId xmlns:a16="http://schemas.microsoft.com/office/drawing/2014/main" id="{C722AB5A-C941-4811-6B1A-CAC2B9D97C68}"/>
              </a:ext>
            </a:extLst>
          </p:cNvPr>
          <p:cNvSpPr>
            <a:spLocks noGrp="1"/>
          </p:cNvSpPr>
          <p:nvPr>
            <p:ph idx="1"/>
          </p:nvPr>
        </p:nvSpPr>
        <p:spPr/>
        <p:txBody>
          <a:bodyPr/>
          <a:lstStyle/>
          <a:p>
            <a:r>
              <a:rPr lang="en-GB" dirty="0"/>
              <a:t>Computes posterior probabilities given evidence about some nodes</a:t>
            </a:r>
          </a:p>
          <a:p>
            <a:r>
              <a:rPr lang="en-GB" dirty="0"/>
              <a:t> Exploits probabilistic independence for efficient computation</a:t>
            </a:r>
          </a:p>
          <a:p>
            <a:endParaRPr lang="en-US" dirty="0"/>
          </a:p>
        </p:txBody>
      </p:sp>
      <p:pic>
        <p:nvPicPr>
          <p:cNvPr id="5" name="Picture 4">
            <a:extLst>
              <a:ext uri="{FF2B5EF4-FFF2-40B4-BE49-F238E27FC236}">
                <a16:creationId xmlns:a16="http://schemas.microsoft.com/office/drawing/2014/main" id="{A30E62E4-E4AF-C411-346F-9EE1A16F75D2}"/>
              </a:ext>
            </a:extLst>
          </p:cNvPr>
          <p:cNvPicPr>
            <a:picLocks noChangeAspect="1"/>
          </p:cNvPicPr>
          <p:nvPr/>
        </p:nvPicPr>
        <p:blipFill>
          <a:blip r:embed="rId2"/>
          <a:stretch>
            <a:fillRect/>
          </a:stretch>
        </p:blipFill>
        <p:spPr>
          <a:xfrm>
            <a:off x="1109949" y="3819582"/>
            <a:ext cx="5321331" cy="2124284"/>
          </a:xfrm>
          <a:prstGeom prst="rect">
            <a:avLst/>
          </a:prstGeom>
        </p:spPr>
      </p:pic>
      <p:pic>
        <p:nvPicPr>
          <p:cNvPr id="7" name="Picture 6">
            <a:extLst>
              <a:ext uri="{FF2B5EF4-FFF2-40B4-BE49-F238E27FC236}">
                <a16:creationId xmlns:a16="http://schemas.microsoft.com/office/drawing/2014/main" id="{6B26671F-AFE6-4BB4-EB59-15CB17B7287F}"/>
              </a:ext>
            </a:extLst>
          </p:cNvPr>
          <p:cNvPicPr>
            <a:picLocks noChangeAspect="1"/>
          </p:cNvPicPr>
          <p:nvPr/>
        </p:nvPicPr>
        <p:blipFill>
          <a:blip r:embed="rId3"/>
          <a:stretch>
            <a:fillRect/>
          </a:stretch>
        </p:blipFill>
        <p:spPr>
          <a:xfrm>
            <a:off x="6431280" y="3684645"/>
            <a:ext cx="4767611" cy="2051660"/>
          </a:xfrm>
          <a:prstGeom prst="rect">
            <a:avLst/>
          </a:prstGeom>
        </p:spPr>
      </p:pic>
    </p:spTree>
    <p:extLst>
      <p:ext uri="{BB962C8B-B14F-4D97-AF65-F5344CB8AC3E}">
        <p14:creationId xmlns:p14="http://schemas.microsoft.com/office/powerpoint/2010/main" val="345038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B22F4-8F16-4086-A9C6-F1D27D279E2F}"/>
              </a:ext>
            </a:extLst>
          </p:cNvPr>
          <p:cNvSpPr>
            <a:spLocks noGrp="1"/>
          </p:cNvSpPr>
          <p:nvPr>
            <p:ph type="title"/>
          </p:nvPr>
        </p:nvSpPr>
        <p:spPr/>
        <p:txBody>
          <a:bodyPr/>
          <a:lstStyle/>
          <a:p>
            <a:r>
              <a:rPr lang="en-US" dirty="0"/>
              <a:t>Building Bayesian Network</a:t>
            </a:r>
          </a:p>
        </p:txBody>
      </p:sp>
      <p:sp>
        <p:nvSpPr>
          <p:cNvPr id="3" name="Content Placeholder 2">
            <a:extLst>
              <a:ext uri="{FF2B5EF4-FFF2-40B4-BE49-F238E27FC236}">
                <a16:creationId xmlns:a16="http://schemas.microsoft.com/office/drawing/2014/main" id="{F21398AD-850B-104B-B224-C3BEEC1A0EF8}"/>
              </a:ext>
            </a:extLst>
          </p:cNvPr>
          <p:cNvSpPr>
            <a:spLocks noGrp="1"/>
          </p:cNvSpPr>
          <p:nvPr>
            <p:ph idx="1"/>
          </p:nvPr>
        </p:nvSpPr>
        <p:spPr/>
        <p:txBody>
          <a:bodyPr/>
          <a:lstStyle/>
          <a:p>
            <a:r>
              <a:rPr lang="en-GB" dirty="0"/>
              <a:t>Bayesian Network can be used for building models from data and expert opinions, and it consists of two parts:</a:t>
            </a:r>
          </a:p>
          <a:p>
            <a:pPr lvl="1"/>
            <a:r>
              <a:rPr lang="en-GB" dirty="0"/>
              <a:t>Directed Acyclic Graph</a:t>
            </a:r>
          </a:p>
          <a:p>
            <a:pPr lvl="1"/>
            <a:r>
              <a:rPr lang="en-GB" dirty="0"/>
              <a:t>Table of </a:t>
            </a:r>
            <a:r>
              <a:rPr lang="en-GB"/>
              <a:t>conditional probabilities.</a:t>
            </a:r>
            <a:endParaRPr lang="en-GB" dirty="0"/>
          </a:p>
          <a:p>
            <a:pPr lvl="1"/>
            <a:endParaRPr lang="en-GB" dirty="0"/>
          </a:p>
          <a:p>
            <a:r>
              <a:rPr lang="en-GB" dirty="0"/>
              <a:t>The generalized form of Bayesian network that represents and solve decision problems under uncertain knowledge is known as an </a:t>
            </a:r>
            <a:r>
              <a:rPr lang="en-GB" b="1"/>
              <a:t>Influence diagram</a:t>
            </a:r>
            <a:r>
              <a:rPr lang="en-GB"/>
              <a:t>.</a:t>
            </a:r>
            <a:endParaRPr lang="en-US" dirty="0"/>
          </a:p>
        </p:txBody>
      </p:sp>
    </p:spTree>
    <p:extLst>
      <p:ext uri="{BB962C8B-B14F-4D97-AF65-F5344CB8AC3E}">
        <p14:creationId xmlns:p14="http://schemas.microsoft.com/office/powerpoint/2010/main" val="1553112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964E-F0CA-FEE3-C156-BB2A90048C03}"/>
              </a:ext>
            </a:extLst>
          </p:cNvPr>
          <p:cNvSpPr>
            <a:spLocks noGrp="1"/>
          </p:cNvSpPr>
          <p:nvPr>
            <p:ph type="title"/>
          </p:nvPr>
        </p:nvSpPr>
        <p:spPr/>
        <p:txBody>
          <a:bodyPr/>
          <a:lstStyle/>
          <a:p>
            <a:r>
              <a:rPr lang="en-US" dirty="0"/>
              <a:t>Bayesian Network Model</a:t>
            </a:r>
          </a:p>
        </p:txBody>
      </p:sp>
      <p:sp>
        <p:nvSpPr>
          <p:cNvPr id="3" name="Content Placeholder 2">
            <a:extLst>
              <a:ext uri="{FF2B5EF4-FFF2-40B4-BE49-F238E27FC236}">
                <a16:creationId xmlns:a16="http://schemas.microsoft.com/office/drawing/2014/main" id="{71B42E3E-4113-95E9-014B-63C6D491C305}"/>
              </a:ext>
            </a:extLst>
          </p:cNvPr>
          <p:cNvSpPr>
            <a:spLocks noGrp="1"/>
          </p:cNvSpPr>
          <p:nvPr>
            <p:ph idx="1"/>
          </p:nvPr>
        </p:nvSpPr>
        <p:spPr>
          <a:xfrm>
            <a:off x="838200" y="1825625"/>
            <a:ext cx="7045960" cy="4351338"/>
          </a:xfrm>
        </p:spPr>
        <p:txBody>
          <a:bodyPr>
            <a:normAutofit/>
          </a:bodyPr>
          <a:lstStyle/>
          <a:p>
            <a:r>
              <a:rPr lang="en-US" dirty="0"/>
              <a:t>The following figure illustrates a simple </a:t>
            </a:r>
            <a:r>
              <a:rPr lang="en-US"/>
              <a:t>Bayesian network.</a:t>
            </a:r>
            <a:endParaRPr lang="en-US" dirty="0"/>
          </a:p>
          <a:p>
            <a:pPr lvl="1"/>
            <a:r>
              <a:rPr lang="en-US" dirty="0"/>
              <a:t>3 nodes: A, B, C</a:t>
            </a:r>
          </a:p>
          <a:p>
            <a:pPr lvl="1"/>
            <a:r>
              <a:rPr lang="en-US" dirty="0"/>
              <a:t>Set of Edges E = {(B, A), (B, C)}</a:t>
            </a:r>
          </a:p>
          <a:p>
            <a:pPr lvl="1"/>
            <a:r>
              <a:rPr lang="en-US" dirty="0"/>
              <a:t>Directed graph</a:t>
            </a:r>
          </a:p>
          <a:p>
            <a:pPr lvl="1"/>
            <a:r>
              <a:rPr lang="en-US" dirty="0"/>
              <a:t>Acyclic graph</a:t>
            </a:r>
          </a:p>
          <a:p>
            <a:pPr lvl="1"/>
            <a:r>
              <a:rPr lang="en-US" dirty="0"/>
              <a:t>A and C are conditionally independent of </a:t>
            </a:r>
            <a:r>
              <a:rPr lang="en-US"/>
              <a:t>each other. </a:t>
            </a:r>
            <a:r>
              <a:rPr lang="en-US" dirty="0"/>
              <a:t>Thus, </a:t>
            </a:r>
            <a:r>
              <a:rPr lang="en-US" i="1" dirty="0"/>
              <a:t>P(A|B, C) = P(A|B)</a:t>
            </a:r>
          </a:p>
          <a:p>
            <a:pPr lvl="1"/>
            <a:r>
              <a:rPr lang="en-US" dirty="0"/>
              <a:t>Similarly, </a:t>
            </a:r>
            <a:r>
              <a:rPr lang="en-US" i="1" dirty="0"/>
              <a:t>P(C|A, B) = P(C|B)</a:t>
            </a:r>
            <a:endParaRPr lang="en-US" dirty="0"/>
          </a:p>
        </p:txBody>
      </p:sp>
      <p:pic>
        <p:nvPicPr>
          <p:cNvPr id="4" name="Picture 3">
            <a:extLst>
              <a:ext uri="{FF2B5EF4-FFF2-40B4-BE49-F238E27FC236}">
                <a16:creationId xmlns:a16="http://schemas.microsoft.com/office/drawing/2014/main" id="{2D064886-6EB4-19AF-8905-3B2C0AD78359}"/>
              </a:ext>
            </a:extLst>
          </p:cNvPr>
          <p:cNvPicPr>
            <a:picLocks noChangeAspect="1"/>
          </p:cNvPicPr>
          <p:nvPr/>
        </p:nvPicPr>
        <p:blipFill>
          <a:blip r:embed="rId2"/>
          <a:srcRect l="18966" r="23069" b="15647"/>
          <a:stretch/>
        </p:blipFill>
        <p:spPr>
          <a:xfrm>
            <a:off x="8351520" y="2696055"/>
            <a:ext cx="3190239" cy="1997865"/>
          </a:xfrm>
          <a:prstGeom prst="rect">
            <a:avLst/>
          </a:prstGeom>
        </p:spPr>
      </p:pic>
    </p:spTree>
    <p:extLst>
      <p:ext uri="{BB962C8B-B14F-4D97-AF65-F5344CB8AC3E}">
        <p14:creationId xmlns:p14="http://schemas.microsoft.com/office/powerpoint/2010/main" val="1509755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964E-F0CA-FEE3-C156-BB2A90048C03}"/>
              </a:ext>
            </a:extLst>
          </p:cNvPr>
          <p:cNvSpPr>
            <a:spLocks noGrp="1"/>
          </p:cNvSpPr>
          <p:nvPr>
            <p:ph type="title"/>
          </p:nvPr>
        </p:nvSpPr>
        <p:spPr>
          <a:xfrm>
            <a:off x="838200" y="365125"/>
            <a:ext cx="10515600" cy="1325563"/>
          </a:xfrm>
        </p:spPr>
        <p:txBody>
          <a:bodyPr/>
          <a:lstStyle/>
          <a:p>
            <a:r>
              <a:rPr lang="en-US" dirty="0"/>
              <a:t>Bayesian Network Model</a:t>
            </a:r>
          </a:p>
        </p:txBody>
      </p:sp>
      <p:sp>
        <p:nvSpPr>
          <p:cNvPr id="3" name="Content Placeholder 2">
            <a:extLst>
              <a:ext uri="{FF2B5EF4-FFF2-40B4-BE49-F238E27FC236}">
                <a16:creationId xmlns:a16="http://schemas.microsoft.com/office/drawing/2014/main" id="{71B42E3E-4113-95E9-014B-63C6D491C305}"/>
              </a:ext>
            </a:extLst>
          </p:cNvPr>
          <p:cNvSpPr>
            <a:spLocks noGrp="1"/>
          </p:cNvSpPr>
          <p:nvPr>
            <p:ph idx="1"/>
          </p:nvPr>
        </p:nvSpPr>
        <p:spPr>
          <a:xfrm>
            <a:off x="838200" y="1825624"/>
            <a:ext cx="7364655" cy="4841393"/>
          </a:xfrm>
        </p:spPr>
        <p:txBody>
          <a:bodyPr>
            <a:normAutofit fontScale="92500" lnSpcReduction="20000"/>
          </a:bodyPr>
          <a:lstStyle/>
          <a:p>
            <a:pPr lvl="1"/>
            <a:r>
              <a:rPr lang="en-US" dirty="0"/>
              <a:t>The edges in the Bayesian network encode a particular factorization of the </a:t>
            </a:r>
            <a:r>
              <a:rPr lang="en-US"/>
              <a:t>joint distribution. </a:t>
            </a:r>
            <a:r>
              <a:rPr lang="en-US" dirty="0"/>
              <a:t>In this example, the joint distribution of all the variables, as factorized by this Bayesian network is, </a:t>
            </a:r>
          </a:p>
          <a:p>
            <a:pPr marL="457200" lvl="1" indent="0">
              <a:buNone/>
            </a:pPr>
            <a:endParaRPr lang="en-US" dirty="0"/>
          </a:p>
          <a:p>
            <a:pPr marL="457200" lvl="1" indent="0">
              <a:buNone/>
            </a:pPr>
            <a:r>
              <a:rPr lang="en-US" dirty="0"/>
              <a:t>	</a:t>
            </a:r>
          </a:p>
          <a:p>
            <a:pPr lvl="1"/>
            <a:r>
              <a:rPr lang="en-US" dirty="0"/>
              <a:t>In general, given nodes </a:t>
            </a:r>
            <a:r>
              <a:rPr lang="en-US" i="1" dirty="0"/>
              <a:t>X = X</a:t>
            </a:r>
            <a:r>
              <a:rPr lang="en-US" i="1" baseline="-25000" dirty="0"/>
              <a:t>1</a:t>
            </a:r>
            <a:r>
              <a:rPr lang="en-US" i="1" dirty="0"/>
              <a:t>, X</a:t>
            </a:r>
            <a:r>
              <a:rPr lang="en-US" i="1" baseline="-25000" dirty="0"/>
              <a:t>2</a:t>
            </a:r>
            <a:r>
              <a:rPr lang="en-US" i="1"/>
              <a:t>, . . . </a:t>
            </a:r>
            <a:r>
              <a:rPr lang="en-US" i="1" dirty="0"/>
              <a:t>, </a:t>
            </a:r>
            <a:r>
              <a:rPr lang="en-US" i="1" dirty="0" err="1"/>
              <a:t>Xn</a:t>
            </a:r>
            <a:r>
              <a:rPr lang="en-US" dirty="0"/>
              <a:t>, the joint probability function for any of the Bayesian Network is, </a:t>
            </a:r>
          </a:p>
          <a:p>
            <a:pPr lvl="2"/>
            <a:endParaRPr lang="en-US" dirty="0"/>
          </a:p>
          <a:p>
            <a:pPr lvl="2"/>
            <a:endParaRPr lang="en-US" dirty="0"/>
          </a:p>
          <a:p>
            <a:pPr lvl="2"/>
            <a:endParaRPr lang="en-US" dirty="0"/>
          </a:p>
          <a:p>
            <a:pPr lvl="2"/>
            <a:r>
              <a:rPr lang="en-US" dirty="0"/>
              <a:t>That is, the joint probability of all the variables is the product of the probabilities of each variable given its </a:t>
            </a:r>
            <a:r>
              <a:rPr lang="en-US"/>
              <a:t>parents values. </a:t>
            </a:r>
            <a:r>
              <a:rPr lang="en-US" dirty="0"/>
              <a:t>This shows the meaning of directed edges: they indicate which other variables a given variable is </a:t>
            </a:r>
            <a:r>
              <a:rPr lang="en-US"/>
              <a:t>conditioned upon.</a:t>
            </a:r>
            <a:endParaRPr lang="en-US" dirty="0"/>
          </a:p>
          <a:p>
            <a:pPr marL="914400" lvl="2" indent="0">
              <a:buNone/>
            </a:pPr>
            <a:r>
              <a:rPr lang="en-US" b="1" dirty="0">
                <a:solidFill>
                  <a:srgbClr val="FF0000"/>
                </a:solidFill>
              </a:rPr>
              <a:t>	(Explanation on a later slide)</a:t>
            </a:r>
          </a:p>
          <a:p>
            <a:pPr lvl="1"/>
            <a:endParaRPr lang="en-US" dirty="0"/>
          </a:p>
          <a:p>
            <a:endParaRPr lang="en-US" dirty="0"/>
          </a:p>
        </p:txBody>
      </p:sp>
      <p:pic>
        <p:nvPicPr>
          <p:cNvPr id="4" name="Picture 3">
            <a:extLst>
              <a:ext uri="{FF2B5EF4-FFF2-40B4-BE49-F238E27FC236}">
                <a16:creationId xmlns:a16="http://schemas.microsoft.com/office/drawing/2014/main" id="{2D064886-6EB4-19AF-8905-3B2C0AD78359}"/>
              </a:ext>
            </a:extLst>
          </p:cNvPr>
          <p:cNvPicPr>
            <a:picLocks noChangeAspect="1"/>
          </p:cNvPicPr>
          <p:nvPr/>
        </p:nvPicPr>
        <p:blipFill>
          <a:blip r:embed="rId2"/>
          <a:srcRect l="18966" r="23069" b="15647"/>
          <a:stretch/>
        </p:blipFill>
        <p:spPr>
          <a:xfrm>
            <a:off x="8351520" y="2696055"/>
            <a:ext cx="3190239" cy="1997865"/>
          </a:xfrm>
          <a:prstGeom prst="rect">
            <a:avLst/>
          </a:prstGeom>
        </p:spPr>
      </p:pic>
      <p:pic>
        <p:nvPicPr>
          <p:cNvPr id="12" name="Picture 11">
            <a:extLst>
              <a:ext uri="{FF2B5EF4-FFF2-40B4-BE49-F238E27FC236}">
                <a16:creationId xmlns:a16="http://schemas.microsoft.com/office/drawing/2014/main" id="{661DD6E1-14E8-CA6C-FB91-FEACE7D16062}"/>
              </a:ext>
            </a:extLst>
          </p:cNvPr>
          <p:cNvPicPr>
            <a:picLocks noChangeAspect="1"/>
          </p:cNvPicPr>
          <p:nvPr/>
        </p:nvPicPr>
        <p:blipFill>
          <a:blip r:embed="rId3"/>
          <a:stretch>
            <a:fillRect/>
          </a:stretch>
        </p:blipFill>
        <p:spPr>
          <a:xfrm>
            <a:off x="2326519" y="3020992"/>
            <a:ext cx="5870446" cy="408008"/>
          </a:xfrm>
          <a:prstGeom prst="rect">
            <a:avLst/>
          </a:prstGeom>
        </p:spPr>
      </p:pic>
      <p:pic>
        <p:nvPicPr>
          <p:cNvPr id="18" name="Picture 17">
            <a:extLst>
              <a:ext uri="{FF2B5EF4-FFF2-40B4-BE49-F238E27FC236}">
                <a16:creationId xmlns:a16="http://schemas.microsoft.com/office/drawing/2014/main" id="{40016D04-AC47-303F-6D3E-CCAD2307884D}"/>
              </a:ext>
            </a:extLst>
          </p:cNvPr>
          <p:cNvPicPr>
            <a:picLocks noChangeAspect="1"/>
          </p:cNvPicPr>
          <p:nvPr/>
        </p:nvPicPr>
        <p:blipFill>
          <a:blip r:embed="rId4"/>
          <a:stretch>
            <a:fillRect/>
          </a:stretch>
        </p:blipFill>
        <p:spPr>
          <a:xfrm>
            <a:off x="3228261" y="4405700"/>
            <a:ext cx="4968704" cy="775603"/>
          </a:xfrm>
          <a:prstGeom prst="rect">
            <a:avLst/>
          </a:prstGeom>
        </p:spPr>
      </p:pic>
    </p:spTree>
    <p:extLst>
      <p:ext uri="{BB962C8B-B14F-4D97-AF65-F5344CB8AC3E}">
        <p14:creationId xmlns:p14="http://schemas.microsoft.com/office/powerpoint/2010/main" val="165161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964E-F0CA-FEE3-C156-BB2A90048C03}"/>
              </a:ext>
            </a:extLst>
          </p:cNvPr>
          <p:cNvSpPr>
            <a:spLocks noGrp="1"/>
          </p:cNvSpPr>
          <p:nvPr>
            <p:ph type="title"/>
          </p:nvPr>
        </p:nvSpPr>
        <p:spPr/>
        <p:txBody>
          <a:bodyPr/>
          <a:lstStyle/>
          <a:p>
            <a:r>
              <a:rPr lang="en-US" dirty="0"/>
              <a:t>Bayesian Network Model</a:t>
            </a:r>
          </a:p>
        </p:txBody>
      </p:sp>
      <p:sp>
        <p:nvSpPr>
          <p:cNvPr id="3" name="Content Placeholder 2">
            <a:extLst>
              <a:ext uri="{FF2B5EF4-FFF2-40B4-BE49-F238E27FC236}">
                <a16:creationId xmlns:a16="http://schemas.microsoft.com/office/drawing/2014/main" id="{71B42E3E-4113-95E9-014B-63C6D491C305}"/>
              </a:ext>
            </a:extLst>
          </p:cNvPr>
          <p:cNvSpPr>
            <a:spLocks noGrp="1"/>
          </p:cNvSpPr>
          <p:nvPr>
            <p:ph idx="1"/>
          </p:nvPr>
        </p:nvSpPr>
        <p:spPr>
          <a:xfrm>
            <a:off x="838200" y="1825625"/>
            <a:ext cx="10683240" cy="4351338"/>
          </a:xfrm>
        </p:spPr>
        <p:txBody>
          <a:bodyPr>
            <a:normAutofit/>
          </a:bodyPr>
          <a:lstStyle/>
          <a:p>
            <a:pPr lvl="1"/>
            <a:r>
              <a:rPr lang="en-US" dirty="0">
                <a:solidFill>
                  <a:srgbClr val="C00000"/>
                </a:solidFill>
              </a:rPr>
              <a:t>The edges in Bayesian networks are sometimes looked at as causal connections where each parent node causes an effect on its children.</a:t>
            </a:r>
          </a:p>
          <a:p>
            <a:pPr lvl="1"/>
            <a:r>
              <a:rPr lang="en-US" dirty="0">
                <a:solidFill>
                  <a:srgbClr val="C00000"/>
                </a:solidFill>
              </a:rPr>
              <a:t>The joint probability represented by one set of edges can equally be represented by another set. For example, using Bayes’ rule, the joint probability from (1) becomes: </a:t>
            </a:r>
          </a:p>
          <a:p>
            <a:pPr marL="0" indent="0">
              <a:buNone/>
            </a:pPr>
            <a:endParaRPr lang="en-US" dirty="0"/>
          </a:p>
        </p:txBody>
      </p:sp>
      <p:pic>
        <p:nvPicPr>
          <p:cNvPr id="4" name="Picture 3">
            <a:extLst>
              <a:ext uri="{FF2B5EF4-FFF2-40B4-BE49-F238E27FC236}">
                <a16:creationId xmlns:a16="http://schemas.microsoft.com/office/drawing/2014/main" id="{2D064886-6EB4-19AF-8905-3B2C0AD78359}"/>
              </a:ext>
            </a:extLst>
          </p:cNvPr>
          <p:cNvPicPr>
            <a:picLocks noChangeAspect="1"/>
          </p:cNvPicPr>
          <p:nvPr/>
        </p:nvPicPr>
        <p:blipFill>
          <a:blip r:embed="rId2"/>
          <a:srcRect l="18966" r="23069" b="15647"/>
          <a:stretch/>
        </p:blipFill>
        <p:spPr>
          <a:xfrm>
            <a:off x="1919066" y="4464187"/>
            <a:ext cx="2422536" cy="1517096"/>
          </a:xfrm>
          <a:prstGeom prst="rect">
            <a:avLst/>
          </a:prstGeom>
        </p:spPr>
      </p:pic>
      <p:pic>
        <p:nvPicPr>
          <p:cNvPr id="6" name="Picture 5">
            <a:extLst>
              <a:ext uri="{FF2B5EF4-FFF2-40B4-BE49-F238E27FC236}">
                <a16:creationId xmlns:a16="http://schemas.microsoft.com/office/drawing/2014/main" id="{45739811-749C-E9E5-0396-D7D816095DF0}"/>
              </a:ext>
            </a:extLst>
          </p:cNvPr>
          <p:cNvPicPr>
            <a:picLocks noChangeAspect="1"/>
          </p:cNvPicPr>
          <p:nvPr/>
        </p:nvPicPr>
        <p:blipFill>
          <a:blip r:embed="rId3"/>
          <a:stretch>
            <a:fillRect/>
          </a:stretch>
        </p:blipFill>
        <p:spPr>
          <a:xfrm>
            <a:off x="1703198" y="3645993"/>
            <a:ext cx="9292752" cy="688352"/>
          </a:xfrm>
          <a:prstGeom prst="rect">
            <a:avLst/>
          </a:prstGeom>
        </p:spPr>
      </p:pic>
      <p:pic>
        <p:nvPicPr>
          <p:cNvPr id="9" name="Picture 8">
            <a:extLst>
              <a:ext uri="{FF2B5EF4-FFF2-40B4-BE49-F238E27FC236}">
                <a16:creationId xmlns:a16="http://schemas.microsoft.com/office/drawing/2014/main" id="{4A0EC9EF-0C47-06E9-08D5-63BE7FC236F6}"/>
              </a:ext>
            </a:extLst>
          </p:cNvPr>
          <p:cNvPicPr>
            <a:picLocks noChangeAspect="1"/>
          </p:cNvPicPr>
          <p:nvPr/>
        </p:nvPicPr>
        <p:blipFill>
          <a:blip r:embed="rId4"/>
          <a:stretch>
            <a:fillRect/>
          </a:stretch>
        </p:blipFill>
        <p:spPr>
          <a:xfrm>
            <a:off x="7427388" y="4446362"/>
            <a:ext cx="2559075" cy="1517096"/>
          </a:xfrm>
          <a:prstGeom prst="rect">
            <a:avLst/>
          </a:prstGeom>
        </p:spPr>
      </p:pic>
      <p:sp>
        <p:nvSpPr>
          <p:cNvPr id="10" name="TextBox 9">
            <a:extLst>
              <a:ext uri="{FF2B5EF4-FFF2-40B4-BE49-F238E27FC236}">
                <a16:creationId xmlns:a16="http://schemas.microsoft.com/office/drawing/2014/main" id="{2B68F2D5-CB5D-24BB-7D59-324E247ACBC0}"/>
              </a:ext>
            </a:extLst>
          </p:cNvPr>
          <p:cNvSpPr txBox="1"/>
          <p:nvPr/>
        </p:nvSpPr>
        <p:spPr>
          <a:xfrm>
            <a:off x="5231757" y="6049477"/>
            <a:ext cx="6440154" cy="646331"/>
          </a:xfrm>
          <a:prstGeom prst="rect">
            <a:avLst/>
          </a:prstGeom>
          <a:noFill/>
        </p:spPr>
        <p:txBody>
          <a:bodyPr wrap="square" rtlCol="0">
            <a:spAutoFit/>
          </a:bodyPr>
          <a:lstStyle/>
          <a:p>
            <a:pPr algn="ctr"/>
            <a:r>
              <a:rPr lang="en-US" dirty="0"/>
              <a:t>A Bayesian network that represents the same joint probability as the figure on left </a:t>
            </a:r>
          </a:p>
        </p:txBody>
      </p:sp>
    </p:spTree>
    <p:extLst>
      <p:ext uri="{BB962C8B-B14F-4D97-AF65-F5344CB8AC3E}">
        <p14:creationId xmlns:p14="http://schemas.microsoft.com/office/powerpoint/2010/main" val="3464842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C779-5091-C7F6-34C7-712FDBBCC340}"/>
              </a:ext>
            </a:extLst>
          </p:cNvPr>
          <p:cNvSpPr>
            <a:spLocks noGrp="1"/>
          </p:cNvSpPr>
          <p:nvPr>
            <p:ph type="title"/>
          </p:nvPr>
        </p:nvSpPr>
        <p:spPr/>
        <p:txBody>
          <a:bodyPr/>
          <a:lstStyle/>
          <a:p>
            <a:r>
              <a:rPr lang="en-US" dirty="0"/>
              <a:t>Bayesian network components</a:t>
            </a:r>
          </a:p>
        </p:txBody>
      </p:sp>
      <p:sp>
        <p:nvSpPr>
          <p:cNvPr id="3" name="Content Placeholder 2">
            <a:extLst>
              <a:ext uri="{FF2B5EF4-FFF2-40B4-BE49-F238E27FC236}">
                <a16:creationId xmlns:a16="http://schemas.microsoft.com/office/drawing/2014/main" id="{C430E52A-8FCA-3A48-F00B-8985E6054996}"/>
              </a:ext>
            </a:extLst>
          </p:cNvPr>
          <p:cNvSpPr>
            <a:spLocks noGrp="1"/>
          </p:cNvSpPr>
          <p:nvPr>
            <p:ph idx="1"/>
          </p:nvPr>
        </p:nvSpPr>
        <p:spPr/>
        <p:txBody>
          <a:bodyPr>
            <a:normAutofit/>
          </a:bodyPr>
          <a:lstStyle/>
          <a:p>
            <a:r>
              <a:rPr lang="en-GB" dirty="0"/>
              <a:t>The Bayesian network has mainly two components:</a:t>
            </a:r>
          </a:p>
          <a:p>
            <a:pPr lvl="1"/>
            <a:r>
              <a:rPr lang="en-GB" dirty="0"/>
              <a:t>Causal Component</a:t>
            </a:r>
          </a:p>
          <a:p>
            <a:pPr lvl="1"/>
            <a:r>
              <a:rPr lang="en-GB" dirty="0"/>
              <a:t>Actual numbers</a:t>
            </a:r>
          </a:p>
          <a:p>
            <a:r>
              <a:rPr lang="en-GB" dirty="0"/>
              <a:t>Each node in the Bayesian network has conditional probability distribution P</a:t>
            </a:r>
            <a:r>
              <a:rPr lang="en-GB" i="1" dirty="0"/>
              <a:t>(X</a:t>
            </a:r>
            <a:r>
              <a:rPr lang="en-GB" i="1" baseline="-25000" dirty="0"/>
              <a:t>i</a:t>
            </a:r>
            <a:r>
              <a:rPr lang="en-GB" i="1" dirty="0"/>
              <a:t> |parents(X</a:t>
            </a:r>
            <a:r>
              <a:rPr lang="en-GB" i="1" baseline="-25000" dirty="0"/>
              <a:t>i</a:t>
            </a:r>
            <a:r>
              <a:rPr lang="en-GB" i="1" dirty="0"/>
              <a:t>) )</a:t>
            </a:r>
            <a:r>
              <a:rPr lang="en-GB" dirty="0"/>
              <a:t>, which determines the effect of the parents on </a:t>
            </a:r>
            <a:r>
              <a:rPr lang="en-GB"/>
              <a:t>that node.</a:t>
            </a:r>
            <a:endParaRPr lang="en-GB" dirty="0"/>
          </a:p>
          <a:p>
            <a:r>
              <a:rPr lang="en-GB" dirty="0"/>
              <a:t>Bayesian network is based on Joint probability distribution and </a:t>
            </a:r>
            <a:r>
              <a:rPr lang="en-GB"/>
              <a:t>conditional probability. </a:t>
            </a:r>
            <a:endParaRPr lang="en-GB" dirty="0"/>
          </a:p>
          <a:p>
            <a:r>
              <a:rPr lang="en-GB" dirty="0"/>
              <a:t>So, let's first understand the joint probability distribution:</a:t>
            </a:r>
            <a:endParaRPr lang="en-US" dirty="0"/>
          </a:p>
        </p:txBody>
      </p:sp>
    </p:spTree>
    <p:extLst>
      <p:ext uri="{BB962C8B-B14F-4D97-AF65-F5344CB8AC3E}">
        <p14:creationId xmlns:p14="http://schemas.microsoft.com/office/powerpoint/2010/main" val="3340676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D1300-7705-EE1A-9D27-390F66BC820B}"/>
              </a:ext>
            </a:extLst>
          </p:cNvPr>
          <p:cNvSpPr>
            <a:spLocks noGrp="1"/>
          </p:cNvSpPr>
          <p:nvPr>
            <p:ph type="title"/>
          </p:nvPr>
        </p:nvSpPr>
        <p:spPr/>
        <p:txBody>
          <a:bodyPr/>
          <a:lstStyle/>
          <a:p>
            <a:r>
              <a:rPr lang="en-US" dirty="0"/>
              <a:t>Joint probability distribution</a:t>
            </a:r>
          </a:p>
        </p:txBody>
      </p:sp>
      <p:sp>
        <p:nvSpPr>
          <p:cNvPr id="3" name="Content Placeholder 2">
            <a:extLst>
              <a:ext uri="{FF2B5EF4-FFF2-40B4-BE49-F238E27FC236}">
                <a16:creationId xmlns:a16="http://schemas.microsoft.com/office/drawing/2014/main" id="{93D97CEE-AB29-99F8-BAC5-0D218DBAB736}"/>
              </a:ext>
            </a:extLst>
          </p:cNvPr>
          <p:cNvSpPr>
            <a:spLocks noGrp="1"/>
          </p:cNvSpPr>
          <p:nvPr>
            <p:ph idx="1"/>
          </p:nvPr>
        </p:nvSpPr>
        <p:spPr/>
        <p:txBody>
          <a:bodyPr>
            <a:normAutofit/>
          </a:bodyPr>
          <a:lstStyle/>
          <a:p>
            <a:r>
              <a:rPr lang="en-GB" sz="2400" dirty="0"/>
              <a:t>If we have variables x</a:t>
            </a:r>
            <a:r>
              <a:rPr lang="en-GB" sz="2400" baseline="-25000" dirty="0"/>
              <a:t>1</a:t>
            </a:r>
            <a:r>
              <a:rPr lang="en-GB" sz="2400" dirty="0"/>
              <a:t>, x</a:t>
            </a:r>
            <a:r>
              <a:rPr lang="en-GB" sz="2400" baseline="-25000" dirty="0"/>
              <a:t>2</a:t>
            </a:r>
            <a:r>
              <a:rPr lang="en-GB" sz="2400" dirty="0"/>
              <a:t>, </a:t>
            </a:r>
            <a:r>
              <a:rPr lang="en-GB" sz="2400"/>
              <a:t>x</a:t>
            </a:r>
            <a:r>
              <a:rPr lang="en-GB" sz="2400" baseline="-25000"/>
              <a:t>3</a:t>
            </a:r>
            <a:r>
              <a:rPr lang="en-GB" sz="2400"/>
              <a:t>,....., </a:t>
            </a:r>
            <a:r>
              <a:rPr lang="en-GB" sz="2400" dirty="0" err="1"/>
              <a:t>x</a:t>
            </a:r>
            <a:r>
              <a:rPr lang="en-GB" sz="2400" baseline="-25000" dirty="0" err="1"/>
              <a:t>n</a:t>
            </a:r>
            <a:r>
              <a:rPr lang="en-GB" sz="2400" dirty="0"/>
              <a:t>, then the probabilities of a different combination of x</a:t>
            </a:r>
            <a:r>
              <a:rPr lang="en-GB" sz="2400" baseline="-25000" dirty="0"/>
              <a:t>1</a:t>
            </a:r>
            <a:r>
              <a:rPr lang="en-GB" sz="2400" dirty="0"/>
              <a:t>, x</a:t>
            </a:r>
            <a:r>
              <a:rPr lang="en-GB" sz="2400" baseline="-25000" dirty="0"/>
              <a:t>2</a:t>
            </a:r>
            <a:r>
              <a:rPr lang="en-GB" sz="2400"/>
              <a:t>, x</a:t>
            </a:r>
            <a:r>
              <a:rPr lang="en-GB" sz="2400" baseline="-25000"/>
              <a:t>3</a:t>
            </a:r>
            <a:r>
              <a:rPr lang="en-GB" sz="2400"/>
              <a:t>.. </a:t>
            </a:r>
            <a:r>
              <a:rPr lang="en-GB" sz="2400" dirty="0" err="1"/>
              <a:t>x</a:t>
            </a:r>
            <a:r>
              <a:rPr lang="en-GB" sz="2400" baseline="-25000" dirty="0" err="1"/>
              <a:t>n</a:t>
            </a:r>
            <a:r>
              <a:rPr lang="en-GB" sz="2400" dirty="0"/>
              <a:t>, are known as Joint </a:t>
            </a:r>
            <a:r>
              <a:rPr lang="en-GB" sz="2400"/>
              <a:t>probability distribution.</a:t>
            </a:r>
            <a:endParaRPr lang="en-GB" sz="2400" dirty="0"/>
          </a:p>
          <a:p>
            <a:r>
              <a:rPr lang="en-GB" sz="2400" dirty="0"/>
              <a:t>P(x</a:t>
            </a:r>
            <a:r>
              <a:rPr lang="en-GB" sz="2400" baseline="-25000" dirty="0"/>
              <a:t>1</a:t>
            </a:r>
            <a:r>
              <a:rPr lang="en-GB" sz="2400" dirty="0"/>
              <a:t>, x</a:t>
            </a:r>
            <a:r>
              <a:rPr lang="en-GB" sz="2400" baseline="-25000" dirty="0"/>
              <a:t>2</a:t>
            </a:r>
            <a:r>
              <a:rPr lang="en-GB" sz="2400" dirty="0"/>
              <a:t>, </a:t>
            </a:r>
            <a:r>
              <a:rPr lang="en-GB" sz="2400"/>
              <a:t>x</a:t>
            </a:r>
            <a:r>
              <a:rPr lang="en-GB" sz="2400" baseline="-25000"/>
              <a:t>3</a:t>
            </a:r>
            <a:r>
              <a:rPr lang="en-GB" sz="2400"/>
              <a:t>,....., </a:t>
            </a:r>
            <a:r>
              <a:rPr lang="en-GB" sz="2400" dirty="0" err="1"/>
              <a:t>x</a:t>
            </a:r>
            <a:r>
              <a:rPr lang="en-GB" sz="2400" baseline="-25000" dirty="0" err="1"/>
              <a:t>n</a:t>
            </a:r>
            <a:r>
              <a:rPr lang="en-GB" sz="2400" dirty="0"/>
              <a:t>), it can be written as the following way in terms of the joint </a:t>
            </a:r>
            <a:r>
              <a:rPr lang="en-GB" sz="2400"/>
              <a:t>probability distribution.</a:t>
            </a:r>
            <a:endParaRPr lang="en-GB" sz="2400" dirty="0"/>
          </a:p>
          <a:p>
            <a:pPr marL="457200" lvl="1" indent="0">
              <a:buNone/>
            </a:pPr>
            <a:r>
              <a:rPr lang="en-GB" sz="2000" dirty="0"/>
              <a:t>= P(x</a:t>
            </a:r>
            <a:r>
              <a:rPr lang="en-GB" sz="2000" baseline="-25000" dirty="0"/>
              <a:t>1</a:t>
            </a:r>
            <a:r>
              <a:rPr lang="en-GB" sz="2000" dirty="0"/>
              <a:t>| x</a:t>
            </a:r>
            <a:r>
              <a:rPr lang="en-GB" sz="2000" baseline="-25000" dirty="0"/>
              <a:t>2</a:t>
            </a:r>
            <a:r>
              <a:rPr lang="en-GB" sz="2000" dirty="0"/>
              <a:t>, </a:t>
            </a:r>
            <a:r>
              <a:rPr lang="en-GB" sz="2000"/>
              <a:t>x</a:t>
            </a:r>
            <a:r>
              <a:rPr lang="en-GB" sz="2000" baseline="-25000"/>
              <a:t>3</a:t>
            </a:r>
            <a:r>
              <a:rPr lang="en-GB" sz="2000"/>
              <a:t>,....., </a:t>
            </a:r>
            <a:r>
              <a:rPr lang="en-GB" sz="2000" dirty="0" err="1"/>
              <a:t>x</a:t>
            </a:r>
            <a:r>
              <a:rPr lang="en-GB" sz="2000" baseline="-25000" dirty="0" err="1"/>
              <a:t>n</a:t>
            </a:r>
            <a:r>
              <a:rPr lang="en-GB" sz="2000" dirty="0"/>
              <a:t>)P(x</a:t>
            </a:r>
            <a:r>
              <a:rPr lang="en-GB" sz="2000" baseline="-25000" dirty="0"/>
              <a:t>2</a:t>
            </a:r>
            <a:r>
              <a:rPr lang="en-GB" sz="2000" dirty="0"/>
              <a:t>, </a:t>
            </a:r>
            <a:r>
              <a:rPr lang="en-GB" sz="2000"/>
              <a:t>x</a:t>
            </a:r>
            <a:r>
              <a:rPr lang="en-GB" sz="2000" baseline="-25000"/>
              <a:t>3</a:t>
            </a:r>
            <a:r>
              <a:rPr lang="en-GB" sz="2000"/>
              <a:t>,....., </a:t>
            </a:r>
            <a:r>
              <a:rPr lang="en-GB" sz="2000" dirty="0" err="1"/>
              <a:t>x</a:t>
            </a:r>
            <a:r>
              <a:rPr lang="en-GB" sz="2000" baseline="-25000" dirty="0" err="1"/>
              <a:t>n</a:t>
            </a:r>
            <a:r>
              <a:rPr lang="en-GB" sz="2000" dirty="0"/>
              <a:t>)</a:t>
            </a:r>
          </a:p>
          <a:p>
            <a:pPr lvl="1"/>
            <a:endParaRPr lang="en-GB" sz="2000" dirty="0"/>
          </a:p>
          <a:p>
            <a:pPr marL="457200" lvl="1" indent="0">
              <a:buNone/>
            </a:pPr>
            <a:r>
              <a:rPr lang="en-GB" sz="2000" dirty="0"/>
              <a:t>= P(x</a:t>
            </a:r>
            <a:r>
              <a:rPr lang="en-GB" sz="2000" baseline="-25000" dirty="0"/>
              <a:t>1</a:t>
            </a:r>
            <a:r>
              <a:rPr lang="en-GB" sz="2000" dirty="0"/>
              <a:t>| x</a:t>
            </a:r>
            <a:r>
              <a:rPr lang="en-GB" sz="2000" baseline="-25000" dirty="0"/>
              <a:t>2</a:t>
            </a:r>
            <a:r>
              <a:rPr lang="en-GB" sz="2000" dirty="0"/>
              <a:t>, </a:t>
            </a:r>
            <a:r>
              <a:rPr lang="en-GB" sz="2000"/>
              <a:t>x</a:t>
            </a:r>
            <a:r>
              <a:rPr lang="en-GB" sz="2000" baseline="-25000"/>
              <a:t>3</a:t>
            </a:r>
            <a:r>
              <a:rPr lang="en-GB" sz="2000"/>
              <a:t>,....., </a:t>
            </a:r>
            <a:r>
              <a:rPr lang="en-GB" sz="2000" dirty="0" err="1"/>
              <a:t>x</a:t>
            </a:r>
            <a:r>
              <a:rPr lang="en-GB" sz="2000" baseline="-25000" dirty="0" err="1"/>
              <a:t>n</a:t>
            </a:r>
            <a:r>
              <a:rPr lang="en-GB" sz="2000" dirty="0"/>
              <a:t>)P(x</a:t>
            </a:r>
            <a:r>
              <a:rPr lang="en-GB" sz="2000" baseline="-25000" dirty="0"/>
              <a:t>2</a:t>
            </a:r>
            <a:r>
              <a:rPr lang="en-GB" sz="2000" dirty="0"/>
              <a:t>|</a:t>
            </a:r>
            <a:r>
              <a:rPr lang="en-GB" sz="2000"/>
              <a:t>x</a:t>
            </a:r>
            <a:r>
              <a:rPr lang="en-GB" sz="2000" baseline="-25000"/>
              <a:t>3</a:t>
            </a:r>
            <a:r>
              <a:rPr lang="en-GB" sz="2000"/>
              <a:t>,....., </a:t>
            </a:r>
            <a:r>
              <a:rPr lang="en-GB" sz="2000" err="1"/>
              <a:t>x</a:t>
            </a:r>
            <a:r>
              <a:rPr lang="en-GB" sz="2000" baseline="-25000" err="1"/>
              <a:t>n</a:t>
            </a:r>
            <a:r>
              <a:rPr lang="en-GB" sz="2000"/>
              <a:t>)....P</a:t>
            </a:r>
            <a:r>
              <a:rPr lang="en-GB" sz="2000" dirty="0"/>
              <a:t>(x</a:t>
            </a:r>
            <a:r>
              <a:rPr lang="en-GB" sz="2000" baseline="-25000" dirty="0"/>
              <a:t>n-1</a:t>
            </a:r>
            <a:r>
              <a:rPr lang="en-GB" sz="2000" dirty="0"/>
              <a:t>|x</a:t>
            </a:r>
            <a:r>
              <a:rPr lang="en-GB" sz="2000" baseline="-25000" dirty="0"/>
              <a:t>n</a:t>
            </a:r>
            <a:r>
              <a:rPr lang="en-GB" sz="2000" dirty="0"/>
              <a:t>)P(</a:t>
            </a:r>
            <a:r>
              <a:rPr lang="en-GB" sz="2000" err="1"/>
              <a:t>x</a:t>
            </a:r>
            <a:r>
              <a:rPr lang="en-GB" sz="2000" baseline="-25000" err="1"/>
              <a:t>n</a:t>
            </a:r>
            <a:r>
              <a:rPr lang="en-GB" sz="2000"/>
              <a:t>).</a:t>
            </a:r>
            <a:endParaRPr lang="en-GB" sz="2000" dirty="0"/>
          </a:p>
          <a:p>
            <a:r>
              <a:rPr lang="en-GB" sz="2400" dirty="0"/>
              <a:t>In general, for each variable X</a:t>
            </a:r>
            <a:r>
              <a:rPr lang="en-GB" sz="2400" baseline="-25000" dirty="0"/>
              <a:t>i</a:t>
            </a:r>
            <a:r>
              <a:rPr lang="en-GB" sz="2400" dirty="0"/>
              <a:t>, we can write the equation as:</a:t>
            </a:r>
          </a:p>
          <a:p>
            <a:endParaRPr lang="en-GB" sz="2400" dirty="0"/>
          </a:p>
          <a:p>
            <a:endParaRPr lang="en-GB" sz="2400" dirty="0"/>
          </a:p>
          <a:p>
            <a:endParaRPr lang="en-GB" sz="2400" dirty="0"/>
          </a:p>
          <a:p>
            <a:endParaRPr lang="en-US" sz="2400" dirty="0"/>
          </a:p>
        </p:txBody>
      </p:sp>
      <p:pic>
        <p:nvPicPr>
          <p:cNvPr id="4" name="Picture 3">
            <a:extLst>
              <a:ext uri="{FF2B5EF4-FFF2-40B4-BE49-F238E27FC236}">
                <a16:creationId xmlns:a16="http://schemas.microsoft.com/office/drawing/2014/main" id="{826B18F8-230D-43D0-E4F2-F0F0893037D2}"/>
              </a:ext>
            </a:extLst>
          </p:cNvPr>
          <p:cNvPicPr>
            <a:picLocks noChangeAspect="1"/>
          </p:cNvPicPr>
          <p:nvPr/>
        </p:nvPicPr>
        <p:blipFill>
          <a:blip r:embed="rId2"/>
          <a:srcRect r="22173"/>
          <a:stretch/>
        </p:blipFill>
        <p:spPr>
          <a:xfrm>
            <a:off x="3806995" y="5293228"/>
            <a:ext cx="3867020" cy="775603"/>
          </a:xfrm>
          <a:prstGeom prst="rect">
            <a:avLst/>
          </a:prstGeom>
        </p:spPr>
      </p:pic>
    </p:spTree>
    <p:extLst>
      <p:ext uri="{BB962C8B-B14F-4D97-AF65-F5344CB8AC3E}">
        <p14:creationId xmlns:p14="http://schemas.microsoft.com/office/powerpoint/2010/main" val="162135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0C030-04C2-A774-01A2-0AC382D6AE59}"/>
              </a:ext>
            </a:extLst>
          </p:cNvPr>
          <p:cNvSpPr>
            <a:spLocks noGrp="1"/>
          </p:cNvSpPr>
          <p:nvPr>
            <p:ph type="title"/>
          </p:nvPr>
        </p:nvSpPr>
        <p:spPr/>
        <p:txBody>
          <a:bodyPr/>
          <a:lstStyle/>
          <a:p>
            <a:r>
              <a:rPr lang="en-US" dirty="0"/>
              <a:t>Explanation of Bayesian network</a:t>
            </a:r>
          </a:p>
        </p:txBody>
      </p:sp>
      <p:sp>
        <p:nvSpPr>
          <p:cNvPr id="3" name="Content Placeholder 2">
            <a:extLst>
              <a:ext uri="{FF2B5EF4-FFF2-40B4-BE49-F238E27FC236}">
                <a16:creationId xmlns:a16="http://schemas.microsoft.com/office/drawing/2014/main" id="{714F24F1-B0BA-90B7-2DF3-FF97BCB9C450}"/>
              </a:ext>
            </a:extLst>
          </p:cNvPr>
          <p:cNvSpPr>
            <a:spLocks noGrp="1"/>
          </p:cNvSpPr>
          <p:nvPr>
            <p:ph idx="1"/>
          </p:nvPr>
        </p:nvSpPr>
        <p:spPr/>
        <p:txBody>
          <a:bodyPr>
            <a:normAutofit fontScale="92500" lnSpcReduction="10000"/>
          </a:bodyPr>
          <a:lstStyle/>
          <a:p>
            <a:r>
              <a:rPr lang="en-GB" dirty="0"/>
              <a:t>Let's understand the Bayesian network through an example by creating a directed acyclic graph:</a:t>
            </a:r>
          </a:p>
          <a:p>
            <a:r>
              <a:rPr lang="en-GB" b="1" dirty="0"/>
              <a:t>Example</a:t>
            </a:r>
            <a:r>
              <a:rPr lang="en-GB" dirty="0"/>
              <a:t>:</a:t>
            </a:r>
            <a:r>
              <a:rPr lang="en-GB" i="1" dirty="0"/>
              <a:t> Harry installed a new burglar alarm at his home to </a:t>
            </a:r>
            <a:r>
              <a:rPr lang="en-GB" i="1"/>
              <a:t>detect burglary. </a:t>
            </a:r>
            <a:r>
              <a:rPr lang="en-GB" i="1" dirty="0"/>
              <a:t>The alarm reliably responds at detecting a burglary but also responds for </a:t>
            </a:r>
            <a:r>
              <a:rPr lang="en-GB" i="1"/>
              <a:t>minor earthquakes. </a:t>
            </a:r>
            <a:r>
              <a:rPr lang="en-GB" i="1" dirty="0"/>
              <a:t>Harry has two </a:t>
            </a:r>
            <a:r>
              <a:rPr lang="en-GB" i="1" dirty="0" err="1"/>
              <a:t>neighbors</a:t>
            </a:r>
            <a:r>
              <a:rPr lang="en-GB" i="1" dirty="0"/>
              <a:t> David and Sophia, who have taken a responsibility to inform Harry at work when they hear </a:t>
            </a:r>
            <a:r>
              <a:rPr lang="en-GB" i="1"/>
              <a:t>the alarm. </a:t>
            </a:r>
            <a:r>
              <a:rPr lang="en-GB" i="1" dirty="0"/>
              <a:t>David always calls Harry when he hears the alarm, but sometimes he got confused with the phone ringing and calls at that </a:t>
            </a:r>
            <a:r>
              <a:rPr lang="en-GB" i="1"/>
              <a:t>time too. </a:t>
            </a:r>
            <a:r>
              <a:rPr lang="en-GB" i="1" dirty="0"/>
              <a:t>On the other hand, Sophia likes to listen to high music, so sometimes she misses to hear </a:t>
            </a:r>
            <a:r>
              <a:rPr lang="en-GB" i="1"/>
              <a:t>the alarm. </a:t>
            </a:r>
            <a:r>
              <a:rPr lang="en-GB" i="1" dirty="0"/>
              <a:t>Here we would like to compute the probability of </a:t>
            </a:r>
            <a:r>
              <a:rPr lang="en-GB" i="1"/>
              <a:t>Burglary Alarm.</a:t>
            </a:r>
            <a:endParaRPr lang="en-US" i="1" dirty="0"/>
          </a:p>
        </p:txBody>
      </p:sp>
    </p:spTree>
    <p:extLst>
      <p:ext uri="{BB962C8B-B14F-4D97-AF65-F5344CB8AC3E}">
        <p14:creationId xmlns:p14="http://schemas.microsoft.com/office/powerpoint/2010/main" val="813745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3670A-2E84-EDEF-9AF9-9450690EAE05}"/>
              </a:ext>
            </a:extLst>
          </p:cNvPr>
          <p:cNvSpPr>
            <a:spLocks noGrp="1"/>
          </p:cNvSpPr>
          <p:nvPr>
            <p:ph type="title"/>
          </p:nvPr>
        </p:nvSpPr>
        <p:spPr/>
        <p:txBody>
          <a:bodyPr/>
          <a:lstStyle/>
          <a:p>
            <a:r>
              <a:rPr lang="en-GB" dirty="0"/>
              <a:t>Problem</a:t>
            </a:r>
            <a:endParaRPr lang="en-US" dirty="0"/>
          </a:p>
        </p:txBody>
      </p:sp>
      <p:sp>
        <p:nvSpPr>
          <p:cNvPr id="3" name="Content Placeholder 2">
            <a:extLst>
              <a:ext uri="{FF2B5EF4-FFF2-40B4-BE49-F238E27FC236}">
                <a16:creationId xmlns:a16="http://schemas.microsoft.com/office/drawing/2014/main" id="{325AF667-5FE2-6E33-407E-FB439D3CC010}"/>
              </a:ext>
            </a:extLst>
          </p:cNvPr>
          <p:cNvSpPr>
            <a:spLocks noGrp="1"/>
          </p:cNvSpPr>
          <p:nvPr>
            <p:ph idx="1"/>
          </p:nvPr>
        </p:nvSpPr>
        <p:spPr>
          <a:xfrm>
            <a:off x="838200" y="1825625"/>
            <a:ext cx="3713093" cy="4351338"/>
          </a:xfrm>
        </p:spPr>
        <p:txBody>
          <a:bodyPr/>
          <a:lstStyle/>
          <a:p>
            <a:r>
              <a:rPr lang="en-GB" i="1" dirty="0"/>
              <a:t>Calculate the probability that alarm has sounded, but there is neither a burglary, nor an earthquake occurred, and David and Sophia both called </a:t>
            </a:r>
            <a:r>
              <a:rPr lang="en-GB" i="1"/>
              <a:t>the Harry.</a:t>
            </a:r>
            <a:endParaRPr lang="en-US" i="1" dirty="0"/>
          </a:p>
        </p:txBody>
      </p:sp>
      <p:pic>
        <p:nvPicPr>
          <p:cNvPr id="1026" name="Picture 2" descr="Bayesian Belief Network in artificial intelligence">
            <a:extLst>
              <a:ext uri="{FF2B5EF4-FFF2-40B4-BE49-F238E27FC236}">
                <a16:creationId xmlns:a16="http://schemas.microsoft.com/office/drawing/2014/main" id="{2D2DB1D2-4765-63AB-2415-ACA35F392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1293" y="1600200"/>
            <a:ext cx="7203281" cy="4802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0258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B5409-E117-D7AA-8578-A74EC83AA204}"/>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978CBEE3-682A-B429-9581-D4CDEE8A67F1}"/>
              </a:ext>
            </a:extLst>
          </p:cNvPr>
          <p:cNvSpPr>
            <a:spLocks noGrp="1"/>
          </p:cNvSpPr>
          <p:nvPr>
            <p:ph idx="1"/>
          </p:nvPr>
        </p:nvSpPr>
        <p:spPr/>
        <p:txBody>
          <a:bodyPr>
            <a:normAutofit fontScale="77500" lnSpcReduction="20000"/>
          </a:bodyPr>
          <a:lstStyle/>
          <a:p>
            <a:r>
              <a:rPr lang="en-GB" dirty="0"/>
              <a:t>The Bayesian network for the presented problem is </a:t>
            </a:r>
            <a:r>
              <a:rPr lang="en-GB"/>
              <a:t>given below. </a:t>
            </a:r>
            <a:r>
              <a:rPr lang="en-GB" dirty="0"/>
              <a:t>The network structure is showing that burglary and earthquake is the parent node of the alarm and directly affecting the probability of alarm's going off, but David and Sophia's calls depend on </a:t>
            </a:r>
            <a:r>
              <a:rPr lang="en-GB"/>
              <a:t>alarm probability.</a:t>
            </a:r>
            <a:endParaRPr lang="en-GB" dirty="0"/>
          </a:p>
          <a:p>
            <a:r>
              <a:rPr lang="en-GB" dirty="0"/>
              <a:t>The network is representing that our assumptions do not directly perceive the burglary and also do not notice the minor earthquake, and they also not confer </a:t>
            </a:r>
            <a:r>
              <a:rPr lang="en-GB"/>
              <a:t>before calling.</a:t>
            </a:r>
            <a:endParaRPr lang="en-GB" dirty="0"/>
          </a:p>
          <a:p>
            <a:r>
              <a:rPr lang="en-GB" dirty="0"/>
              <a:t>The conditional distributions for each node are given as </a:t>
            </a:r>
            <a:r>
              <a:rPr lang="en-GB" b="1" dirty="0"/>
              <a:t>conditional probabilities table </a:t>
            </a:r>
            <a:r>
              <a:rPr lang="en-GB"/>
              <a:t>or </a:t>
            </a:r>
            <a:r>
              <a:rPr lang="en-GB" b="1"/>
              <a:t>CPT</a:t>
            </a:r>
            <a:r>
              <a:rPr lang="en-GB"/>
              <a:t>.</a:t>
            </a:r>
            <a:endParaRPr lang="en-GB" dirty="0"/>
          </a:p>
          <a:p>
            <a:r>
              <a:rPr lang="en-GB" dirty="0"/>
              <a:t>Each row in the CPT must be sum to 1 because all the entries in the table represent an exhaustive set of cases for </a:t>
            </a:r>
            <a:r>
              <a:rPr lang="en-GB"/>
              <a:t>the variable.</a:t>
            </a:r>
            <a:endParaRPr lang="en-GB" dirty="0"/>
          </a:p>
          <a:p>
            <a:r>
              <a:rPr lang="en-GB" dirty="0"/>
              <a:t>In CPT, a </a:t>
            </a:r>
            <a:r>
              <a:rPr lang="en-GB" dirty="0" err="1"/>
              <a:t>boolean</a:t>
            </a:r>
            <a:r>
              <a:rPr lang="en-GB" dirty="0"/>
              <a:t> variable with </a:t>
            </a:r>
            <a:r>
              <a:rPr lang="en-GB" i="1" dirty="0"/>
              <a:t>k</a:t>
            </a:r>
            <a:r>
              <a:rPr lang="en-GB" dirty="0"/>
              <a:t> </a:t>
            </a:r>
            <a:r>
              <a:rPr lang="en-GB" dirty="0" err="1"/>
              <a:t>boolean</a:t>
            </a:r>
            <a:r>
              <a:rPr lang="en-GB" dirty="0"/>
              <a:t> parents contains </a:t>
            </a:r>
            <a:r>
              <a:rPr lang="en-GB" i="1"/>
              <a:t>2</a:t>
            </a:r>
            <a:r>
              <a:rPr lang="en-GB" i="1" baseline="30000"/>
              <a:t>k</a:t>
            </a:r>
            <a:r>
              <a:rPr lang="en-GB"/>
              <a:t> probabilities. </a:t>
            </a:r>
            <a:r>
              <a:rPr lang="en-GB" dirty="0"/>
              <a:t>Hence, if there are two parents, then CPT will contain 4 probability values</a:t>
            </a:r>
            <a:endParaRPr lang="en-US" dirty="0"/>
          </a:p>
        </p:txBody>
      </p:sp>
    </p:spTree>
    <p:extLst>
      <p:ext uri="{BB962C8B-B14F-4D97-AF65-F5344CB8AC3E}">
        <p14:creationId xmlns:p14="http://schemas.microsoft.com/office/powerpoint/2010/main" val="2550546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E1C9-D77A-B6BA-D0E7-354560A186DD}"/>
              </a:ext>
            </a:extLst>
          </p:cNvPr>
          <p:cNvSpPr>
            <a:spLocks noGrp="1"/>
          </p:cNvSpPr>
          <p:nvPr>
            <p:ph type="title"/>
          </p:nvPr>
        </p:nvSpPr>
        <p:spPr/>
        <p:txBody>
          <a:bodyPr/>
          <a:lstStyle/>
          <a:p>
            <a:r>
              <a:rPr lang="en-US" dirty="0"/>
              <a:t>Variables</a:t>
            </a:r>
          </a:p>
        </p:txBody>
      </p:sp>
      <p:sp>
        <p:nvSpPr>
          <p:cNvPr id="3" name="Content Placeholder 2">
            <a:extLst>
              <a:ext uri="{FF2B5EF4-FFF2-40B4-BE49-F238E27FC236}">
                <a16:creationId xmlns:a16="http://schemas.microsoft.com/office/drawing/2014/main" id="{A07CF4C2-9201-DCDC-0D2E-2BE013DA8A0D}"/>
              </a:ext>
            </a:extLst>
          </p:cNvPr>
          <p:cNvSpPr>
            <a:spLocks noGrp="1"/>
          </p:cNvSpPr>
          <p:nvPr>
            <p:ph idx="1"/>
          </p:nvPr>
        </p:nvSpPr>
        <p:spPr/>
        <p:txBody>
          <a:bodyPr/>
          <a:lstStyle/>
          <a:p>
            <a:r>
              <a:rPr lang="en-GB" dirty="0"/>
              <a:t>List of all events occurring in this network:</a:t>
            </a:r>
          </a:p>
          <a:p>
            <a:endParaRPr lang="en-GB" dirty="0"/>
          </a:p>
          <a:p>
            <a:pPr lvl="1"/>
            <a:r>
              <a:rPr lang="en-GB" dirty="0"/>
              <a:t>Burglary (B)</a:t>
            </a:r>
          </a:p>
          <a:p>
            <a:pPr lvl="1"/>
            <a:r>
              <a:rPr lang="en-GB" dirty="0"/>
              <a:t>Earthquake(E)</a:t>
            </a:r>
          </a:p>
          <a:p>
            <a:pPr lvl="1"/>
            <a:r>
              <a:rPr lang="en-GB" dirty="0"/>
              <a:t>Alarm(A)</a:t>
            </a:r>
          </a:p>
          <a:p>
            <a:pPr lvl="1"/>
            <a:r>
              <a:rPr lang="en-GB" dirty="0"/>
              <a:t>David Calls(D)</a:t>
            </a:r>
          </a:p>
          <a:p>
            <a:pPr lvl="1"/>
            <a:r>
              <a:rPr lang="en-GB" dirty="0"/>
              <a:t>Sophia calls(S)</a:t>
            </a:r>
            <a:endParaRPr lang="en-US" dirty="0"/>
          </a:p>
        </p:txBody>
      </p:sp>
      <p:pic>
        <p:nvPicPr>
          <p:cNvPr id="4" name="Picture 2" descr="Bayesian Belief Network in artificial intelligence">
            <a:extLst>
              <a:ext uri="{FF2B5EF4-FFF2-40B4-BE49-F238E27FC236}">
                <a16:creationId xmlns:a16="http://schemas.microsoft.com/office/drawing/2014/main" id="{45C38047-4E07-2409-B588-8BECFF92EA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9167" y="2594840"/>
            <a:ext cx="5575590" cy="3717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156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3A63-3F66-72D9-A14F-398FAD0C3139}"/>
              </a:ext>
            </a:extLst>
          </p:cNvPr>
          <p:cNvSpPr>
            <a:spLocks noGrp="1"/>
          </p:cNvSpPr>
          <p:nvPr>
            <p:ph type="title"/>
          </p:nvPr>
        </p:nvSpPr>
        <p:spPr/>
        <p:txBody>
          <a:bodyPr/>
          <a:lstStyle/>
          <a:p>
            <a:r>
              <a:rPr lang="en-US" dirty="0"/>
              <a:t>Joint probability distribution</a:t>
            </a:r>
          </a:p>
        </p:txBody>
      </p:sp>
      <p:sp>
        <p:nvSpPr>
          <p:cNvPr id="3" name="Content Placeholder 2">
            <a:extLst>
              <a:ext uri="{FF2B5EF4-FFF2-40B4-BE49-F238E27FC236}">
                <a16:creationId xmlns:a16="http://schemas.microsoft.com/office/drawing/2014/main" id="{B4298874-07A7-F962-CBA8-D474DB4C1B25}"/>
              </a:ext>
            </a:extLst>
          </p:cNvPr>
          <p:cNvSpPr>
            <a:spLocks noGrp="1"/>
          </p:cNvSpPr>
          <p:nvPr>
            <p:ph idx="1"/>
          </p:nvPr>
        </p:nvSpPr>
        <p:spPr>
          <a:xfrm>
            <a:off x="849775" y="1825625"/>
            <a:ext cx="10515600" cy="4351338"/>
          </a:xfrm>
        </p:spPr>
        <p:txBody>
          <a:bodyPr>
            <a:normAutofit fontScale="85000" lnSpcReduction="20000"/>
          </a:bodyPr>
          <a:lstStyle/>
          <a:p>
            <a:r>
              <a:rPr lang="en-US" dirty="0"/>
              <a:t>We can write the events of problem statement in the form of probability: </a:t>
            </a:r>
            <a:r>
              <a:rPr lang="en-US" i="1" dirty="0"/>
              <a:t>P(D, S, A, B, E),</a:t>
            </a:r>
            <a:r>
              <a:rPr lang="en-US" dirty="0"/>
              <a:t> can rewrite the above probability statement using joint probability distribution:</a:t>
            </a:r>
          </a:p>
          <a:p>
            <a:endParaRPr lang="en-US" dirty="0"/>
          </a:p>
          <a:p>
            <a:pPr marL="457200" lvl="1" indent="0">
              <a:buNone/>
            </a:pPr>
            <a:r>
              <a:rPr lang="en-US" i="1" dirty="0"/>
              <a:t>P(D, S, A, B, E) = P(D|S, A, B, E)</a:t>
            </a:r>
            <a:r>
              <a:rPr lang="en-US" i="1" dirty="0">
                <a:sym typeface="Symbol" panose="05050102010706020507" pitchFamily="18" charset="2"/>
              </a:rPr>
              <a:t> </a:t>
            </a:r>
            <a:r>
              <a:rPr lang="en-US" i="1" dirty="0"/>
              <a:t> P(S, A, B, E)</a:t>
            </a:r>
          </a:p>
          <a:p>
            <a:pPr lvl="1"/>
            <a:endParaRPr lang="en-US" i="1" dirty="0"/>
          </a:p>
          <a:p>
            <a:pPr marL="457200" lvl="1" indent="0">
              <a:buNone/>
            </a:pPr>
            <a:r>
              <a:rPr lang="en-US" i="1" dirty="0"/>
              <a:t>= P(D|S, A, B, E)</a:t>
            </a:r>
            <a:r>
              <a:rPr lang="en-US" i="1" dirty="0">
                <a:sym typeface="Symbol" panose="05050102010706020507" pitchFamily="18" charset="2"/>
              </a:rPr>
              <a:t> </a:t>
            </a:r>
            <a:r>
              <a:rPr lang="en-US" i="1" dirty="0"/>
              <a:t> P(S|A, B, E)</a:t>
            </a:r>
            <a:r>
              <a:rPr lang="en-US" i="1" dirty="0">
                <a:sym typeface="Symbol" panose="05050102010706020507" pitchFamily="18" charset="2"/>
              </a:rPr>
              <a:t> </a:t>
            </a:r>
            <a:r>
              <a:rPr lang="en-US" i="1" dirty="0"/>
              <a:t> P(A, B, E)</a:t>
            </a:r>
          </a:p>
          <a:p>
            <a:pPr lvl="1"/>
            <a:endParaRPr lang="en-US" i="1" dirty="0"/>
          </a:p>
          <a:p>
            <a:pPr marL="457200" lvl="1" indent="0">
              <a:buNone/>
            </a:pPr>
            <a:r>
              <a:rPr lang="en-US" i="1" dirty="0"/>
              <a:t>= P(D|A)</a:t>
            </a:r>
            <a:r>
              <a:rPr lang="en-US" i="1" dirty="0">
                <a:sym typeface="Symbol" panose="05050102010706020507" pitchFamily="18" charset="2"/>
              </a:rPr>
              <a:t> </a:t>
            </a:r>
            <a:r>
              <a:rPr lang="en-US" i="1" dirty="0"/>
              <a:t> P ( S|A, B, E)</a:t>
            </a:r>
            <a:r>
              <a:rPr lang="en-US" i="1" dirty="0">
                <a:sym typeface="Symbol" panose="05050102010706020507" pitchFamily="18" charset="2"/>
              </a:rPr>
              <a:t> </a:t>
            </a:r>
            <a:r>
              <a:rPr lang="en-US" i="1" dirty="0"/>
              <a:t> P( A, B, E)</a:t>
            </a:r>
          </a:p>
          <a:p>
            <a:pPr lvl="1"/>
            <a:endParaRPr lang="en-US" i="1" dirty="0"/>
          </a:p>
          <a:p>
            <a:pPr marL="457200" lvl="1" indent="0">
              <a:buNone/>
            </a:pPr>
            <a:r>
              <a:rPr lang="en-US" i="1" dirty="0"/>
              <a:t>= P(D|A)</a:t>
            </a:r>
            <a:r>
              <a:rPr lang="en-US" i="1" dirty="0">
                <a:sym typeface="Symbol" panose="05050102010706020507" pitchFamily="18" charset="2"/>
              </a:rPr>
              <a:t> </a:t>
            </a:r>
            <a:r>
              <a:rPr lang="en-US" i="1" dirty="0"/>
              <a:t> P( S|A)</a:t>
            </a:r>
            <a:r>
              <a:rPr lang="en-US" i="1" dirty="0">
                <a:sym typeface="Symbol" panose="05050102010706020507" pitchFamily="18" charset="2"/>
              </a:rPr>
              <a:t> </a:t>
            </a:r>
            <a:r>
              <a:rPr lang="en-US" i="1" dirty="0"/>
              <a:t> P(A|B, E)</a:t>
            </a:r>
            <a:r>
              <a:rPr lang="en-US" i="1" dirty="0">
                <a:sym typeface="Symbol" panose="05050102010706020507" pitchFamily="18" charset="2"/>
              </a:rPr>
              <a:t> </a:t>
            </a:r>
            <a:r>
              <a:rPr lang="en-US" i="1" dirty="0"/>
              <a:t> P(B, E)</a:t>
            </a:r>
          </a:p>
          <a:p>
            <a:pPr lvl="1"/>
            <a:endParaRPr lang="en-US" i="1" dirty="0"/>
          </a:p>
          <a:p>
            <a:pPr marL="457200" lvl="1" indent="0">
              <a:buNone/>
            </a:pPr>
            <a:r>
              <a:rPr lang="en-US" i="1" dirty="0"/>
              <a:t>= P(D|A )</a:t>
            </a:r>
            <a:r>
              <a:rPr lang="en-US" i="1" dirty="0">
                <a:sym typeface="Symbol" panose="05050102010706020507" pitchFamily="18" charset="2"/>
              </a:rPr>
              <a:t> </a:t>
            </a:r>
            <a:r>
              <a:rPr lang="en-US" i="1" dirty="0"/>
              <a:t> P(S|A) </a:t>
            </a:r>
            <a:r>
              <a:rPr lang="en-US" i="1" dirty="0">
                <a:sym typeface="Symbol" panose="05050102010706020507" pitchFamily="18" charset="2"/>
              </a:rPr>
              <a:t></a:t>
            </a:r>
            <a:r>
              <a:rPr lang="en-US" i="1" dirty="0"/>
              <a:t> P(A|B, E)</a:t>
            </a:r>
            <a:r>
              <a:rPr lang="en-US" i="1" dirty="0">
                <a:sym typeface="Symbol" panose="05050102010706020507" pitchFamily="18" charset="2"/>
              </a:rPr>
              <a:t> </a:t>
            </a:r>
            <a:r>
              <a:rPr lang="en-US" i="1" dirty="0"/>
              <a:t> P(B|E)</a:t>
            </a:r>
            <a:r>
              <a:rPr lang="en-US" i="1" dirty="0">
                <a:sym typeface="Symbol" panose="05050102010706020507" pitchFamily="18" charset="2"/>
              </a:rPr>
              <a:t> </a:t>
            </a:r>
            <a:r>
              <a:rPr lang="en-US" i="1" dirty="0"/>
              <a:t> P(E)</a:t>
            </a:r>
          </a:p>
          <a:p>
            <a:pPr marL="457200" lvl="1" indent="0">
              <a:buNone/>
            </a:pPr>
            <a:endParaRPr lang="en-US" i="1" dirty="0"/>
          </a:p>
          <a:p>
            <a:pPr marL="457200" lvl="1" indent="0">
              <a:buNone/>
            </a:pPr>
            <a:r>
              <a:rPr lang="en-US" i="1" dirty="0"/>
              <a:t>= P(D|A )</a:t>
            </a:r>
            <a:r>
              <a:rPr lang="en-US" i="1" dirty="0">
                <a:sym typeface="Symbol" panose="05050102010706020507" pitchFamily="18" charset="2"/>
              </a:rPr>
              <a:t> </a:t>
            </a:r>
            <a:r>
              <a:rPr lang="en-US" i="1" dirty="0"/>
              <a:t> P(S|A) </a:t>
            </a:r>
            <a:r>
              <a:rPr lang="en-US" i="1" dirty="0">
                <a:sym typeface="Symbol" panose="05050102010706020507" pitchFamily="18" charset="2"/>
              </a:rPr>
              <a:t></a:t>
            </a:r>
            <a:r>
              <a:rPr lang="en-US" i="1" dirty="0"/>
              <a:t> P(A|B, E)</a:t>
            </a:r>
            <a:r>
              <a:rPr lang="en-US" i="1" dirty="0">
                <a:sym typeface="Symbol" panose="05050102010706020507" pitchFamily="18" charset="2"/>
              </a:rPr>
              <a:t> </a:t>
            </a:r>
            <a:r>
              <a:rPr lang="en-US" i="1" dirty="0"/>
              <a:t> P(B)</a:t>
            </a:r>
            <a:r>
              <a:rPr lang="en-US" i="1" dirty="0">
                <a:sym typeface="Symbol" panose="05050102010706020507" pitchFamily="18" charset="2"/>
              </a:rPr>
              <a:t> </a:t>
            </a:r>
            <a:r>
              <a:rPr lang="en-US" i="1" dirty="0"/>
              <a:t> P(E)</a:t>
            </a:r>
          </a:p>
          <a:p>
            <a:pPr marL="457200" lvl="1" indent="0">
              <a:buNone/>
            </a:pPr>
            <a:endParaRPr lang="en-US" i="1" dirty="0"/>
          </a:p>
          <a:p>
            <a:pPr marL="457200" lvl="1" indent="0">
              <a:buNone/>
            </a:pPr>
            <a:endParaRPr lang="en-US" i="1" dirty="0"/>
          </a:p>
        </p:txBody>
      </p:sp>
    </p:spTree>
    <p:extLst>
      <p:ext uri="{BB962C8B-B14F-4D97-AF65-F5344CB8AC3E}">
        <p14:creationId xmlns:p14="http://schemas.microsoft.com/office/powerpoint/2010/main" val="1838309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DA748-2E0C-79F3-3000-FB50D4DC6C76}"/>
              </a:ext>
            </a:extLst>
          </p:cNvPr>
          <p:cNvSpPr>
            <a:spLocks noGrp="1"/>
          </p:cNvSpPr>
          <p:nvPr>
            <p:ph type="title"/>
          </p:nvPr>
        </p:nvSpPr>
        <p:spPr/>
        <p:txBody>
          <a:bodyPr/>
          <a:lstStyle/>
          <a:p>
            <a:r>
              <a:rPr lang="en-US" dirty="0"/>
              <a:t>Observed probabilities</a:t>
            </a:r>
          </a:p>
        </p:txBody>
      </p:sp>
      <p:sp>
        <p:nvSpPr>
          <p:cNvPr id="3" name="Content Placeholder 2">
            <a:extLst>
              <a:ext uri="{FF2B5EF4-FFF2-40B4-BE49-F238E27FC236}">
                <a16:creationId xmlns:a16="http://schemas.microsoft.com/office/drawing/2014/main" id="{FC8A3F17-F5B9-1A60-3796-088C367C7054}"/>
              </a:ext>
            </a:extLst>
          </p:cNvPr>
          <p:cNvSpPr>
            <a:spLocks noGrp="1"/>
          </p:cNvSpPr>
          <p:nvPr>
            <p:ph idx="1"/>
          </p:nvPr>
        </p:nvSpPr>
        <p:spPr/>
        <p:txBody>
          <a:bodyPr/>
          <a:lstStyle/>
          <a:p>
            <a:r>
              <a:rPr lang="en-US" dirty="0"/>
              <a:t>The question is how to we get the probabilities.</a:t>
            </a:r>
          </a:p>
          <a:p>
            <a:r>
              <a:rPr lang="en-US" dirty="0"/>
              <a:t>Probabilities are determined by observing the frequencies of events.</a:t>
            </a:r>
          </a:p>
          <a:p>
            <a:r>
              <a:rPr lang="en-US" dirty="0"/>
              <a:t>In this case, to determine the probabilities of burglary and earthquake, we collect data about how often burglaries and earthquakes happen in the area.</a:t>
            </a:r>
          </a:p>
          <a:p>
            <a:pPr marL="0" indent="0">
              <a:buNone/>
            </a:pPr>
            <a:endParaRPr lang="en-US" dirty="0"/>
          </a:p>
        </p:txBody>
      </p:sp>
      <p:sp>
        <p:nvSpPr>
          <p:cNvPr id="4" name="TextBox 3">
            <a:extLst>
              <a:ext uri="{FF2B5EF4-FFF2-40B4-BE49-F238E27FC236}">
                <a16:creationId xmlns:a16="http://schemas.microsoft.com/office/drawing/2014/main" id="{94105687-FB71-4F3C-AA1F-6647C0CAD3F8}"/>
              </a:ext>
            </a:extLst>
          </p:cNvPr>
          <p:cNvSpPr txBox="1"/>
          <p:nvPr/>
        </p:nvSpPr>
        <p:spPr>
          <a:xfrm>
            <a:off x="1158950" y="4571602"/>
            <a:ext cx="10100930" cy="1223546"/>
          </a:xfrm>
          <a:prstGeom prst="roundRect">
            <a:avLst>
              <a:gd name="adj" fmla="val 3657"/>
            </a:avLst>
          </a:prstGeom>
          <a:solidFill>
            <a:schemeClr val="bg1">
              <a:lumMod val="85000"/>
            </a:schemeClr>
          </a:solidFill>
        </p:spPr>
        <p:txBody>
          <a:bodyPr wrap="square" rtlCol="0">
            <a:spAutoFit/>
          </a:bodyPr>
          <a:lstStyle/>
          <a:p>
            <a:r>
              <a:rPr lang="en-US" i="1" dirty="0"/>
              <a:t>For example, In a Symptom Diagnosis System, data is collected on how often a symptom leads to a particular diagnosis.</a:t>
            </a:r>
          </a:p>
          <a:p>
            <a:r>
              <a:rPr lang="en-US" i="1" dirty="0"/>
              <a:t>In a Spam detector system, how often a word or phrase is associated with spam mails.</a:t>
            </a:r>
          </a:p>
          <a:p>
            <a:r>
              <a:rPr lang="en-US" i="1" dirty="0"/>
              <a:t>In weather prediction system, how often overcast condition leads to a rain shower.</a:t>
            </a:r>
          </a:p>
        </p:txBody>
      </p:sp>
    </p:spTree>
    <p:extLst>
      <p:ext uri="{BB962C8B-B14F-4D97-AF65-F5344CB8AC3E}">
        <p14:creationId xmlns:p14="http://schemas.microsoft.com/office/powerpoint/2010/main" val="97482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03C41-1767-D4B4-5F89-67CC952E9E09}"/>
              </a:ext>
            </a:extLst>
          </p:cNvPr>
          <p:cNvSpPr>
            <a:spLocks noGrp="1"/>
          </p:cNvSpPr>
          <p:nvPr>
            <p:ph type="title"/>
          </p:nvPr>
        </p:nvSpPr>
        <p:spPr/>
        <p:txBody>
          <a:bodyPr/>
          <a:lstStyle/>
          <a:p>
            <a:r>
              <a:rPr lang="en-US" dirty="0"/>
              <a:t>Observed probabilities</a:t>
            </a:r>
          </a:p>
        </p:txBody>
      </p:sp>
      <p:sp>
        <p:nvSpPr>
          <p:cNvPr id="3" name="Content Placeholder 2">
            <a:extLst>
              <a:ext uri="{FF2B5EF4-FFF2-40B4-BE49-F238E27FC236}">
                <a16:creationId xmlns:a16="http://schemas.microsoft.com/office/drawing/2014/main" id="{887684E1-3EFC-C1C3-0D18-4227107383AF}"/>
              </a:ext>
            </a:extLst>
          </p:cNvPr>
          <p:cNvSpPr>
            <a:spLocks noGrp="1"/>
          </p:cNvSpPr>
          <p:nvPr>
            <p:ph idx="1"/>
          </p:nvPr>
        </p:nvSpPr>
        <p:spPr/>
        <p:txBody>
          <a:bodyPr>
            <a:normAutofit/>
          </a:bodyPr>
          <a:lstStyle/>
          <a:p>
            <a:r>
              <a:rPr lang="en-US" dirty="0"/>
              <a:t>Suppose the following values are given for the problem:</a:t>
            </a:r>
          </a:p>
          <a:p>
            <a:pPr lvl="1"/>
            <a:r>
              <a:rPr lang="en-US" dirty="0"/>
              <a:t>The observed probabilities </a:t>
            </a:r>
            <a:r>
              <a:rPr lang="en-GB" dirty="0"/>
              <a:t>for the Burglary and earthquake components are:</a:t>
            </a:r>
          </a:p>
          <a:p>
            <a:pPr lvl="1"/>
            <a:endParaRPr lang="en-GB" dirty="0"/>
          </a:p>
          <a:p>
            <a:pPr lvl="2"/>
            <a:r>
              <a:rPr lang="en-GB" dirty="0"/>
              <a:t>P(B = True) = 0.002, which is the probability of burglary.</a:t>
            </a:r>
          </a:p>
          <a:p>
            <a:pPr lvl="2"/>
            <a:endParaRPr lang="en-GB" dirty="0"/>
          </a:p>
          <a:p>
            <a:pPr lvl="2"/>
            <a:r>
              <a:rPr lang="en-GB" dirty="0"/>
              <a:t>P(B = False) = 0.998, which is the probability of no burglary.</a:t>
            </a:r>
          </a:p>
          <a:p>
            <a:pPr lvl="2"/>
            <a:endParaRPr lang="en-GB" dirty="0"/>
          </a:p>
          <a:p>
            <a:pPr lvl="2"/>
            <a:r>
              <a:rPr lang="en-GB" dirty="0"/>
              <a:t>P(E = True) = 0.001, which is the probability of a minor earthquake</a:t>
            </a:r>
          </a:p>
          <a:p>
            <a:pPr lvl="2"/>
            <a:endParaRPr lang="en-GB" dirty="0"/>
          </a:p>
          <a:p>
            <a:pPr lvl="2"/>
            <a:r>
              <a:rPr lang="en-GB" dirty="0"/>
              <a:t>P(E = False) = 0.999, Which is the probability that an earthquake not occurred.</a:t>
            </a:r>
            <a:endParaRPr lang="en-US" dirty="0"/>
          </a:p>
        </p:txBody>
      </p:sp>
    </p:spTree>
    <p:extLst>
      <p:ext uri="{BB962C8B-B14F-4D97-AF65-F5344CB8AC3E}">
        <p14:creationId xmlns:p14="http://schemas.microsoft.com/office/powerpoint/2010/main" val="2544059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1CFCD-23D4-DD12-9EB6-9FA9860FC152}"/>
              </a:ext>
            </a:extLst>
          </p:cNvPr>
          <p:cNvSpPr>
            <a:spLocks noGrp="1"/>
          </p:cNvSpPr>
          <p:nvPr>
            <p:ph type="title"/>
          </p:nvPr>
        </p:nvSpPr>
        <p:spPr/>
        <p:txBody>
          <a:bodyPr/>
          <a:lstStyle/>
          <a:p>
            <a:r>
              <a:rPr lang="en-GB" dirty="0"/>
              <a:t>Conditional probabilities</a:t>
            </a:r>
            <a:endParaRPr lang="en-US" dirty="0"/>
          </a:p>
        </p:txBody>
      </p:sp>
      <p:sp>
        <p:nvSpPr>
          <p:cNvPr id="3" name="Content Placeholder 2">
            <a:extLst>
              <a:ext uri="{FF2B5EF4-FFF2-40B4-BE49-F238E27FC236}">
                <a16:creationId xmlns:a16="http://schemas.microsoft.com/office/drawing/2014/main" id="{9AE974C9-C268-6038-4014-B33978EAC971}"/>
              </a:ext>
            </a:extLst>
          </p:cNvPr>
          <p:cNvSpPr>
            <a:spLocks noGrp="1"/>
          </p:cNvSpPr>
          <p:nvPr>
            <p:ph idx="1"/>
          </p:nvPr>
        </p:nvSpPr>
        <p:spPr/>
        <p:txBody>
          <a:bodyPr/>
          <a:lstStyle/>
          <a:p>
            <a:r>
              <a:rPr lang="en-GB" dirty="0"/>
              <a:t>The conditional probabilities are provided as per the below tables:</a:t>
            </a:r>
          </a:p>
          <a:p>
            <a:r>
              <a:rPr lang="en-GB" b="1" dirty="0"/>
              <a:t>Conditional probability table for Alarm A</a:t>
            </a:r>
            <a:r>
              <a:rPr lang="en-GB" dirty="0"/>
              <a:t>:</a:t>
            </a:r>
          </a:p>
          <a:p>
            <a:pPr lvl="1"/>
            <a:r>
              <a:rPr lang="en-GB" dirty="0"/>
              <a:t>The Conditional probability of Alarm A depends on Burglar and earthquake:</a:t>
            </a:r>
          </a:p>
          <a:p>
            <a:pPr lvl="1"/>
            <a:endParaRPr lang="en-US" dirty="0"/>
          </a:p>
        </p:txBody>
      </p:sp>
      <p:graphicFrame>
        <p:nvGraphicFramePr>
          <p:cNvPr id="4" name="Table 3">
            <a:extLst>
              <a:ext uri="{FF2B5EF4-FFF2-40B4-BE49-F238E27FC236}">
                <a16:creationId xmlns:a16="http://schemas.microsoft.com/office/drawing/2014/main" id="{A5A2A838-ECF7-924C-D85D-7D759B07448C}"/>
              </a:ext>
            </a:extLst>
          </p:cNvPr>
          <p:cNvGraphicFramePr>
            <a:graphicFrameLocks noGrp="1"/>
          </p:cNvGraphicFramePr>
          <p:nvPr>
            <p:extLst>
              <p:ext uri="{D42A27DB-BD31-4B8C-83A1-F6EECF244321}">
                <p14:modId xmlns:p14="http://schemas.microsoft.com/office/powerpoint/2010/main" val="46171823"/>
              </p:ext>
            </p:extLst>
          </p:nvPr>
        </p:nvGraphicFramePr>
        <p:xfrm>
          <a:off x="1691758" y="4001294"/>
          <a:ext cx="8128000" cy="2011680"/>
        </p:xfrm>
        <a:graphic>
          <a:graphicData uri="http://schemas.openxmlformats.org/drawingml/2006/table">
            <a:tbl>
              <a:tblPr firstRow="1" bandRow="1">
                <a:tableStyleId>{9D7B26C5-4107-4FEC-AEDC-1716B250A1EF}</a:tableStyleId>
              </a:tblPr>
              <a:tblGrid>
                <a:gridCol w="2032000">
                  <a:extLst>
                    <a:ext uri="{9D8B030D-6E8A-4147-A177-3AD203B41FA5}">
                      <a16:colId xmlns:a16="http://schemas.microsoft.com/office/drawing/2014/main" val="1418169308"/>
                    </a:ext>
                  </a:extLst>
                </a:gridCol>
                <a:gridCol w="2032000">
                  <a:extLst>
                    <a:ext uri="{9D8B030D-6E8A-4147-A177-3AD203B41FA5}">
                      <a16:colId xmlns:a16="http://schemas.microsoft.com/office/drawing/2014/main" val="2919457741"/>
                    </a:ext>
                  </a:extLst>
                </a:gridCol>
                <a:gridCol w="2032000">
                  <a:extLst>
                    <a:ext uri="{9D8B030D-6E8A-4147-A177-3AD203B41FA5}">
                      <a16:colId xmlns:a16="http://schemas.microsoft.com/office/drawing/2014/main" val="1130754183"/>
                    </a:ext>
                  </a:extLst>
                </a:gridCol>
                <a:gridCol w="2032000">
                  <a:extLst>
                    <a:ext uri="{9D8B030D-6E8A-4147-A177-3AD203B41FA5}">
                      <a16:colId xmlns:a16="http://schemas.microsoft.com/office/drawing/2014/main" val="2755280677"/>
                    </a:ext>
                  </a:extLst>
                </a:gridCol>
              </a:tblGrid>
              <a:tr h="370840">
                <a:tc>
                  <a:txBody>
                    <a:bodyPr/>
                    <a:lstStyle/>
                    <a:p>
                      <a:pPr algn="l" fontAlgn="t"/>
                      <a:r>
                        <a:rPr lang="en-US" b="1" dirty="0">
                          <a:solidFill>
                            <a:schemeClr val="tx1"/>
                          </a:solidFill>
                          <a:effectLst/>
                        </a:rPr>
                        <a:t>B</a:t>
                      </a:r>
                    </a:p>
                  </a:txBody>
                  <a:tcPr marL="76200" marR="76200" marT="76200" marB="76200"/>
                </a:tc>
                <a:tc>
                  <a:txBody>
                    <a:bodyPr/>
                    <a:lstStyle/>
                    <a:p>
                      <a:pPr algn="l" fontAlgn="t"/>
                      <a:r>
                        <a:rPr lang="en-US" b="1" dirty="0">
                          <a:solidFill>
                            <a:schemeClr val="tx1"/>
                          </a:solidFill>
                          <a:effectLst/>
                        </a:rPr>
                        <a:t>E</a:t>
                      </a:r>
                    </a:p>
                  </a:txBody>
                  <a:tcPr marL="76200" marR="76200" marT="76200" marB="76200"/>
                </a:tc>
                <a:tc>
                  <a:txBody>
                    <a:bodyPr/>
                    <a:lstStyle/>
                    <a:p>
                      <a:pPr algn="l" fontAlgn="t"/>
                      <a:r>
                        <a:rPr lang="en-US" b="1">
                          <a:solidFill>
                            <a:schemeClr val="tx1"/>
                          </a:solidFill>
                          <a:effectLst/>
                        </a:rPr>
                        <a:t>P(A= True)</a:t>
                      </a:r>
                    </a:p>
                  </a:txBody>
                  <a:tcPr marL="76200" marR="76200" marT="76200" marB="76200"/>
                </a:tc>
                <a:tc>
                  <a:txBody>
                    <a:bodyPr/>
                    <a:lstStyle/>
                    <a:p>
                      <a:pPr algn="l" fontAlgn="t"/>
                      <a:r>
                        <a:rPr lang="en-US" b="1" dirty="0">
                          <a:solidFill>
                            <a:schemeClr val="tx1"/>
                          </a:solidFill>
                          <a:effectLst/>
                        </a:rPr>
                        <a:t>P(A= False)</a:t>
                      </a:r>
                    </a:p>
                  </a:txBody>
                  <a:tcPr marL="76200" marR="76200" marT="76200" marB="76200"/>
                </a:tc>
                <a:extLst>
                  <a:ext uri="{0D108BD9-81ED-4DB2-BD59-A6C34878D82A}">
                    <a16:rowId xmlns:a16="http://schemas.microsoft.com/office/drawing/2014/main" val="4188339953"/>
                  </a:ext>
                </a:extLst>
              </a:tr>
              <a:tr h="370840">
                <a:tc>
                  <a:txBody>
                    <a:bodyPr/>
                    <a:lstStyle/>
                    <a:p>
                      <a:r>
                        <a:rPr lang="en-US">
                          <a:effectLst/>
                        </a:rPr>
                        <a:t>True</a:t>
                      </a:r>
                    </a:p>
                  </a:txBody>
                  <a:tcPr marL="60960" marR="60960" marT="60960" marB="60960" anchor="ctr"/>
                </a:tc>
                <a:tc>
                  <a:txBody>
                    <a:bodyPr/>
                    <a:lstStyle/>
                    <a:p>
                      <a:r>
                        <a:rPr lang="en-US">
                          <a:effectLst/>
                        </a:rPr>
                        <a:t>True</a:t>
                      </a:r>
                    </a:p>
                  </a:txBody>
                  <a:tcPr marL="60960" marR="60960" marT="60960" marB="60960" anchor="ctr"/>
                </a:tc>
                <a:tc>
                  <a:txBody>
                    <a:bodyPr/>
                    <a:lstStyle/>
                    <a:p>
                      <a:r>
                        <a:rPr lang="en-US">
                          <a:effectLst/>
                        </a:rPr>
                        <a:t>0.94</a:t>
                      </a:r>
                    </a:p>
                  </a:txBody>
                  <a:tcPr marL="60960" marR="60960" marT="60960" marB="60960" anchor="ctr"/>
                </a:tc>
                <a:tc>
                  <a:txBody>
                    <a:bodyPr/>
                    <a:lstStyle/>
                    <a:p>
                      <a:r>
                        <a:rPr lang="en-US" dirty="0">
                          <a:effectLst/>
                        </a:rPr>
                        <a:t>0.06</a:t>
                      </a:r>
                    </a:p>
                  </a:txBody>
                  <a:tcPr marL="60960" marR="60960" marT="60960" marB="60960" anchor="ctr"/>
                </a:tc>
                <a:extLst>
                  <a:ext uri="{0D108BD9-81ED-4DB2-BD59-A6C34878D82A}">
                    <a16:rowId xmlns:a16="http://schemas.microsoft.com/office/drawing/2014/main" val="2537736659"/>
                  </a:ext>
                </a:extLst>
              </a:tr>
              <a:tr h="370840">
                <a:tc>
                  <a:txBody>
                    <a:bodyPr/>
                    <a:lstStyle/>
                    <a:p>
                      <a:r>
                        <a:rPr lang="en-US">
                          <a:effectLst/>
                        </a:rPr>
                        <a:t>True</a:t>
                      </a:r>
                    </a:p>
                  </a:txBody>
                  <a:tcPr marL="60960" marR="60960" marT="60960" marB="60960" anchor="ctr"/>
                </a:tc>
                <a:tc>
                  <a:txBody>
                    <a:bodyPr/>
                    <a:lstStyle/>
                    <a:p>
                      <a:r>
                        <a:rPr lang="en-US">
                          <a:effectLst/>
                        </a:rPr>
                        <a:t>False</a:t>
                      </a:r>
                    </a:p>
                  </a:txBody>
                  <a:tcPr marL="60960" marR="60960" marT="60960" marB="60960" anchor="ctr"/>
                </a:tc>
                <a:tc>
                  <a:txBody>
                    <a:bodyPr/>
                    <a:lstStyle/>
                    <a:p>
                      <a:r>
                        <a:rPr lang="en-US">
                          <a:effectLst/>
                        </a:rPr>
                        <a:t>0.95</a:t>
                      </a:r>
                    </a:p>
                  </a:txBody>
                  <a:tcPr marL="60960" marR="60960" marT="60960" marB="60960" anchor="ctr"/>
                </a:tc>
                <a:tc>
                  <a:txBody>
                    <a:bodyPr/>
                    <a:lstStyle/>
                    <a:p>
                      <a:r>
                        <a:rPr lang="en-US">
                          <a:effectLst/>
                        </a:rPr>
                        <a:t>0.04</a:t>
                      </a:r>
                    </a:p>
                  </a:txBody>
                  <a:tcPr marL="60960" marR="60960" marT="60960" marB="60960" anchor="ctr"/>
                </a:tc>
                <a:extLst>
                  <a:ext uri="{0D108BD9-81ED-4DB2-BD59-A6C34878D82A}">
                    <a16:rowId xmlns:a16="http://schemas.microsoft.com/office/drawing/2014/main" val="4184662415"/>
                  </a:ext>
                </a:extLst>
              </a:tr>
              <a:tr h="370840">
                <a:tc>
                  <a:txBody>
                    <a:bodyPr/>
                    <a:lstStyle/>
                    <a:p>
                      <a:r>
                        <a:rPr lang="en-US">
                          <a:effectLst/>
                        </a:rPr>
                        <a:t>False</a:t>
                      </a:r>
                    </a:p>
                  </a:txBody>
                  <a:tcPr marL="60960" marR="60960" marT="60960" marB="60960" anchor="ctr"/>
                </a:tc>
                <a:tc>
                  <a:txBody>
                    <a:bodyPr/>
                    <a:lstStyle/>
                    <a:p>
                      <a:r>
                        <a:rPr lang="en-US">
                          <a:effectLst/>
                        </a:rPr>
                        <a:t>True</a:t>
                      </a:r>
                    </a:p>
                  </a:txBody>
                  <a:tcPr marL="60960" marR="60960" marT="60960" marB="60960" anchor="ctr"/>
                </a:tc>
                <a:tc>
                  <a:txBody>
                    <a:bodyPr/>
                    <a:lstStyle/>
                    <a:p>
                      <a:r>
                        <a:rPr lang="en-US">
                          <a:effectLst/>
                        </a:rPr>
                        <a:t>0.31</a:t>
                      </a:r>
                    </a:p>
                  </a:txBody>
                  <a:tcPr marL="60960" marR="60960" marT="60960" marB="60960" anchor="ctr"/>
                </a:tc>
                <a:tc>
                  <a:txBody>
                    <a:bodyPr/>
                    <a:lstStyle/>
                    <a:p>
                      <a:r>
                        <a:rPr lang="en-US">
                          <a:effectLst/>
                        </a:rPr>
                        <a:t>0.69</a:t>
                      </a:r>
                    </a:p>
                  </a:txBody>
                  <a:tcPr marL="60960" marR="60960" marT="60960" marB="60960" anchor="ctr"/>
                </a:tc>
                <a:extLst>
                  <a:ext uri="{0D108BD9-81ED-4DB2-BD59-A6C34878D82A}">
                    <a16:rowId xmlns:a16="http://schemas.microsoft.com/office/drawing/2014/main" val="336243553"/>
                  </a:ext>
                </a:extLst>
              </a:tr>
              <a:tr h="370840">
                <a:tc>
                  <a:txBody>
                    <a:bodyPr/>
                    <a:lstStyle/>
                    <a:p>
                      <a:r>
                        <a:rPr lang="en-US">
                          <a:effectLst/>
                        </a:rPr>
                        <a:t>False</a:t>
                      </a:r>
                    </a:p>
                  </a:txBody>
                  <a:tcPr marL="60960" marR="60960" marT="60960" marB="60960" anchor="ctr"/>
                </a:tc>
                <a:tc>
                  <a:txBody>
                    <a:bodyPr/>
                    <a:lstStyle/>
                    <a:p>
                      <a:r>
                        <a:rPr lang="en-US">
                          <a:effectLst/>
                        </a:rPr>
                        <a:t>False</a:t>
                      </a:r>
                    </a:p>
                  </a:txBody>
                  <a:tcPr marL="60960" marR="60960" marT="60960" marB="60960" anchor="ctr"/>
                </a:tc>
                <a:tc>
                  <a:txBody>
                    <a:bodyPr/>
                    <a:lstStyle/>
                    <a:p>
                      <a:r>
                        <a:rPr lang="en-US">
                          <a:effectLst/>
                        </a:rPr>
                        <a:t>0.001</a:t>
                      </a:r>
                    </a:p>
                  </a:txBody>
                  <a:tcPr marL="60960" marR="60960" marT="60960" marB="60960" anchor="ctr"/>
                </a:tc>
                <a:tc>
                  <a:txBody>
                    <a:bodyPr/>
                    <a:lstStyle/>
                    <a:p>
                      <a:r>
                        <a:rPr lang="en-US" dirty="0">
                          <a:effectLst/>
                        </a:rPr>
                        <a:t>0.999</a:t>
                      </a:r>
                    </a:p>
                  </a:txBody>
                  <a:tcPr marL="60960" marR="60960" marT="60960" marB="60960" anchor="ctr"/>
                </a:tc>
                <a:extLst>
                  <a:ext uri="{0D108BD9-81ED-4DB2-BD59-A6C34878D82A}">
                    <a16:rowId xmlns:a16="http://schemas.microsoft.com/office/drawing/2014/main" val="2444703382"/>
                  </a:ext>
                </a:extLst>
              </a:tr>
            </a:tbl>
          </a:graphicData>
        </a:graphic>
      </p:graphicFrame>
    </p:spTree>
    <p:extLst>
      <p:ext uri="{BB962C8B-B14F-4D97-AF65-F5344CB8AC3E}">
        <p14:creationId xmlns:p14="http://schemas.microsoft.com/office/powerpoint/2010/main" val="365459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8ED2-AF24-3568-8A2B-F97D89B891F9}"/>
              </a:ext>
            </a:extLst>
          </p:cNvPr>
          <p:cNvSpPr>
            <a:spLocks noGrp="1"/>
          </p:cNvSpPr>
          <p:nvPr>
            <p:ph type="title"/>
          </p:nvPr>
        </p:nvSpPr>
        <p:spPr/>
        <p:txBody>
          <a:bodyPr/>
          <a:lstStyle/>
          <a:p>
            <a:r>
              <a:rPr lang="en-GB" dirty="0"/>
              <a:t>Conditional probabilities</a:t>
            </a:r>
            <a:endParaRPr lang="en-US" dirty="0"/>
          </a:p>
        </p:txBody>
      </p:sp>
      <p:sp>
        <p:nvSpPr>
          <p:cNvPr id="3" name="Content Placeholder 2">
            <a:extLst>
              <a:ext uri="{FF2B5EF4-FFF2-40B4-BE49-F238E27FC236}">
                <a16:creationId xmlns:a16="http://schemas.microsoft.com/office/drawing/2014/main" id="{7206FF1C-7895-A189-4A03-16A627DB17A5}"/>
              </a:ext>
            </a:extLst>
          </p:cNvPr>
          <p:cNvSpPr>
            <a:spLocks noGrp="1"/>
          </p:cNvSpPr>
          <p:nvPr>
            <p:ph idx="1"/>
          </p:nvPr>
        </p:nvSpPr>
        <p:spPr/>
        <p:txBody>
          <a:bodyPr/>
          <a:lstStyle/>
          <a:p>
            <a:r>
              <a:rPr lang="en-GB" b="1" dirty="0"/>
              <a:t>Conditional probability table for David Calls:</a:t>
            </a:r>
            <a:endParaRPr lang="en-GB" dirty="0"/>
          </a:p>
          <a:p>
            <a:pPr lvl="1"/>
            <a:r>
              <a:rPr lang="en-GB" dirty="0"/>
              <a:t>The Conditional probability of David that he will call depends on the probability of Alarm.</a:t>
            </a:r>
          </a:p>
          <a:p>
            <a:pPr lvl="1"/>
            <a:endParaRPr lang="en-US" dirty="0"/>
          </a:p>
        </p:txBody>
      </p:sp>
      <p:graphicFrame>
        <p:nvGraphicFramePr>
          <p:cNvPr id="4" name="Table 3">
            <a:extLst>
              <a:ext uri="{FF2B5EF4-FFF2-40B4-BE49-F238E27FC236}">
                <a16:creationId xmlns:a16="http://schemas.microsoft.com/office/drawing/2014/main" id="{22828E68-8F88-A3E6-DEE1-C435909B11E6}"/>
              </a:ext>
            </a:extLst>
          </p:cNvPr>
          <p:cNvGraphicFramePr>
            <a:graphicFrameLocks noGrp="1"/>
          </p:cNvGraphicFramePr>
          <p:nvPr>
            <p:extLst>
              <p:ext uri="{D42A27DB-BD31-4B8C-83A1-F6EECF244321}">
                <p14:modId xmlns:p14="http://schemas.microsoft.com/office/powerpoint/2010/main" val="3073194897"/>
              </p:ext>
            </p:extLst>
          </p:nvPr>
        </p:nvGraphicFramePr>
        <p:xfrm>
          <a:off x="1851247" y="3718048"/>
          <a:ext cx="8127999" cy="1219200"/>
        </p:xfrm>
        <a:graphic>
          <a:graphicData uri="http://schemas.openxmlformats.org/drawingml/2006/table">
            <a:tbl>
              <a:tblPr firstRow="1" bandRow="1">
                <a:tableStyleId>{9D7B26C5-4107-4FEC-AEDC-1716B250A1EF}</a:tableStyleId>
              </a:tblPr>
              <a:tblGrid>
                <a:gridCol w="2709333">
                  <a:extLst>
                    <a:ext uri="{9D8B030D-6E8A-4147-A177-3AD203B41FA5}">
                      <a16:colId xmlns:a16="http://schemas.microsoft.com/office/drawing/2014/main" val="4054858504"/>
                    </a:ext>
                  </a:extLst>
                </a:gridCol>
                <a:gridCol w="2709333">
                  <a:extLst>
                    <a:ext uri="{9D8B030D-6E8A-4147-A177-3AD203B41FA5}">
                      <a16:colId xmlns:a16="http://schemas.microsoft.com/office/drawing/2014/main" val="1694080394"/>
                    </a:ext>
                  </a:extLst>
                </a:gridCol>
                <a:gridCol w="2709333">
                  <a:extLst>
                    <a:ext uri="{9D8B030D-6E8A-4147-A177-3AD203B41FA5}">
                      <a16:colId xmlns:a16="http://schemas.microsoft.com/office/drawing/2014/main" val="1065384777"/>
                    </a:ext>
                  </a:extLst>
                </a:gridCol>
              </a:tblGrid>
              <a:tr h="370840">
                <a:tc>
                  <a:txBody>
                    <a:bodyPr/>
                    <a:lstStyle/>
                    <a:p>
                      <a:pPr algn="l" fontAlgn="t"/>
                      <a:r>
                        <a:rPr lang="en-US" dirty="0">
                          <a:solidFill>
                            <a:schemeClr val="tx1"/>
                          </a:solidFill>
                          <a:effectLst/>
                        </a:rPr>
                        <a:t>A</a:t>
                      </a:r>
                    </a:p>
                  </a:txBody>
                  <a:tcPr marL="76200" marR="76200" marT="76200" marB="76200"/>
                </a:tc>
                <a:tc>
                  <a:txBody>
                    <a:bodyPr/>
                    <a:lstStyle/>
                    <a:p>
                      <a:pPr algn="l" fontAlgn="t"/>
                      <a:r>
                        <a:rPr lang="en-US" dirty="0">
                          <a:solidFill>
                            <a:schemeClr val="tx1"/>
                          </a:solidFill>
                          <a:effectLst/>
                        </a:rPr>
                        <a:t>P(D= True)</a:t>
                      </a:r>
                    </a:p>
                  </a:txBody>
                  <a:tcPr marL="76200" marR="76200" marT="76200" marB="76200"/>
                </a:tc>
                <a:tc>
                  <a:txBody>
                    <a:bodyPr/>
                    <a:lstStyle/>
                    <a:p>
                      <a:pPr algn="l" fontAlgn="t"/>
                      <a:r>
                        <a:rPr lang="en-US" dirty="0">
                          <a:solidFill>
                            <a:schemeClr val="tx1"/>
                          </a:solidFill>
                          <a:effectLst/>
                        </a:rPr>
                        <a:t>P(D= False)</a:t>
                      </a:r>
                    </a:p>
                  </a:txBody>
                  <a:tcPr marL="76200" marR="76200" marT="76200" marB="76200"/>
                </a:tc>
                <a:extLst>
                  <a:ext uri="{0D108BD9-81ED-4DB2-BD59-A6C34878D82A}">
                    <a16:rowId xmlns:a16="http://schemas.microsoft.com/office/drawing/2014/main" val="676250478"/>
                  </a:ext>
                </a:extLst>
              </a:tr>
              <a:tr h="370840">
                <a:tc>
                  <a:txBody>
                    <a:bodyPr/>
                    <a:lstStyle/>
                    <a:p>
                      <a:r>
                        <a:rPr lang="en-US">
                          <a:effectLst/>
                        </a:rPr>
                        <a:t>True</a:t>
                      </a:r>
                    </a:p>
                  </a:txBody>
                  <a:tcPr marL="60960" marR="60960" marT="60960" marB="60960" anchor="ctr"/>
                </a:tc>
                <a:tc>
                  <a:txBody>
                    <a:bodyPr/>
                    <a:lstStyle/>
                    <a:p>
                      <a:r>
                        <a:rPr lang="en-US">
                          <a:effectLst/>
                        </a:rPr>
                        <a:t>0.91</a:t>
                      </a:r>
                    </a:p>
                  </a:txBody>
                  <a:tcPr marL="60960" marR="60960" marT="60960" marB="60960" anchor="ctr"/>
                </a:tc>
                <a:tc>
                  <a:txBody>
                    <a:bodyPr/>
                    <a:lstStyle/>
                    <a:p>
                      <a:r>
                        <a:rPr lang="en-US">
                          <a:effectLst/>
                        </a:rPr>
                        <a:t>0.09</a:t>
                      </a:r>
                    </a:p>
                  </a:txBody>
                  <a:tcPr marL="60960" marR="60960" marT="60960" marB="60960" anchor="ctr"/>
                </a:tc>
                <a:extLst>
                  <a:ext uri="{0D108BD9-81ED-4DB2-BD59-A6C34878D82A}">
                    <a16:rowId xmlns:a16="http://schemas.microsoft.com/office/drawing/2014/main" val="2381446343"/>
                  </a:ext>
                </a:extLst>
              </a:tr>
              <a:tr h="370840">
                <a:tc>
                  <a:txBody>
                    <a:bodyPr/>
                    <a:lstStyle/>
                    <a:p>
                      <a:r>
                        <a:rPr lang="en-US">
                          <a:effectLst/>
                        </a:rPr>
                        <a:t>False</a:t>
                      </a:r>
                    </a:p>
                  </a:txBody>
                  <a:tcPr marL="60960" marR="60960" marT="60960" marB="60960" anchor="ctr"/>
                </a:tc>
                <a:tc>
                  <a:txBody>
                    <a:bodyPr/>
                    <a:lstStyle/>
                    <a:p>
                      <a:r>
                        <a:rPr lang="en-US">
                          <a:effectLst/>
                        </a:rPr>
                        <a:t>0.05</a:t>
                      </a:r>
                    </a:p>
                  </a:txBody>
                  <a:tcPr marL="60960" marR="60960" marT="60960" marB="60960" anchor="ctr"/>
                </a:tc>
                <a:tc>
                  <a:txBody>
                    <a:bodyPr/>
                    <a:lstStyle/>
                    <a:p>
                      <a:r>
                        <a:rPr lang="en-US" dirty="0">
                          <a:effectLst/>
                        </a:rPr>
                        <a:t>0.95</a:t>
                      </a:r>
                    </a:p>
                  </a:txBody>
                  <a:tcPr marL="60960" marR="60960" marT="60960" marB="60960" anchor="ctr"/>
                </a:tc>
                <a:extLst>
                  <a:ext uri="{0D108BD9-81ED-4DB2-BD59-A6C34878D82A}">
                    <a16:rowId xmlns:a16="http://schemas.microsoft.com/office/drawing/2014/main" val="342084373"/>
                  </a:ext>
                </a:extLst>
              </a:tr>
            </a:tbl>
          </a:graphicData>
        </a:graphic>
      </p:graphicFrame>
    </p:spTree>
    <p:extLst>
      <p:ext uri="{BB962C8B-B14F-4D97-AF65-F5344CB8AC3E}">
        <p14:creationId xmlns:p14="http://schemas.microsoft.com/office/powerpoint/2010/main" val="2262141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8ED2-AF24-3568-8A2B-F97D89B891F9}"/>
              </a:ext>
            </a:extLst>
          </p:cNvPr>
          <p:cNvSpPr>
            <a:spLocks noGrp="1"/>
          </p:cNvSpPr>
          <p:nvPr>
            <p:ph type="title"/>
          </p:nvPr>
        </p:nvSpPr>
        <p:spPr/>
        <p:txBody>
          <a:bodyPr/>
          <a:lstStyle/>
          <a:p>
            <a:r>
              <a:rPr lang="en-GB" dirty="0"/>
              <a:t>Conditional probabilities</a:t>
            </a:r>
            <a:endParaRPr lang="en-US" dirty="0"/>
          </a:p>
        </p:txBody>
      </p:sp>
      <p:sp>
        <p:nvSpPr>
          <p:cNvPr id="3" name="Content Placeholder 2">
            <a:extLst>
              <a:ext uri="{FF2B5EF4-FFF2-40B4-BE49-F238E27FC236}">
                <a16:creationId xmlns:a16="http://schemas.microsoft.com/office/drawing/2014/main" id="{7206FF1C-7895-A189-4A03-16A627DB17A5}"/>
              </a:ext>
            </a:extLst>
          </p:cNvPr>
          <p:cNvSpPr>
            <a:spLocks noGrp="1"/>
          </p:cNvSpPr>
          <p:nvPr>
            <p:ph idx="1"/>
          </p:nvPr>
        </p:nvSpPr>
        <p:spPr/>
        <p:txBody>
          <a:bodyPr/>
          <a:lstStyle/>
          <a:p>
            <a:r>
              <a:rPr lang="en-GB" b="1" dirty="0"/>
              <a:t>Conditional probability table for Sophia  Calls:</a:t>
            </a:r>
            <a:endParaRPr lang="en-GB" dirty="0"/>
          </a:p>
          <a:p>
            <a:pPr lvl="1"/>
            <a:r>
              <a:rPr lang="en-GB" dirty="0"/>
              <a:t>The Conditional probability of Sophia that she calls is depending on its Parent Node "Alarm."</a:t>
            </a:r>
            <a:endParaRPr lang="en-US" dirty="0"/>
          </a:p>
        </p:txBody>
      </p:sp>
      <p:graphicFrame>
        <p:nvGraphicFramePr>
          <p:cNvPr id="4" name="Table 3">
            <a:extLst>
              <a:ext uri="{FF2B5EF4-FFF2-40B4-BE49-F238E27FC236}">
                <a16:creationId xmlns:a16="http://schemas.microsoft.com/office/drawing/2014/main" id="{22828E68-8F88-A3E6-DEE1-C435909B11E6}"/>
              </a:ext>
            </a:extLst>
          </p:cNvPr>
          <p:cNvGraphicFramePr>
            <a:graphicFrameLocks noGrp="1"/>
          </p:cNvGraphicFramePr>
          <p:nvPr>
            <p:extLst>
              <p:ext uri="{D42A27DB-BD31-4B8C-83A1-F6EECF244321}">
                <p14:modId xmlns:p14="http://schemas.microsoft.com/office/powerpoint/2010/main" val="815634974"/>
              </p:ext>
            </p:extLst>
          </p:nvPr>
        </p:nvGraphicFramePr>
        <p:xfrm>
          <a:off x="1851247" y="3718048"/>
          <a:ext cx="8127999" cy="1219200"/>
        </p:xfrm>
        <a:graphic>
          <a:graphicData uri="http://schemas.openxmlformats.org/drawingml/2006/table">
            <a:tbl>
              <a:tblPr firstRow="1" bandRow="1">
                <a:tableStyleId>{9D7B26C5-4107-4FEC-AEDC-1716B250A1EF}</a:tableStyleId>
              </a:tblPr>
              <a:tblGrid>
                <a:gridCol w="2709333">
                  <a:extLst>
                    <a:ext uri="{9D8B030D-6E8A-4147-A177-3AD203B41FA5}">
                      <a16:colId xmlns:a16="http://schemas.microsoft.com/office/drawing/2014/main" val="4054858504"/>
                    </a:ext>
                  </a:extLst>
                </a:gridCol>
                <a:gridCol w="2709333">
                  <a:extLst>
                    <a:ext uri="{9D8B030D-6E8A-4147-A177-3AD203B41FA5}">
                      <a16:colId xmlns:a16="http://schemas.microsoft.com/office/drawing/2014/main" val="1694080394"/>
                    </a:ext>
                  </a:extLst>
                </a:gridCol>
                <a:gridCol w="2709333">
                  <a:extLst>
                    <a:ext uri="{9D8B030D-6E8A-4147-A177-3AD203B41FA5}">
                      <a16:colId xmlns:a16="http://schemas.microsoft.com/office/drawing/2014/main" val="1065384777"/>
                    </a:ext>
                  </a:extLst>
                </a:gridCol>
              </a:tblGrid>
              <a:tr h="370840">
                <a:tc>
                  <a:txBody>
                    <a:bodyPr/>
                    <a:lstStyle/>
                    <a:p>
                      <a:pPr algn="l" fontAlgn="t"/>
                      <a:r>
                        <a:rPr lang="en-US" dirty="0">
                          <a:solidFill>
                            <a:schemeClr val="tx1"/>
                          </a:solidFill>
                          <a:effectLst/>
                        </a:rPr>
                        <a:t>A</a:t>
                      </a:r>
                    </a:p>
                  </a:txBody>
                  <a:tcPr marL="76200" marR="76200" marT="76200" marB="76200"/>
                </a:tc>
                <a:tc>
                  <a:txBody>
                    <a:bodyPr/>
                    <a:lstStyle/>
                    <a:p>
                      <a:pPr algn="l" fontAlgn="t"/>
                      <a:r>
                        <a:rPr lang="en-US">
                          <a:solidFill>
                            <a:schemeClr val="tx1"/>
                          </a:solidFill>
                          <a:effectLst/>
                        </a:rPr>
                        <a:t>P(S= True)</a:t>
                      </a:r>
                    </a:p>
                  </a:txBody>
                  <a:tcPr marL="76200" marR="76200" marT="76200" marB="76200"/>
                </a:tc>
                <a:tc>
                  <a:txBody>
                    <a:bodyPr/>
                    <a:lstStyle/>
                    <a:p>
                      <a:pPr algn="l" fontAlgn="t"/>
                      <a:r>
                        <a:rPr lang="en-US" dirty="0">
                          <a:solidFill>
                            <a:schemeClr val="tx1"/>
                          </a:solidFill>
                          <a:effectLst/>
                        </a:rPr>
                        <a:t>P(S= False)</a:t>
                      </a:r>
                    </a:p>
                  </a:txBody>
                  <a:tcPr marL="76200" marR="76200" marT="76200" marB="76200"/>
                </a:tc>
                <a:extLst>
                  <a:ext uri="{0D108BD9-81ED-4DB2-BD59-A6C34878D82A}">
                    <a16:rowId xmlns:a16="http://schemas.microsoft.com/office/drawing/2014/main" val="676250478"/>
                  </a:ext>
                </a:extLst>
              </a:tr>
              <a:tr h="370840">
                <a:tc>
                  <a:txBody>
                    <a:bodyPr/>
                    <a:lstStyle/>
                    <a:p>
                      <a:r>
                        <a:rPr lang="en-US">
                          <a:effectLst/>
                        </a:rPr>
                        <a:t>True</a:t>
                      </a:r>
                    </a:p>
                  </a:txBody>
                  <a:tcPr marL="60960" marR="60960" marT="60960" marB="60960" anchor="ctr"/>
                </a:tc>
                <a:tc>
                  <a:txBody>
                    <a:bodyPr/>
                    <a:lstStyle/>
                    <a:p>
                      <a:r>
                        <a:rPr lang="en-US">
                          <a:effectLst/>
                        </a:rPr>
                        <a:t>0.75</a:t>
                      </a:r>
                    </a:p>
                  </a:txBody>
                  <a:tcPr marL="60960" marR="60960" marT="60960" marB="60960" anchor="ctr"/>
                </a:tc>
                <a:tc>
                  <a:txBody>
                    <a:bodyPr/>
                    <a:lstStyle/>
                    <a:p>
                      <a:r>
                        <a:rPr lang="en-US">
                          <a:effectLst/>
                        </a:rPr>
                        <a:t>0.25</a:t>
                      </a:r>
                    </a:p>
                  </a:txBody>
                  <a:tcPr marL="60960" marR="60960" marT="60960" marB="60960" anchor="ctr"/>
                </a:tc>
                <a:extLst>
                  <a:ext uri="{0D108BD9-81ED-4DB2-BD59-A6C34878D82A}">
                    <a16:rowId xmlns:a16="http://schemas.microsoft.com/office/drawing/2014/main" val="2381446343"/>
                  </a:ext>
                </a:extLst>
              </a:tr>
              <a:tr h="370840">
                <a:tc>
                  <a:txBody>
                    <a:bodyPr/>
                    <a:lstStyle/>
                    <a:p>
                      <a:r>
                        <a:rPr lang="en-US">
                          <a:effectLst/>
                        </a:rPr>
                        <a:t>False</a:t>
                      </a:r>
                    </a:p>
                  </a:txBody>
                  <a:tcPr marL="60960" marR="60960" marT="60960" marB="60960" anchor="ctr"/>
                </a:tc>
                <a:tc>
                  <a:txBody>
                    <a:bodyPr/>
                    <a:lstStyle/>
                    <a:p>
                      <a:r>
                        <a:rPr lang="en-US">
                          <a:effectLst/>
                        </a:rPr>
                        <a:t>0.02</a:t>
                      </a:r>
                    </a:p>
                  </a:txBody>
                  <a:tcPr marL="60960" marR="60960" marT="60960" marB="60960" anchor="ctr"/>
                </a:tc>
                <a:tc>
                  <a:txBody>
                    <a:bodyPr/>
                    <a:lstStyle/>
                    <a:p>
                      <a:r>
                        <a:rPr lang="en-US" dirty="0">
                          <a:effectLst/>
                        </a:rPr>
                        <a:t>0.98</a:t>
                      </a:r>
                    </a:p>
                  </a:txBody>
                  <a:tcPr marL="60960" marR="60960" marT="60960" marB="60960" anchor="ctr"/>
                </a:tc>
                <a:extLst>
                  <a:ext uri="{0D108BD9-81ED-4DB2-BD59-A6C34878D82A}">
                    <a16:rowId xmlns:a16="http://schemas.microsoft.com/office/drawing/2014/main" val="342084373"/>
                  </a:ext>
                </a:extLst>
              </a:tr>
            </a:tbl>
          </a:graphicData>
        </a:graphic>
      </p:graphicFrame>
    </p:spTree>
    <p:extLst>
      <p:ext uri="{BB962C8B-B14F-4D97-AF65-F5344CB8AC3E}">
        <p14:creationId xmlns:p14="http://schemas.microsoft.com/office/powerpoint/2010/main" val="3386259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6CC28-3869-2E4C-F162-029B0B41E745}"/>
              </a:ext>
            </a:extLst>
          </p:cNvPr>
          <p:cNvSpPr>
            <a:spLocks noGrp="1"/>
          </p:cNvSpPr>
          <p:nvPr>
            <p:ph type="title"/>
          </p:nvPr>
        </p:nvSpPr>
        <p:spPr/>
        <p:txBody>
          <a:bodyPr/>
          <a:lstStyle/>
          <a:p>
            <a:r>
              <a:rPr lang="en-US" dirty="0"/>
              <a:t>Formulating the problem</a:t>
            </a:r>
          </a:p>
        </p:txBody>
      </p:sp>
      <p:sp>
        <p:nvSpPr>
          <p:cNvPr id="3" name="Content Placeholder 2">
            <a:extLst>
              <a:ext uri="{FF2B5EF4-FFF2-40B4-BE49-F238E27FC236}">
                <a16:creationId xmlns:a16="http://schemas.microsoft.com/office/drawing/2014/main" id="{3C761AA0-512E-C3BE-C1EB-07F999737B41}"/>
              </a:ext>
            </a:extLst>
          </p:cNvPr>
          <p:cNvSpPr>
            <a:spLocks noGrp="1"/>
          </p:cNvSpPr>
          <p:nvPr>
            <p:ph idx="1"/>
          </p:nvPr>
        </p:nvSpPr>
        <p:spPr/>
        <p:txBody>
          <a:bodyPr>
            <a:normAutofit fontScale="92500" lnSpcReduction="20000"/>
          </a:bodyPr>
          <a:lstStyle/>
          <a:p>
            <a:r>
              <a:rPr lang="en-GB" dirty="0"/>
              <a:t>From the formula of joint distribution, we can write the problem statement in the form of probability distribution:</a:t>
            </a:r>
          </a:p>
          <a:p>
            <a:endParaRPr lang="en-GB" dirty="0"/>
          </a:p>
          <a:p>
            <a:pPr marL="0" indent="0">
              <a:buNone/>
            </a:pPr>
            <a:r>
              <a:rPr lang="en-GB" dirty="0"/>
              <a:t>	</a:t>
            </a:r>
            <a:r>
              <a:rPr lang="en-GB" sz="2400" dirty="0"/>
              <a:t>P(S, D, A, ¬B, ¬E) = P(S|A) </a:t>
            </a:r>
            <a:r>
              <a:rPr lang="en-US" sz="2400" i="1" dirty="0">
                <a:sym typeface="Symbol" panose="05050102010706020507" pitchFamily="18" charset="2"/>
              </a:rPr>
              <a:t> </a:t>
            </a:r>
            <a:r>
              <a:rPr lang="en-GB" sz="2400" dirty="0"/>
              <a:t>P(D|A)</a:t>
            </a:r>
            <a:r>
              <a:rPr lang="en-US" sz="2400" i="1" dirty="0">
                <a:sym typeface="Symbol" panose="05050102010706020507" pitchFamily="18" charset="2"/>
              </a:rPr>
              <a:t>  </a:t>
            </a:r>
            <a:r>
              <a:rPr lang="en-GB" sz="2400" dirty="0"/>
              <a:t>P(A|¬B </a:t>
            </a:r>
            <a:r>
              <a:rPr lang="en-GB" sz="2400" dirty="0">
                <a:sym typeface="Symbol" panose="05050102010706020507" pitchFamily="18" charset="2"/>
              </a:rPr>
              <a:t></a:t>
            </a:r>
            <a:r>
              <a:rPr lang="en-GB" sz="2400" dirty="0"/>
              <a:t> ¬E) </a:t>
            </a:r>
            <a:r>
              <a:rPr lang="en-US" sz="2400" i="1" dirty="0">
                <a:sym typeface="Symbol" panose="05050102010706020507" pitchFamily="18" charset="2"/>
              </a:rPr>
              <a:t> </a:t>
            </a:r>
            <a:r>
              <a:rPr lang="en-GB" sz="2400" dirty="0"/>
              <a:t>P(¬B) </a:t>
            </a:r>
            <a:r>
              <a:rPr lang="en-US" sz="2400" i="1" dirty="0">
                <a:sym typeface="Symbol" panose="05050102010706020507" pitchFamily="18" charset="2"/>
              </a:rPr>
              <a:t> </a:t>
            </a:r>
            <a:r>
              <a:rPr lang="en-GB" sz="2400" dirty="0"/>
              <a:t>P(¬E).</a:t>
            </a:r>
          </a:p>
          <a:p>
            <a:endParaRPr lang="en-GB" dirty="0"/>
          </a:p>
          <a:p>
            <a:pPr marL="0" indent="0">
              <a:buNone/>
            </a:pPr>
            <a:r>
              <a:rPr lang="en-GB" dirty="0"/>
              <a:t>	</a:t>
            </a:r>
            <a:r>
              <a:rPr lang="en-GB" sz="2600" dirty="0"/>
              <a:t>= 0.75 × 0.91 ×  0.001 × 0.998 × 0.999</a:t>
            </a:r>
          </a:p>
          <a:p>
            <a:pPr marL="0" indent="0">
              <a:buNone/>
            </a:pPr>
            <a:endParaRPr lang="en-GB" sz="2600" dirty="0"/>
          </a:p>
          <a:p>
            <a:pPr marL="0" indent="0">
              <a:buNone/>
            </a:pPr>
            <a:r>
              <a:rPr lang="en-GB" sz="2600" dirty="0"/>
              <a:t>	= 0.00068045.</a:t>
            </a:r>
          </a:p>
          <a:p>
            <a:endParaRPr lang="en-GB" dirty="0"/>
          </a:p>
          <a:p>
            <a:r>
              <a:rPr lang="en-GB" b="1" i="1" dirty="0">
                <a:solidFill>
                  <a:srgbClr val="C00000"/>
                </a:solidFill>
              </a:rPr>
              <a:t>Hence, a Bayesian network can answer any query about the domain by using Joint distribution.</a:t>
            </a:r>
            <a:endParaRPr lang="en-US" b="1" i="1" dirty="0">
              <a:solidFill>
                <a:srgbClr val="C00000"/>
              </a:solidFill>
            </a:endParaRPr>
          </a:p>
        </p:txBody>
      </p:sp>
    </p:spTree>
    <p:extLst>
      <p:ext uri="{BB962C8B-B14F-4D97-AF65-F5344CB8AC3E}">
        <p14:creationId xmlns:p14="http://schemas.microsoft.com/office/powerpoint/2010/main" val="2508399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B04F7-FA64-EA15-D50B-077ECC1CCB70}"/>
              </a:ext>
            </a:extLst>
          </p:cNvPr>
          <p:cNvSpPr>
            <a:spLocks noGrp="1"/>
          </p:cNvSpPr>
          <p:nvPr>
            <p:ph type="title"/>
          </p:nvPr>
        </p:nvSpPr>
        <p:spPr/>
        <p:txBody>
          <a:bodyPr/>
          <a:lstStyle/>
          <a:p>
            <a:r>
              <a:rPr lang="en-US" dirty="0"/>
              <a:t>Application of Bayesian Network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CF4E2CF-D830-EDD4-C2E9-B69DE267E760}"/>
                  </a:ext>
                </a:extLst>
              </p:cNvPr>
              <p:cNvSpPr>
                <a:spLocks noGrp="1"/>
              </p:cNvSpPr>
              <p:nvPr>
                <p:ph idx="1"/>
              </p:nvPr>
            </p:nvSpPr>
            <p:spPr/>
            <p:txBody>
              <a:bodyPr/>
              <a:lstStyle/>
              <a:p>
                <a:r>
                  <a:rPr lang="en-US" dirty="0"/>
                  <a:t>Probabilistic Inference Tasks:</a:t>
                </a:r>
              </a:p>
              <a:p>
                <a:pPr lvl="1"/>
                <a:r>
                  <a:rPr lang="en-US" dirty="0"/>
                  <a:t>Finding most probable explanation (MPE):</a:t>
                </a:r>
              </a:p>
              <a:p>
                <a:pPr lvl="2"/>
                <a:r>
                  <a:rPr lang="en-US" dirty="0"/>
                  <a:t>Suppose given some evidence we want to know what is the most probable explanation (hypothesis)</a:t>
                </a:r>
              </a:p>
              <a:p>
                <a:pPr lvl="2"/>
                <a:r>
                  <a:rPr lang="en-US" dirty="0"/>
                  <a:t>An example is, given some medical symptoms, we want to know what is the most probable diagnosis (disease)</a:t>
                </a:r>
              </a:p>
              <a:p>
                <a:pPr lvl="2"/>
                <a:r>
                  <a:rPr lang="en-US" dirty="0"/>
                  <a:t>We can find the most probable hypothesis by:</a:t>
                </a:r>
              </a:p>
              <a:p>
                <a:pPr marL="914400" lvl="2" indent="0">
                  <a:buNone/>
                </a:pPr>
                <a:endParaRPr lang="en-US" dirty="0"/>
              </a:p>
              <a:p>
                <a:pPr marL="1371600" lvl="3" indent="0">
                  <a:buNone/>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bar>
                            <m:barPr>
                              <m:pos m:val="top"/>
                              <m:ctrlPr>
                                <a:rPr lang="en-US" sz="2400" i="1" smtClean="0">
                                  <a:latin typeface="Cambria Math" panose="02040503050406030204" pitchFamily="18" charset="0"/>
                                </a:rPr>
                              </m:ctrlPr>
                            </m:barPr>
                            <m:e>
                              <m:r>
                                <a:rPr lang="en-US" sz="2400" b="0" i="1" smtClean="0">
                                  <a:latin typeface="Cambria Math" panose="02040503050406030204" pitchFamily="18" charset="0"/>
                                </a:rPr>
                                <m:t>𝑥</m:t>
                              </m:r>
                            </m:e>
                          </m:ba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𝑎𝑟𝑔</m:t>
                      </m:r>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max</m:t>
                              </m:r>
                            </m:e>
                            <m:lim>
                              <m:bar>
                                <m:barPr>
                                  <m:pos m:val="top"/>
                                  <m:ctrlPr>
                                    <a:rPr lang="en-US" sz="2400" b="0" i="1" smtClean="0">
                                      <a:latin typeface="Cambria Math" panose="02040503050406030204" pitchFamily="18" charset="0"/>
                                    </a:rPr>
                                  </m:ctrlPr>
                                </m:barPr>
                                <m:e>
                                  <m:r>
                                    <a:rPr lang="en-US" sz="2400" b="0" i="1" smtClean="0">
                                      <a:latin typeface="Cambria Math" panose="02040503050406030204" pitchFamily="18" charset="0"/>
                                    </a:rPr>
                                    <m:t>𝑥</m:t>
                                  </m:r>
                                </m:e>
                              </m:bar>
                            </m:lim>
                          </m:limLow>
                        </m:fName>
                        <m:e>
                          <m:r>
                            <a:rPr lang="en-US" sz="2400" b="0" i="1" smtClean="0">
                              <a:latin typeface="Cambria Math" panose="02040503050406030204" pitchFamily="18" charset="0"/>
                            </a:rPr>
                            <m:t>𝑃</m:t>
                          </m:r>
                          <m:r>
                            <a:rPr lang="en-US" sz="2400" b="0" i="1" smtClean="0">
                              <a:latin typeface="Cambria Math" panose="02040503050406030204" pitchFamily="18" charset="0"/>
                            </a:rPr>
                            <m:t>(</m:t>
                          </m:r>
                          <m:bar>
                            <m:barPr>
                              <m:pos m:val="top"/>
                              <m:ctrlPr>
                                <a:rPr lang="en-US" sz="2400" b="0" i="1" smtClean="0">
                                  <a:latin typeface="Cambria Math" panose="02040503050406030204" pitchFamily="18" charset="0"/>
                                </a:rPr>
                              </m:ctrlPr>
                            </m:barPr>
                            <m:e>
                              <m:r>
                                <a:rPr lang="en-US" sz="2400" b="0" i="1" smtClean="0">
                                  <a:latin typeface="Cambria Math" panose="02040503050406030204" pitchFamily="18" charset="0"/>
                                </a:rPr>
                                <m:t>𝑥</m:t>
                              </m:r>
                            </m:e>
                          </m:bar>
                          <m:r>
                            <a:rPr lang="en-US" sz="2400" b="0" i="1" smtClean="0">
                              <a:latin typeface="Cambria Math" panose="02040503050406030204" pitchFamily="18" charset="0"/>
                            </a:rPr>
                            <m:t>, </m:t>
                          </m:r>
                          <m:r>
                            <a:rPr lang="en-US" sz="2400" b="0" i="1" smtClean="0">
                              <a:latin typeface="Cambria Math" panose="02040503050406030204" pitchFamily="18" charset="0"/>
                            </a:rPr>
                            <m:t>𝑒</m:t>
                          </m:r>
                          <m:r>
                            <a:rPr lang="en-US" sz="2400" b="0" i="1" smtClean="0">
                              <a:latin typeface="Cambria Math" panose="02040503050406030204" pitchFamily="18" charset="0"/>
                            </a:rPr>
                            <m:t>)</m:t>
                          </m:r>
                        </m:e>
                      </m:func>
                    </m:oMath>
                  </m:oMathPara>
                </a14:m>
                <a:endParaRPr lang="en-US" sz="1600" dirty="0"/>
              </a:p>
              <a:p>
                <a:pPr marL="1371600" lvl="3" indent="0">
                  <a:buNone/>
                </a:pPr>
                <a:r>
                  <a:rPr lang="en-US" sz="1600" dirty="0"/>
                  <a:t>[Know about </a:t>
                </a:r>
                <a:r>
                  <a:rPr lang="en-US" sz="1600" dirty="0">
                    <a:hlinkClick r:id="rId2"/>
                  </a:rPr>
                  <a:t>argmax</a:t>
                </a:r>
                <a:r>
                  <a:rPr lang="en-US" sz="1600" dirty="0"/>
                  <a:t> function]</a:t>
                </a:r>
              </a:p>
            </p:txBody>
          </p:sp>
        </mc:Choice>
        <mc:Fallback>
          <p:sp>
            <p:nvSpPr>
              <p:cNvPr id="3" name="Content Placeholder 2">
                <a:extLst>
                  <a:ext uri="{FF2B5EF4-FFF2-40B4-BE49-F238E27FC236}">
                    <a16:creationId xmlns:a16="http://schemas.microsoft.com/office/drawing/2014/main" id="{DCF4E2CF-D830-EDD4-C2E9-B69DE267E760}"/>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333952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2872C-8CE2-99B7-2F65-57E501EB033B}"/>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B46E888C-A7AB-00B6-390B-88DBD6C4F4F2}"/>
              </a:ext>
            </a:extLst>
          </p:cNvPr>
          <p:cNvSpPr>
            <a:spLocks noGrp="1"/>
          </p:cNvSpPr>
          <p:nvPr>
            <p:ph idx="1"/>
          </p:nvPr>
        </p:nvSpPr>
        <p:spPr/>
        <p:txBody>
          <a:bodyPr>
            <a:normAutofit fontScale="92500" lnSpcReduction="20000"/>
          </a:bodyPr>
          <a:lstStyle/>
          <a:p>
            <a:r>
              <a:rPr lang="en-GB" dirty="0"/>
              <a:t>“A Lecturer’s Life.” Dr. Ann Nicholson spends 60% of her work time in her office. The rest of her work time is spent elsewhere. When Ann is in her office, half the time her light is off (when she is trying to hide from students and get research done). When she is not in her office, she leaves her light on only 5% of the time. 80% of the time she is in her office, Ann is logged onto the computer. Because she sometimes logs onto the computer from home, 10% of the time she is not in her office, she is still logged onto the computer.</a:t>
            </a:r>
          </a:p>
          <a:p>
            <a:pPr marL="914400" lvl="1" indent="-457200">
              <a:buFont typeface="+mj-lt"/>
              <a:buAutoNum type="arabicPeriod"/>
            </a:pPr>
            <a:r>
              <a:rPr lang="en-GB" dirty="0"/>
              <a:t>Construct a Bayesian network to represent the “Lecturer’s Life” scenario just described.</a:t>
            </a:r>
          </a:p>
          <a:p>
            <a:pPr marL="914400" lvl="1" indent="-457200">
              <a:buFont typeface="+mj-lt"/>
              <a:buAutoNum type="arabicPeriod"/>
            </a:pPr>
            <a:r>
              <a:rPr lang="en-GB" dirty="0"/>
              <a:t> Suppose a student checks Dr. Nicholson’s login status and sees that she is logged on. What effect does this have on the student’s belief that Dr. Nicholson’s light is on?</a:t>
            </a:r>
            <a:endParaRPr lang="en-US" dirty="0"/>
          </a:p>
        </p:txBody>
      </p:sp>
    </p:spTree>
    <p:extLst>
      <p:ext uri="{BB962C8B-B14F-4D97-AF65-F5344CB8AC3E}">
        <p14:creationId xmlns:p14="http://schemas.microsoft.com/office/powerpoint/2010/main" val="1293683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50CB5-7575-5908-E723-1E987E24988E}"/>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5D459572-FA03-4426-4193-77D03CB612F1}"/>
              </a:ext>
            </a:extLst>
          </p:cNvPr>
          <p:cNvSpPr>
            <a:spLocks noGrp="1"/>
          </p:cNvSpPr>
          <p:nvPr>
            <p:ph idx="1"/>
          </p:nvPr>
        </p:nvSpPr>
        <p:spPr/>
        <p:txBody>
          <a:bodyPr>
            <a:normAutofit fontScale="85000" lnSpcReduction="20000"/>
          </a:bodyPr>
          <a:lstStyle/>
          <a:p>
            <a:r>
              <a:rPr lang="en-GB" dirty="0"/>
              <a:t>“Jason the Juggler.” Jason, the robot juggler, drops balls quite often when its battery is low. In previous trials, it has been determined that when its battery is low it will drop the ball 9 times out of 10. On the other hand, when its battery is not low, the chance that it drops a ball is much lower, about 1 in 100. The battery was recharged recently, so there is only a 5% chance that the battery is low. Another robot, Olga the observer, reports on whether or not Jason has dropped the ball. Unfortunately, Olga’s vision system is somewhat unreliable. Based on information from Olga, the task is to represent and draw inferences about whether the battery is low depending on how well Jason is juggling.</a:t>
            </a:r>
          </a:p>
          <a:p>
            <a:pPr marL="914400" lvl="1" indent="-457200">
              <a:buFont typeface="+mj-lt"/>
              <a:buAutoNum type="arabicPeriod"/>
            </a:pPr>
            <a:r>
              <a:rPr lang="en-GB" dirty="0"/>
              <a:t>Construct a Bayesian network to represent the problem. </a:t>
            </a:r>
          </a:p>
          <a:p>
            <a:pPr marL="914400" lvl="1" indent="-457200">
              <a:buFont typeface="+mj-lt"/>
              <a:buAutoNum type="arabicPeriod"/>
            </a:pPr>
            <a:r>
              <a:rPr lang="en-GB" dirty="0"/>
              <a:t>Which probability tables show where the information on how Jason’s success is related to the battery level, and Olga’s observational accuracy, are encoded in the network?</a:t>
            </a:r>
          </a:p>
          <a:p>
            <a:endParaRPr lang="en-US" dirty="0"/>
          </a:p>
        </p:txBody>
      </p:sp>
    </p:spTree>
    <p:extLst>
      <p:ext uri="{BB962C8B-B14F-4D97-AF65-F5344CB8AC3E}">
        <p14:creationId xmlns:p14="http://schemas.microsoft.com/office/powerpoint/2010/main" val="3043302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D555B-78ED-D143-3AD2-1594D4536E0E}"/>
              </a:ext>
            </a:extLst>
          </p:cNvPr>
          <p:cNvSpPr>
            <a:spLocks noGrp="1"/>
          </p:cNvSpPr>
          <p:nvPr>
            <p:ph idx="1"/>
          </p:nvPr>
        </p:nvSpPr>
        <p:spPr/>
        <p:txBody>
          <a:bodyPr/>
          <a:lstStyle/>
          <a:p>
            <a:r>
              <a:rPr lang="en-US" dirty="0"/>
              <a:t>Thanks</a:t>
            </a:r>
          </a:p>
        </p:txBody>
      </p:sp>
    </p:spTree>
    <p:extLst>
      <p:ext uri="{BB962C8B-B14F-4D97-AF65-F5344CB8AC3E}">
        <p14:creationId xmlns:p14="http://schemas.microsoft.com/office/powerpoint/2010/main" val="2206117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1162</TotalTime>
  <Words>3523</Words>
  <Application>Microsoft Office PowerPoint</Application>
  <PresentationFormat>Widescreen</PresentationFormat>
  <Paragraphs>261</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Cambria Math</vt:lpstr>
      <vt:lpstr>Century Schoolbook</vt:lpstr>
      <vt:lpstr>Symbol</vt:lpstr>
      <vt:lpstr>Wingdings</vt:lpstr>
      <vt:lpstr>Office Theme</vt:lpstr>
      <vt:lpstr>Bayesian Network Bayesian Reasoning</vt:lpstr>
      <vt:lpstr>Recommended</vt:lpstr>
      <vt:lpstr>Bayesian Reasoning</vt:lpstr>
      <vt:lpstr>Bayesian Reasoning</vt:lpstr>
      <vt:lpstr>Bayes Rule Refresher</vt:lpstr>
      <vt:lpstr>Bayes Example: Diagnosing Meningitis</vt:lpstr>
      <vt:lpstr>Bayes Rule Example 2: Cancer Test</vt:lpstr>
      <vt:lpstr>Solution</vt:lpstr>
      <vt:lpstr>Belief Update</vt:lpstr>
      <vt:lpstr>Belief Update</vt:lpstr>
      <vt:lpstr>Bayesian Network</vt:lpstr>
      <vt:lpstr>Graphical Model</vt:lpstr>
      <vt:lpstr>Computational Model</vt:lpstr>
      <vt:lpstr>Building Bayesian Network</vt:lpstr>
      <vt:lpstr>Bayesian Network Model</vt:lpstr>
      <vt:lpstr>Bayesian Network Model</vt:lpstr>
      <vt:lpstr>Bayesian Network Model</vt:lpstr>
      <vt:lpstr>Bayesian network components</vt:lpstr>
      <vt:lpstr>Joint probability distribution</vt:lpstr>
      <vt:lpstr>Explanation of Bayesian network</vt:lpstr>
      <vt:lpstr>Problem</vt:lpstr>
      <vt:lpstr>Solution</vt:lpstr>
      <vt:lpstr>Variables</vt:lpstr>
      <vt:lpstr>Joint probability distribution</vt:lpstr>
      <vt:lpstr>Observed probabilities</vt:lpstr>
      <vt:lpstr>Observed probabilities</vt:lpstr>
      <vt:lpstr>Conditional probabilities</vt:lpstr>
      <vt:lpstr>Conditional probabilities</vt:lpstr>
      <vt:lpstr>Conditional probabilities</vt:lpstr>
      <vt:lpstr>Formulating the problem</vt:lpstr>
      <vt:lpstr>Application of Bayesian Network</vt:lpstr>
      <vt:lpstr>Exercise</vt:lpstr>
      <vt:lpstr>Exercise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159</cp:revision>
  <dcterms:created xsi:type="dcterms:W3CDTF">2024-10-13T18:35:27Z</dcterms:created>
  <dcterms:modified xsi:type="dcterms:W3CDTF">2024-10-14T14:00:38Z</dcterms:modified>
</cp:coreProperties>
</file>