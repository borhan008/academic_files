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304" r:id="rId3"/>
    <p:sldId id="270" r:id="rId4"/>
    <p:sldId id="329" r:id="rId5"/>
    <p:sldId id="310" r:id="rId6"/>
    <p:sldId id="268" r:id="rId7"/>
    <p:sldId id="330" r:id="rId8"/>
    <p:sldId id="274" r:id="rId9"/>
    <p:sldId id="311" r:id="rId10"/>
    <p:sldId id="312" r:id="rId11"/>
    <p:sldId id="315" r:id="rId12"/>
    <p:sldId id="316" r:id="rId13"/>
    <p:sldId id="317" r:id="rId14"/>
    <p:sldId id="318" r:id="rId15"/>
    <p:sldId id="275" r:id="rId16"/>
    <p:sldId id="277" r:id="rId17"/>
    <p:sldId id="278" r:id="rId18"/>
    <p:sldId id="319" r:id="rId19"/>
    <p:sldId id="280" r:id="rId20"/>
    <p:sldId id="320" r:id="rId21"/>
    <p:sldId id="281" r:id="rId22"/>
    <p:sldId id="306" r:id="rId23"/>
    <p:sldId id="307" r:id="rId24"/>
    <p:sldId id="324" r:id="rId25"/>
    <p:sldId id="325" r:id="rId26"/>
    <p:sldId id="326" r:id="rId27"/>
    <p:sldId id="282" r:id="rId28"/>
    <p:sldId id="327" r:id="rId29"/>
    <p:sldId id="321" r:id="rId30"/>
    <p:sldId id="284" r:id="rId31"/>
    <p:sldId id="285" r:id="rId32"/>
    <p:sldId id="286" r:id="rId33"/>
    <p:sldId id="287" r:id="rId34"/>
    <p:sldId id="288" r:id="rId35"/>
    <p:sldId id="289" r:id="rId36"/>
    <p:sldId id="308" r:id="rId37"/>
    <p:sldId id="290" r:id="rId38"/>
    <p:sldId id="292" r:id="rId39"/>
    <p:sldId id="293" r:id="rId40"/>
    <p:sldId id="294" r:id="rId41"/>
    <p:sldId id="309" r:id="rId42"/>
    <p:sldId id="295" r:id="rId43"/>
    <p:sldId id="328" r:id="rId44"/>
    <p:sldId id="297" r:id="rId45"/>
    <p:sldId id="322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6D96D-D44A-4280-992C-F45A63B9DCCA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452A6-5C79-4CBE-9609-2DD812F50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77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A2257059-4090-F953-64F2-4482520FA9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FA1A054-A69D-4B02-B6EC-EBA5D6311CAD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8C85FA5B-C3D7-51AB-B365-04A7BBE8A5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4101C9D4-EBD1-44BC-509B-3AB66D6FB3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3B0B4378-3D8F-042C-4A57-193AC590F3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1637CEF-9EEB-4534-A1FF-805C8CD575D4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F76A42E1-7C10-256A-96DB-B4F9A933CC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9C268D8E-06FF-76C9-038A-127D6C95A8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E8C4EA63-6CA8-387A-184F-A300930E97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08C5EC9-4646-4B25-8CC7-CB34288BA8C8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F9FAA25A-1218-65B5-57ED-D44572F88B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711E3B69-A831-4EFF-9142-8FA9E973A1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4EB710AE-2A1A-C3A0-F18C-E51C00850C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87F4F44-5686-4A58-AE0A-41BAD9AEA93F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38C6167E-1DA6-520C-4130-5B426A7DF3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BFF4D30B-8EBF-5A18-00A9-2B38F1A8B4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E7ECDCA2-244C-ADE5-5E19-A5F8FE3390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BA8443-BA01-46F5-9387-56042F1B8BB7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CE21A4C4-9B3E-12F9-C62D-A70FB6BE5D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ADD4D42C-992C-A545-71D8-076886BB12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2AB4E9B5-8A15-7894-6EFA-91E8C84418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64BD37-C2BE-4A0B-911D-C0E42E61600A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E2B52A77-26B6-3574-A38D-D177BFB2BD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5A3D9FE7-6186-67EE-5400-73B642E1ED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3FBD6BC4-E746-929C-8EF0-61CFC86928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772313-0F57-401D-BED6-BFC50B6B5ABE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D4D59097-2BE5-B10F-EA01-26B24B0317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676603FB-0F6E-1159-A143-117366A039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B668DB21-F25C-8B9B-2D63-D8617F8F9A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0934EC-372B-4C2B-B762-4E88161BE16B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06FD04BD-681F-AA4C-577B-AEA4B1AF69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E27811DD-D572-17E4-6EC4-F99445DD8D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CF5D6AB7-63B4-BE46-7781-37B4D32354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B7B04E5-FD15-471F-930D-9CD23BD44397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DF517ACF-AB34-24F5-7603-4F8BFE5FC5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F0D2D5FE-9DA1-44C2-94EB-C6726E27C9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68615E02-838E-33FE-63CB-67B47555B0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C1EAB9-B9BE-498E-A63D-ADBE847C68EA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C7E7D133-5BB1-362F-F488-F975DBA750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8F776197-2B64-FEC9-3FB8-5C558FCFE8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B5465A7-BDE5-51E5-B650-5BC6433657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758F7C-F734-480B-A291-0426E0DF5421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2DEECF4A-34A2-66A0-A5B0-80E52964EC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B27B2F88-3AB3-005B-67AA-FFE8D0591A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DE350181-9757-D0DB-C386-0221149B5E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4FB06B-A934-4741-ADF4-04677485B05B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1BEAA5B6-C008-576C-59BE-6116655666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08CA7D63-AF49-2EC8-B202-DE62CAE383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0CF73D72-70A4-5305-6670-E7FCB868FC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153A6AE-BF60-40A8-9F8E-ED7C44038084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4A0FAB75-5CE1-DF1A-9080-6D461740F8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59309185-801C-1E92-8BC4-3A1CCC0BBA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6AE496F0-F106-6515-BBC6-1DB760EE46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DD5148-B044-413E-B2A6-51A8FDBF4009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C6DEF634-1ECF-E8D2-3B2B-967324681B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343F66DD-973F-2476-5601-181D7AF1C4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4D342B1B-65C5-40BE-5C8E-9A2BE576B4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19A066-9B3C-4C74-9BA7-C756CE20955E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62C263B0-CCA9-FE72-16F2-68D0DBE574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2166F96D-2321-9457-0961-62E9C819C9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6F622488-CB91-7DE8-8324-A45C4CDC2D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5E6FEA-7C30-4044-A149-6112C5A9CFD1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7503220C-1418-EE0F-84E3-CFD61E96B7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650D91BC-BAE7-F0D5-CC99-77A2ACD5CE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6FC1FF0F-4B2E-A80E-6576-85A0E8EA33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D5DE23-AEF5-42B6-AC5D-8185064C0345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3992B66D-8E76-42EA-CD68-BA4FE9BAC2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001BEEC4-0D4B-944F-3AB7-30373666F7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03298F25-68F1-79AA-0BAB-BDA2443B65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C4A095-DC11-4FA1-86C3-75D9F56BB0EB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F3C0A377-1FB6-913D-9159-E76EE51859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4B7A856-C7CC-E7EE-C0C6-E7E9785E2C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4493B632-C651-B70B-01A2-F23B2EAF61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DDFCEF8-3B9C-4F37-B25E-BB00338BC44C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5D66793B-4231-9A77-6CBE-375414136F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E6922366-1AE8-F099-4F49-6D58904346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1D44B3AB-E04E-ED0C-57C6-3BEC9DE947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D247B9-AF54-4558-8E18-60B45DD6D98B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0AFB6C09-113B-6FB0-C318-C6F9620F08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F0B6D62A-CE2B-6043-9C7F-C2293AC6DE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C2270991-521F-C00C-B335-E409E6A699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41CDC1-DAFD-4421-8BAB-6C19D3632B56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4DD18853-A04B-7E43-4240-91C8C84AF8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75D7B56A-E244-B1E3-F89E-52095681AB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EFA74545-523C-EA96-3988-5A3F25DC3C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638B005-AD17-4DE2-B396-2F8B1F3B283D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3B0831A8-E33C-0D0E-52BA-55D11F13A4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8EC7A156-A335-F442-5EDD-34F44FD803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182B375A-2C35-2E40-89FD-7D272AF6B1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475BACB-3BBA-48CD-9F07-4BBF44C8D0DF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8B1B66E2-3D80-E61B-5D06-C4E440FE0B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062CFE2C-9883-CE87-1595-2803C7A0D0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EC16F5EC-A55E-F872-7134-C2AE4EA510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EBE877E-74E4-42E7-8909-E1BCDA62E762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BD0DBA5C-58F5-6BBE-22B8-DF91EA0341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E81D570A-28A8-6A44-B3FA-89882626EE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5F38A2E4-010E-E0BF-E8DB-D9F89EFA6F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9BEBE8-C73D-4C93-AA6C-0795A53AB18B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AC17CA6F-36F9-1C34-4A88-BE047AB911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8CF4C917-D38D-C6D9-329D-4A743A35D0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09EB54DC-7B51-DDDC-5257-21DA288C8D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C53E5D-EA90-4B4A-8A8D-5B103A2D2B5D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4351D418-039D-EBAA-9B7A-32EF913C4E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7E33F522-0F16-073A-977F-90ABA8A0D1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D8B7D359-BF95-377A-2E97-191D9F7CB3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23C0BB5-22FF-4A9C-B37A-FB905A48DCE8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81842509-862A-67D9-D11A-589435956F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D24D341C-AE53-12A7-1B5F-02A3AA52E9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17BF8298-5AA4-A507-4A99-4B536ABEEC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6A72E1B-ABDF-4077-9CCB-5F23DF046264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C54021A2-4E59-A33E-73CB-0D36EB2AC0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B37742B8-2B71-C75B-97E8-4447ED0AE3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0EFED4FC-335C-2159-A58A-98C91B854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90BF47-A91F-41D6-B23A-5785B0CED19D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BEFA17E1-7C60-7B3C-3FC5-42BCC5755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EDA1185A-6A7C-08D5-20D9-C723335BCE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865C6034-9CE2-30F5-EC3A-A620636AB0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21D584-7742-420F-B488-2E5B31D0F872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54D0517A-4EFE-84AF-0DE2-6D1952B6E2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AE0AC235-D6FE-356B-3104-71D61EF897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A80EDED0-3A59-6D15-C604-11BE498273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D8AEC18-D0CC-4AF6-9EB0-5A381BD6C85C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0B251D9A-B39F-C71C-A64A-4684435945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39C54608-1E90-B4EB-24D0-C128CB83C6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3D5472AB-39BE-08DF-B186-E8A408B04D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5408A3-3589-44A3-91D1-1F9969203653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954A4ED9-8453-3059-24E6-58F76EB771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C4475207-4F6C-220E-5E39-1E4D4D49C9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AF383039-28F5-6A11-4EE3-D7056D45FE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B91F61-654D-4246-9D47-2C9FFD2DC47F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AF4FC5E9-836B-58B2-7946-BD8D0D9A45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BCF6D4F5-7289-B6D4-BD8E-50F9E20C39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2E399939-2DA5-7DF4-6C02-58EB9BE832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7EC53F-C45A-498F-B897-78806945F03A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986094B7-27D4-9230-7F33-7A4482E033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850228A3-D9DD-3BF2-BAAA-E3B5455385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B4A7C13A-5117-B38F-5253-23418FEC4F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4C54D4-7825-44B1-A4C9-8393E1DFBE02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B2081397-17E3-1DFC-35E4-E64B4BFFA9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E05E5241-E03E-4FD5-A7A9-55C6B4B380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67EC671A-985B-1D84-38AE-516A88CD4A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EDA349-195C-47D2-B049-091002E818A3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079A04F3-934C-5878-3CF3-F17FB1FD67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9098CF2E-E8E9-A22F-8C7D-7F33FA5CFA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A6210FDB-D87C-E31D-14A5-3A7E23DFD6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174AE2-1EC0-418A-9B54-C45E8038E1F3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58B0B6F8-703F-6A3E-510D-44BFA38861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1B9A768A-1C65-3787-BCC6-DA5BE4BC4C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6EE0833C-8038-8C8E-DCFE-352F234C4D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D93ABE-FC21-4A28-9ED2-8B8015FF3A6D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9146E021-DC2E-1012-8AF2-AEB4A48393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CFE8722F-0411-BC40-ED05-1679941D77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55C9522B-A4FA-577D-380D-857F3BC00F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137E79-87DC-43A8-90DF-698C3A634F65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2C83F41D-2FBB-C372-770E-B2E769A8DF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1B116068-A152-F864-54FC-CF4D230D50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41F8F041-02E2-BA0B-396A-5330E92351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5836F9-AD0A-4999-8C33-A847AACC1AC2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077D2AB8-7BC6-015A-D7B4-30AD05C589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60AA0C3D-FB57-4821-CD7D-050DAEBBBA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657DAAD9-95EA-9BEF-AD95-272935B36A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79B817A-55CD-4534-8C58-0B7674FA36D6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F06E77CF-A495-3592-10C0-E9E787E594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1A939F03-A325-F089-612F-012C8B762E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53B5410-37F9-7BAB-9A5D-FD5438611F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CCEA39-89A0-44DA-A4C5-5A0A42B4CC2D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0763C9B-10FE-7A44-65E1-A753F603A2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40BD5C-EFB7-81AB-819D-86CC8D28AC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775515A4-9D41-A488-855B-9165BAF09B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0CF6C1-C738-4A56-B467-E4896FF47414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15B8F91C-3B1B-2720-6EA3-A83D3BC73E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B933D251-2AC3-A43F-9BB9-AD8B767A77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DD42F-A73A-DC55-2F36-F602084E5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B385C1-6B66-8D9C-DC23-9EC89A805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BE277-6B1F-83F4-E3FF-0FA90EC60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BCB4A-45C3-4709-A5A7-1C7DD8891C26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1F61A-A42F-4B1B-CACC-FE3346C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69522-4521-968C-AC4A-D03E92317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9A9A-3692-48BD-93DD-E0BA1F007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607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B51AE-05E7-179F-6F89-14D58F7BA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613E2-2B77-1B04-A9A2-C1180ACD4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918B-5C2A-E46D-B441-1C4638535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1657A-F107-4976-A1E9-C64DA6124D1A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12F43-020B-F5AF-0B79-09E0A985E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27C85-C4AB-8C34-050F-3BC45D47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9A9A-3692-48BD-93DD-E0BA1F007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2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163B3-F3AB-BAA8-67A5-0CCFC10B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99B05-6942-3464-59B7-38BB5709D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66312-6600-5AB7-5C96-438846CB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30B9C-B08C-4293-BDD1-B366148FEE0B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36922-3158-1B12-1EB4-BEDEE045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ECDA0-38BC-4B10-DF05-52212FFAC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9A9A-3692-48BD-93DD-E0BA1F007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328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B2771-FDF4-ACFF-20CE-7DA32E9E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7589C-ADF1-52ED-DD55-0C05707F00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F7586-6E6A-6A21-7261-98D07EC54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757E7-291A-0932-EE58-A76A5DE7C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6B440-0161-4AD5-87E9-7DD219C2949E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4D815-2C30-EF6A-C76F-0306E66C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FAAB7-279F-2E5C-24B3-F16D407E7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9A9A-3692-48BD-93DD-E0BA1F007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075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A2F26-E3B1-356A-226F-4825F0A7A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9F69D-C0AF-880A-831C-D578F95E1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0AF28-E9BF-4531-0E77-5A7EEFB2E4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0E8540-83FC-6A89-910C-732D4CA3B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CB3F34-0045-4859-66B3-1D16365560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8F638D-1E12-5DA9-4C51-E154D1C95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437E-B8F3-48E3-8F70-3018969BC9DF}" type="datetime1">
              <a:rPr lang="en-US" smtClean="0"/>
              <a:t>10/14/2024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D3632C-6115-B950-8622-0F150616B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E3FF36-85F8-D899-82A3-F73DC27E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9A9A-3692-48BD-93DD-E0BA1F007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9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A27BE-08A7-03DD-2E47-546507384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A67A95-DBDC-956C-C6C9-8B128DCB8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F6618-2844-42AD-8D10-9A3068166B1A}" type="datetime1">
              <a:rPr lang="en-US" smtClean="0"/>
              <a:t>10/14/2024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CAED25-8FCF-4B10-A0F8-30AD31DFB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2BAB5-DF68-5535-3D4C-B8B9C25A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9A9A-3692-48BD-93DD-E0BA1F007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37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36C86-8DE8-01A2-B1A7-501622D12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E85BE-B99D-41ED-964B-2C7599309230}" type="datetime1">
              <a:rPr lang="en-US" smtClean="0"/>
              <a:t>10/14/2024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102622-3500-4959-DE1B-2F39B2F4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6F8B0-167D-723C-1501-A2F40A0BD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9A9A-3692-48BD-93DD-E0BA1F007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782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22F9D-4F9F-5253-A600-7C68A5097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F74FF-B3E0-97D4-414B-5EAF31292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8EC7C-0612-3754-F5B4-A5F6AC4E9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2A1CD-056E-B2D6-9156-D0525F35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89A3-0AAF-45A2-99A6-612964D39670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73A5E-FC5D-CA0C-DC18-1E7718ECB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0DFAA-6CAB-CDB0-A988-734799214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9A9A-3692-48BD-93DD-E0BA1F007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549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7831E-35B5-DFA1-9BC3-7BBB4B184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DDEE5A-D352-DB2B-3FBA-1F63A81DD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39BA1-F874-5E11-0FD2-1FEECDFE4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0D201-38CF-FEDC-6835-7A522EE27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A2EBF-C088-4D3B-94C6-6B7FB9E6FC41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2F611-32BB-F7B6-0C12-72FE6808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EFCF0-6F72-3320-B3E1-5C680AA3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9A9A-3692-48BD-93DD-E0BA1F007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13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DD7E-2F1C-B770-D6C2-18835BB46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8E0D8-0BF5-9572-7374-1CF67CA15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5D1CC-5763-4808-8FC7-4D4D5F12E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55E32-8938-4423-A637-D24A327A1096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73A2F-3D65-A555-5BA6-B567A10DF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BA276-803A-91A6-511E-1665BEB38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9A9A-3692-48BD-93DD-E0BA1F007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91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12EBC-694E-7C39-0DEF-A2E578E750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8BFE04-CDAD-81CC-8B04-8295316C5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6CC59-805D-900D-C6AE-E25EBD56D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A498E-3535-4148-B9A6-1516F19B20A1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653A9-C731-E8DA-A697-0ECEA5C0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D971D-4EF8-E219-89C9-C43D571C7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9A9A-3692-48BD-93DD-E0BA1F007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02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12800" y="1371600"/>
            <a:ext cx="9855200" cy="2286000"/>
          </a:xfrm>
        </p:spPr>
        <p:txBody>
          <a:bodyPr/>
          <a:lstStyle>
            <a:lvl1pPr algn="ctr">
              <a:defRPr sz="45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B366143-BBB4-9668-985E-66080B0B03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DCC29A3-C1A8-43C9-AEFD-F7C72D5D62DD}" type="datetime1">
              <a:rPr lang="en-US" altLang="en-US" smtClean="0"/>
              <a:t>10/14/2024</a:t>
            </a:fld>
            <a:endParaRPr lang="en-US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092B393-33AE-BD09-AE7E-4BCF0751F7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3AAE986-4AB6-C3AD-5CA2-47775706D2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7312A12C-C9A9-45A5-911C-10F8527D7F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2368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01C313-EC41-5C8B-344B-2A2379743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79E50-E336-2EEF-074C-A38C59BC7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3B19B-3461-F859-6D6C-BD4657947E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E02DAB-1AC3-4261-BDFE-8A6569C8D9C3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C9333-2C87-9837-269C-0B20DBB815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6C0DE-2D2E-62D1-F0F6-8296116111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B69A9A-3692-48BD-93DD-E0BA1F007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9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2BA6819-8DB2-339D-32D7-47E31AA7B36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4900" dirty="0"/>
              <a:t>Dealing with Uncertainty</a:t>
            </a:r>
            <a:br>
              <a:rPr lang="en-US" altLang="en-US" sz="4900" dirty="0"/>
            </a:br>
            <a:endParaRPr lang="en-US" altLang="en-US" sz="2900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F9EF1BED-F217-3DCC-FC59-38E057D0AD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Iftekhar Mahmud Towhid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723AC3D9-6D8D-8133-D64F-E35207F7A2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 dirty="0"/>
              <a:t>Introduction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DABDC4D6-6A5E-70DE-5922-06946DAA24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world is not a well-defined place.</a:t>
            </a:r>
          </a:p>
          <a:p>
            <a:pPr eaLnBrk="1" hangingPunct="1"/>
            <a:r>
              <a:rPr lang="en-US" altLang="en-US" dirty="0"/>
              <a:t>There is uncertainty in the facts  we know:</a:t>
            </a:r>
          </a:p>
          <a:p>
            <a:pPr lvl="1" eaLnBrk="1" hangingPunct="1"/>
            <a:r>
              <a:rPr lang="en-US" altLang="en-US" dirty="0"/>
              <a:t>What’s the temperature?  Imprecise measures</a:t>
            </a:r>
          </a:p>
          <a:p>
            <a:pPr lvl="1" eaLnBrk="1" hangingPunct="1"/>
            <a:r>
              <a:rPr lang="en-US" altLang="en-US" dirty="0"/>
              <a:t>Is Trump/Biden a good president?  Imprecise definitions</a:t>
            </a:r>
          </a:p>
          <a:p>
            <a:pPr lvl="1" eaLnBrk="1" hangingPunct="1"/>
            <a:r>
              <a:rPr lang="en-US" altLang="en-US" dirty="0"/>
              <a:t>Where is the pit?  Imprecise knowledge</a:t>
            </a:r>
          </a:p>
          <a:p>
            <a:pPr eaLnBrk="1" hangingPunct="1"/>
            <a:r>
              <a:rPr lang="en-US" altLang="en-US" dirty="0"/>
              <a:t>There is uncertainty in our inferences</a:t>
            </a:r>
          </a:p>
          <a:p>
            <a:pPr lvl="1" eaLnBrk="1" hangingPunct="1"/>
            <a:r>
              <a:rPr lang="en-US" altLang="en-US" dirty="0"/>
              <a:t>If I have a blistery,  itchy rash and was gardening all weekend I probably have poison ivy</a:t>
            </a:r>
          </a:p>
          <a:p>
            <a:pPr eaLnBrk="1" hangingPunct="1"/>
            <a:r>
              <a:rPr lang="en-US" altLang="en-US" dirty="0"/>
              <a:t>People make successful decisions all the time anyhow.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388B1034-7565-D79A-1E4C-0DD578CFD8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Sources of Uncertainty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EF4C9161-D4DB-0A66-1E00-B7AA0E1B05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 dirty="0"/>
              <a:t>Uncertain data</a:t>
            </a:r>
          </a:p>
          <a:p>
            <a:pPr lvl="1" eaLnBrk="1" hangingPunct="1"/>
            <a:r>
              <a:rPr lang="en-US" altLang="en-US" sz="1900" dirty="0"/>
              <a:t>missing data, unreliable, ambiguous, imprecise representation, inconsistent, subjective, derived from defaults, noisy…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000" dirty="0"/>
              <a:t>Uncertain knowledge</a:t>
            </a:r>
            <a:endParaRPr lang="en-US" altLang="en-US" sz="2000" b="1" dirty="0">
              <a:solidFill>
                <a:schemeClr val="accent2"/>
              </a:solidFill>
            </a:endParaRPr>
          </a:p>
          <a:p>
            <a:pPr lvl="1" eaLnBrk="1" hangingPunct="1">
              <a:spcBef>
                <a:spcPct val="0"/>
              </a:spcBef>
            </a:pPr>
            <a:r>
              <a:rPr lang="en-US" altLang="en-US" sz="1900" dirty="0"/>
              <a:t>Multiple causes lead to multiple effects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1900" dirty="0"/>
              <a:t>Incomplete knowledge of causality in the domain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1900" dirty="0"/>
              <a:t>Probabilistic/stochastic effects</a:t>
            </a:r>
          </a:p>
          <a:p>
            <a:pPr eaLnBrk="1" hangingPunct="1"/>
            <a:r>
              <a:rPr lang="en-US" altLang="en-US" sz="2000" dirty="0"/>
              <a:t>Uncertain knowledge representation</a:t>
            </a:r>
          </a:p>
          <a:p>
            <a:pPr lvl="1" eaLnBrk="1" hangingPunct="1"/>
            <a:r>
              <a:rPr lang="en-US" altLang="en-US" sz="1900" dirty="0"/>
              <a:t>restricted model of the real system</a:t>
            </a:r>
          </a:p>
          <a:p>
            <a:pPr lvl="1" eaLnBrk="1" hangingPunct="1"/>
            <a:r>
              <a:rPr lang="en-US" altLang="en-US" sz="1900" dirty="0"/>
              <a:t>limited expressiveness of the representation mechanism</a:t>
            </a:r>
          </a:p>
          <a:p>
            <a:pPr eaLnBrk="1" hangingPunct="1"/>
            <a:r>
              <a:rPr lang="en-US" altLang="en-US" sz="2000" dirty="0"/>
              <a:t>inference process</a:t>
            </a:r>
          </a:p>
          <a:p>
            <a:pPr lvl="1" eaLnBrk="1" hangingPunct="1"/>
            <a:r>
              <a:rPr lang="en-US" altLang="en-US" sz="1900" dirty="0"/>
              <a:t>Derived result is formally correct, but wrong in the real world</a:t>
            </a:r>
          </a:p>
          <a:p>
            <a:pPr lvl="1" eaLnBrk="1" hangingPunct="1"/>
            <a:r>
              <a:rPr lang="en-US" altLang="en-US" sz="1900" dirty="0"/>
              <a:t>New conclusions are not well-founded (</a:t>
            </a:r>
            <a:r>
              <a:rPr lang="en-US" altLang="en-US" sz="1900" dirty="0" err="1"/>
              <a:t>eg</a:t>
            </a:r>
            <a:r>
              <a:rPr lang="en-US" altLang="en-US" sz="1900" dirty="0"/>
              <a:t>, inductive reasoning)</a:t>
            </a:r>
          </a:p>
          <a:p>
            <a:pPr lvl="1" eaLnBrk="1" hangingPunct="1"/>
            <a:r>
              <a:rPr lang="en-US" altLang="en-US" sz="1900" dirty="0"/>
              <a:t>Incomplete, default reasoning methods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FCA18-3B14-96D5-66C3-7FD4DFEED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Reasoning Under Uncertainty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ADF21-172B-49F4-F7D4-166569470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defTabSz="796925"/>
            <a:r>
              <a:rPr lang="en-US" altLang="en-US" dirty="0"/>
              <a:t>So how do we do reasoning under uncertainty and with inexact knowledge?</a:t>
            </a:r>
          </a:p>
          <a:p>
            <a:pPr marL="685800" lvl="1" defTabSz="796925"/>
            <a:r>
              <a:rPr lang="en-US" altLang="en-US" dirty="0"/>
              <a:t>heuristics</a:t>
            </a:r>
          </a:p>
          <a:p>
            <a:pPr marL="1028700" lvl="2" defTabSz="796925"/>
            <a:r>
              <a:rPr lang="en-US" altLang="en-US" dirty="0"/>
              <a:t>ways to mimic heuristic knowledge processing methods used by experts</a:t>
            </a:r>
          </a:p>
          <a:p>
            <a:pPr marL="685800" lvl="1" defTabSz="796925"/>
            <a:r>
              <a:rPr lang="en-US" altLang="en-US" dirty="0"/>
              <a:t>empirical associations</a:t>
            </a:r>
          </a:p>
          <a:p>
            <a:pPr marL="1028700" lvl="2" defTabSz="796925"/>
            <a:r>
              <a:rPr lang="en-US" altLang="en-US" dirty="0"/>
              <a:t>experiential reasoning</a:t>
            </a:r>
          </a:p>
          <a:p>
            <a:pPr marL="1028700" lvl="2" defTabSz="796925"/>
            <a:r>
              <a:rPr lang="en-US" altLang="en-US" dirty="0"/>
              <a:t>based on limited observations</a:t>
            </a:r>
          </a:p>
          <a:p>
            <a:pPr marL="685800" lvl="1" defTabSz="796925"/>
            <a:r>
              <a:rPr lang="en-US" altLang="en-US" dirty="0"/>
              <a:t>probabilities</a:t>
            </a:r>
          </a:p>
          <a:p>
            <a:pPr marL="1028700" lvl="2" defTabSz="796925"/>
            <a:r>
              <a:rPr lang="en-US" altLang="en-US" dirty="0"/>
              <a:t>objective (frequency counting)</a:t>
            </a:r>
          </a:p>
          <a:p>
            <a:pPr marL="1028700" lvl="2" defTabSz="796925"/>
            <a:r>
              <a:rPr lang="en-US" altLang="en-US" dirty="0"/>
              <a:t>subjective (human experience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58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F39809D2-AE6E-2E36-C4A9-8176D70DC1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Decision making with uncertainty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533988EB-DFD9-5D8F-F309-2D3BB55989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Rational</a:t>
            </a:r>
            <a:r>
              <a:rPr lang="en-US" alt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sz="2400" dirty="0"/>
              <a:t>behavior:</a:t>
            </a:r>
          </a:p>
          <a:p>
            <a:pPr lvl="1" eaLnBrk="1" hangingPunct="1">
              <a:defRPr/>
            </a:pPr>
            <a:r>
              <a:rPr lang="en-US" altLang="en-US" dirty="0"/>
              <a:t>For each possible action, identify the possible outcomes</a:t>
            </a:r>
          </a:p>
          <a:p>
            <a:pPr lvl="1" eaLnBrk="1" hangingPunct="1">
              <a:defRPr/>
            </a:pPr>
            <a:r>
              <a:rPr lang="en-US" altLang="en-US" dirty="0"/>
              <a:t>Compute the </a:t>
            </a:r>
            <a:r>
              <a:rPr lang="en-US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probability</a:t>
            </a:r>
            <a:r>
              <a:rPr lang="en-US" alt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dirty="0"/>
              <a:t>of each outcome</a:t>
            </a:r>
          </a:p>
          <a:p>
            <a:pPr lvl="1" eaLnBrk="1" hangingPunct="1">
              <a:defRPr/>
            </a:pPr>
            <a:r>
              <a:rPr lang="en-US" altLang="en-US" dirty="0"/>
              <a:t>Compute the </a:t>
            </a:r>
            <a:r>
              <a:rPr lang="en-US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utility</a:t>
            </a:r>
            <a:r>
              <a:rPr lang="en-US" alt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dirty="0"/>
              <a:t>of each outcome</a:t>
            </a:r>
          </a:p>
          <a:p>
            <a:pPr lvl="1" eaLnBrk="1" hangingPunct="1">
              <a:defRPr/>
            </a:pPr>
            <a:r>
              <a:rPr lang="en-US" altLang="en-US" dirty="0"/>
              <a:t>Compute the probability-weighted </a:t>
            </a:r>
            <a:r>
              <a:rPr lang="en-US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(expected) utility</a:t>
            </a:r>
            <a:r>
              <a:rPr lang="en-US" alt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dirty="0"/>
              <a:t>over possible outcomes for each action</a:t>
            </a:r>
          </a:p>
          <a:p>
            <a:pPr lvl="1" eaLnBrk="1" hangingPunct="1">
              <a:defRPr/>
            </a:pPr>
            <a:r>
              <a:rPr lang="en-US" altLang="en-US" dirty="0"/>
              <a:t>Select the action with the highest expected utility (principle of </a:t>
            </a:r>
            <a:r>
              <a:rPr lang="en-US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Maximum Expected Utility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77F67F3E-39F2-4DA9-04C6-9CB9E93EDF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Some Relevant Factors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4D88661A-2167-31DD-0ECF-15659DEF2A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 defTabSz="796925">
              <a:lnSpc>
                <a:spcPct val="80000"/>
              </a:lnSpc>
            </a:pPr>
            <a:r>
              <a:rPr lang="en-US" altLang="en-US" sz="2400"/>
              <a:t>expressiveness</a:t>
            </a:r>
          </a:p>
          <a:p>
            <a:pPr marL="685800" lvl="1" defTabSz="796925">
              <a:lnSpc>
                <a:spcPct val="80000"/>
              </a:lnSpc>
            </a:pPr>
            <a:r>
              <a:rPr lang="en-US" altLang="en-US" sz="2100"/>
              <a:t>can concepts used by humans be represented adequately?</a:t>
            </a:r>
          </a:p>
          <a:p>
            <a:pPr marL="685800" lvl="1" defTabSz="796925">
              <a:lnSpc>
                <a:spcPct val="80000"/>
              </a:lnSpc>
            </a:pPr>
            <a:r>
              <a:rPr lang="en-US" altLang="en-US" sz="2100"/>
              <a:t>can the confidence of experts in their decisions be expressed?</a:t>
            </a:r>
          </a:p>
          <a:p>
            <a:pPr marL="285750" indent="-285750" defTabSz="796925">
              <a:lnSpc>
                <a:spcPct val="80000"/>
              </a:lnSpc>
            </a:pPr>
            <a:r>
              <a:rPr lang="en-US" altLang="en-US" sz="2400"/>
              <a:t>comprehensibility</a:t>
            </a:r>
          </a:p>
          <a:p>
            <a:pPr marL="685800" lvl="1" defTabSz="796925">
              <a:lnSpc>
                <a:spcPct val="80000"/>
              </a:lnSpc>
            </a:pPr>
            <a:r>
              <a:rPr lang="en-US" altLang="en-US" sz="2100"/>
              <a:t>representation of uncertainty</a:t>
            </a:r>
          </a:p>
          <a:p>
            <a:pPr marL="685800" lvl="1" defTabSz="796925">
              <a:lnSpc>
                <a:spcPct val="80000"/>
              </a:lnSpc>
            </a:pPr>
            <a:r>
              <a:rPr lang="en-US" altLang="en-US" sz="2100"/>
              <a:t>utilization in reasoning methods</a:t>
            </a:r>
          </a:p>
          <a:p>
            <a:pPr marL="285750" indent="-285750" defTabSz="796925">
              <a:lnSpc>
                <a:spcPct val="80000"/>
              </a:lnSpc>
            </a:pPr>
            <a:r>
              <a:rPr lang="en-US" altLang="en-US" sz="2400"/>
              <a:t>correctness</a:t>
            </a:r>
          </a:p>
          <a:p>
            <a:pPr marL="685800" lvl="1" defTabSz="796925">
              <a:lnSpc>
                <a:spcPct val="80000"/>
              </a:lnSpc>
            </a:pPr>
            <a:r>
              <a:rPr lang="en-US" altLang="en-US" sz="2100"/>
              <a:t>probabilities</a:t>
            </a:r>
          </a:p>
          <a:p>
            <a:pPr marL="685800" lvl="1" defTabSz="796925">
              <a:lnSpc>
                <a:spcPct val="80000"/>
              </a:lnSpc>
            </a:pPr>
            <a:r>
              <a:rPr lang="en-US" altLang="en-US" sz="2100"/>
              <a:t>relevance ranking</a:t>
            </a:r>
          </a:p>
          <a:p>
            <a:pPr marL="685800" lvl="1" defTabSz="796925">
              <a:lnSpc>
                <a:spcPct val="80000"/>
              </a:lnSpc>
            </a:pPr>
            <a:r>
              <a:rPr lang="en-US" altLang="en-US" sz="2100"/>
              <a:t>long inference chains</a:t>
            </a:r>
          </a:p>
          <a:p>
            <a:pPr marL="285750" indent="-285750" defTabSz="796925">
              <a:lnSpc>
                <a:spcPct val="80000"/>
              </a:lnSpc>
            </a:pPr>
            <a:r>
              <a:rPr lang="en-US" altLang="en-US" sz="2400"/>
              <a:t>computational complexity</a:t>
            </a:r>
          </a:p>
          <a:p>
            <a:pPr marL="685800" lvl="1" defTabSz="796925">
              <a:lnSpc>
                <a:spcPct val="80000"/>
              </a:lnSpc>
            </a:pPr>
            <a:r>
              <a:rPr lang="en-US" altLang="en-US" sz="2100"/>
              <a:t>feasibility of calculations for practical purposes</a:t>
            </a:r>
          </a:p>
          <a:p>
            <a:pPr marL="285750" indent="-285750" defTabSz="796925">
              <a:lnSpc>
                <a:spcPct val="80000"/>
              </a:lnSpc>
            </a:pPr>
            <a:r>
              <a:rPr lang="en-US" altLang="en-US" sz="2400"/>
              <a:t>reproducibility</a:t>
            </a:r>
          </a:p>
          <a:p>
            <a:pPr marL="685800" lvl="1" defTabSz="796925">
              <a:lnSpc>
                <a:spcPct val="80000"/>
              </a:lnSpc>
            </a:pPr>
            <a:r>
              <a:rPr lang="en-US" altLang="en-US" sz="2100"/>
              <a:t>will observations deliver the same results when repeated?</a:t>
            </a:r>
          </a:p>
          <a:p>
            <a:pPr marL="685800" lvl="1" defTabSz="796925">
              <a:lnSpc>
                <a:spcPct val="80000"/>
              </a:lnSpc>
            </a:pPr>
            <a:endParaRPr lang="en-US" altLang="en-US"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944D-44EB-C3FF-08FA-6FD00FAD3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Basics of Probability Theory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4225F-92D1-A4AA-8B84-551C5DBBA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indent="-285750" defTabSz="796925"/>
            <a:r>
              <a:rPr lang="en-US" altLang="en-US" sz="2400" dirty="0"/>
              <a:t>mathematical approach for processing uncertain information</a:t>
            </a:r>
          </a:p>
          <a:p>
            <a:pPr marL="685800" lvl="1" defTabSz="796925"/>
            <a:r>
              <a:rPr lang="en-US" altLang="en-US" sz="2100" dirty="0"/>
              <a:t>sample space set</a:t>
            </a:r>
            <a:br>
              <a:rPr lang="en-US" altLang="en-US" sz="2100" dirty="0"/>
            </a:br>
            <a:r>
              <a:rPr lang="en-US" altLang="en-US" sz="2100" dirty="0"/>
              <a:t>X = {x</a:t>
            </a:r>
            <a:r>
              <a:rPr lang="en-US" altLang="en-US" sz="2100" baseline="-25000" dirty="0"/>
              <a:t>1</a:t>
            </a:r>
            <a:r>
              <a:rPr lang="en-US" altLang="en-US" sz="2100" dirty="0"/>
              <a:t>, x</a:t>
            </a:r>
            <a:r>
              <a:rPr lang="en-US" altLang="en-US" sz="2100" baseline="-25000" dirty="0"/>
              <a:t>2</a:t>
            </a:r>
            <a:r>
              <a:rPr lang="en-US" altLang="en-US" sz="2100" dirty="0"/>
              <a:t>, …, </a:t>
            </a:r>
            <a:r>
              <a:rPr lang="en-US" altLang="en-US" sz="2100" dirty="0" err="1"/>
              <a:t>x</a:t>
            </a:r>
            <a:r>
              <a:rPr lang="en-US" altLang="en-US" sz="2100" baseline="-25000" dirty="0" err="1"/>
              <a:t>n</a:t>
            </a:r>
            <a:r>
              <a:rPr lang="en-US" altLang="en-US" sz="2100" dirty="0"/>
              <a:t>}</a:t>
            </a:r>
          </a:p>
          <a:p>
            <a:pPr marL="1028700" lvl="2" defTabSz="796925"/>
            <a:r>
              <a:rPr lang="en-US" altLang="en-US" sz="2000" dirty="0"/>
              <a:t>collection of all possible events</a:t>
            </a:r>
          </a:p>
          <a:p>
            <a:pPr marL="1028700" lvl="2" defTabSz="796925"/>
            <a:r>
              <a:rPr lang="en-US" altLang="en-US" sz="2000" dirty="0"/>
              <a:t>can be discrete or continuous</a:t>
            </a:r>
          </a:p>
          <a:p>
            <a:pPr marL="685800" lvl="1" defTabSz="796925"/>
            <a:r>
              <a:rPr lang="en-US" altLang="en-US" sz="2100" dirty="0"/>
              <a:t>probability number P(x</a:t>
            </a:r>
            <a:r>
              <a:rPr lang="en-US" altLang="en-US" sz="2100" baseline="-25000" dirty="0"/>
              <a:t>i</a:t>
            </a:r>
            <a:r>
              <a:rPr lang="en-US" altLang="en-US" sz="2100" dirty="0"/>
              <a:t>):  likelihood of an event xi to occur</a:t>
            </a:r>
          </a:p>
          <a:p>
            <a:pPr marL="1028700" lvl="2" defTabSz="796925"/>
            <a:r>
              <a:rPr lang="en-US" altLang="en-US" sz="2000" dirty="0"/>
              <a:t>non-negative value in [0,1]</a:t>
            </a:r>
          </a:p>
          <a:p>
            <a:pPr marL="1028700" lvl="2" defTabSz="796925"/>
            <a:r>
              <a:rPr lang="en-US" altLang="en-US" sz="2000" dirty="0"/>
              <a:t>total probability of the sample space is 1</a:t>
            </a:r>
          </a:p>
          <a:p>
            <a:pPr marL="1028700" lvl="2" defTabSz="796925"/>
            <a:r>
              <a:rPr lang="en-US" altLang="en-US" sz="2000" dirty="0"/>
              <a:t>for mutually exclusive events, the probability for at least one of them is the sum of their individual probabilities</a:t>
            </a:r>
          </a:p>
          <a:p>
            <a:pPr marL="1028700" lvl="2" defTabSz="796925"/>
            <a:r>
              <a:rPr lang="en-US" altLang="en-US" sz="2000" i="1" dirty="0"/>
              <a:t>experimental probability</a:t>
            </a:r>
            <a:endParaRPr lang="en-US" altLang="en-US" sz="2000" dirty="0"/>
          </a:p>
          <a:p>
            <a:pPr marL="1371600" lvl="3" defTabSz="796925"/>
            <a:r>
              <a:rPr lang="en-US" altLang="en-US" sz="1800" dirty="0"/>
              <a:t>based on the frequency of events</a:t>
            </a:r>
          </a:p>
          <a:p>
            <a:pPr marL="1028700" lvl="2" defTabSz="796925"/>
            <a:r>
              <a:rPr lang="en-US" altLang="en-US" sz="2000" i="1" dirty="0"/>
              <a:t>subjective probability</a:t>
            </a:r>
            <a:endParaRPr lang="en-US" altLang="en-US" sz="2000" dirty="0"/>
          </a:p>
          <a:p>
            <a:pPr marL="1371600" lvl="3" defTabSz="796925"/>
            <a:r>
              <a:rPr lang="en-US" altLang="en-US" sz="1800" dirty="0"/>
              <a:t>based on expert assessment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799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FDD12D67-6318-79EF-4C34-4BDC31137A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Compound Probabilities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205C339B-457F-E17F-5018-D472095305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describes </a:t>
            </a:r>
            <a:r>
              <a:rPr lang="en-US" altLang="en-US" i="1" dirty="0"/>
              <a:t>independent</a:t>
            </a:r>
            <a:r>
              <a:rPr lang="en-US" altLang="en-US" dirty="0"/>
              <a:t> events</a:t>
            </a:r>
          </a:p>
          <a:p>
            <a:pPr lvl="1" eaLnBrk="1" hangingPunct="1"/>
            <a:r>
              <a:rPr lang="en-US" altLang="en-US" dirty="0"/>
              <a:t>do not affect each other in any way</a:t>
            </a:r>
          </a:p>
          <a:p>
            <a:pPr eaLnBrk="1" hangingPunct="1"/>
            <a:r>
              <a:rPr lang="en-US" altLang="en-US" i="1" dirty="0"/>
              <a:t>joint</a:t>
            </a:r>
            <a:r>
              <a:rPr lang="en-US" altLang="en-US" dirty="0"/>
              <a:t> probability of two independent events A and B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P(A </a:t>
            </a:r>
            <a:r>
              <a:rPr lang="en-US" altLang="en-US" dirty="0">
                <a:sym typeface="Symbol" panose="05050102010706020507" pitchFamily="18" charset="2"/>
              </a:rPr>
              <a:t> B) = P(A) * P (B)</a:t>
            </a:r>
          </a:p>
          <a:p>
            <a:pPr eaLnBrk="1" hangingPunct="1"/>
            <a:r>
              <a:rPr lang="en-US" altLang="en-US" i="1" dirty="0"/>
              <a:t>union</a:t>
            </a:r>
            <a:r>
              <a:rPr lang="en-US" altLang="en-US" dirty="0"/>
              <a:t> probability of two independent events A and B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P(A </a:t>
            </a:r>
            <a:r>
              <a:rPr lang="en-US" altLang="en-US" dirty="0">
                <a:sym typeface="Symbol" panose="05050102010706020507" pitchFamily="18" charset="2"/>
              </a:rPr>
              <a:t></a:t>
            </a:r>
            <a:r>
              <a:rPr lang="en-US" altLang="en-US" dirty="0"/>
              <a:t> B) = P(A) + P(B) - P(A </a:t>
            </a:r>
            <a:r>
              <a:rPr lang="en-US" altLang="en-US" dirty="0">
                <a:sym typeface="Symbol" panose="05050102010706020507" pitchFamily="18" charset="2"/>
              </a:rPr>
              <a:t></a:t>
            </a:r>
            <a:r>
              <a:rPr lang="en-US" altLang="en-US" dirty="0"/>
              <a:t> B)</a:t>
            </a:r>
            <a:br>
              <a:rPr lang="en-US" altLang="en-US" dirty="0"/>
            </a:br>
            <a:r>
              <a:rPr lang="en-US" altLang="en-US" dirty="0"/>
              <a:t> =P(A) + P(B) -  P(A) * P (B)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47D53058-9485-F855-D63C-9191E533DD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Probability theory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4CDFC518-1BC5-D7A8-FC39-CD87E0CD524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Random variables</a:t>
            </a:r>
          </a:p>
          <a:p>
            <a:pPr lvl="1" eaLnBrk="1" hangingPunct="1">
              <a:defRPr/>
            </a:pPr>
            <a:r>
              <a:rPr lang="en-US" altLang="en-US" sz="1900" dirty="0"/>
              <a:t>Domain</a:t>
            </a:r>
          </a:p>
          <a:p>
            <a:pPr lvl="1" eaLnBrk="1" hangingPunct="1">
              <a:defRPr/>
            </a:pPr>
            <a:endParaRPr lang="en-US" altLang="en-US" sz="1900" dirty="0"/>
          </a:p>
          <a:p>
            <a:pPr eaLnBrk="1" hangingPunct="1">
              <a:defRPr/>
            </a:pPr>
            <a:r>
              <a:rPr lang="en-US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Atomic event</a:t>
            </a:r>
            <a:r>
              <a:rPr lang="en-US" altLang="en-US" sz="2000" dirty="0"/>
              <a:t>: complete specification of state</a:t>
            </a:r>
          </a:p>
          <a:p>
            <a:pPr lvl="1" eaLnBrk="1" hangingPunct="1">
              <a:defRPr/>
            </a:pPr>
            <a:endParaRPr lang="en-US" altLang="en-US" sz="1900" dirty="0"/>
          </a:p>
          <a:p>
            <a:pPr eaLnBrk="1" hangingPunct="1">
              <a:defRPr/>
            </a:pPr>
            <a:r>
              <a:rPr lang="en-US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Prior probability</a:t>
            </a:r>
            <a:r>
              <a:rPr lang="en-US" altLang="en-US" sz="2000" dirty="0"/>
              <a:t>: degree of belief without any other evidence</a:t>
            </a:r>
          </a:p>
          <a:p>
            <a:pPr eaLnBrk="1" hangingPunct="1">
              <a:defRPr/>
            </a:pPr>
            <a:r>
              <a:rPr lang="en-US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Joint probability</a:t>
            </a:r>
            <a:r>
              <a:rPr lang="en-US" altLang="en-US" sz="2000" dirty="0"/>
              <a:t>: matrix of combined probabilities of a set of variables</a:t>
            </a:r>
          </a:p>
        </p:txBody>
      </p:sp>
      <p:sp>
        <p:nvSpPr>
          <p:cNvPr id="20485" name="Rectangle 4">
            <a:extLst>
              <a:ext uri="{FF2B5EF4-FFF2-40B4-BE49-F238E27FC236}">
                <a16:creationId xmlns:a16="http://schemas.microsoft.com/office/drawing/2014/main" id="{947E42AC-B1E7-FD4A-AC63-FF57E34A655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Alarm, Burglary, Earthquake</a:t>
            </a:r>
          </a:p>
          <a:p>
            <a:pPr lvl="1" eaLnBrk="1" hangingPunct="1"/>
            <a:r>
              <a:rPr lang="en-US" altLang="en-US" sz="2100" dirty="0"/>
              <a:t>Boolean (like these), discrete, continuous</a:t>
            </a:r>
          </a:p>
          <a:p>
            <a:pPr eaLnBrk="1" hangingPunct="1"/>
            <a:r>
              <a:rPr lang="en-US" altLang="en-US" sz="2400" dirty="0"/>
              <a:t>Alarm=True </a:t>
            </a:r>
            <a:r>
              <a:rPr lang="en-US" altLang="en-US" sz="2400" dirty="0">
                <a:sym typeface="Symbol" panose="05050102010706020507" pitchFamily="18" charset="2"/>
              </a:rPr>
              <a:t></a:t>
            </a:r>
            <a:r>
              <a:rPr lang="en-US" altLang="en-US" sz="2400" dirty="0"/>
              <a:t> Burglary=True </a:t>
            </a:r>
            <a:r>
              <a:rPr lang="en-US" altLang="en-US" sz="2400" dirty="0">
                <a:sym typeface="Symbol" panose="05050102010706020507" pitchFamily="18" charset="2"/>
              </a:rPr>
              <a:t></a:t>
            </a:r>
            <a:r>
              <a:rPr lang="en-US" altLang="en-US" sz="2400" dirty="0"/>
              <a:t> Earthquake=False</a:t>
            </a:r>
            <a:br>
              <a:rPr lang="en-US" altLang="en-US" sz="2400" dirty="0"/>
            </a:br>
            <a:r>
              <a:rPr lang="en-US" altLang="en-US" sz="2400" dirty="0"/>
              <a:t>alarm </a:t>
            </a:r>
            <a:r>
              <a:rPr lang="en-US" altLang="en-US" sz="2400" dirty="0">
                <a:sym typeface="Symbol" panose="05050102010706020507" pitchFamily="18" charset="2"/>
              </a:rPr>
              <a:t></a:t>
            </a:r>
            <a:r>
              <a:rPr lang="en-US" altLang="en-US" sz="2400" dirty="0"/>
              <a:t> burglary </a:t>
            </a:r>
            <a:r>
              <a:rPr lang="en-US" altLang="en-US" sz="2400" dirty="0">
                <a:sym typeface="Symbol" panose="05050102010706020507" pitchFamily="18" charset="2"/>
              </a:rPr>
              <a:t></a:t>
            </a:r>
            <a:r>
              <a:rPr lang="en-US" altLang="en-US" sz="2400" dirty="0"/>
              <a:t> </a:t>
            </a:r>
            <a:r>
              <a:rPr lang="en-US" altLang="en-US" sz="2400" dirty="0">
                <a:cs typeface="Times New Roman" panose="02020603050405020304" pitchFamily="18" charset="0"/>
              </a:rPr>
              <a:t>earthquake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P(Burglary) = .1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P(Alarm, Burglary) =</a:t>
            </a:r>
          </a:p>
        </p:txBody>
      </p:sp>
      <p:graphicFrame>
        <p:nvGraphicFramePr>
          <p:cNvPr id="201759" name="Group 31">
            <a:extLst>
              <a:ext uri="{FF2B5EF4-FFF2-40B4-BE49-F238E27FC236}">
                <a16:creationId xmlns:a16="http://schemas.microsoft.com/office/drawing/2014/main" id="{CB089A01-72DC-0911-DD77-A1D50A400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353320"/>
              </p:ext>
            </p:extLst>
          </p:nvPr>
        </p:nvGraphicFramePr>
        <p:xfrm>
          <a:off x="7162800" y="5197475"/>
          <a:ext cx="2819400" cy="12954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alarm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¬alarm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burglary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.09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.01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¬burglary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3A4FB10A-597E-8F6E-7343-18A9919EE0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Probability theory (cont.)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384F6B74-6757-F537-ECFF-D23EC534EB7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Conditional probability</a:t>
            </a:r>
            <a:r>
              <a:rPr lang="en-US" altLang="en-US" sz="2000" dirty="0"/>
              <a:t>: probability of effect given causes</a:t>
            </a:r>
          </a:p>
          <a:p>
            <a:pPr eaLnBrk="1" hangingPunct="1">
              <a:defRPr/>
            </a:pPr>
            <a:r>
              <a:rPr lang="en-US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Computing conditional </a:t>
            </a:r>
            <a:r>
              <a:rPr lang="en-US" altLang="en-US" sz="20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probs</a:t>
            </a:r>
            <a:r>
              <a:rPr lang="en-US" altLang="en-US" sz="2000" dirty="0"/>
              <a:t>:</a:t>
            </a:r>
          </a:p>
          <a:p>
            <a:pPr lvl="1" eaLnBrk="1" hangingPunct="1">
              <a:defRPr/>
            </a:pPr>
            <a:r>
              <a:rPr lang="en-US" altLang="en-US" sz="1900" dirty="0"/>
              <a:t>P(a | b) = P(a </a:t>
            </a:r>
            <a:r>
              <a:rPr lang="en-US" altLang="en-US" sz="1900" dirty="0">
                <a:sym typeface="Symbol" panose="05050102010706020507" pitchFamily="18" charset="2"/>
              </a:rPr>
              <a:t></a:t>
            </a:r>
            <a:r>
              <a:rPr lang="en-US" altLang="en-US" sz="1900" dirty="0"/>
              <a:t>  b) / P(b)</a:t>
            </a:r>
          </a:p>
          <a:p>
            <a:pPr lvl="1" eaLnBrk="1" hangingPunct="1">
              <a:defRPr/>
            </a:pPr>
            <a:r>
              <a:rPr lang="en-US" altLang="en-US" sz="1900" dirty="0"/>
              <a:t>P(b): </a:t>
            </a:r>
            <a:r>
              <a:rPr lang="en-US" altLang="en-US" sz="19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normalizing</a:t>
            </a:r>
            <a:r>
              <a:rPr lang="en-US" altLang="en-US" sz="19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sz="1900" dirty="0"/>
              <a:t>constant</a:t>
            </a:r>
          </a:p>
          <a:p>
            <a:pPr eaLnBrk="1" hangingPunct="1">
              <a:defRPr/>
            </a:pPr>
            <a:r>
              <a:rPr lang="en-US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Product rule</a:t>
            </a:r>
            <a:r>
              <a:rPr lang="en-US" altLang="en-US" sz="2000" dirty="0"/>
              <a:t>:</a:t>
            </a:r>
          </a:p>
          <a:p>
            <a:pPr lvl="1" eaLnBrk="1" hangingPunct="1">
              <a:defRPr/>
            </a:pPr>
            <a:r>
              <a:rPr lang="en-US" altLang="en-US" sz="1900" dirty="0"/>
              <a:t>P(a </a:t>
            </a:r>
            <a:r>
              <a:rPr lang="en-US" altLang="en-US" sz="1900" dirty="0">
                <a:sym typeface="Symbol" panose="05050102010706020507" pitchFamily="18" charset="2"/>
              </a:rPr>
              <a:t></a:t>
            </a:r>
            <a:r>
              <a:rPr lang="en-US" altLang="en-US" sz="1900" dirty="0"/>
              <a:t> b) = P(a | b) P(b)</a:t>
            </a:r>
          </a:p>
          <a:p>
            <a:pPr eaLnBrk="1" hangingPunct="1">
              <a:defRPr/>
            </a:pPr>
            <a:r>
              <a:rPr lang="en-US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Marginalizing</a:t>
            </a:r>
            <a:r>
              <a:rPr lang="en-US" altLang="en-US" sz="2000" dirty="0"/>
              <a:t>:</a:t>
            </a:r>
          </a:p>
          <a:p>
            <a:pPr lvl="1" eaLnBrk="1" hangingPunct="1">
              <a:defRPr/>
            </a:pPr>
            <a:r>
              <a:rPr lang="en-US" altLang="en-US" sz="1900" dirty="0"/>
              <a:t>P(B) = </a:t>
            </a:r>
            <a:r>
              <a:rPr lang="el-GR" altLang="en-US" sz="1900" dirty="0">
                <a:cs typeface="Times New Roman" panose="02020603050405020304" pitchFamily="18" charset="0"/>
              </a:rPr>
              <a:t>Σ</a:t>
            </a:r>
            <a:r>
              <a:rPr lang="en-US" altLang="en-US" sz="1900" baseline="-25000" dirty="0" err="1">
                <a:cs typeface="Times New Roman" panose="02020603050405020304" pitchFamily="18" charset="0"/>
              </a:rPr>
              <a:t>a</a:t>
            </a:r>
            <a:r>
              <a:rPr lang="en-US" altLang="en-US" sz="1900" dirty="0" err="1">
                <a:cs typeface="Times New Roman" panose="02020603050405020304" pitchFamily="18" charset="0"/>
              </a:rPr>
              <a:t>P</a:t>
            </a:r>
            <a:r>
              <a:rPr lang="en-US" altLang="en-US" sz="1900" dirty="0">
                <a:cs typeface="Times New Roman" panose="02020603050405020304" pitchFamily="18" charset="0"/>
              </a:rPr>
              <a:t>(B, a)</a:t>
            </a:r>
            <a:endParaRPr lang="el-GR" altLang="en-US" sz="1900" dirty="0">
              <a:cs typeface="Times New Roman" panose="02020603050405020304" pitchFamily="18" charset="0"/>
            </a:endParaRPr>
          </a:p>
          <a:p>
            <a:pPr lvl="1" eaLnBrk="1" hangingPunct="1">
              <a:defRPr/>
            </a:pPr>
            <a:r>
              <a:rPr lang="en-US" altLang="en-US" sz="1900" dirty="0"/>
              <a:t>P(B) = </a:t>
            </a:r>
            <a:r>
              <a:rPr lang="el-GR" altLang="en-US" sz="1900" dirty="0">
                <a:cs typeface="Times New Roman" panose="02020603050405020304" pitchFamily="18" charset="0"/>
              </a:rPr>
              <a:t>Σ</a:t>
            </a:r>
            <a:r>
              <a:rPr lang="en-US" altLang="en-US" sz="1900" baseline="-25000" dirty="0" err="1">
                <a:cs typeface="Times New Roman" panose="02020603050405020304" pitchFamily="18" charset="0"/>
              </a:rPr>
              <a:t>a</a:t>
            </a:r>
            <a:r>
              <a:rPr lang="en-US" altLang="en-US" sz="1900" dirty="0" err="1">
                <a:cs typeface="Times New Roman" panose="02020603050405020304" pitchFamily="18" charset="0"/>
              </a:rPr>
              <a:t>P</a:t>
            </a:r>
            <a:r>
              <a:rPr lang="en-US" altLang="en-US" sz="1900" dirty="0">
                <a:cs typeface="Times New Roman" panose="02020603050405020304" pitchFamily="18" charset="0"/>
              </a:rPr>
              <a:t>(B | a) P(a) (</a:t>
            </a:r>
            <a:r>
              <a:rPr lang="en-US" altLang="en-US" sz="1900" b="1" dirty="0">
                <a:solidFill>
                  <a:schemeClr val="accent1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conditioning</a:t>
            </a:r>
            <a:r>
              <a:rPr lang="en-US" altLang="en-US" sz="1900" dirty="0"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2533" name="Rectangle 4">
            <a:extLst>
              <a:ext uri="{FF2B5EF4-FFF2-40B4-BE49-F238E27FC236}">
                <a16:creationId xmlns:a16="http://schemas.microsoft.com/office/drawing/2014/main" id="{CD178298-4D93-CCF2-7577-E2D8F26DD46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P(burglary | alarm) = .47</a:t>
            </a:r>
            <a:br>
              <a:rPr lang="en-US" altLang="en-US" sz="2000"/>
            </a:br>
            <a:r>
              <a:rPr lang="en-US" altLang="en-US" sz="2000"/>
              <a:t>P(alarm | burglary) = .9</a:t>
            </a:r>
          </a:p>
          <a:p>
            <a:pPr eaLnBrk="1" hangingPunct="1"/>
            <a:r>
              <a:rPr lang="en-US" altLang="en-US" sz="2000"/>
              <a:t>P(burglary | alarm) =</a:t>
            </a:r>
            <a:br>
              <a:rPr lang="en-US" altLang="en-US" sz="2000"/>
            </a:br>
            <a:r>
              <a:rPr lang="en-US" altLang="en-US" sz="2000"/>
              <a:t>  P(burglary </a:t>
            </a:r>
            <a:r>
              <a:rPr lang="en-US" altLang="en-US" sz="2000">
                <a:sym typeface="Symbol" panose="05050102010706020507" pitchFamily="18" charset="2"/>
              </a:rPr>
              <a:t></a:t>
            </a:r>
            <a:r>
              <a:rPr lang="en-US" altLang="en-US" sz="2000"/>
              <a:t> alarm) / P(alarm)</a:t>
            </a:r>
            <a:br>
              <a:rPr lang="en-US" altLang="en-US" sz="2000"/>
            </a:br>
            <a:r>
              <a:rPr lang="en-US" altLang="en-US" sz="2000"/>
              <a:t>  = .09 / .19 = .47</a:t>
            </a:r>
          </a:p>
          <a:p>
            <a:pPr eaLnBrk="1" hangingPunct="1"/>
            <a:r>
              <a:rPr lang="en-US" altLang="en-US" sz="2000"/>
              <a:t>P(burglary </a:t>
            </a:r>
            <a:r>
              <a:rPr lang="en-US" altLang="en-US" sz="2000">
                <a:sym typeface="Symbol" panose="05050102010706020507" pitchFamily="18" charset="2"/>
              </a:rPr>
              <a:t></a:t>
            </a:r>
            <a:r>
              <a:rPr lang="en-US" altLang="en-US" sz="2000"/>
              <a:t> alarm) = </a:t>
            </a:r>
            <a:br>
              <a:rPr lang="en-US" altLang="en-US" sz="2000"/>
            </a:br>
            <a:r>
              <a:rPr lang="en-US" altLang="en-US" sz="2000"/>
              <a:t>  P(burglary | alarm) P(alarm) =</a:t>
            </a:r>
            <a:br>
              <a:rPr lang="en-US" altLang="en-US" sz="2000"/>
            </a:br>
            <a:r>
              <a:rPr lang="en-US" altLang="en-US" sz="2000"/>
              <a:t>  .47 * .19 = .09</a:t>
            </a:r>
          </a:p>
          <a:p>
            <a:pPr eaLnBrk="1" hangingPunct="1"/>
            <a:r>
              <a:rPr lang="en-US" altLang="en-US" sz="2000"/>
              <a:t>P(alarm) =</a:t>
            </a:r>
            <a:br>
              <a:rPr lang="en-US" altLang="en-US" sz="2000"/>
            </a:br>
            <a:r>
              <a:rPr lang="en-US" altLang="en-US" sz="2000"/>
              <a:t>   P(alarm </a:t>
            </a:r>
            <a:r>
              <a:rPr lang="en-US" altLang="en-US" sz="2000">
                <a:sym typeface="Symbol" panose="05050102010706020507" pitchFamily="18" charset="2"/>
              </a:rPr>
              <a:t></a:t>
            </a:r>
            <a:r>
              <a:rPr lang="en-US" altLang="en-US" sz="2000"/>
              <a:t> burglary) +</a:t>
            </a:r>
            <a:br>
              <a:rPr lang="en-US" altLang="en-US" sz="2000"/>
            </a:br>
            <a:r>
              <a:rPr lang="en-US" altLang="en-US" sz="2000"/>
              <a:t>   P(alarm </a:t>
            </a:r>
            <a:r>
              <a:rPr lang="en-US" altLang="en-US" sz="2000">
                <a:sym typeface="Symbol" panose="05050102010706020507" pitchFamily="18" charset="2"/>
              </a:rPr>
              <a:t></a:t>
            </a:r>
            <a:r>
              <a:rPr lang="en-US" altLang="en-US" sz="2000"/>
              <a:t> </a:t>
            </a:r>
            <a:r>
              <a:rPr lang="en-US" altLang="en-US" sz="2000">
                <a:cs typeface="Times New Roman" panose="02020603050405020304" pitchFamily="18" charset="0"/>
              </a:rPr>
              <a:t>¬burglary) =</a:t>
            </a:r>
            <a:br>
              <a:rPr lang="en-US" altLang="en-US" sz="2000">
                <a:cs typeface="Times New Roman" panose="02020603050405020304" pitchFamily="18" charset="0"/>
              </a:rPr>
            </a:br>
            <a:r>
              <a:rPr lang="en-US" altLang="en-US" sz="2000">
                <a:cs typeface="Times New Roman" panose="02020603050405020304" pitchFamily="18" charset="0"/>
              </a:rPr>
              <a:t>   .09+.1 = .19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D001843E-FCF1-A6DB-6F95-B1A32A8941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Independence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6B13A738-ED32-E7E4-9381-5BE18C0876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25425" indent="-225425"/>
            <a:r>
              <a:rPr lang="en-US" altLang="en-US" sz="2000"/>
              <a:t>When two sets of propositions do not affect each others’ probabilities, we call them </a:t>
            </a:r>
            <a:r>
              <a:rPr lang="en-US" altLang="en-US" sz="2000" b="1"/>
              <a:t>independent</a:t>
            </a:r>
            <a:r>
              <a:rPr lang="en-US" altLang="en-US" sz="2000"/>
              <a:t>, and can easily compute their joint and conditional probability:</a:t>
            </a:r>
          </a:p>
          <a:p>
            <a:pPr marL="566738" lvl="1" indent="-227013"/>
            <a:r>
              <a:rPr lang="en-US" altLang="en-US" sz="1900"/>
              <a:t>Independent (A, B)  </a:t>
            </a:r>
            <a:r>
              <a:rPr lang="en-US" altLang="en-US" sz="1900">
                <a:cs typeface="Times New Roman" panose="02020603050405020304" pitchFamily="18" charset="0"/>
              </a:rPr>
              <a:t>if  P(A </a:t>
            </a:r>
            <a:r>
              <a:rPr lang="en-US" altLang="en-US" sz="1900">
                <a:cs typeface="Times New Roman" panose="02020603050405020304" pitchFamily="18" charset="0"/>
                <a:sym typeface="Symbol" panose="05050102010706020507" pitchFamily="18" charset="2"/>
              </a:rPr>
              <a:t> B) = P(A) P(B),  P(A | B) = P(A)</a:t>
            </a:r>
          </a:p>
          <a:p>
            <a:pPr marL="225425" indent="-225425"/>
            <a:r>
              <a:rPr lang="en-US" altLang="en-US" sz="2000"/>
              <a:t>For example, {moon-phase, light-level} might be independent of {burglary, alarm, earthquake}</a:t>
            </a:r>
          </a:p>
          <a:p>
            <a:pPr marL="566738" lvl="1" indent="-227013"/>
            <a:r>
              <a:rPr lang="en-US" altLang="en-US" sz="1900"/>
              <a:t>Then again, it might not:  Burglars might be more likely to burglarize houses when there’s a new moon (and hence little light)</a:t>
            </a:r>
          </a:p>
          <a:p>
            <a:pPr marL="566738" lvl="1" indent="-227013"/>
            <a:r>
              <a:rPr lang="en-US" altLang="en-US" sz="1900"/>
              <a:t>But if we know the light level, the moon phase doesn’t affect whether we are burglarized</a:t>
            </a:r>
          </a:p>
          <a:p>
            <a:pPr marL="566738" lvl="1" indent="-227013"/>
            <a:r>
              <a:rPr lang="en-US" altLang="en-US" sz="1900"/>
              <a:t>Once we’re burglarized, light level doesn’t affect whether the alarm goes off</a:t>
            </a:r>
          </a:p>
          <a:p>
            <a:pPr marL="225425" indent="-225425"/>
            <a:r>
              <a:rPr lang="en-US" altLang="en-US" sz="2000"/>
              <a:t>We need a more complex notion of independence, and methods for reasoning about these kinds of relationships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079A451B-8D1D-41C1-DFC0-CD4F067039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Exercise: Independence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5BD73F35-CB6E-EF05-8773-73018413A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962400"/>
            <a:ext cx="77724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b="1" dirty="0">
                <a:latin typeface="+mn-lt"/>
              </a:rPr>
              <a:t>Queries: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900" b="1" dirty="0">
                <a:latin typeface="+mn-lt"/>
              </a:rPr>
              <a:t>Is </a:t>
            </a:r>
            <a:r>
              <a:rPr lang="en-US" altLang="en-US" sz="2900" b="1" i="1" dirty="0">
                <a:latin typeface="+mn-lt"/>
              </a:rPr>
              <a:t>smart</a:t>
            </a:r>
            <a:r>
              <a:rPr lang="en-US" altLang="en-US" sz="2900" b="1" dirty="0">
                <a:latin typeface="+mn-lt"/>
              </a:rPr>
              <a:t> independent of </a:t>
            </a:r>
            <a:r>
              <a:rPr lang="en-US" altLang="en-US" sz="2900" b="1" i="1" dirty="0">
                <a:latin typeface="+mn-lt"/>
              </a:rPr>
              <a:t>study</a:t>
            </a:r>
            <a:r>
              <a:rPr lang="en-US" altLang="en-US" sz="2900" b="1" dirty="0">
                <a:latin typeface="+mn-lt"/>
              </a:rPr>
              <a:t>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900" b="1" dirty="0">
                <a:latin typeface="+mn-lt"/>
              </a:rPr>
              <a:t>Is </a:t>
            </a:r>
            <a:r>
              <a:rPr lang="en-US" altLang="en-US" sz="2900" b="1" i="1" dirty="0">
                <a:latin typeface="+mn-lt"/>
              </a:rPr>
              <a:t>prepared</a:t>
            </a:r>
            <a:r>
              <a:rPr lang="en-US" altLang="en-US" sz="2900" b="1" dirty="0">
                <a:latin typeface="+mn-lt"/>
              </a:rPr>
              <a:t> independent of </a:t>
            </a:r>
            <a:r>
              <a:rPr lang="en-US" altLang="en-US" sz="2900" b="1" i="1" dirty="0">
                <a:latin typeface="+mn-lt"/>
              </a:rPr>
              <a:t>study</a:t>
            </a:r>
            <a:r>
              <a:rPr lang="en-US" altLang="en-US" sz="2900" b="1" dirty="0">
                <a:latin typeface="+mn-lt"/>
              </a:rPr>
              <a:t>?</a:t>
            </a:r>
            <a:r>
              <a:rPr lang="en-US" altLang="en-US" sz="2900" b="1" dirty="0">
                <a:latin typeface="+mn-lt"/>
                <a:sym typeface="Wingdings" panose="05000000000000000000" pitchFamily="2" charset="2"/>
              </a:rPr>
              <a:t> </a:t>
            </a:r>
            <a:endParaRPr lang="en-US" altLang="en-US" sz="2900" b="1" dirty="0">
              <a:latin typeface="+mn-lt"/>
            </a:endParaRPr>
          </a:p>
        </p:txBody>
      </p:sp>
      <p:graphicFrame>
        <p:nvGraphicFramePr>
          <p:cNvPr id="206886" name="Group 38">
            <a:extLst>
              <a:ext uri="{FF2B5EF4-FFF2-40B4-BE49-F238E27FC236}">
                <a16:creationId xmlns:a16="http://schemas.microsoft.com/office/drawing/2014/main" id="{D4B9BAA9-554E-39DA-C667-B4DF72935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4247"/>
              </p:ext>
            </p:extLst>
          </p:nvPr>
        </p:nvGraphicFramePr>
        <p:xfrm>
          <a:off x="2423160" y="1794669"/>
          <a:ext cx="6400800" cy="206375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p(smart </a:t>
                      </a: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</a:t>
                      </a:r>
                      <a:b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</a:b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study  prep)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smart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smart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study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study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study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study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prepared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.432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.16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.084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.008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prepared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.048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.16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.036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.072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E499F9CB-1926-9128-1185-DF7118C54B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Conditional independence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BFA44FF3-361A-89B7-3B88-C4CD090800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5425" indent="-225425"/>
            <a:r>
              <a:rPr lang="en-US" altLang="en-US" sz="2400"/>
              <a:t>Absolute independence:</a:t>
            </a:r>
          </a:p>
          <a:p>
            <a:pPr marL="566738" lvl="1" indent="-227013"/>
            <a:r>
              <a:rPr lang="en-US" altLang="en-US" sz="2100"/>
              <a:t>A and B are </a:t>
            </a:r>
            <a:r>
              <a:rPr lang="en-US" altLang="en-US" sz="2100" b="1"/>
              <a:t>independent</a:t>
            </a:r>
            <a:r>
              <a:rPr lang="en-US" altLang="en-US" sz="2100"/>
              <a:t> if P(A </a:t>
            </a:r>
            <a:r>
              <a:rPr lang="en-US" altLang="en-US" sz="2100">
                <a:sym typeface="Symbol" panose="05050102010706020507" pitchFamily="18" charset="2"/>
              </a:rPr>
              <a:t> B) = P(A) P(B); equivalently, P(A) = P(A | B) and P(B)  = P(B | A)</a:t>
            </a:r>
          </a:p>
          <a:p>
            <a:pPr marL="225425" indent="-225425"/>
            <a:r>
              <a:rPr lang="en-US" altLang="en-US" sz="2400">
                <a:sym typeface="Symbol" panose="05050102010706020507" pitchFamily="18" charset="2"/>
              </a:rPr>
              <a:t>A and B are </a:t>
            </a:r>
            <a:r>
              <a:rPr lang="en-US" altLang="en-US" sz="2400" b="1">
                <a:sym typeface="Symbol" panose="05050102010706020507" pitchFamily="18" charset="2"/>
              </a:rPr>
              <a:t>conditionally independent</a:t>
            </a:r>
            <a:r>
              <a:rPr lang="en-US" altLang="en-US" sz="2400">
                <a:sym typeface="Symbol" panose="05050102010706020507" pitchFamily="18" charset="2"/>
              </a:rPr>
              <a:t> given C if</a:t>
            </a:r>
          </a:p>
          <a:p>
            <a:pPr marL="566738" lvl="1" indent="-227013"/>
            <a:r>
              <a:rPr lang="en-US" altLang="en-US" sz="2100">
                <a:sym typeface="Symbol" panose="05050102010706020507" pitchFamily="18" charset="2"/>
              </a:rPr>
              <a:t>P(A  B | C) = P(A | C) P(B | C)</a:t>
            </a:r>
          </a:p>
          <a:p>
            <a:pPr marL="225425" indent="-225425"/>
            <a:r>
              <a:rPr lang="en-US" altLang="en-US" sz="2400">
                <a:sym typeface="Symbol" panose="05050102010706020507" pitchFamily="18" charset="2"/>
              </a:rPr>
              <a:t>This lets us decompose the joint distribution:</a:t>
            </a:r>
          </a:p>
          <a:p>
            <a:pPr marL="566738" lvl="1" indent="-227013"/>
            <a:r>
              <a:rPr lang="en-US" altLang="en-US" sz="2100">
                <a:sym typeface="Symbol" panose="05050102010706020507" pitchFamily="18" charset="2"/>
              </a:rPr>
              <a:t>P(A  B  C) = P(A | C) P(B | C) P(C)</a:t>
            </a:r>
          </a:p>
          <a:p>
            <a:pPr marL="225425" indent="-225425"/>
            <a:r>
              <a:rPr lang="en-US" altLang="en-US" sz="2400">
                <a:sym typeface="Symbol" panose="05050102010706020507" pitchFamily="18" charset="2"/>
              </a:rPr>
              <a:t>Moon-Phase and Burglary are </a:t>
            </a:r>
            <a:r>
              <a:rPr lang="en-US" altLang="en-US" sz="2400" b="1" i="1">
                <a:sym typeface="Symbol" panose="05050102010706020507" pitchFamily="18" charset="2"/>
              </a:rPr>
              <a:t>conditionally independent given</a:t>
            </a:r>
            <a:r>
              <a:rPr lang="en-US" altLang="en-US" sz="2400">
                <a:sym typeface="Symbol" panose="05050102010706020507" pitchFamily="18" charset="2"/>
              </a:rPr>
              <a:t> Light-Level</a:t>
            </a:r>
          </a:p>
          <a:p>
            <a:pPr marL="225425" indent="-225425"/>
            <a:r>
              <a:rPr lang="en-US" altLang="en-US" sz="2400">
                <a:sym typeface="Symbol" panose="05050102010706020507" pitchFamily="18" charset="2"/>
              </a:rPr>
              <a:t>Conditional independence is weaker than absolute independence, but still useful in decomposing the full joint probability distribution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49F506D7-9CAE-350B-B489-AF9841ED7F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Exercise: Conditional independence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8AE8918-CEBD-89F5-8703-EFEA8DAFC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962400"/>
            <a:ext cx="77724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400" b="1"/>
              <a:t>Queries: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/>
              <a:t>Is </a:t>
            </a:r>
            <a:r>
              <a:rPr lang="en-US" altLang="en-US" b="1" i="1"/>
              <a:t>smart</a:t>
            </a:r>
            <a:r>
              <a:rPr lang="en-US" altLang="en-US" b="1"/>
              <a:t> conditionally independent of </a:t>
            </a:r>
            <a:r>
              <a:rPr lang="en-US" altLang="en-US" b="1" i="1"/>
              <a:t>prepared</a:t>
            </a:r>
            <a:r>
              <a:rPr lang="en-US" altLang="en-US" b="1"/>
              <a:t>, given </a:t>
            </a:r>
            <a:r>
              <a:rPr lang="en-US" altLang="en-US" b="1" i="1"/>
              <a:t>study</a:t>
            </a:r>
            <a:r>
              <a:rPr lang="en-US" altLang="en-US" b="1"/>
              <a:t>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/>
              <a:t>Is </a:t>
            </a:r>
            <a:r>
              <a:rPr lang="en-US" altLang="en-US" b="1" i="1"/>
              <a:t>study</a:t>
            </a:r>
            <a:r>
              <a:rPr lang="en-US" altLang="en-US" b="1"/>
              <a:t> conditionally independent of </a:t>
            </a:r>
            <a:r>
              <a:rPr lang="en-US" altLang="en-US" b="1" i="1"/>
              <a:t>prepared</a:t>
            </a:r>
            <a:r>
              <a:rPr lang="en-US" altLang="en-US" b="1"/>
              <a:t>, given </a:t>
            </a:r>
            <a:r>
              <a:rPr lang="en-US" altLang="en-US" b="1" i="1"/>
              <a:t>smart</a:t>
            </a:r>
            <a:r>
              <a:rPr lang="en-US" altLang="en-US" b="1"/>
              <a:t>?</a:t>
            </a:r>
            <a:endParaRPr lang="en-US" altLang="en-US" sz="2900" b="1"/>
          </a:p>
        </p:txBody>
      </p:sp>
      <p:graphicFrame>
        <p:nvGraphicFramePr>
          <p:cNvPr id="208929" name="Group 33">
            <a:extLst>
              <a:ext uri="{FF2B5EF4-FFF2-40B4-BE49-F238E27FC236}">
                <a16:creationId xmlns:a16="http://schemas.microsoft.com/office/drawing/2014/main" id="{1C719D70-17EC-2ABA-9833-A276B8A571F8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1219200"/>
          <a:ext cx="6705600" cy="2438400"/>
        </p:xfrm>
        <a:graphic>
          <a:graphicData uri="http://schemas.openxmlformats.org/drawingml/2006/table">
            <a:tbl>
              <a:tblPr/>
              <a:tblGrid>
                <a:gridCol w="205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3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4038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p(smart </a:t>
                      </a: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</a:t>
                      </a:r>
                      <a:b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</a:b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study  prep)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smart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smart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0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study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study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study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study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prepared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.432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.16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.084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.008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prepared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.048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.16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.036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1pPr>
                      <a:lvl2pPr marL="3397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2pPr>
                      <a:lvl3pPr marL="6810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3pPr>
                      <a:lvl4pPr marL="10287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4pPr>
                      <a:lvl5pPr marL="1368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5pPr>
                      <a:lvl6pPr marL="18256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6pPr>
                      <a:lvl7pPr marL="22828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7pPr>
                      <a:lvl8pPr marL="27400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8pPr>
                      <a:lvl9pPr marL="31972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.072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>
            <a:extLst>
              <a:ext uri="{FF2B5EF4-FFF2-40B4-BE49-F238E27FC236}">
                <a16:creationId xmlns:a16="http://schemas.microsoft.com/office/drawing/2014/main" id="{48A14394-2D6D-B81D-1EC0-C2D6863BCE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Conditional Probabilities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45E63549-0B33-4343-D905-0162AD648D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Describes </a:t>
            </a:r>
            <a:r>
              <a:rPr lang="en-US" altLang="en-US" i="1" dirty="0"/>
              <a:t>dependent</a:t>
            </a:r>
            <a:r>
              <a:rPr lang="en-US" altLang="en-US" dirty="0"/>
              <a:t> events</a:t>
            </a:r>
          </a:p>
          <a:p>
            <a:pPr lvl="1" eaLnBrk="1" hangingPunct="1"/>
            <a:r>
              <a:rPr lang="en-US" altLang="en-US" dirty="0"/>
              <a:t>affect each other in some way</a:t>
            </a:r>
          </a:p>
          <a:p>
            <a:pPr eaLnBrk="1" hangingPunct="1"/>
            <a:r>
              <a:rPr lang="en-US" altLang="en-US" i="1" dirty="0"/>
              <a:t>conditional</a:t>
            </a:r>
            <a:r>
              <a:rPr lang="en-US" altLang="en-US" dirty="0"/>
              <a:t> </a:t>
            </a:r>
            <a:r>
              <a:rPr lang="en-US" altLang="en-US" i="1" dirty="0"/>
              <a:t>probability </a:t>
            </a:r>
            <a:r>
              <a:rPr lang="en-US" altLang="en-US" dirty="0"/>
              <a:t>of event A given that event B has already occurred</a:t>
            </a:r>
            <a:br>
              <a:rPr lang="en-US" altLang="en-US" dirty="0"/>
            </a:br>
            <a:r>
              <a:rPr lang="en-US" altLang="en-US" dirty="0"/>
              <a:t>P(A|B) = P(A </a:t>
            </a:r>
            <a:r>
              <a:rPr lang="en-US" altLang="en-US" dirty="0">
                <a:sym typeface="Symbol" panose="05050102010706020507" pitchFamily="18" charset="2"/>
              </a:rPr>
              <a:t> B) / P(B)</a:t>
            </a:r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01DA4B89-F5E8-E675-6E64-3CAF4F8607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Bayesian Approaches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DB67A028-336F-F2D0-AF79-A77D85F37A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400"/>
              <a:t>derive the probability of an event given another event</a:t>
            </a:r>
          </a:p>
          <a:p>
            <a:pPr eaLnBrk="1" hangingPunct="1"/>
            <a:r>
              <a:rPr lang="en-US" altLang="en-US" sz="2400">
                <a:cs typeface="Times New Roman" panose="02020603050405020304" pitchFamily="18" charset="0"/>
                <a:sym typeface="Symbol" panose="05050102010706020507" pitchFamily="18" charset="2"/>
              </a:rPr>
              <a:t>Often useful for diagnosis: </a:t>
            </a:r>
          </a:p>
          <a:p>
            <a:pPr lvl="1" eaLnBrk="1" hangingPunct="1"/>
            <a:r>
              <a:rPr lang="en-US" altLang="en-US" sz="2100">
                <a:cs typeface="Times New Roman" panose="02020603050405020304" pitchFamily="18" charset="0"/>
                <a:sym typeface="Symbol" panose="05050102010706020507" pitchFamily="18" charset="2"/>
              </a:rPr>
              <a:t>If X are (observed) effects and Y are (hidden) causes, </a:t>
            </a:r>
          </a:p>
          <a:p>
            <a:pPr lvl="1" eaLnBrk="1" hangingPunct="1"/>
            <a:r>
              <a:rPr lang="en-US" altLang="en-US" sz="2100">
                <a:cs typeface="Times New Roman" panose="02020603050405020304" pitchFamily="18" charset="0"/>
                <a:sym typeface="Symbol" panose="05050102010706020507" pitchFamily="18" charset="2"/>
              </a:rPr>
              <a:t>We may have a model for how causes lead to effects (P(X | Y))</a:t>
            </a:r>
          </a:p>
          <a:p>
            <a:pPr lvl="1" eaLnBrk="1" hangingPunct="1"/>
            <a:r>
              <a:rPr lang="en-US" altLang="en-US" sz="2100">
                <a:cs typeface="Times New Roman" panose="02020603050405020304" pitchFamily="18" charset="0"/>
                <a:sym typeface="Symbol" panose="05050102010706020507" pitchFamily="18" charset="2"/>
              </a:rPr>
              <a:t>We may also have prior beliefs (based on experience) about the frequency of occurrence of effects (P(Y))</a:t>
            </a:r>
          </a:p>
          <a:p>
            <a:pPr lvl="1" eaLnBrk="1" hangingPunct="1"/>
            <a:r>
              <a:rPr lang="en-US" altLang="en-US" sz="2100">
                <a:cs typeface="Times New Roman" panose="02020603050405020304" pitchFamily="18" charset="0"/>
                <a:sym typeface="Symbol" panose="05050102010706020507" pitchFamily="18" charset="2"/>
              </a:rPr>
              <a:t>Which allows us to reason abductively from effects to causes (P(Y | X)).</a:t>
            </a:r>
            <a:endParaRPr lang="en-US" altLang="en-US" sz="2100"/>
          </a:p>
          <a:p>
            <a:pPr eaLnBrk="1" hangingPunct="1"/>
            <a:r>
              <a:rPr lang="en-US" altLang="en-US" sz="2400"/>
              <a:t>has gained importance recently due to advances in efficiency</a:t>
            </a:r>
          </a:p>
          <a:p>
            <a:pPr lvl="1" eaLnBrk="1" hangingPunct="1"/>
            <a:r>
              <a:rPr lang="en-US" altLang="en-US" sz="2100"/>
              <a:t>more computational power available</a:t>
            </a:r>
          </a:p>
          <a:p>
            <a:pPr lvl="1" eaLnBrk="1" hangingPunct="1"/>
            <a:r>
              <a:rPr lang="en-US" altLang="en-US" sz="2100"/>
              <a:t>better methods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>
            <a:extLst>
              <a:ext uri="{FF2B5EF4-FFF2-40B4-BE49-F238E27FC236}">
                <a16:creationId xmlns:a16="http://schemas.microsoft.com/office/drawing/2014/main" id="{4F7D2499-605A-0316-84E7-96FF1FE8C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Bayes’ Rule for Single Event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B84C4427-2BD8-6504-0916-DA63FF4CCC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single hypothesis H, single event E</a:t>
            </a:r>
            <a:br>
              <a:rPr lang="en-US" altLang="en-US" dirty="0"/>
            </a:br>
            <a:r>
              <a:rPr lang="en-US" altLang="en-US" dirty="0"/>
              <a:t>P(H|E) = (P(E|H) * P(H)) / P(E)</a:t>
            </a:r>
            <a:br>
              <a:rPr lang="en-US" altLang="en-US" dirty="0"/>
            </a:br>
            <a:r>
              <a:rPr lang="en-US" altLang="en-US" dirty="0"/>
              <a:t>or</a:t>
            </a:r>
          </a:p>
          <a:p>
            <a:pPr eaLnBrk="1" hangingPunct="1"/>
            <a:r>
              <a:rPr lang="en-US" altLang="en-US" dirty="0"/>
              <a:t>P(H|E) = (P(E|H) * P(H) / </a:t>
            </a:r>
            <a:br>
              <a:rPr lang="en-US" altLang="en-US" dirty="0"/>
            </a:br>
            <a:r>
              <a:rPr lang="en-US" altLang="en-US" dirty="0"/>
              <a:t>               (P(E|H) * P(H) + P(E|</a:t>
            </a:r>
            <a:r>
              <a:rPr lang="en-US" altLang="en-US" dirty="0">
                <a:sym typeface="Symbol" panose="05050102010706020507" pitchFamily="18" charset="2"/>
              </a:rPr>
              <a:t>H) * P(H)</a:t>
            </a:r>
            <a:r>
              <a:rPr lang="en-US" altLang="en-US" dirty="0"/>
              <a:t> 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>
            <a:extLst>
              <a:ext uri="{FF2B5EF4-FFF2-40B4-BE49-F238E27FC236}">
                <a16:creationId xmlns:a16="http://schemas.microsoft.com/office/drawing/2014/main" id="{826813CE-5248-CE7D-9F3E-880011B3B5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Bayes Example: Diagnosing Meningitis</a:t>
            </a:r>
            <a:endParaRPr lang="en-US" altLang="en-US"/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03A1A070-8B3D-B608-EEEB-895C6F4386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Suppose we know that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Stiff neck is a symptom in 50% of meningitis cases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Meningitis (m) occurs in 1/50,000 patients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Stiff neck (s) occurs in 1/20 patients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Then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P(</a:t>
            </a:r>
            <a:r>
              <a:rPr lang="en-US" altLang="en-US" dirty="0" err="1"/>
              <a:t>s|m</a:t>
            </a:r>
            <a:r>
              <a:rPr lang="en-US" altLang="en-US" dirty="0"/>
              <a:t>)	= 0.5, P(m) = 1/50000, P(s) = 1/20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P(</a:t>
            </a:r>
            <a:r>
              <a:rPr lang="en-US" altLang="en-US" dirty="0" err="1"/>
              <a:t>m|s</a:t>
            </a:r>
            <a:r>
              <a:rPr lang="en-US" altLang="en-US" dirty="0"/>
              <a:t>)	= (P(</a:t>
            </a:r>
            <a:r>
              <a:rPr lang="en-US" altLang="en-US" dirty="0" err="1"/>
              <a:t>s|m</a:t>
            </a:r>
            <a:r>
              <a:rPr lang="en-US" altLang="en-US" dirty="0"/>
              <a:t>) P(m))/P(s)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           	= (0.5 x 1/50000) / 1/20  = .0002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So, we expect that one in 5000 patients with a stiff neck to have meningitis.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>
            <a:extLst>
              <a:ext uri="{FF2B5EF4-FFF2-40B4-BE49-F238E27FC236}">
                <a16:creationId xmlns:a16="http://schemas.microsoft.com/office/drawing/2014/main" id="{2EF38132-5017-9098-C19A-5F6C47CE33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Advantages and Problems Of Bayesian Reasoning</a:t>
            </a:r>
            <a:endParaRPr lang="en-US" altLang="en-US"/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F5589EEC-B7E7-F6FB-7BA7-170CCF5D1A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1600200"/>
            <a:ext cx="8382000" cy="4419600"/>
          </a:xfrm>
        </p:spPr>
        <p:txBody>
          <a:bodyPr/>
          <a:lstStyle/>
          <a:p>
            <a:pPr marL="285750" indent="-285750" defTabSz="796925"/>
            <a:r>
              <a:rPr lang="en-US" altLang="en-US" sz="2400"/>
              <a:t>advantages</a:t>
            </a:r>
          </a:p>
          <a:p>
            <a:pPr marL="685800" lvl="1" defTabSz="796925"/>
            <a:r>
              <a:rPr lang="en-US" altLang="en-US" sz="2100"/>
              <a:t>sound theoretical foundation</a:t>
            </a:r>
          </a:p>
          <a:p>
            <a:pPr marL="685800" lvl="1" defTabSz="796925"/>
            <a:r>
              <a:rPr lang="en-US" altLang="en-US" sz="2100"/>
              <a:t>well-defined semantics for decision making</a:t>
            </a:r>
          </a:p>
          <a:p>
            <a:pPr marL="285750" indent="-285750" defTabSz="796925"/>
            <a:r>
              <a:rPr lang="en-US" altLang="en-US" sz="2400"/>
              <a:t>problems</a:t>
            </a:r>
          </a:p>
          <a:p>
            <a:pPr marL="685800" lvl="1" defTabSz="796925"/>
            <a:r>
              <a:rPr lang="en-US" altLang="en-US" sz="2100"/>
              <a:t>requires large amounts of probability data</a:t>
            </a:r>
          </a:p>
          <a:p>
            <a:pPr marL="1028700" lvl="2" defTabSz="796925"/>
            <a:r>
              <a:rPr lang="en-US" altLang="en-US" sz="2000"/>
              <a:t>sufficient sample sizes</a:t>
            </a:r>
          </a:p>
          <a:p>
            <a:pPr marL="685800" lvl="1" defTabSz="796925"/>
            <a:r>
              <a:rPr lang="en-US" altLang="en-US" sz="2100"/>
              <a:t>subjective evidence may not be reliable</a:t>
            </a:r>
          </a:p>
          <a:p>
            <a:pPr marL="685800" lvl="1" defTabSz="796925"/>
            <a:r>
              <a:rPr lang="en-US" altLang="en-US" sz="2100"/>
              <a:t>independence of evidences assumption often not valid</a:t>
            </a:r>
          </a:p>
          <a:p>
            <a:pPr marL="685800" lvl="1" defTabSz="796925"/>
            <a:r>
              <a:rPr lang="en-US" altLang="en-US" sz="2100"/>
              <a:t>relationship between hypothesis and evidence is reduced to a number</a:t>
            </a:r>
          </a:p>
          <a:p>
            <a:pPr marL="685800" lvl="1" defTabSz="796925"/>
            <a:r>
              <a:rPr lang="en-US" altLang="en-US" sz="2100"/>
              <a:t>explanations for the user difficult</a:t>
            </a:r>
          </a:p>
          <a:p>
            <a:pPr marL="685800" lvl="1" defTabSz="796925"/>
            <a:r>
              <a:rPr lang="en-US" altLang="en-US" sz="2100"/>
              <a:t>high computational overhead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D0C70AF0-65E7-0752-7824-77E6C0E1B6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Some Issues with Probabilities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EAC730D0-55AF-591A-14BE-DD018B9086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Often don't have the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100"/>
              <a:t>Just don't have enough observations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100"/>
              <a:t>Data can't readily be reduced to numbers or frequencies.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Human estimates of probabilities are notoriously inaccurate.  In particular, often add up to &gt;1.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Doesn't always match human reasoning well.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100"/>
              <a:t>P(x) = 1 - P(-x).  Having a stiff neck is strong (.9998!) evidence that you don't have meningitis.  True, but counterintuitive.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Several other approaches for uncertainty address some of these problems.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9B7F71CC-377C-43D4-DCC0-90EDC7BF6F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Dempster-Shafer Theory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DFE0C4EC-3D9D-4B94-15EE-F13367BBD2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mathematical theory of evidence</a:t>
            </a:r>
          </a:p>
          <a:p>
            <a:pPr eaLnBrk="1" hangingPunct="1"/>
            <a:r>
              <a:rPr lang="en-US" altLang="en-US"/>
              <a:t>Notations</a:t>
            </a:r>
          </a:p>
          <a:p>
            <a:pPr lvl="1" eaLnBrk="1" hangingPunct="1"/>
            <a:r>
              <a:rPr lang="en-US" altLang="en-US"/>
              <a:t>Environment T:  set of objects that are of interest</a:t>
            </a:r>
            <a:endParaRPr lang="en-US" altLang="en-US">
              <a:latin typeface="Symbol" panose="05050102010706020507" pitchFamily="18" charset="2"/>
            </a:endParaRPr>
          </a:p>
          <a:p>
            <a:pPr lvl="1" eaLnBrk="1" hangingPunct="1"/>
            <a:r>
              <a:rPr lang="en-US" altLang="en-US" i="1"/>
              <a:t>frame of discernment FD</a:t>
            </a:r>
            <a:endParaRPr lang="en-US" altLang="en-US"/>
          </a:p>
          <a:p>
            <a:pPr lvl="2" eaLnBrk="1" hangingPunct="1"/>
            <a:r>
              <a:rPr lang="en-US" altLang="en-US"/>
              <a:t>power set of the set of possible elements</a:t>
            </a:r>
          </a:p>
          <a:p>
            <a:pPr lvl="1" eaLnBrk="1" hangingPunct="1"/>
            <a:r>
              <a:rPr lang="en-US" altLang="en-US"/>
              <a:t>mass probability function m</a:t>
            </a:r>
          </a:p>
          <a:p>
            <a:pPr lvl="2" eaLnBrk="1" hangingPunct="1"/>
            <a:r>
              <a:rPr lang="en-US" altLang="en-US"/>
              <a:t>assigns a value from [0,1] to every item in the frame of discernment</a:t>
            </a:r>
          </a:p>
          <a:p>
            <a:pPr lvl="1" eaLnBrk="1" hangingPunct="1"/>
            <a:r>
              <a:rPr lang="en-US" altLang="en-US" i="1"/>
              <a:t> mass probability</a:t>
            </a:r>
            <a:r>
              <a:rPr lang="en-US" altLang="en-US"/>
              <a:t> m(A)</a:t>
            </a:r>
          </a:p>
          <a:p>
            <a:pPr lvl="2" eaLnBrk="1" hangingPunct="1"/>
            <a:r>
              <a:rPr lang="en-US" altLang="en-US"/>
              <a:t>portion of the total mass probability that is assigned to an element A of FD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>
            <a:extLst>
              <a:ext uri="{FF2B5EF4-FFF2-40B4-BE49-F238E27FC236}">
                <a16:creationId xmlns:a16="http://schemas.microsoft.com/office/drawing/2014/main" id="{E964C834-E9C9-2BA2-197E-84CE246E00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D-S Underlying concept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746991CE-9543-B9AB-FBD9-52842CCCDD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The most basic problem with uncertainty is often with the axiom that P(X)  +P(not X) = 1</a:t>
            </a:r>
          </a:p>
          <a:p>
            <a:pPr lvl="1" eaLnBrk="1" hangingPunct="1"/>
            <a:r>
              <a:rPr lang="en-US" altLang="en-US" sz="2100"/>
              <a:t>If the probability that you have poison ivy when you have a rash is .3, this means that a rash is strongly suggestive (.7) that you don’t have poison ivy. </a:t>
            </a:r>
          </a:p>
          <a:p>
            <a:pPr lvl="1" eaLnBrk="1" hangingPunct="1"/>
            <a:r>
              <a:rPr lang="en-US" altLang="en-US" sz="2100"/>
              <a:t>True, in a sense, but neither intuitive nor helpful.</a:t>
            </a:r>
          </a:p>
          <a:p>
            <a:pPr eaLnBrk="1" hangingPunct="1"/>
            <a:r>
              <a:rPr lang="en-US" altLang="en-US" sz="2400"/>
              <a:t>What you really mean is that the probability is .3 that you have poison ivy and .7 that we </a:t>
            </a:r>
            <a:r>
              <a:rPr lang="en-US" altLang="en-US" sz="2400" i="1"/>
              <a:t>don’t know yet</a:t>
            </a:r>
            <a:r>
              <a:rPr lang="en-US" altLang="en-US" sz="2400"/>
              <a:t> what you have.</a:t>
            </a:r>
          </a:p>
          <a:p>
            <a:pPr eaLnBrk="1" hangingPunct="1"/>
            <a:r>
              <a:rPr lang="en-US" altLang="en-US" sz="2400"/>
              <a:t>So we initially assign all of the probability to the total set of things you </a:t>
            </a:r>
            <a:r>
              <a:rPr lang="en-US" altLang="en-US" sz="2400" i="1"/>
              <a:t>might</a:t>
            </a:r>
            <a:r>
              <a:rPr lang="en-US" altLang="en-US" sz="2400"/>
              <a:t> have:  the frame of discernment.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4">
            <a:extLst>
              <a:ext uri="{FF2B5EF4-FFF2-40B4-BE49-F238E27FC236}">
                <a16:creationId xmlns:a16="http://schemas.microsoft.com/office/drawing/2014/main" id="{DC616082-79E7-7B99-3EA3-F6D8A17F23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Example:  Frame of Discernment</a:t>
            </a:r>
          </a:p>
        </p:txBody>
      </p:sp>
      <p:sp>
        <p:nvSpPr>
          <p:cNvPr id="49155" name="Text Box 6">
            <a:extLst>
              <a:ext uri="{FF2B5EF4-FFF2-40B4-BE49-F238E27FC236}">
                <a16:creationId xmlns:a16="http://schemas.microsoft.com/office/drawing/2014/main" id="{7E4AE7DD-CFF2-CF13-57AF-10980DBA3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143000"/>
            <a:ext cx="73914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Environment:  Mentally retarded (MR), Learning disabled (LD), Not Eligible (NE)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                                        {MR,    LD,   NE}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{MR, LD}                             {MR, NE}                            {LD, NE}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                  (MR}                      {LD}                        {NE}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                                           {empty set}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49157" name="Line 9">
            <a:extLst>
              <a:ext uri="{FF2B5EF4-FFF2-40B4-BE49-F238E27FC236}">
                <a16:creationId xmlns:a16="http://schemas.microsoft.com/office/drawing/2014/main" id="{38660BA9-4F96-CDCA-FC4D-8283DEE53C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2438400"/>
            <a:ext cx="2057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8" name="Line 10">
            <a:extLst>
              <a:ext uri="{FF2B5EF4-FFF2-40B4-BE49-F238E27FC236}">
                <a16:creationId xmlns:a16="http://schemas.microsoft.com/office/drawing/2014/main" id="{4745009D-0250-DAAE-E604-74FFA819202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438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9" name="Line 11">
            <a:extLst>
              <a:ext uri="{FF2B5EF4-FFF2-40B4-BE49-F238E27FC236}">
                <a16:creationId xmlns:a16="http://schemas.microsoft.com/office/drawing/2014/main" id="{2E7EBE0B-33D0-75E5-8457-C588F844FB3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438400"/>
            <a:ext cx="1905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0" name="Line 12">
            <a:extLst>
              <a:ext uri="{FF2B5EF4-FFF2-40B4-BE49-F238E27FC236}">
                <a16:creationId xmlns:a16="http://schemas.microsoft.com/office/drawing/2014/main" id="{F61FAA23-38E2-6B09-B1C1-9D725F73055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657600"/>
            <a:ext cx="2286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1" name="Line 13">
            <a:extLst>
              <a:ext uri="{FF2B5EF4-FFF2-40B4-BE49-F238E27FC236}">
                <a16:creationId xmlns:a16="http://schemas.microsoft.com/office/drawing/2014/main" id="{753C00B6-7E1D-D8DE-83B8-DFC89F9C072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733800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2" name="Line 15">
            <a:extLst>
              <a:ext uri="{FF2B5EF4-FFF2-40B4-BE49-F238E27FC236}">
                <a16:creationId xmlns:a16="http://schemas.microsoft.com/office/drawing/2014/main" id="{27D753B5-F31F-8559-2B53-E863BD5DE5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3" name="Line 17">
            <a:extLst>
              <a:ext uri="{FF2B5EF4-FFF2-40B4-BE49-F238E27FC236}">
                <a16:creationId xmlns:a16="http://schemas.microsoft.com/office/drawing/2014/main" id="{F4851276-485F-C1AC-9996-A90226FBD1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3657600"/>
            <a:ext cx="1600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4" name="Line 18">
            <a:extLst>
              <a:ext uri="{FF2B5EF4-FFF2-40B4-BE49-F238E27FC236}">
                <a16:creationId xmlns:a16="http://schemas.microsoft.com/office/drawing/2014/main" id="{504E2343-CA09-7778-6AD3-3C3EAA5F2B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3581400"/>
            <a:ext cx="2133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5" name="Line 19">
            <a:extLst>
              <a:ext uri="{FF2B5EF4-FFF2-40B4-BE49-F238E27FC236}">
                <a16:creationId xmlns:a16="http://schemas.microsoft.com/office/drawing/2014/main" id="{B2AC96CA-FCB5-A07B-5499-1EE19B4E60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91400" y="36576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6" name="Line 20">
            <a:extLst>
              <a:ext uri="{FF2B5EF4-FFF2-40B4-BE49-F238E27FC236}">
                <a16:creationId xmlns:a16="http://schemas.microsoft.com/office/drawing/2014/main" id="{13A2CB7F-0630-2831-0FD6-C1D6018CC0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029200"/>
            <a:ext cx="1676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7" name="Line 21">
            <a:extLst>
              <a:ext uri="{FF2B5EF4-FFF2-40B4-BE49-F238E27FC236}">
                <a16:creationId xmlns:a16="http://schemas.microsoft.com/office/drawing/2014/main" id="{07A04027-FFA8-B76F-5A1C-1A2178A645F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876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8" name="Line 22">
            <a:extLst>
              <a:ext uri="{FF2B5EF4-FFF2-40B4-BE49-F238E27FC236}">
                <a16:creationId xmlns:a16="http://schemas.microsoft.com/office/drawing/2014/main" id="{A67ECFF4-3E8D-DE91-75B7-62D90621A8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48006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3">
            <a:extLst>
              <a:ext uri="{FF2B5EF4-FFF2-40B4-BE49-F238E27FC236}">
                <a16:creationId xmlns:a16="http://schemas.microsoft.com/office/drawing/2014/main" id="{4AD71516-6379-6A4A-7747-CC55D3A503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Example:  We don’t know anything</a:t>
            </a:r>
          </a:p>
        </p:txBody>
      </p:sp>
      <p:sp>
        <p:nvSpPr>
          <p:cNvPr id="51203" name="Text Box 2">
            <a:extLst>
              <a:ext uri="{FF2B5EF4-FFF2-40B4-BE49-F238E27FC236}">
                <a16:creationId xmlns:a16="http://schemas.microsoft.com/office/drawing/2014/main" id="{9938B586-B27A-8D18-7A2E-8AC53EF97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143001"/>
            <a:ext cx="7391400" cy="490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Frame of Discernment: 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Mentally retarded (MR), Learning disabled (LD), Not Eligible (NE)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                                        {MR,    LD,   NE}  m=1.0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{MR, LD}                             {MR, NE}                            {LD, NE}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                  (MR}                      {LD}                        {NE}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                                           {empty set}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51205" name="Line 4">
            <a:extLst>
              <a:ext uri="{FF2B5EF4-FFF2-40B4-BE49-F238E27FC236}">
                <a16:creationId xmlns:a16="http://schemas.microsoft.com/office/drawing/2014/main" id="{CAB7F3D6-63ED-69D6-C481-5427B132E3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2438400"/>
            <a:ext cx="2057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6" name="Line 5">
            <a:extLst>
              <a:ext uri="{FF2B5EF4-FFF2-40B4-BE49-F238E27FC236}">
                <a16:creationId xmlns:a16="http://schemas.microsoft.com/office/drawing/2014/main" id="{F560E7AB-1B2E-4319-A0F7-5C6EA206AB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438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7" name="Line 6">
            <a:extLst>
              <a:ext uri="{FF2B5EF4-FFF2-40B4-BE49-F238E27FC236}">
                <a16:creationId xmlns:a16="http://schemas.microsoft.com/office/drawing/2014/main" id="{BCADB5A4-47C8-AC7F-6A14-E1D9220F4F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438400"/>
            <a:ext cx="1905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8" name="Line 7">
            <a:extLst>
              <a:ext uri="{FF2B5EF4-FFF2-40B4-BE49-F238E27FC236}">
                <a16:creationId xmlns:a16="http://schemas.microsoft.com/office/drawing/2014/main" id="{04D1AF19-76A9-5613-2918-DA33958C86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657600"/>
            <a:ext cx="2286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9" name="Line 8">
            <a:extLst>
              <a:ext uri="{FF2B5EF4-FFF2-40B4-BE49-F238E27FC236}">
                <a16:creationId xmlns:a16="http://schemas.microsoft.com/office/drawing/2014/main" id="{FE93C675-FAD1-0B60-D2B3-456CA2E291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733800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0" name="Line 9">
            <a:extLst>
              <a:ext uri="{FF2B5EF4-FFF2-40B4-BE49-F238E27FC236}">
                <a16:creationId xmlns:a16="http://schemas.microsoft.com/office/drawing/2014/main" id="{BFAAF3D1-5AFD-E21F-CE49-8036E34DC7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1" name="Line 10">
            <a:extLst>
              <a:ext uri="{FF2B5EF4-FFF2-40B4-BE49-F238E27FC236}">
                <a16:creationId xmlns:a16="http://schemas.microsoft.com/office/drawing/2014/main" id="{F9D61D58-92FC-3BA3-E9CF-46282DDAF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3657600"/>
            <a:ext cx="1600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2" name="Line 11">
            <a:extLst>
              <a:ext uri="{FF2B5EF4-FFF2-40B4-BE49-F238E27FC236}">
                <a16:creationId xmlns:a16="http://schemas.microsoft.com/office/drawing/2014/main" id="{055395D1-9D44-B951-6484-5A47744275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3581400"/>
            <a:ext cx="2133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3" name="Line 12">
            <a:extLst>
              <a:ext uri="{FF2B5EF4-FFF2-40B4-BE49-F238E27FC236}">
                <a16:creationId xmlns:a16="http://schemas.microsoft.com/office/drawing/2014/main" id="{3F4F0EF0-6C67-9142-D802-6541B25F13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91400" y="36576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4" name="Line 13">
            <a:extLst>
              <a:ext uri="{FF2B5EF4-FFF2-40B4-BE49-F238E27FC236}">
                <a16:creationId xmlns:a16="http://schemas.microsoft.com/office/drawing/2014/main" id="{56D01253-DDFB-2502-00BF-FE87D60B94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029200"/>
            <a:ext cx="1676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5" name="Line 14">
            <a:extLst>
              <a:ext uri="{FF2B5EF4-FFF2-40B4-BE49-F238E27FC236}">
                <a16:creationId xmlns:a16="http://schemas.microsoft.com/office/drawing/2014/main" id="{3278B949-8483-0F3D-2E82-DA5238F9A5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876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6" name="Line 15">
            <a:extLst>
              <a:ext uri="{FF2B5EF4-FFF2-40B4-BE49-F238E27FC236}">
                <a16:creationId xmlns:a16="http://schemas.microsoft.com/office/drawing/2014/main" id="{C461C15F-F45A-A7B2-EB5C-82CE966326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48006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Rectangle 3">
            <a:extLst>
              <a:ext uri="{FF2B5EF4-FFF2-40B4-BE49-F238E27FC236}">
                <a16:creationId xmlns:a16="http://schemas.microsoft.com/office/drawing/2014/main" id="{DA8C9FC2-5D5B-0CFE-B9FE-7923DC6EBB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Example:  We believe MR at 0.8</a:t>
            </a:r>
          </a:p>
        </p:txBody>
      </p:sp>
      <p:sp>
        <p:nvSpPr>
          <p:cNvPr id="53251" name="Text Box 2">
            <a:extLst>
              <a:ext uri="{FF2B5EF4-FFF2-40B4-BE49-F238E27FC236}">
                <a16:creationId xmlns:a16="http://schemas.microsoft.com/office/drawing/2014/main" id="{5D45C130-D921-9BA5-ACA0-458A5052C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143001"/>
            <a:ext cx="7391400" cy="490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Frame of Discernment: 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Mentally retarded (MR), Learning disabled (LD), Not Eligible (NE)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                                        {MR,    LD,   NE} m=0.2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{MR, LD}                             {MR, NE}                            {LD, NE}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                  (MR} m=0.8                     {LD}                        {NE}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                                           {empty set}</a:t>
            </a:r>
          </a:p>
        </p:txBody>
      </p:sp>
      <p:sp>
        <p:nvSpPr>
          <p:cNvPr id="53253" name="Line 4">
            <a:extLst>
              <a:ext uri="{FF2B5EF4-FFF2-40B4-BE49-F238E27FC236}">
                <a16:creationId xmlns:a16="http://schemas.microsoft.com/office/drawing/2014/main" id="{51742349-3602-828C-42C4-93CDA77B6E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2438400"/>
            <a:ext cx="2057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4" name="Line 5">
            <a:extLst>
              <a:ext uri="{FF2B5EF4-FFF2-40B4-BE49-F238E27FC236}">
                <a16:creationId xmlns:a16="http://schemas.microsoft.com/office/drawing/2014/main" id="{79529BC9-C50C-D9CE-9E4B-A5AEC4C9929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438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5" name="Line 6">
            <a:extLst>
              <a:ext uri="{FF2B5EF4-FFF2-40B4-BE49-F238E27FC236}">
                <a16:creationId xmlns:a16="http://schemas.microsoft.com/office/drawing/2014/main" id="{B8790A07-6380-F4C7-09D7-8BE22F45E8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438400"/>
            <a:ext cx="1905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6" name="Line 7">
            <a:extLst>
              <a:ext uri="{FF2B5EF4-FFF2-40B4-BE49-F238E27FC236}">
                <a16:creationId xmlns:a16="http://schemas.microsoft.com/office/drawing/2014/main" id="{A703CAA4-8F51-B819-F99C-31D3377010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657600"/>
            <a:ext cx="2286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7" name="Line 8">
            <a:extLst>
              <a:ext uri="{FF2B5EF4-FFF2-40B4-BE49-F238E27FC236}">
                <a16:creationId xmlns:a16="http://schemas.microsoft.com/office/drawing/2014/main" id="{F978CC98-4E5D-8DE9-1BEC-115302AB4B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733800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8" name="Line 9">
            <a:extLst>
              <a:ext uri="{FF2B5EF4-FFF2-40B4-BE49-F238E27FC236}">
                <a16:creationId xmlns:a16="http://schemas.microsoft.com/office/drawing/2014/main" id="{21C26F4B-2381-5647-9D2A-685C9C9455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9" name="Line 10">
            <a:extLst>
              <a:ext uri="{FF2B5EF4-FFF2-40B4-BE49-F238E27FC236}">
                <a16:creationId xmlns:a16="http://schemas.microsoft.com/office/drawing/2014/main" id="{B03598CF-46EC-1B12-8A9A-31C240F16DA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3657600"/>
            <a:ext cx="1600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0" name="Line 11">
            <a:extLst>
              <a:ext uri="{FF2B5EF4-FFF2-40B4-BE49-F238E27FC236}">
                <a16:creationId xmlns:a16="http://schemas.microsoft.com/office/drawing/2014/main" id="{678D6AFC-41FB-ADF1-961A-8DC26292CB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3581400"/>
            <a:ext cx="2133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1" name="Line 12">
            <a:extLst>
              <a:ext uri="{FF2B5EF4-FFF2-40B4-BE49-F238E27FC236}">
                <a16:creationId xmlns:a16="http://schemas.microsoft.com/office/drawing/2014/main" id="{6E40C039-254B-3E44-8854-FC2F390AC8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91400" y="36576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2" name="Line 13">
            <a:extLst>
              <a:ext uri="{FF2B5EF4-FFF2-40B4-BE49-F238E27FC236}">
                <a16:creationId xmlns:a16="http://schemas.microsoft.com/office/drawing/2014/main" id="{EBA2D285-F7EC-41D7-2F52-30C5F7B63D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029200"/>
            <a:ext cx="1676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3" name="Line 14">
            <a:extLst>
              <a:ext uri="{FF2B5EF4-FFF2-40B4-BE49-F238E27FC236}">
                <a16:creationId xmlns:a16="http://schemas.microsoft.com/office/drawing/2014/main" id="{E42BFD20-3C67-C1A7-4E2D-2C7B075F7B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876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4" name="Line 15">
            <a:extLst>
              <a:ext uri="{FF2B5EF4-FFF2-40B4-BE49-F238E27FC236}">
                <a16:creationId xmlns:a16="http://schemas.microsoft.com/office/drawing/2014/main" id="{F4E71DC2-B265-B00C-F2B6-23E45437F5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48006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3">
            <a:extLst>
              <a:ext uri="{FF2B5EF4-FFF2-40B4-BE49-F238E27FC236}">
                <a16:creationId xmlns:a16="http://schemas.microsoft.com/office/drawing/2014/main" id="{7CCD85F7-FABD-A2B0-9590-6873C2AA6E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Example:  We believe NOT MR at 0.7</a:t>
            </a:r>
          </a:p>
        </p:txBody>
      </p:sp>
      <p:sp>
        <p:nvSpPr>
          <p:cNvPr id="55299" name="Text Box 2">
            <a:extLst>
              <a:ext uri="{FF2B5EF4-FFF2-40B4-BE49-F238E27FC236}">
                <a16:creationId xmlns:a16="http://schemas.microsoft.com/office/drawing/2014/main" id="{5990A216-2227-6748-3B15-B248662BB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143001"/>
            <a:ext cx="7391400" cy="531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Frame of Discernment: 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Mentally retarded (MR), Learning disabled (LD), Not Eligible (NE)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                                        {MR,    LD,   NE} m=0.3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{MR, LD}                             {MR, NE}                            {LD, NE} m=0.7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                  (MR}                      {LD}                        {NE}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                                           {empty set}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55301" name="Line 4">
            <a:extLst>
              <a:ext uri="{FF2B5EF4-FFF2-40B4-BE49-F238E27FC236}">
                <a16:creationId xmlns:a16="http://schemas.microsoft.com/office/drawing/2014/main" id="{8D526255-D9A9-19C5-EE74-659D857FE7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2438400"/>
            <a:ext cx="2057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2" name="Line 5">
            <a:extLst>
              <a:ext uri="{FF2B5EF4-FFF2-40B4-BE49-F238E27FC236}">
                <a16:creationId xmlns:a16="http://schemas.microsoft.com/office/drawing/2014/main" id="{984AB62A-F194-3564-2A8D-BF0817A237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438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3" name="Line 6">
            <a:extLst>
              <a:ext uri="{FF2B5EF4-FFF2-40B4-BE49-F238E27FC236}">
                <a16:creationId xmlns:a16="http://schemas.microsoft.com/office/drawing/2014/main" id="{014A104C-6529-5410-8CA8-E021FABF7F8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438400"/>
            <a:ext cx="1905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4" name="Line 7">
            <a:extLst>
              <a:ext uri="{FF2B5EF4-FFF2-40B4-BE49-F238E27FC236}">
                <a16:creationId xmlns:a16="http://schemas.microsoft.com/office/drawing/2014/main" id="{05C8370E-3F0C-FC8D-C337-7E95A0BF3E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657600"/>
            <a:ext cx="2286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5" name="Line 8">
            <a:extLst>
              <a:ext uri="{FF2B5EF4-FFF2-40B4-BE49-F238E27FC236}">
                <a16:creationId xmlns:a16="http://schemas.microsoft.com/office/drawing/2014/main" id="{4BEED753-C54B-EABB-F1F9-BCDFD04EF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733800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6" name="Line 9">
            <a:extLst>
              <a:ext uri="{FF2B5EF4-FFF2-40B4-BE49-F238E27FC236}">
                <a16:creationId xmlns:a16="http://schemas.microsoft.com/office/drawing/2014/main" id="{B9345A54-DC30-BB21-ECD9-8472E4762C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7" name="Line 10">
            <a:extLst>
              <a:ext uri="{FF2B5EF4-FFF2-40B4-BE49-F238E27FC236}">
                <a16:creationId xmlns:a16="http://schemas.microsoft.com/office/drawing/2014/main" id="{07A71E52-ECDD-A765-3E69-62296D14E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3657600"/>
            <a:ext cx="1600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8" name="Line 11">
            <a:extLst>
              <a:ext uri="{FF2B5EF4-FFF2-40B4-BE49-F238E27FC236}">
                <a16:creationId xmlns:a16="http://schemas.microsoft.com/office/drawing/2014/main" id="{09BFD437-14D2-AE6F-2273-EA2E783962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3581400"/>
            <a:ext cx="2133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9" name="Line 12">
            <a:extLst>
              <a:ext uri="{FF2B5EF4-FFF2-40B4-BE49-F238E27FC236}">
                <a16:creationId xmlns:a16="http://schemas.microsoft.com/office/drawing/2014/main" id="{BB93AD84-F583-B596-7268-0BBA22EB81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91400" y="36576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10" name="Line 13">
            <a:extLst>
              <a:ext uri="{FF2B5EF4-FFF2-40B4-BE49-F238E27FC236}">
                <a16:creationId xmlns:a16="http://schemas.microsoft.com/office/drawing/2014/main" id="{FA5B0268-2DE5-B8D3-76BA-03CE19569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029200"/>
            <a:ext cx="1676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11" name="Line 14">
            <a:extLst>
              <a:ext uri="{FF2B5EF4-FFF2-40B4-BE49-F238E27FC236}">
                <a16:creationId xmlns:a16="http://schemas.microsoft.com/office/drawing/2014/main" id="{3F2F6146-AF6B-CE2F-21DC-8D817807F2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876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12" name="Line 15">
            <a:extLst>
              <a:ext uri="{FF2B5EF4-FFF2-40B4-BE49-F238E27FC236}">
                <a16:creationId xmlns:a16="http://schemas.microsoft.com/office/drawing/2014/main" id="{E7E793F6-88EE-6271-A703-8DBB7F3E49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48006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>
            <a:extLst>
              <a:ext uri="{FF2B5EF4-FFF2-40B4-BE49-F238E27FC236}">
                <a16:creationId xmlns:a16="http://schemas.microsoft.com/office/drawing/2014/main" id="{93B4A905-4CBE-4B03-A1D0-40A06FA65B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Belief and Certainty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7305DE42-CDDD-4D1C-7E95-24896E934E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belief Bel(A) in a subset A </a:t>
            </a:r>
          </a:p>
          <a:p>
            <a:pPr lvl="1" eaLnBrk="1" hangingPunct="1"/>
            <a:r>
              <a:rPr lang="en-US" altLang="en-US"/>
              <a:t>sum of the mass probabilities of all the proper subsets of A</a:t>
            </a:r>
          </a:p>
          <a:p>
            <a:pPr lvl="1" eaLnBrk="1" hangingPunct="1"/>
            <a:r>
              <a:rPr lang="en-US" altLang="en-US"/>
              <a:t>likelihood that one of its members is the conclusion</a:t>
            </a:r>
          </a:p>
          <a:p>
            <a:pPr eaLnBrk="1" hangingPunct="1"/>
            <a:r>
              <a:rPr lang="en-US" altLang="en-US"/>
              <a:t>plausibility Pls(A)</a:t>
            </a:r>
          </a:p>
          <a:p>
            <a:pPr lvl="1" eaLnBrk="1" hangingPunct="1"/>
            <a:r>
              <a:rPr lang="en-US" altLang="en-US"/>
              <a:t>maximum belief of A, upper bound</a:t>
            </a:r>
          </a:p>
          <a:p>
            <a:pPr lvl="1" eaLnBrk="1" hangingPunct="1"/>
            <a:r>
              <a:rPr lang="en-US" altLang="en-US"/>
              <a:t>1 – Bel(not  A)</a:t>
            </a:r>
          </a:p>
          <a:p>
            <a:pPr eaLnBrk="1" hangingPunct="1"/>
            <a:r>
              <a:rPr lang="en-US" altLang="en-US"/>
              <a:t>certainty Cer(A)</a:t>
            </a:r>
          </a:p>
          <a:p>
            <a:pPr lvl="1" eaLnBrk="1" hangingPunct="1"/>
            <a:r>
              <a:rPr lang="en-US" altLang="en-US"/>
              <a:t>interval [Bel(A), Pls(A)]</a:t>
            </a:r>
          </a:p>
          <a:p>
            <a:pPr lvl="1" eaLnBrk="1" hangingPunct="1"/>
            <a:r>
              <a:rPr lang="en-US" altLang="en-US"/>
              <a:t>expresses the range of belief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3">
            <a:extLst>
              <a:ext uri="{FF2B5EF4-FFF2-40B4-BE49-F238E27FC236}">
                <a16:creationId xmlns:a16="http://schemas.microsoft.com/office/drawing/2014/main" id="{243C72F9-C3CA-7DE9-386C-91C9D2E194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Example:  Bel, Pls</a:t>
            </a:r>
          </a:p>
        </p:txBody>
      </p:sp>
      <p:sp>
        <p:nvSpPr>
          <p:cNvPr id="59395" name="Text Box 2">
            <a:extLst>
              <a:ext uri="{FF2B5EF4-FFF2-40B4-BE49-F238E27FC236}">
                <a16:creationId xmlns:a16="http://schemas.microsoft.com/office/drawing/2014/main" id="{E0B35730-4557-07CC-6F58-2037A42BB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143001"/>
            <a:ext cx="7391400" cy="531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Frame of Discernment: 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Mentally retarded (MR), Learning disabled (LD), Not Eligible (NE)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                                        {MR,    LD,   NE} m=0, Bel=1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{MR, LD}                             {MR, NE}                        {LD, NE}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m=.3, Bel=.6                      m=.2, Bel = .4                   m=.1, Bel=.4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                  (MR}                      {LD}                        {NE}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              m=.1, Bel=.1           m=.2, Bel=.2             m=.1, Bel=.1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                                           {empty set}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                                           m=0, Bel=0</a:t>
            </a:r>
          </a:p>
        </p:txBody>
      </p:sp>
      <p:sp>
        <p:nvSpPr>
          <p:cNvPr id="59397" name="Line 4">
            <a:extLst>
              <a:ext uri="{FF2B5EF4-FFF2-40B4-BE49-F238E27FC236}">
                <a16:creationId xmlns:a16="http://schemas.microsoft.com/office/drawing/2014/main" id="{9699DE2D-C9A9-914A-D072-1D21ABBC16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2438400"/>
            <a:ext cx="2057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8" name="Line 5">
            <a:extLst>
              <a:ext uri="{FF2B5EF4-FFF2-40B4-BE49-F238E27FC236}">
                <a16:creationId xmlns:a16="http://schemas.microsoft.com/office/drawing/2014/main" id="{90396A2E-E526-93C5-05C4-303EEC6AB7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438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9" name="Line 6">
            <a:extLst>
              <a:ext uri="{FF2B5EF4-FFF2-40B4-BE49-F238E27FC236}">
                <a16:creationId xmlns:a16="http://schemas.microsoft.com/office/drawing/2014/main" id="{4E67C054-570C-5A75-1C8D-ECA8CA04B6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438400"/>
            <a:ext cx="1905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0" name="Line 7">
            <a:extLst>
              <a:ext uri="{FF2B5EF4-FFF2-40B4-BE49-F238E27FC236}">
                <a16:creationId xmlns:a16="http://schemas.microsoft.com/office/drawing/2014/main" id="{FED030E9-789C-3D01-1FE8-DFFC148135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657600"/>
            <a:ext cx="2286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1" name="Line 8">
            <a:extLst>
              <a:ext uri="{FF2B5EF4-FFF2-40B4-BE49-F238E27FC236}">
                <a16:creationId xmlns:a16="http://schemas.microsoft.com/office/drawing/2014/main" id="{E5B26466-7C55-024B-1EDF-5B7DCEE610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733800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2" name="Line 9">
            <a:extLst>
              <a:ext uri="{FF2B5EF4-FFF2-40B4-BE49-F238E27FC236}">
                <a16:creationId xmlns:a16="http://schemas.microsoft.com/office/drawing/2014/main" id="{B73C8130-277A-7539-FBE8-C51D485847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3" name="Line 10">
            <a:extLst>
              <a:ext uri="{FF2B5EF4-FFF2-40B4-BE49-F238E27FC236}">
                <a16:creationId xmlns:a16="http://schemas.microsoft.com/office/drawing/2014/main" id="{52AD7287-BD8C-27EC-FE20-87EAAFE1D2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3657600"/>
            <a:ext cx="1600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4" name="Line 11">
            <a:extLst>
              <a:ext uri="{FF2B5EF4-FFF2-40B4-BE49-F238E27FC236}">
                <a16:creationId xmlns:a16="http://schemas.microsoft.com/office/drawing/2014/main" id="{AF5EAD42-3CDC-5E4B-6AB7-4185FE1A54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3581400"/>
            <a:ext cx="2133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5" name="Line 12">
            <a:extLst>
              <a:ext uri="{FF2B5EF4-FFF2-40B4-BE49-F238E27FC236}">
                <a16:creationId xmlns:a16="http://schemas.microsoft.com/office/drawing/2014/main" id="{03D6F462-B6E1-60EB-67F7-82AB973A9F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91400" y="36576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6" name="Line 13">
            <a:extLst>
              <a:ext uri="{FF2B5EF4-FFF2-40B4-BE49-F238E27FC236}">
                <a16:creationId xmlns:a16="http://schemas.microsoft.com/office/drawing/2014/main" id="{EE1EBD84-B817-9F2A-CEC5-054DD9B30F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029200"/>
            <a:ext cx="1676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7" name="Line 14">
            <a:extLst>
              <a:ext uri="{FF2B5EF4-FFF2-40B4-BE49-F238E27FC236}">
                <a16:creationId xmlns:a16="http://schemas.microsoft.com/office/drawing/2014/main" id="{E6D4AAEE-24E5-1FA2-63D5-ED588F1383A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876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8" name="Line 15">
            <a:extLst>
              <a:ext uri="{FF2B5EF4-FFF2-40B4-BE49-F238E27FC236}">
                <a16:creationId xmlns:a16="http://schemas.microsoft.com/office/drawing/2014/main" id="{E75A9EFC-9767-49D2-0C9C-6338BE31FC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48006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>
            <a:extLst>
              <a:ext uri="{FF2B5EF4-FFF2-40B4-BE49-F238E27FC236}">
                <a16:creationId xmlns:a16="http://schemas.microsoft.com/office/drawing/2014/main" id="{3204AA22-EBDD-3DD2-3AFD-B359C4C839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2600" y="609600"/>
            <a:ext cx="84582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Interpretation:  Some Evidential Intervals</a:t>
            </a: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AE1B9A60-F74E-FA2B-BD3C-676C3B1E0C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52600" y="1752600"/>
            <a:ext cx="8382000" cy="3657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Completely true:  [1,1]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Completely false:  [0,0]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Completely ignorant: [0,1]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Doubt -- disbelief in X:  Dbt = Bel( not X)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Ignorance -- range of uncertainty:  Igr =Pls-Bel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Tends to support: [Bel, 1]  (0&lt;Bel&lt;1)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Tends to refute: [0, Pls]   (0&gt;Pls&lt;1)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Tends to both support and refute:  [Bel, Pls] (0&lt;Bel&lt;Pls&lt;1)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>
            <a:extLst>
              <a:ext uri="{FF2B5EF4-FFF2-40B4-BE49-F238E27FC236}">
                <a16:creationId xmlns:a16="http://schemas.microsoft.com/office/drawing/2014/main" id="{67159A3F-C19B-7018-9715-1E460B8AC8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Advantages and Problems of Dempster-Shafer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D33527E0-2379-B8C7-FDC3-845A0BCB0B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advantages</a:t>
            </a:r>
          </a:p>
          <a:p>
            <a:pPr lvl="1" eaLnBrk="1" hangingPunct="1"/>
            <a:r>
              <a:rPr lang="en-US" altLang="en-US"/>
              <a:t>clear, rigorous foundation</a:t>
            </a:r>
          </a:p>
          <a:p>
            <a:pPr lvl="1" eaLnBrk="1" hangingPunct="1"/>
            <a:r>
              <a:rPr lang="en-US" altLang="en-US"/>
              <a:t>ability to express confidence through intervals</a:t>
            </a:r>
          </a:p>
          <a:p>
            <a:pPr lvl="2" eaLnBrk="1" hangingPunct="1"/>
            <a:r>
              <a:rPr lang="en-US" altLang="en-US"/>
              <a:t>certainty about certainty</a:t>
            </a:r>
          </a:p>
          <a:p>
            <a:pPr eaLnBrk="1" hangingPunct="1"/>
            <a:r>
              <a:rPr lang="en-US" altLang="en-US"/>
              <a:t>problems</a:t>
            </a:r>
          </a:p>
          <a:p>
            <a:pPr lvl="1" eaLnBrk="1" hangingPunct="1"/>
            <a:r>
              <a:rPr lang="en-US" altLang="en-US"/>
              <a:t>non-intuitive determination of mass probability</a:t>
            </a:r>
          </a:p>
          <a:p>
            <a:pPr lvl="1" eaLnBrk="1" hangingPunct="1"/>
            <a:r>
              <a:rPr lang="en-US" altLang="en-US"/>
              <a:t>very high computational overhead</a:t>
            </a:r>
          </a:p>
          <a:p>
            <a:pPr lvl="1" eaLnBrk="1" hangingPunct="1"/>
            <a:r>
              <a:rPr lang="en-US" altLang="en-US"/>
              <a:t>may produce counterintuitive results due to normalization when probabilities are combined</a:t>
            </a:r>
          </a:p>
          <a:p>
            <a:pPr lvl="1" eaLnBrk="1" hangingPunct="1"/>
            <a:r>
              <a:rPr lang="en-US" altLang="en-US"/>
              <a:t>Still hard to get numbers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>
            <a:extLst>
              <a:ext uri="{FF2B5EF4-FFF2-40B4-BE49-F238E27FC236}">
                <a16:creationId xmlns:a16="http://schemas.microsoft.com/office/drawing/2014/main" id="{AB48E855-F461-B206-10B2-79E71066BC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Certainty Factors</a:t>
            </a:r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BB55FFD3-5E0F-FA7D-FD5D-3333494097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shares some foundations with Dempster-Shafer theory, but more practical</a:t>
            </a:r>
          </a:p>
          <a:p>
            <a:pPr eaLnBrk="1" hangingPunct="1"/>
            <a:r>
              <a:rPr lang="en-US" altLang="en-US"/>
              <a:t>denotes the belief in a hypothesis H given that some pieces of evidence are observed</a:t>
            </a:r>
          </a:p>
          <a:p>
            <a:pPr eaLnBrk="1" hangingPunct="1"/>
            <a:r>
              <a:rPr lang="en-US" altLang="en-US" i="1"/>
              <a:t>no statements</a:t>
            </a:r>
            <a:r>
              <a:rPr lang="en-US" altLang="en-US"/>
              <a:t> about the belief is </a:t>
            </a:r>
            <a:r>
              <a:rPr lang="en-US" altLang="en-US" i="1"/>
              <a:t>no evidence is present</a:t>
            </a:r>
          </a:p>
          <a:p>
            <a:pPr lvl="1" eaLnBrk="1" hangingPunct="1"/>
            <a:r>
              <a:rPr lang="en-US" altLang="en-US"/>
              <a:t>in contrast to Bayes’ method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>
            <a:extLst>
              <a:ext uri="{FF2B5EF4-FFF2-40B4-BE49-F238E27FC236}">
                <a16:creationId xmlns:a16="http://schemas.microsoft.com/office/drawing/2014/main" id="{35DEEDFD-58C1-3D50-4D94-95D9B6EBE7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Belief and Disbelief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677B6082-0C80-427C-1B4F-33AB7EFAA6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measure of belief</a:t>
            </a:r>
          </a:p>
          <a:p>
            <a:pPr lvl="1" eaLnBrk="1" hangingPunct="1"/>
            <a:r>
              <a:rPr lang="en-US" altLang="en-US"/>
              <a:t>degree to which hypothesis H is supported by evidence E</a:t>
            </a:r>
          </a:p>
          <a:p>
            <a:pPr lvl="1" eaLnBrk="1" hangingPunct="1"/>
            <a:r>
              <a:rPr lang="en-US" altLang="en-US"/>
              <a:t>MB(H,E) = 1  IF P(H) =1</a:t>
            </a:r>
            <a:br>
              <a:rPr lang="en-US" altLang="en-US"/>
            </a:br>
            <a:r>
              <a:rPr lang="en-US" altLang="en-US"/>
              <a:t>              (P(H|E) - P(H)) / (1- P(H))  otherwise</a:t>
            </a:r>
          </a:p>
          <a:p>
            <a:pPr eaLnBrk="1" hangingPunct="1"/>
            <a:r>
              <a:rPr lang="en-US" altLang="en-US"/>
              <a:t>measure of disbelief</a:t>
            </a:r>
          </a:p>
          <a:p>
            <a:pPr lvl="1" eaLnBrk="1" hangingPunct="1"/>
            <a:r>
              <a:rPr lang="en-US" altLang="en-US"/>
              <a:t>degree to which doubt in hypothesis H is supported by evidence E</a:t>
            </a:r>
          </a:p>
          <a:p>
            <a:pPr lvl="1" eaLnBrk="1" hangingPunct="1"/>
            <a:r>
              <a:rPr lang="en-US" altLang="en-US"/>
              <a:t>MB(H,E) = 1  IF P(H) =0</a:t>
            </a:r>
            <a:br>
              <a:rPr lang="en-US" altLang="en-US"/>
            </a:br>
            <a:r>
              <a:rPr lang="en-US" altLang="en-US"/>
              <a:t>              (P(H) - P(H|E)) / P(H)) otherwise</a:t>
            </a:r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>
            <a:extLst>
              <a:ext uri="{FF2B5EF4-FFF2-40B4-BE49-F238E27FC236}">
                <a16:creationId xmlns:a16="http://schemas.microsoft.com/office/drawing/2014/main" id="{7F6F53DE-C60F-B80F-174B-A50F3A1E8A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Certainty Factor</a:t>
            </a: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ED27589B-44EF-0F6B-B377-9BE8A32B51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certainty factor CF </a:t>
            </a:r>
          </a:p>
          <a:p>
            <a:pPr lvl="1" eaLnBrk="1" hangingPunct="1"/>
            <a:r>
              <a:rPr lang="en-US" altLang="en-US"/>
              <a:t>ranges between -1 (denial of the hypothesis H) and 1 (confirmation of H)</a:t>
            </a:r>
          </a:p>
          <a:p>
            <a:pPr eaLnBrk="1" hangingPunct="1"/>
            <a:r>
              <a:rPr lang="en-US" altLang="en-US"/>
              <a:t>CF = (MB - MD) / (1 - min (MD, MB))</a:t>
            </a:r>
          </a:p>
          <a:p>
            <a:pPr eaLnBrk="1" hangingPunct="1"/>
            <a:r>
              <a:rPr lang="en-US" altLang="en-US"/>
              <a:t>combining antecedent evidence</a:t>
            </a:r>
          </a:p>
          <a:p>
            <a:pPr lvl="1" eaLnBrk="1" hangingPunct="1"/>
            <a:r>
              <a:rPr lang="en-US" altLang="en-US"/>
              <a:t>use of premises with less than absolute confidence</a:t>
            </a:r>
          </a:p>
          <a:p>
            <a:pPr lvl="2" eaLnBrk="1" hangingPunct="1"/>
            <a:r>
              <a:rPr lang="en-US" altLang="en-US"/>
              <a:t>E1 </a:t>
            </a:r>
            <a:r>
              <a:rPr lang="en-US" altLang="en-US">
                <a:sym typeface="Symbol" panose="05050102010706020507" pitchFamily="18" charset="2"/>
              </a:rPr>
              <a:t> E2 = min(CF(H, E1), CF(H, E2))</a:t>
            </a:r>
          </a:p>
          <a:p>
            <a:pPr lvl="2" eaLnBrk="1" hangingPunct="1"/>
            <a:r>
              <a:rPr lang="en-US" altLang="en-US"/>
              <a:t>E1 </a:t>
            </a:r>
            <a:r>
              <a:rPr lang="en-US" altLang="en-US">
                <a:sym typeface="Symbol" panose="05050102010706020507" pitchFamily="18" charset="2"/>
              </a:rPr>
              <a:t> E2 = max(CF(H, E1), CF(H, E2))</a:t>
            </a:r>
          </a:p>
          <a:p>
            <a:pPr lvl="2" eaLnBrk="1" hangingPunct="1"/>
            <a:r>
              <a:rPr lang="en-US" altLang="en-US">
                <a:sym typeface="Symbol" panose="05050102010706020507" pitchFamily="18" charset="2"/>
              </a:rPr>
              <a:t>E =  CF(H, E)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>
            <a:extLst>
              <a:ext uri="{FF2B5EF4-FFF2-40B4-BE49-F238E27FC236}">
                <a16:creationId xmlns:a16="http://schemas.microsoft.com/office/drawing/2014/main" id="{30A49F79-1755-087F-BBF0-5CCDC84A0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Combining Certainty Factors</a:t>
            </a:r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E713B2F0-E483-7129-1609-8DF273E380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certainty factors that support the same conclusion</a:t>
            </a:r>
          </a:p>
          <a:p>
            <a:pPr eaLnBrk="1" hangingPunct="1"/>
            <a:r>
              <a:rPr lang="en-US" altLang="en-US"/>
              <a:t>several rules can lead to the same conclusion</a:t>
            </a:r>
          </a:p>
          <a:p>
            <a:pPr eaLnBrk="1" hangingPunct="1"/>
            <a:r>
              <a:rPr lang="en-US" altLang="en-US"/>
              <a:t>applied incrementally as new evidence becomes available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Cfrev(CFold, CFnew) = </a:t>
            </a:r>
          </a:p>
          <a:p>
            <a:pPr lvl="1" eaLnBrk="1" hangingPunct="1"/>
            <a:r>
              <a:rPr lang="en-US" altLang="en-US"/>
              <a:t>CFold + CFnew(1 - CFold)  if both &gt; 0</a:t>
            </a:r>
          </a:p>
          <a:p>
            <a:pPr lvl="1" eaLnBrk="1" hangingPunct="1"/>
            <a:r>
              <a:rPr lang="en-US" altLang="en-US"/>
              <a:t>CFold + CFnew(1 + CFold)  if both &lt; 0</a:t>
            </a:r>
          </a:p>
          <a:p>
            <a:pPr lvl="1" eaLnBrk="1" hangingPunct="1"/>
            <a:r>
              <a:rPr lang="en-US" altLang="en-US"/>
              <a:t>CFold + CFnew / (1 - min(|CFold|, |CFnew|))  if one &lt; 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2">
            <a:extLst>
              <a:ext uri="{FF2B5EF4-FFF2-40B4-BE49-F238E27FC236}">
                <a16:creationId xmlns:a16="http://schemas.microsoft.com/office/drawing/2014/main" id="{86EEFE23-C7AB-BB95-EF18-A2D34D8C87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Advantages of Certainty Factors</a:t>
            </a: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F3521782-42F6-4E37-2934-E4CA3C6A87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85750" indent="-285750" defTabSz="796925"/>
            <a:r>
              <a:rPr lang="en-US" altLang="en-US" sz="3200"/>
              <a:t>Advantages</a:t>
            </a:r>
          </a:p>
          <a:p>
            <a:pPr marL="685800" lvl="1" defTabSz="796925"/>
            <a:r>
              <a:rPr lang="en-US" altLang="en-US" sz="2900"/>
              <a:t>simple implementation</a:t>
            </a:r>
          </a:p>
          <a:p>
            <a:pPr marL="685800" lvl="1" defTabSz="796925"/>
            <a:r>
              <a:rPr lang="en-US" altLang="en-US" sz="2900"/>
              <a:t>reasonable modeling of human experts’ belief</a:t>
            </a:r>
          </a:p>
          <a:p>
            <a:pPr marL="1028700" lvl="2" defTabSz="796925"/>
            <a:r>
              <a:rPr lang="en-US" altLang="en-US" sz="2800"/>
              <a:t>expression of belief and disbelief</a:t>
            </a:r>
          </a:p>
          <a:p>
            <a:pPr marL="685800" lvl="1" defTabSz="796925"/>
            <a:r>
              <a:rPr lang="en-US" altLang="en-US" sz="2900"/>
              <a:t>successful applications for certain problem classes</a:t>
            </a:r>
          </a:p>
          <a:p>
            <a:pPr marL="685800" lvl="1" defTabSz="796925"/>
            <a:r>
              <a:rPr lang="en-US" altLang="en-US" sz="2900"/>
              <a:t>evidence relatively easy to gather</a:t>
            </a:r>
          </a:p>
          <a:p>
            <a:pPr marL="1028700" lvl="2" defTabSz="796925"/>
            <a:r>
              <a:rPr lang="en-US" altLang="en-US" sz="2800"/>
              <a:t>no statistical base required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>
            <a:extLst>
              <a:ext uri="{FF2B5EF4-FFF2-40B4-BE49-F238E27FC236}">
                <a16:creationId xmlns:a16="http://schemas.microsoft.com/office/drawing/2014/main" id="{5EDBEC19-BABD-6B8B-1FC7-A0A9D50954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Problems of Certainty Factors</a:t>
            </a: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4EAB8139-E23A-16BE-1543-0C82C9EF8A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Problems</a:t>
            </a:r>
          </a:p>
          <a:p>
            <a:pPr lvl="1" eaLnBrk="1" hangingPunct="1"/>
            <a:r>
              <a:rPr lang="en-US" altLang="en-US"/>
              <a:t>partially ad hoc approach</a:t>
            </a:r>
          </a:p>
          <a:p>
            <a:pPr lvl="2" eaLnBrk="1" hangingPunct="1"/>
            <a:r>
              <a:rPr lang="en-US" altLang="en-US" sz="2400"/>
              <a:t>theoretical foundation through Dempster-Shafer theory was developed later</a:t>
            </a:r>
          </a:p>
          <a:p>
            <a:pPr lvl="1" eaLnBrk="1" hangingPunct="1"/>
            <a:r>
              <a:rPr lang="en-US" altLang="en-US"/>
              <a:t>combination of non-independent evidence unsatisfactory</a:t>
            </a:r>
          </a:p>
          <a:p>
            <a:pPr lvl="1" eaLnBrk="1" hangingPunct="1"/>
            <a:r>
              <a:rPr lang="en-US" altLang="en-US"/>
              <a:t>new knowledge may require changes in the certainty factors of existing knowledge</a:t>
            </a:r>
          </a:p>
          <a:p>
            <a:pPr lvl="1" eaLnBrk="1" hangingPunct="1"/>
            <a:r>
              <a:rPr lang="en-US" altLang="en-US"/>
              <a:t>certainty factors can become the opposite of conditional probabilities for certain cases</a:t>
            </a:r>
          </a:p>
          <a:p>
            <a:pPr lvl="1" eaLnBrk="1" hangingPunct="1"/>
            <a:r>
              <a:rPr lang="en-US" altLang="en-US"/>
              <a:t>not suitable for long inference chains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2">
            <a:extLst>
              <a:ext uri="{FF2B5EF4-FFF2-40B4-BE49-F238E27FC236}">
                <a16:creationId xmlns:a16="http://schemas.microsoft.com/office/drawing/2014/main" id="{6546EBB2-6D60-CA53-63C4-F73A7FE8A8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Fuzzy Logic</a:t>
            </a: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E4C60954-1A85-E46F-0406-1817036CDD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approach to a formal treatment of uncertainty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relies on quantifying and reasoning through natural (or at least non-mathematical) language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Rejects the underlying concept of an excluded middle:  things have a degree of membership in a concept or set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Are you tall?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Are you rich?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As long as we have a way to formally describe degree of membership and a way to combine degrees of memberships, we can reason.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2">
            <a:extLst>
              <a:ext uri="{FF2B5EF4-FFF2-40B4-BE49-F238E27FC236}">
                <a16:creationId xmlns:a16="http://schemas.microsoft.com/office/drawing/2014/main" id="{99F4620A-F2E3-5642-1EF6-D7BD863381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/>
              <a:t>Fuzzy Set</a:t>
            </a:r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60D6328C-15F6-EFCF-0652-E6D90CF451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en-US"/>
              <a:t>categorization of elements xi into a set S</a:t>
            </a:r>
          </a:p>
          <a:p>
            <a:pPr lvl="1"/>
            <a:r>
              <a:rPr lang="en-US" altLang="en-US"/>
              <a:t>described through a membership function m(s)</a:t>
            </a:r>
          </a:p>
          <a:p>
            <a:pPr lvl="1"/>
            <a:r>
              <a:rPr lang="en-US" altLang="en-US"/>
              <a:t>associates each element xi with a degree of membership in S</a:t>
            </a:r>
          </a:p>
          <a:p>
            <a:r>
              <a:rPr lang="en-US" altLang="en-US"/>
              <a:t>possibility measure Poss{x</a:t>
            </a:r>
            <a:r>
              <a:rPr lang="en-US" altLang="en-US">
                <a:sym typeface="Symbol" panose="05050102010706020507" pitchFamily="18" charset="2"/>
              </a:rPr>
              <a:t>S}</a:t>
            </a:r>
          </a:p>
          <a:p>
            <a:pPr lvl="1"/>
            <a:r>
              <a:rPr lang="en-US" altLang="en-US"/>
              <a:t>degree to which an individual element x is a potential member in the fuzzy set S</a:t>
            </a:r>
          </a:p>
          <a:p>
            <a:pPr lvl="1"/>
            <a:r>
              <a:rPr lang="en-US" altLang="en-US"/>
              <a:t>combination of multiple premises</a:t>
            </a:r>
          </a:p>
          <a:p>
            <a:pPr lvl="2"/>
            <a:r>
              <a:rPr lang="en-US" altLang="en-US"/>
              <a:t>Poss(A </a:t>
            </a:r>
            <a:r>
              <a:rPr lang="en-US" altLang="en-US">
                <a:sym typeface="Symbol" panose="05050102010706020507" pitchFamily="18" charset="2"/>
              </a:rPr>
              <a:t> B) = min(Poss(A),Poss(B))</a:t>
            </a:r>
          </a:p>
          <a:p>
            <a:pPr lvl="2"/>
            <a:r>
              <a:rPr lang="en-US" altLang="en-US"/>
              <a:t>Poss(A </a:t>
            </a:r>
            <a:r>
              <a:rPr lang="en-US" altLang="en-US">
                <a:sym typeface="Symbol" panose="05050102010706020507" pitchFamily="18" charset="2"/>
              </a:rPr>
              <a:t> B) = max(Poss(A),Poss(B))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2">
            <a:extLst>
              <a:ext uri="{FF2B5EF4-FFF2-40B4-BE49-F238E27FC236}">
                <a16:creationId xmlns:a16="http://schemas.microsoft.com/office/drawing/2014/main" id="{B35648B7-0DE6-0F3D-37E0-6AF41B2A60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Fuzzy Set Example</a:t>
            </a: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821C6520-850B-B80E-B0AD-8C5B4CFB6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371600"/>
            <a:ext cx="8610600" cy="50292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bg2"/>
              </a:solidFill>
              <a:latin typeface="Times" panose="02020603050405020304" pitchFamily="18" charset="0"/>
            </a:endParaRPr>
          </a:p>
        </p:txBody>
      </p:sp>
      <p:sp>
        <p:nvSpPr>
          <p:cNvPr id="81925" name="Line 4">
            <a:extLst>
              <a:ext uri="{FF2B5EF4-FFF2-40B4-BE49-F238E27FC236}">
                <a16:creationId xmlns:a16="http://schemas.microsoft.com/office/drawing/2014/main" id="{7848D66B-BB8D-74DF-3B8E-AFFEC6E982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1828800"/>
            <a:ext cx="0" cy="4343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26" name="Line 5">
            <a:extLst>
              <a:ext uri="{FF2B5EF4-FFF2-40B4-BE49-F238E27FC236}">
                <a16:creationId xmlns:a16="http://schemas.microsoft.com/office/drawing/2014/main" id="{72F06A14-FCD4-EB5B-68B7-E4BD4F4E9A32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096000" y="2590800"/>
            <a:ext cx="0" cy="7162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27" name="Rectangle 6">
            <a:extLst>
              <a:ext uri="{FF2B5EF4-FFF2-40B4-BE49-F238E27FC236}">
                <a16:creationId xmlns:a16="http://schemas.microsoft.com/office/drawing/2014/main" id="{16175DF1-8AC2-A23F-AB37-DA9F61748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621" y="1524000"/>
            <a:ext cx="120257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membership</a:t>
            </a:r>
          </a:p>
        </p:txBody>
      </p:sp>
      <p:sp>
        <p:nvSpPr>
          <p:cNvPr id="81928" name="Rectangle 7">
            <a:extLst>
              <a:ext uri="{FF2B5EF4-FFF2-40B4-BE49-F238E27FC236}">
                <a16:creationId xmlns:a16="http://schemas.microsoft.com/office/drawing/2014/main" id="{45E11314-C28A-421F-8158-9E681B87D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0060" y="5865526"/>
            <a:ext cx="69923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height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 (cm)</a:t>
            </a:r>
          </a:p>
        </p:txBody>
      </p:sp>
      <p:sp>
        <p:nvSpPr>
          <p:cNvPr id="81929" name="Rectangle 8">
            <a:extLst>
              <a:ext uri="{FF2B5EF4-FFF2-40B4-BE49-F238E27FC236}">
                <a16:creationId xmlns:a16="http://schemas.microsoft.com/office/drawing/2014/main" id="{9FBFBCDD-B614-CEB3-CAAB-754D76E73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61722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81930" name="Rectangle 9">
            <a:extLst>
              <a:ext uri="{FF2B5EF4-FFF2-40B4-BE49-F238E27FC236}">
                <a16:creationId xmlns:a16="http://schemas.microsoft.com/office/drawing/2014/main" id="{7A68BF2D-3FB1-2D8A-E4B7-5B932A62A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0198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81931" name="Line 10">
            <a:extLst>
              <a:ext uri="{FF2B5EF4-FFF2-40B4-BE49-F238E27FC236}">
                <a16:creationId xmlns:a16="http://schemas.microsoft.com/office/drawing/2014/main" id="{19E9762E-BB8B-98C1-E006-CA4CA7BA99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6096000"/>
            <a:ext cx="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32" name="Line 11">
            <a:extLst>
              <a:ext uri="{FF2B5EF4-FFF2-40B4-BE49-F238E27FC236}">
                <a16:creationId xmlns:a16="http://schemas.microsoft.com/office/drawing/2014/main" id="{6A931A2B-62A3-7ABF-77C3-AD743F56D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4950" y="6096000"/>
            <a:ext cx="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33" name="Line 12">
            <a:extLst>
              <a:ext uri="{FF2B5EF4-FFF2-40B4-BE49-F238E27FC236}">
                <a16:creationId xmlns:a16="http://schemas.microsoft.com/office/drawing/2014/main" id="{787338D4-B9D6-F357-E8D5-88AB286878F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3700" y="6096000"/>
            <a:ext cx="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34" name="Line 13">
            <a:extLst>
              <a:ext uri="{FF2B5EF4-FFF2-40B4-BE49-F238E27FC236}">
                <a16:creationId xmlns:a16="http://schemas.microsoft.com/office/drawing/2014/main" id="{36BDD9A1-BF20-6A63-4E54-83E62BDDBD41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2450" y="6096000"/>
            <a:ext cx="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35" name="Line 14">
            <a:extLst>
              <a:ext uri="{FF2B5EF4-FFF2-40B4-BE49-F238E27FC236}">
                <a16:creationId xmlns:a16="http://schemas.microsoft.com/office/drawing/2014/main" id="{2EF93FCB-B2E8-9745-6AB6-F563431D8480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1200" y="6096000"/>
            <a:ext cx="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36" name="Rectangle 15">
            <a:extLst>
              <a:ext uri="{FF2B5EF4-FFF2-40B4-BE49-F238E27FC236}">
                <a16:creationId xmlns:a16="http://schemas.microsoft.com/office/drawing/2014/main" id="{CE90051A-CE19-75D8-3BC9-27C1F9D17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0" y="6172200"/>
            <a:ext cx="3873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50</a:t>
            </a:r>
          </a:p>
        </p:txBody>
      </p:sp>
      <p:sp>
        <p:nvSpPr>
          <p:cNvPr id="81937" name="Rectangle 16">
            <a:extLst>
              <a:ext uri="{FF2B5EF4-FFF2-40B4-BE49-F238E27FC236}">
                <a16:creationId xmlns:a16="http://schemas.microsoft.com/office/drawing/2014/main" id="{8F7033FB-F8B0-971C-CDDA-81E64D006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900" y="617220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100</a:t>
            </a:r>
          </a:p>
        </p:txBody>
      </p:sp>
      <p:sp>
        <p:nvSpPr>
          <p:cNvPr id="81938" name="Rectangle 17">
            <a:extLst>
              <a:ext uri="{FF2B5EF4-FFF2-40B4-BE49-F238E27FC236}">
                <a16:creationId xmlns:a16="http://schemas.microsoft.com/office/drawing/2014/main" id="{308BC3B1-B644-BE2F-8E9C-F6F683789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6850" y="617220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150</a:t>
            </a:r>
          </a:p>
        </p:txBody>
      </p:sp>
      <p:sp>
        <p:nvSpPr>
          <p:cNvPr id="81939" name="Rectangle 18">
            <a:extLst>
              <a:ext uri="{FF2B5EF4-FFF2-40B4-BE49-F238E27FC236}">
                <a16:creationId xmlns:a16="http://schemas.microsoft.com/office/drawing/2014/main" id="{8C4D588B-70A0-6BDE-9CFF-462ACAFB7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617220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200</a:t>
            </a:r>
          </a:p>
        </p:txBody>
      </p:sp>
      <p:sp>
        <p:nvSpPr>
          <p:cNvPr id="81940" name="Rectangle 19">
            <a:extLst>
              <a:ext uri="{FF2B5EF4-FFF2-40B4-BE49-F238E27FC236}">
                <a16:creationId xmlns:a16="http://schemas.microsoft.com/office/drawing/2014/main" id="{0FE450B1-811D-9FA2-A098-3712F8602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3400" y="617220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250</a:t>
            </a:r>
          </a:p>
        </p:txBody>
      </p:sp>
      <p:sp>
        <p:nvSpPr>
          <p:cNvPr id="81941" name="Freeform 20">
            <a:extLst>
              <a:ext uri="{FF2B5EF4-FFF2-40B4-BE49-F238E27FC236}">
                <a16:creationId xmlns:a16="http://schemas.microsoft.com/office/drawing/2014/main" id="{1DBB61F7-3E0F-9D1B-E6A5-27891B52E1E3}"/>
              </a:ext>
            </a:extLst>
          </p:cNvPr>
          <p:cNvSpPr>
            <a:spLocks/>
          </p:cNvSpPr>
          <p:nvPr/>
        </p:nvSpPr>
        <p:spPr bwMode="auto">
          <a:xfrm>
            <a:off x="2514601" y="1905000"/>
            <a:ext cx="4703763" cy="4216400"/>
          </a:xfrm>
          <a:custGeom>
            <a:avLst/>
            <a:gdLst>
              <a:gd name="T0" fmla="*/ 0 w 2963"/>
              <a:gd name="T1" fmla="*/ 294859075 h 2656"/>
              <a:gd name="T2" fmla="*/ 2147483646 w 2963"/>
              <a:gd name="T3" fmla="*/ 1066026888 h 2656"/>
              <a:gd name="T4" fmla="*/ 2147483646 w 2963"/>
              <a:gd name="T5" fmla="*/ 2147483646 h 26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63" h="2656">
                <a:moveTo>
                  <a:pt x="0" y="117"/>
                </a:moveTo>
                <a:cubicBezTo>
                  <a:pt x="365" y="168"/>
                  <a:pt x="1699" y="0"/>
                  <a:pt x="2193" y="423"/>
                </a:cubicBezTo>
                <a:cubicBezTo>
                  <a:pt x="2687" y="846"/>
                  <a:pt x="2803" y="2191"/>
                  <a:pt x="2963" y="2656"/>
                </a:cubicBezTo>
              </a:path>
            </a:pathLst>
          </a:custGeom>
          <a:noFill/>
          <a:ln w="38100" cmpd="sng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42" name="Freeform 21">
            <a:extLst>
              <a:ext uri="{FF2B5EF4-FFF2-40B4-BE49-F238E27FC236}">
                <a16:creationId xmlns:a16="http://schemas.microsoft.com/office/drawing/2014/main" id="{B881817B-32C3-D419-8893-D11DE430965D}"/>
              </a:ext>
            </a:extLst>
          </p:cNvPr>
          <p:cNvSpPr>
            <a:spLocks/>
          </p:cNvSpPr>
          <p:nvPr/>
        </p:nvSpPr>
        <p:spPr bwMode="auto">
          <a:xfrm>
            <a:off x="6729414" y="2208214"/>
            <a:ext cx="1195387" cy="3963987"/>
          </a:xfrm>
          <a:custGeom>
            <a:avLst/>
            <a:gdLst>
              <a:gd name="T0" fmla="*/ 83164328 w 753"/>
              <a:gd name="T1" fmla="*/ 2147483646 h 2497"/>
              <a:gd name="T2" fmla="*/ 123486811 w 753"/>
              <a:gd name="T3" fmla="*/ 2147483646 h 2497"/>
              <a:gd name="T4" fmla="*/ 821570594 w 753"/>
              <a:gd name="T5" fmla="*/ 5040312 h 2497"/>
              <a:gd name="T6" fmla="*/ 1665821791 w 753"/>
              <a:gd name="T7" fmla="*/ 2147483646 h 2497"/>
              <a:gd name="T8" fmla="*/ 1897676069 w 753"/>
              <a:gd name="T9" fmla="*/ 2147483646 h 24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53" h="2497">
                <a:moveTo>
                  <a:pt x="33" y="2497"/>
                </a:moveTo>
                <a:cubicBezTo>
                  <a:pt x="36" y="2287"/>
                  <a:pt x="0" y="1652"/>
                  <a:pt x="49" y="1236"/>
                </a:cubicBezTo>
                <a:cubicBezTo>
                  <a:pt x="98" y="820"/>
                  <a:pt x="224" y="4"/>
                  <a:pt x="326" y="2"/>
                </a:cubicBezTo>
                <a:cubicBezTo>
                  <a:pt x="428" y="0"/>
                  <a:pt x="590" y="810"/>
                  <a:pt x="661" y="1226"/>
                </a:cubicBezTo>
                <a:cubicBezTo>
                  <a:pt x="732" y="1642"/>
                  <a:pt x="734" y="2232"/>
                  <a:pt x="753" y="2497"/>
                </a:cubicBezTo>
              </a:path>
            </a:pathLst>
          </a:custGeom>
          <a:noFill/>
          <a:ln w="381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43" name="Freeform 22">
            <a:extLst>
              <a:ext uri="{FF2B5EF4-FFF2-40B4-BE49-F238E27FC236}">
                <a16:creationId xmlns:a16="http://schemas.microsoft.com/office/drawing/2014/main" id="{1959FD53-2E2D-E693-FC87-7D7077A4F619}"/>
              </a:ext>
            </a:extLst>
          </p:cNvPr>
          <p:cNvSpPr>
            <a:spLocks/>
          </p:cNvSpPr>
          <p:nvPr/>
        </p:nvSpPr>
        <p:spPr bwMode="auto">
          <a:xfrm>
            <a:off x="7386638" y="2025650"/>
            <a:ext cx="3041650" cy="4146550"/>
          </a:xfrm>
          <a:custGeom>
            <a:avLst/>
            <a:gdLst>
              <a:gd name="T0" fmla="*/ 7561263 w 1916"/>
              <a:gd name="T1" fmla="*/ 2147483646 h 2612"/>
              <a:gd name="T2" fmla="*/ 176410938 w 1916"/>
              <a:gd name="T3" fmla="*/ 2147483646 h 2612"/>
              <a:gd name="T4" fmla="*/ 1071067200 w 1916"/>
              <a:gd name="T5" fmla="*/ 519152188 h 2612"/>
              <a:gd name="T6" fmla="*/ 2147483646 w 1916"/>
              <a:gd name="T7" fmla="*/ 168851263 h 261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16" h="2612">
                <a:moveTo>
                  <a:pt x="3" y="2612"/>
                </a:moveTo>
                <a:cubicBezTo>
                  <a:pt x="14" y="2394"/>
                  <a:pt x="0" y="1703"/>
                  <a:pt x="70" y="1302"/>
                </a:cubicBezTo>
                <a:cubicBezTo>
                  <a:pt x="140" y="901"/>
                  <a:pt x="117" y="412"/>
                  <a:pt x="425" y="206"/>
                </a:cubicBezTo>
                <a:cubicBezTo>
                  <a:pt x="733" y="0"/>
                  <a:pt x="1606" y="96"/>
                  <a:pt x="1916" y="67"/>
                </a:cubicBezTo>
              </a:path>
            </a:pathLst>
          </a:custGeom>
          <a:noFill/>
          <a:ln w="38100" cmpd="sng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44" name="Line 23">
            <a:extLst>
              <a:ext uri="{FF2B5EF4-FFF2-40B4-BE49-F238E27FC236}">
                <a16:creationId xmlns:a16="http://schemas.microsoft.com/office/drawing/2014/main" id="{2DA9906C-35B5-1740-2A4E-789D20410897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2514600" y="4076700"/>
            <a:ext cx="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45" name="Line 24">
            <a:extLst>
              <a:ext uri="{FF2B5EF4-FFF2-40B4-BE49-F238E27FC236}">
                <a16:creationId xmlns:a16="http://schemas.microsoft.com/office/drawing/2014/main" id="{F74B6BEB-7ABC-DD34-72D4-CEA6BF3A4960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2514600" y="2057400"/>
            <a:ext cx="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46" name="Line 25">
            <a:extLst>
              <a:ext uri="{FF2B5EF4-FFF2-40B4-BE49-F238E27FC236}">
                <a16:creationId xmlns:a16="http://schemas.microsoft.com/office/drawing/2014/main" id="{96F9510D-DD98-7782-3346-1E481F26869F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2514600" y="6096000"/>
            <a:ext cx="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47" name="Rectangle 26">
            <a:extLst>
              <a:ext uri="{FF2B5EF4-FFF2-40B4-BE49-F238E27FC236}">
                <a16:creationId xmlns:a16="http://schemas.microsoft.com/office/drawing/2014/main" id="{9FB2DB73-9695-D783-B15D-F2567FD1C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006850"/>
            <a:ext cx="438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0.5</a:t>
            </a:r>
          </a:p>
        </p:txBody>
      </p:sp>
      <p:sp>
        <p:nvSpPr>
          <p:cNvPr id="81948" name="Rectangle 27">
            <a:extLst>
              <a:ext uri="{FF2B5EF4-FFF2-40B4-BE49-F238E27FC236}">
                <a16:creationId xmlns:a16="http://schemas.microsoft.com/office/drawing/2014/main" id="{64EA66BF-6355-55D8-B19B-1D4E6F8F3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50" y="19812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81949" name="Rectangle 28">
            <a:extLst>
              <a:ext uri="{FF2B5EF4-FFF2-40B4-BE49-F238E27FC236}">
                <a16:creationId xmlns:a16="http://schemas.microsoft.com/office/drawing/2014/main" id="{3A7357BF-06D4-0294-1976-4EF178A72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552" y="1905000"/>
            <a:ext cx="64152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chemeClr val="bg2"/>
                </a:solidFill>
                <a:latin typeface="Times" panose="02020603050405020304" pitchFamily="18" charset="0"/>
              </a:rPr>
              <a:t>short</a:t>
            </a:r>
          </a:p>
        </p:txBody>
      </p:sp>
      <p:sp>
        <p:nvSpPr>
          <p:cNvPr id="81950" name="Rectangle 29">
            <a:extLst>
              <a:ext uri="{FF2B5EF4-FFF2-40B4-BE49-F238E27FC236}">
                <a16:creationId xmlns:a16="http://schemas.microsoft.com/office/drawing/2014/main" id="{D6C56F6A-059C-ED11-1CCE-A7D13D226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6469" y="1905000"/>
            <a:ext cx="904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chemeClr val="hlink"/>
                </a:solidFill>
                <a:latin typeface="Times" panose="02020603050405020304" pitchFamily="18" charset="0"/>
              </a:rPr>
              <a:t>medium</a:t>
            </a:r>
          </a:p>
        </p:txBody>
      </p:sp>
      <p:sp>
        <p:nvSpPr>
          <p:cNvPr id="81951" name="Rectangle 30">
            <a:extLst>
              <a:ext uri="{FF2B5EF4-FFF2-40B4-BE49-F238E27FC236}">
                <a16:creationId xmlns:a16="http://schemas.microsoft.com/office/drawing/2014/main" id="{51EE019C-3063-8386-13AC-4EBC94038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8886" y="1828800"/>
            <a:ext cx="47160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chemeClr val="accent1"/>
                </a:solidFill>
                <a:latin typeface="Times" panose="02020603050405020304" pitchFamily="18" charset="0"/>
              </a:rPr>
              <a:t>tall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2">
            <a:extLst>
              <a:ext uri="{FF2B5EF4-FFF2-40B4-BE49-F238E27FC236}">
                <a16:creationId xmlns:a16="http://schemas.microsoft.com/office/drawing/2014/main" id="{15825248-31B4-5ECE-5067-16DE8F2C1C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Fuzzy vs. Crisp Set</a:t>
            </a:r>
          </a:p>
        </p:txBody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DFC60B6D-7205-33AE-A4C0-E6F91EA32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371600"/>
            <a:ext cx="8610600" cy="50292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bg2"/>
              </a:solidFill>
              <a:latin typeface="Times" panose="02020603050405020304" pitchFamily="18" charset="0"/>
            </a:endParaRPr>
          </a:p>
        </p:txBody>
      </p:sp>
      <p:sp>
        <p:nvSpPr>
          <p:cNvPr id="83973" name="Line 4">
            <a:extLst>
              <a:ext uri="{FF2B5EF4-FFF2-40B4-BE49-F238E27FC236}">
                <a16:creationId xmlns:a16="http://schemas.microsoft.com/office/drawing/2014/main" id="{06FA66C4-C677-1BDE-CCC4-43554A8879A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1828800"/>
            <a:ext cx="0" cy="4343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74" name="Line 5">
            <a:extLst>
              <a:ext uri="{FF2B5EF4-FFF2-40B4-BE49-F238E27FC236}">
                <a16:creationId xmlns:a16="http://schemas.microsoft.com/office/drawing/2014/main" id="{4D647D51-7A56-E988-771F-5352091A36A8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096000" y="2590800"/>
            <a:ext cx="0" cy="7162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75" name="Rectangle 6">
            <a:extLst>
              <a:ext uri="{FF2B5EF4-FFF2-40B4-BE49-F238E27FC236}">
                <a16:creationId xmlns:a16="http://schemas.microsoft.com/office/drawing/2014/main" id="{8A61AD2D-EA9F-4B3C-278C-42958030A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621" y="1524000"/>
            <a:ext cx="120257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membership</a:t>
            </a:r>
          </a:p>
        </p:txBody>
      </p:sp>
      <p:sp>
        <p:nvSpPr>
          <p:cNvPr id="83976" name="Rectangle 7">
            <a:extLst>
              <a:ext uri="{FF2B5EF4-FFF2-40B4-BE49-F238E27FC236}">
                <a16:creationId xmlns:a16="http://schemas.microsoft.com/office/drawing/2014/main" id="{5F595DB5-16D1-8B63-D595-A0714B654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0060" y="5865526"/>
            <a:ext cx="69923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height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 (cm)</a:t>
            </a:r>
          </a:p>
        </p:txBody>
      </p:sp>
      <p:sp>
        <p:nvSpPr>
          <p:cNvPr id="83977" name="Rectangle 8">
            <a:extLst>
              <a:ext uri="{FF2B5EF4-FFF2-40B4-BE49-F238E27FC236}">
                <a16:creationId xmlns:a16="http://schemas.microsoft.com/office/drawing/2014/main" id="{A7310963-BC88-8EB7-87F2-EA262D417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61722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83978" name="Rectangle 9">
            <a:extLst>
              <a:ext uri="{FF2B5EF4-FFF2-40B4-BE49-F238E27FC236}">
                <a16:creationId xmlns:a16="http://schemas.microsoft.com/office/drawing/2014/main" id="{DB2EC3B8-3014-028D-3CF0-735D1BDF0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0198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83979" name="Line 10">
            <a:extLst>
              <a:ext uri="{FF2B5EF4-FFF2-40B4-BE49-F238E27FC236}">
                <a16:creationId xmlns:a16="http://schemas.microsoft.com/office/drawing/2014/main" id="{741D9B4D-DB70-745D-5691-0759FE54DF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6096000"/>
            <a:ext cx="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80" name="Line 11">
            <a:extLst>
              <a:ext uri="{FF2B5EF4-FFF2-40B4-BE49-F238E27FC236}">
                <a16:creationId xmlns:a16="http://schemas.microsoft.com/office/drawing/2014/main" id="{C7C66E21-DFF4-336D-58F3-53241EAACD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4950" y="6096000"/>
            <a:ext cx="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81" name="Line 12">
            <a:extLst>
              <a:ext uri="{FF2B5EF4-FFF2-40B4-BE49-F238E27FC236}">
                <a16:creationId xmlns:a16="http://schemas.microsoft.com/office/drawing/2014/main" id="{0A6A93D5-6D57-020F-36F1-7EC02C434D2F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3700" y="6096000"/>
            <a:ext cx="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82" name="Line 13">
            <a:extLst>
              <a:ext uri="{FF2B5EF4-FFF2-40B4-BE49-F238E27FC236}">
                <a16:creationId xmlns:a16="http://schemas.microsoft.com/office/drawing/2014/main" id="{E382CEE4-01DF-7606-D6CF-48EA47D6561A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2450" y="6096000"/>
            <a:ext cx="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83" name="Line 14">
            <a:extLst>
              <a:ext uri="{FF2B5EF4-FFF2-40B4-BE49-F238E27FC236}">
                <a16:creationId xmlns:a16="http://schemas.microsoft.com/office/drawing/2014/main" id="{99651868-F6BC-BFC5-53CE-77AE0FAD6070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1200" y="6096000"/>
            <a:ext cx="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84" name="Rectangle 15">
            <a:extLst>
              <a:ext uri="{FF2B5EF4-FFF2-40B4-BE49-F238E27FC236}">
                <a16:creationId xmlns:a16="http://schemas.microsoft.com/office/drawing/2014/main" id="{C84B3E30-F962-7446-01F7-0444E064C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0" y="6172200"/>
            <a:ext cx="3873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50</a:t>
            </a:r>
          </a:p>
        </p:txBody>
      </p:sp>
      <p:sp>
        <p:nvSpPr>
          <p:cNvPr id="83985" name="Rectangle 16">
            <a:extLst>
              <a:ext uri="{FF2B5EF4-FFF2-40B4-BE49-F238E27FC236}">
                <a16:creationId xmlns:a16="http://schemas.microsoft.com/office/drawing/2014/main" id="{2E6D6F02-2958-3BEE-7D9D-5CA88F356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900" y="617220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100</a:t>
            </a:r>
          </a:p>
        </p:txBody>
      </p:sp>
      <p:sp>
        <p:nvSpPr>
          <p:cNvPr id="83986" name="Rectangle 17">
            <a:extLst>
              <a:ext uri="{FF2B5EF4-FFF2-40B4-BE49-F238E27FC236}">
                <a16:creationId xmlns:a16="http://schemas.microsoft.com/office/drawing/2014/main" id="{177A3619-FB3C-D958-C53B-950CEF4B3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6850" y="617220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150</a:t>
            </a:r>
          </a:p>
        </p:txBody>
      </p:sp>
      <p:sp>
        <p:nvSpPr>
          <p:cNvPr id="83987" name="Rectangle 18">
            <a:extLst>
              <a:ext uri="{FF2B5EF4-FFF2-40B4-BE49-F238E27FC236}">
                <a16:creationId xmlns:a16="http://schemas.microsoft.com/office/drawing/2014/main" id="{97CD7808-70A1-B50A-86C6-25D2FF6EF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617220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200</a:t>
            </a:r>
          </a:p>
        </p:txBody>
      </p:sp>
      <p:sp>
        <p:nvSpPr>
          <p:cNvPr id="83988" name="Rectangle 19">
            <a:extLst>
              <a:ext uri="{FF2B5EF4-FFF2-40B4-BE49-F238E27FC236}">
                <a16:creationId xmlns:a16="http://schemas.microsoft.com/office/drawing/2014/main" id="{382C7B75-30F7-4F73-26C2-36733DDD8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3400" y="617220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250</a:t>
            </a:r>
          </a:p>
        </p:txBody>
      </p:sp>
      <p:sp>
        <p:nvSpPr>
          <p:cNvPr id="83989" name="Line 20">
            <a:extLst>
              <a:ext uri="{FF2B5EF4-FFF2-40B4-BE49-F238E27FC236}">
                <a16:creationId xmlns:a16="http://schemas.microsoft.com/office/drawing/2014/main" id="{6E65EAC6-EB8A-83B8-FAD0-19A5F0844792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2514600" y="4076700"/>
            <a:ext cx="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90" name="Line 21">
            <a:extLst>
              <a:ext uri="{FF2B5EF4-FFF2-40B4-BE49-F238E27FC236}">
                <a16:creationId xmlns:a16="http://schemas.microsoft.com/office/drawing/2014/main" id="{132E1F7F-77F4-8FD3-B46E-FC2464399AC7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2514600" y="2057400"/>
            <a:ext cx="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91" name="Line 22">
            <a:extLst>
              <a:ext uri="{FF2B5EF4-FFF2-40B4-BE49-F238E27FC236}">
                <a16:creationId xmlns:a16="http://schemas.microsoft.com/office/drawing/2014/main" id="{15B2C04E-89F8-CAE4-E827-4CEDB79973B3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2514600" y="6096000"/>
            <a:ext cx="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92" name="Rectangle 23">
            <a:extLst>
              <a:ext uri="{FF2B5EF4-FFF2-40B4-BE49-F238E27FC236}">
                <a16:creationId xmlns:a16="http://schemas.microsoft.com/office/drawing/2014/main" id="{C14F9E03-442B-0CE3-6C17-66E7B7B85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006850"/>
            <a:ext cx="438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0.5</a:t>
            </a:r>
          </a:p>
        </p:txBody>
      </p:sp>
      <p:sp>
        <p:nvSpPr>
          <p:cNvPr id="83993" name="Rectangle 24">
            <a:extLst>
              <a:ext uri="{FF2B5EF4-FFF2-40B4-BE49-F238E27FC236}">
                <a16:creationId xmlns:a16="http://schemas.microsoft.com/office/drawing/2014/main" id="{30C4FA55-26C5-DCD7-8020-1B0901A0B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50" y="19812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83994" name="Rectangle 25">
            <a:extLst>
              <a:ext uri="{FF2B5EF4-FFF2-40B4-BE49-F238E27FC236}">
                <a16:creationId xmlns:a16="http://schemas.microsoft.com/office/drawing/2014/main" id="{C2096DAD-64AE-4F69-6521-61B5CECE4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552" y="1905000"/>
            <a:ext cx="64152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chemeClr val="bg2"/>
                </a:solidFill>
                <a:latin typeface="Times" panose="02020603050405020304" pitchFamily="18" charset="0"/>
              </a:rPr>
              <a:t>short</a:t>
            </a:r>
          </a:p>
        </p:txBody>
      </p:sp>
      <p:sp>
        <p:nvSpPr>
          <p:cNvPr id="83995" name="Rectangle 26">
            <a:extLst>
              <a:ext uri="{FF2B5EF4-FFF2-40B4-BE49-F238E27FC236}">
                <a16:creationId xmlns:a16="http://schemas.microsoft.com/office/drawing/2014/main" id="{2AB4E2FB-058F-AF43-91F6-9C74E91BE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6469" y="1905000"/>
            <a:ext cx="904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chemeClr val="hlink"/>
                </a:solidFill>
                <a:latin typeface="Times" panose="02020603050405020304" pitchFamily="18" charset="0"/>
              </a:rPr>
              <a:t>medium</a:t>
            </a:r>
          </a:p>
        </p:txBody>
      </p:sp>
      <p:sp>
        <p:nvSpPr>
          <p:cNvPr id="83996" name="Rectangle 27">
            <a:extLst>
              <a:ext uri="{FF2B5EF4-FFF2-40B4-BE49-F238E27FC236}">
                <a16:creationId xmlns:a16="http://schemas.microsoft.com/office/drawing/2014/main" id="{9F497450-2089-233A-58AF-1FF5D3314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8886" y="1828800"/>
            <a:ext cx="47160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chemeClr val="accent1"/>
                </a:solidFill>
                <a:latin typeface="Times" panose="02020603050405020304" pitchFamily="18" charset="0"/>
              </a:rPr>
              <a:t>tall</a:t>
            </a:r>
          </a:p>
        </p:txBody>
      </p:sp>
      <p:sp>
        <p:nvSpPr>
          <p:cNvPr id="83997" name="Line 28">
            <a:extLst>
              <a:ext uri="{FF2B5EF4-FFF2-40B4-BE49-F238E27FC236}">
                <a16:creationId xmlns:a16="http://schemas.microsoft.com/office/drawing/2014/main" id="{66F41090-E275-E351-DC86-BA3C753020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133600"/>
            <a:ext cx="0" cy="403860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98" name="Line 29">
            <a:extLst>
              <a:ext uri="{FF2B5EF4-FFF2-40B4-BE49-F238E27FC236}">
                <a16:creationId xmlns:a16="http://schemas.microsoft.com/office/drawing/2014/main" id="{138EB180-80E2-C51B-8E7E-DD7C8887D909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2133600"/>
            <a:ext cx="0" cy="403860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2">
            <a:extLst>
              <a:ext uri="{FF2B5EF4-FFF2-40B4-BE49-F238E27FC236}">
                <a16:creationId xmlns:a16="http://schemas.microsoft.com/office/drawing/2014/main" id="{AB9CDFFE-4245-98AE-5AA0-464C959006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Fuzzy Reasoning</a:t>
            </a:r>
          </a:p>
        </p:txBody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12C64352-E6EC-A0E1-FA71-BA4819595A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 order to implement a fuzzy reasoning system you need </a:t>
            </a:r>
          </a:p>
          <a:p>
            <a:pPr lvl="1" eaLnBrk="1" hangingPunct="1"/>
            <a:r>
              <a:rPr lang="en-US" altLang="en-US"/>
              <a:t>For each variable, a defined set of values for membership</a:t>
            </a:r>
          </a:p>
          <a:p>
            <a:pPr lvl="2" eaLnBrk="1" hangingPunct="1"/>
            <a:r>
              <a:rPr lang="en-US" altLang="en-US"/>
              <a:t>Can be numeric (1 to 10)</a:t>
            </a:r>
          </a:p>
          <a:p>
            <a:pPr lvl="2" eaLnBrk="1" hangingPunct="1"/>
            <a:r>
              <a:rPr lang="en-US" altLang="en-US"/>
              <a:t>Can be linguistic </a:t>
            </a:r>
          </a:p>
          <a:p>
            <a:pPr lvl="3" eaLnBrk="1" hangingPunct="1"/>
            <a:r>
              <a:rPr lang="en-US" altLang="en-US"/>
              <a:t>really no, no, maybe, yes, really yes</a:t>
            </a:r>
          </a:p>
          <a:p>
            <a:pPr lvl="3" eaLnBrk="1" hangingPunct="1"/>
            <a:r>
              <a:rPr lang="en-US" altLang="en-US"/>
              <a:t>tiny, small, medium, large, gigantic</a:t>
            </a:r>
          </a:p>
          <a:p>
            <a:pPr lvl="3" eaLnBrk="1" hangingPunct="1"/>
            <a:r>
              <a:rPr lang="en-US" altLang="en-US"/>
              <a:t>good, okay, bad</a:t>
            </a:r>
          </a:p>
          <a:p>
            <a:pPr lvl="1" eaLnBrk="1" hangingPunct="1"/>
            <a:r>
              <a:rPr lang="en-US" altLang="en-US"/>
              <a:t>And you need a set of rules for combining them</a:t>
            </a:r>
          </a:p>
          <a:p>
            <a:pPr lvl="2" eaLnBrk="1" hangingPunct="1"/>
            <a:r>
              <a:rPr lang="en-US" altLang="en-US"/>
              <a:t>Good and bad = okay.</a:t>
            </a:r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>
            <a:extLst>
              <a:ext uri="{FF2B5EF4-FFF2-40B4-BE49-F238E27FC236}">
                <a16:creationId xmlns:a16="http://schemas.microsoft.com/office/drawing/2014/main" id="{1FC445A8-EE72-7607-50E3-CCDDD6FC31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Fuzzy Inference Methods</a:t>
            </a:r>
          </a:p>
        </p:txBody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FA55796B-E706-8331-A59C-948C360167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Lots of ways to combine evidence across rules</a:t>
            </a:r>
          </a:p>
          <a:p>
            <a:pPr lvl="1" eaLnBrk="1" hangingPunct="1"/>
            <a:r>
              <a:rPr lang="en-US" altLang="en-US"/>
              <a:t>Poss(</a:t>
            </a:r>
            <a:r>
              <a:rPr lang="en-US" altLang="en-US">
                <a:sym typeface="Symbol" panose="05050102010706020507" pitchFamily="18" charset="2"/>
              </a:rPr>
              <a:t>B|A) = min(1, (1 - Poss(A)+ Poss(B)))</a:t>
            </a:r>
          </a:p>
          <a:p>
            <a:pPr lvl="2" eaLnBrk="1" hangingPunct="1"/>
            <a:r>
              <a:rPr lang="en-US" altLang="en-US"/>
              <a:t>implication according to Max-Min inference</a:t>
            </a:r>
          </a:p>
          <a:p>
            <a:pPr lvl="1" eaLnBrk="1" hangingPunct="1"/>
            <a:r>
              <a:rPr lang="en-US" altLang="en-US"/>
              <a:t>also Max-Product inference and other rules</a:t>
            </a:r>
          </a:p>
          <a:p>
            <a:pPr lvl="1" eaLnBrk="1" hangingPunct="1"/>
            <a:r>
              <a:rPr lang="en-US" altLang="en-US"/>
              <a:t>formal foundation through Lukasiewicz logic</a:t>
            </a:r>
          </a:p>
          <a:p>
            <a:pPr lvl="2" eaLnBrk="1" hangingPunct="1"/>
            <a:r>
              <a:rPr lang="en-US" altLang="en-US"/>
              <a:t>extension of binary logic to infinite-valued logic</a:t>
            </a:r>
          </a:p>
          <a:p>
            <a:pPr eaLnBrk="1" hangingPunct="1"/>
            <a:r>
              <a:rPr lang="en-US" altLang="en-US"/>
              <a:t>Can be enumerated or calculated.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2">
            <a:extLst>
              <a:ext uri="{FF2B5EF4-FFF2-40B4-BE49-F238E27FC236}">
                <a16:creationId xmlns:a16="http://schemas.microsoft.com/office/drawing/2014/main" id="{18E512B6-0992-F0C4-34F6-54790C61F7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Some Additional Fuzzy Concepts</a:t>
            </a:r>
          </a:p>
        </p:txBody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4DA10E9E-9EC3-74A4-75B5-CBA924C089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/>
              <a:t>Support set:  all elements with membership &gt; 0</a:t>
            </a:r>
          </a:p>
          <a:p>
            <a:pPr eaLnBrk="1" hangingPunct="1"/>
            <a:r>
              <a:rPr lang="en-US" altLang="en-US"/>
              <a:t>Alpha-cut set:  all elements with membership greater than alpha</a:t>
            </a:r>
          </a:p>
          <a:p>
            <a:pPr eaLnBrk="1" hangingPunct="1"/>
            <a:r>
              <a:rPr lang="en-US" altLang="en-US"/>
              <a:t>Height:  maximum grade of membership</a:t>
            </a:r>
          </a:p>
          <a:p>
            <a:pPr eaLnBrk="1" hangingPunct="1"/>
            <a:r>
              <a:rPr lang="en-US" altLang="en-US"/>
              <a:t>Normalized:  height = 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/>
              <a:t>Some typical domains</a:t>
            </a:r>
          </a:p>
          <a:p>
            <a:pPr eaLnBrk="1" hangingPunct="1"/>
            <a:r>
              <a:rPr lang="en-US" altLang="en-US"/>
              <a:t>Control (subways, camera focus)</a:t>
            </a:r>
          </a:p>
          <a:p>
            <a:pPr eaLnBrk="1" hangingPunct="1"/>
            <a:r>
              <a:rPr lang="en-US" altLang="en-US"/>
              <a:t>Pattern Recognition (OCR, video stabilization)</a:t>
            </a:r>
          </a:p>
          <a:p>
            <a:pPr eaLnBrk="1" hangingPunct="1"/>
            <a:r>
              <a:rPr lang="en-US" altLang="en-US"/>
              <a:t>Inference (diagnosis, planning, NLP)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2">
            <a:extLst>
              <a:ext uri="{FF2B5EF4-FFF2-40B4-BE49-F238E27FC236}">
                <a16:creationId xmlns:a16="http://schemas.microsoft.com/office/drawing/2014/main" id="{DBD68AF9-70BA-712F-4AD8-B7C65B9B27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/>
              <a:t>Advantages and Problems of Fuzzy Logic</a:t>
            </a:r>
          </a:p>
        </p:txBody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239C1473-DD4D-8659-D20B-93720013CF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en-US"/>
              <a:t>advantages</a:t>
            </a:r>
          </a:p>
          <a:p>
            <a:pPr lvl="1"/>
            <a:r>
              <a:rPr lang="en-US" altLang="en-US"/>
              <a:t>general theory of uncertainty</a:t>
            </a:r>
          </a:p>
          <a:p>
            <a:pPr lvl="1"/>
            <a:r>
              <a:rPr lang="en-US" altLang="en-US"/>
              <a:t>wide applicability, many practical applications</a:t>
            </a:r>
          </a:p>
          <a:p>
            <a:pPr lvl="1"/>
            <a:r>
              <a:rPr lang="en-US" altLang="en-US"/>
              <a:t>natural use of vague and imprecise concepts</a:t>
            </a:r>
          </a:p>
          <a:p>
            <a:pPr lvl="2"/>
            <a:r>
              <a:rPr lang="en-US" altLang="en-US"/>
              <a:t>helpful for commonsense reasoning, explanation</a:t>
            </a:r>
          </a:p>
          <a:p>
            <a:r>
              <a:rPr lang="en-US" altLang="en-US"/>
              <a:t>problems</a:t>
            </a:r>
          </a:p>
          <a:p>
            <a:pPr lvl="1"/>
            <a:r>
              <a:rPr lang="en-US" altLang="en-US"/>
              <a:t>membership functions can be difficult to find</a:t>
            </a:r>
          </a:p>
          <a:p>
            <a:pPr lvl="1"/>
            <a:r>
              <a:rPr lang="en-US" altLang="en-US"/>
              <a:t>multiple ways for combining evidence</a:t>
            </a:r>
          </a:p>
          <a:p>
            <a:pPr lvl="1"/>
            <a:r>
              <a:rPr lang="en-US" altLang="en-US"/>
              <a:t>problems with long inference chains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2">
            <a:extLst>
              <a:ext uri="{FF2B5EF4-FFF2-40B4-BE49-F238E27FC236}">
                <a16:creationId xmlns:a16="http://schemas.microsoft.com/office/drawing/2014/main" id="{0001C1D0-3CBB-43F8-3579-56ED3A966E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/>
              <a:t>Uncertainty:  Conclusions</a:t>
            </a:r>
          </a:p>
        </p:txBody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40029337-F850-0C94-652A-A8BFF7D3C3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/>
              <a:t>In AI we must often represent and reason about uncertain information</a:t>
            </a:r>
          </a:p>
          <a:p>
            <a:r>
              <a:rPr lang="en-US" altLang="en-US"/>
              <a:t>This is no different from what people do all the time!</a:t>
            </a:r>
          </a:p>
          <a:p>
            <a:r>
              <a:rPr lang="en-US" altLang="en-US"/>
              <a:t>There are multiple approaches to handling uncertainty.  </a:t>
            </a:r>
          </a:p>
          <a:p>
            <a:r>
              <a:rPr lang="en-US" altLang="en-US"/>
              <a:t>Probabilistic methods are most rigorous but often hard to apply; Bayesian reasoning and Dempster-Shafer extend it to handle problems of independence and ignorance of data</a:t>
            </a:r>
          </a:p>
          <a:p>
            <a:r>
              <a:rPr lang="en-US" altLang="en-US"/>
              <a:t>Fuzzy logic provides an alternate approach which better supports ill-defined or non-numeric domains.</a:t>
            </a:r>
          </a:p>
          <a:p>
            <a:r>
              <a:rPr lang="en-US" altLang="en-US"/>
              <a:t>Empirically, it is often the case that the main need is some way of expressing "maybe".  Any system which provides for at least a three-valued logic tends to yield the same decisions.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Century Schoolbook"/>
        <a:ea typeface=""/>
        <a:cs typeface=""/>
      </a:majorFont>
      <a:minorFont>
        <a:latin typeface="Century School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3538</Words>
  <Application>Microsoft Office PowerPoint</Application>
  <PresentationFormat>Widescreen</PresentationFormat>
  <Paragraphs>509</Paragraphs>
  <Slides>45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Aptos</vt:lpstr>
      <vt:lpstr>Arial</vt:lpstr>
      <vt:lpstr>Century Schoolbook</vt:lpstr>
      <vt:lpstr>Symbol</vt:lpstr>
      <vt:lpstr>Times</vt:lpstr>
      <vt:lpstr>Times New Roman</vt:lpstr>
      <vt:lpstr>Wingdings</vt:lpstr>
      <vt:lpstr>Office Theme</vt:lpstr>
      <vt:lpstr>Dealing with Uncertainty </vt:lpstr>
      <vt:lpstr>Introduction</vt:lpstr>
      <vt:lpstr>Sources of Uncertainty</vt:lpstr>
      <vt:lpstr>Reasoning Under Uncertainty</vt:lpstr>
      <vt:lpstr>Decision making with uncertainty</vt:lpstr>
      <vt:lpstr>Some Relevant Factors</vt:lpstr>
      <vt:lpstr>Basics of Probability Theory</vt:lpstr>
      <vt:lpstr>Compound Probabilities</vt:lpstr>
      <vt:lpstr>Probability theory</vt:lpstr>
      <vt:lpstr>Probability theory (cont.)</vt:lpstr>
      <vt:lpstr>Independence</vt:lpstr>
      <vt:lpstr>Exercise: Independence</vt:lpstr>
      <vt:lpstr>Conditional independence</vt:lpstr>
      <vt:lpstr>Exercise: Conditional independence</vt:lpstr>
      <vt:lpstr>Conditional Probabilities</vt:lpstr>
      <vt:lpstr>Bayesian Approaches</vt:lpstr>
      <vt:lpstr>Bayes’ Rule for Single Event</vt:lpstr>
      <vt:lpstr>Bayes Example: Diagnosing Meningitis</vt:lpstr>
      <vt:lpstr>Advantages and Problems Of Bayesian Reasoning</vt:lpstr>
      <vt:lpstr>Some Issues with Probabilities</vt:lpstr>
      <vt:lpstr>Dempster-Shafer Theory</vt:lpstr>
      <vt:lpstr>D-S Underlying concept</vt:lpstr>
      <vt:lpstr>Example:  Frame of Discernment</vt:lpstr>
      <vt:lpstr>Example:  We don’t know anything</vt:lpstr>
      <vt:lpstr>Example:  We believe MR at 0.8</vt:lpstr>
      <vt:lpstr>Example:  We believe NOT MR at 0.7</vt:lpstr>
      <vt:lpstr>Belief and Certainty</vt:lpstr>
      <vt:lpstr>Example:  Bel, Pls</vt:lpstr>
      <vt:lpstr>Interpretation:  Some Evidential Intervals</vt:lpstr>
      <vt:lpstr>Advantages and Problems of Dempster-Shafer</vt:lpstr>
      <vt:lpstr>Certainty Factors</vt:lpstr>
      <vt:lpstr>Belief and Disbelief</vt:lpstr>
      <vt:lpstr>Certainty Factor</vt:lpstr>
      <vt:lpstr>Combining Certainty Factors</vt:lpstr>
      <vt:lpstr>Advantages of Certainty Factors</vt:lpstr>
      <vt:lpstr>Problems of Certainty Factors</vt:lpstr>
      <vt:lpstr>Fuzzy Logic</vt:lpstr>
      <vt:lpstr>Fuzzy Set</vt:lpstr>
      <vt:lpstr>Fuzzy Set Example</vt:lpstr>
      <vt:lpstr>Fuzzy vs. Crisp Set</vt:lpstr>
      <vt:lpstr>Fuzzy Reasoning</vt:lpstr>
      <vt:lpstr>Fuzzy Inference Methods</vt:lpstr>
      <vt:lpstr>Some Additional Fuzzy Concepts</vt:lpstr>
      <vt:lpstr>Advantages and Problems of Fuzzy Logic</vt:lpstr>
      <vt:lpstr>Uncertainty:  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Iftekhar Mahmud Towhid</dc:creator>
  <cp:lastModifiedBy>Iftekhar Mahmud Towhid</cp:lastModifiedBy>
  <cp:revision>17</cp:revision>
  <dcterms:created xsi:type="dcterms:W3CDTF">2024-10-13T18:29:26Z</dcterms:created>
  <dcterms:modified xsi:type="dcterms:W3CDTF">2024-10-13T19:00:51Z</dcterms:modified>
</cp:coreProperties>
</file>