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9BCFE-31C0-BB7F-44C2-2EFC158690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352EFB-E764-5188-E5A9-526FFCDCD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2038E2-F8F7-CBE7-AADA-02C623DB9B98}"/>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CCF8D6BC-EB82-CB47-6C1C-2195259FB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0C6A6E-2592-A58E-9F21-3ABE1066004B}"/>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1275692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FBD9D-5EE8-8D6D-0202-243435026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BE6D0C-0F3F-98BC-EAEB-775C5FDB01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6A8D33-E0F2-E8BB-AE70-C7CFD8721424}"/>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B6078193-9A71-18B1-A110-AE4A542906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B66B34-2F3D-FBAA-E9E0-045082BF4B9F}"/>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4007260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B03B-BE19-43F9-8A24-163574352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C7E10E-7A14-3E21-B870-3948B25014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94966B-56C0-392E-61F1-EF656934B147}"/>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84064FBE-38C7-76BD-71BB-8FE8C50B26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CC4E6D-D8AF-7455-D963-A1B0D8E46B09}"/>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99025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7C87E-CEB2-5C0C-37BE-90C5CCC9D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0F0CAD-3C82-79CB-0A27-1ECDD1BE1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56A605-6D7B-3581-4553-6BC27DB753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6ED135-1473-A2F0-B73D-7B86E6560345}"/>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6" name="Footer Placeholder 5">
            <a:extLst>
              <a:ext uri="{FF2B5EF4-FFF2-40B4-BE49-F238E27FC236}">
                <a16:creationId xmlns:a16="http://schemas.microsoft.com/office/drawing/2014/main" id="{E3CD455A-19FC-8B95-1935-1FADA11285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69FB4-E5B6-20D8-9F82-836CB6E4592D}"/>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347473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AC3A-567E-155E-7E32-2D05AA2606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27C3E0-B7D0-B115-B9F6-597F2FEB7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E1F870-7119-E17D-437B-CD6535E5E3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280F42-4981-2F91-C6ED-F6C62C1C18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85D611-7F0C-7598-0971-E5148BD1B1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5404F-8118-6AE9-E785-3E9C4700107E}"/>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8" name="Footer Placeholder 7">
            <a:extLst>
              <a:ext uri="{FF2B5EF4-FFF2-40B4-BE49-F238E27FC236}">
                <a16:creationId xmlns:a16="http://schemas.microsoft.com/office/drawing/2014/main" id="{73B07129-DF65-7858-F54F-E085B42F24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2F7B2C-DA57-6655-6861-2FA41E63D37D}"/>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2187313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D18F-CAC8-86E7-A8C7-5EA8FA3B87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B677E0-6717-83FB-5AF9-BAB3602C3B8A}"/>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4" name="Footer Placeholder 3">
            <a:extLst>
              <a:ext uri="{FF2B5EF4-FFF2-40B4-BE49-F238E27FC236}">
                <a16:creationId xmlns:a16="http://schemas.microsoft.com/office/drawing/2014/main" id="{27A928B9-7E4D-E7AA-CC44-9D13222C7D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F64659-23FB-A4AE-6812-E843F1087609}"/>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1348737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5A542-5573-EBA0-87D1-7B2DF57C3415}"/>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3" name="Footer Placeholder 2">
            <a:extLst>
              <a:ext uri="{FF2B5EF4-FFF2-40B4-BE49-F238E27FC236}">
                <a16:creationId xmlns:a16="http://schemas.microsoft.com/office/drawing/2014/main" id="{BDC3BE18-BDB2-2F76-719B-249CA7F76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F9AE9B-C25C-6007-D7D2-E59B98FA474C}"/>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3661318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CE90-176C-0FA6-6BEB-240AAB016C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18A6B2-A870-2B03-77C1-85270859F1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FD0DBD-5EA9-9213-F8D8-F67B6BF0E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113CC-8C85-FF7E-3E12-2FA4BECA3FB1}"/>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6" name="Footer Placeholder 5">
            <a:extLst>
              <a:ext uri="{FF2B5EF4-FFF2-40B4-BE49-F238E27FC236}">
                <a16:creationId xmlns:a16="http://schemas.microsoft.com/office/drawing/2014/main" id="{BC2DFD59-FD40-D2AF-5E08-36E6003D94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07A9C4-4734-80D7-74A6-5A4A0F4145BD}"/>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2599717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75177-DD1C-FD7E-3BC2-5EDA3911E2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9F0B46-2068-6B9B-AB34-0F5502D09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459222-80E3-A675-2832-D3F13CFAA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994EB-C74B-206A-939A-F20076830A59}"/>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6" name="Footer Placeholder 5">
            <a:extLst>
              <a:ext uri="{FF2B5EF4-FFF2-40B4-BE49-F238E27FC236}">
                <a16:creationId xmlns:a16="http://schemas.microsoft.com/office/drawing/2014/main" id="{5C20721D-C5D3-41FF-366F-EFA5AC94FF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EE390E-7283-E63F-4D88-6D48A9771769}"/>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220098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CE88F-C057-AD27-CCAE-5A0F4019A9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DAECF3-2BB8-E7C1-4450-457A64DD27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16FA50-3694-CBCE-AC86-327B72F66FDE}"/>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6CF4FBA4-AD3C-D507-445D-F041C16AC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D418C-155B-2B93-CBD5-EA4B2BA8935A}"/>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3612396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9E2125-C796-C042-DFDE-0B1FDC1FCA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915957-A970-07FC-B172-E49FF3F3D7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F01E5C-C929-2903-C40B-A2BE9997C210}"/>
              </a:ext>
            </a:extLst>
          </p:cNvPr>
          <p:cNvSpPr>
            <a:spLocks noGrp="1"/>
          </p:cNvSpPr>
          <p:nvPr>
            <p:ph type="dt" sz="half" idx="10"/>
          </p:nvPr>
        </p:nvSpPr>
        <p:spPr/>
        <p:txBody>
          <a:body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2E2BC07D-FD66-DB4F-AE52-8D62888D6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4810C-DDF2-6F90-1693-9A42A5398BFD}"/>
              </a:ext>
            </a:extLst>
          </p:cNvPr>
          <p:cNvSpPr>
            <a:spLocks noGrp="1"/>
          </p:cNvSpPr>
          <p:nvPr>
            <p:ph type="sldNum" sz="quarter" idx="12"/>
          </p:nvPr>
        </p:nvSpPr>
        <p:spPr/>
        <p:txBody>
          <a:bodyPr/>
          <a:lstStyle/>
          <a:p>
            <a:fld id="{EF9779AE-DB08-40FD-AD5F-292FAFABF3C1}" type="slidenum">
              <a:rPr lang="en-US" smtClean="0"/>
              <a:t>‹#›</a:t>
            </a:fld>
            <a:endParaRPr lang="en-US"/>
          </a:p>
        </p:txBody>
      </p:sp>
    </p:spTree>
    <p:extLst>
      <p:ext uri="{BB962C8B-B14F-4D97-AF65-F5344CB8AC3E}">
        <p14:creationId xmlns:p14="http://schemas.microsoft.com/office/powerpoint/2010/main" val="3258784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921B6D-7CCB-7E6E-5ACF-13FF473E1A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4FC2EC-ABBB-5A14-AD52-D54DDBB2BC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85795C-F0A3-EA2C-F625-9A20FB8CB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66448C-D333-4310-92D1-9A6137EAF50F}" type="datetimeFigureOut">
              <a:rPr lang="en-US" smtClean="0"/>
              <a:t>10/14/2024</a:t>
            </a:fld>
            <a:endParaRPr lang="en-US"/>
          </a:p>
        </p:txBody>
      </p:sp>
      <p:sp>
        <p:nvSpPr>
          <p:cNvPr id="5" name="Footer Placeholder 4">
            <a:extLst>
              <a:ext uri="{FF2B5EF4-FFF2-40B4-BE49-F238E27FC236}">
                <a16:creationId xmlns:a16="http://schemas.microsoft.com/office/drawing/2014/main" id="{E3C39D97-F6DA-5A8B-CB44-F6433A5EEC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B025F4-0697-04DC-2AA6-CA80342F47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9779AE-DB08-40FD-AD5F-292FAFABF3C1}" type="slidenum">
              <a:rPr lang="en-US" smtClean="0"/>
              <a:t>‹#›</a:t>
            </a:fld>
            <a:endParaRPr lang="en-US"/>
          </a:p>
        </p:txBody>
      </p:sp>
    </p:spTree>
    <p:extLst>
      <p:ext uri="{BB962C8B-B14F-4D97-AF65-F5344CB8AC3E}">
        <p14:creationId xmlns:p14="http://schemas.microsoft.com/office/powerpoint/2010/main" val="3634278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AlphaBeta%20Visualization/alpha-beta/index.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EA713-6C39-392E-3FF2-39D707464685}"/>
              </a:ext>
            </a:extLst>
          </p:cNvPr>
          <p:cNvSpPr>
            <a:spLocks noGrp="1"/>
          </p:cNvSpPr>
          <p:nvPr>
            <p:ph type="ctrTitle"/>
          </p:nvPr>
        </p:nvSpPr>
        <p:spPr/>
        <p:txBody>
          <a:bodyPr/>
          <a:lstStyle/>
          <a:p>
            <a:r>
              <a:rPr lang="en-US" dirty="0"/>
              <a:t>Alpha-Beta Pruning</a:t>
            </a:r>
          </a:p>
        </p:txBody>
      </p:sp>
      <p:sp>
        <p:nvSpPr>
          <p:cNvPr id="3" name="Subtitle 2">
            <a:extLst>
              <a:ext uri="{FF2B5EF4-FFF2-40B4-BE49-F238E27FC236}">
                <a16:creationId xmlns:a16="http://schemas.microsoft.com/office/drawing/2014/main" id="{DA92957E-24C2-63B0-5950-A64FAFCE5EC6}"/>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386812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8DB9-E895-3669-78FB-4A333D825DBD}"/>
              </a:ext>
            </a:extLst>
          </p:cNvPr>
          <p:cNvSpPr>
            <a:spLocks noGrp="1"/>
          </p:cNvSpPr>
          <p:nvPr>
            <p:ph type="title"/>
          </p:nvPr>
        </p:nvSpPr>
        <p:spPr/>
        <p:txBody>
          <a:bodyPr/>
          <a:lstStyle/>
          <a:p>
            <a:r>
              <a:rPr lang="en-US" dirty="0"/>
              <a:t>Alpha-Beta Pruning</a:t>
            </a:r>
          </a:p>
        </p:txBody>
      </p:sp>
      <p:sp>
        <p:nvSpPr>
          <p:cNvPr id="3" name="Content Placeholder 2">
            <a:extLst>
              <a:ext uri="{FF2B5EF4-FFF2-40B4-BE49-F238E27FC236}">
                <a16:creationId xmlns:a16="http://schemas.microsoft.com/office/drawing/2014/main" id="{A5C257BD-B1B7-2332-2307-41946DAF397B}"/>
              </a:ext>
            </a:extLst>
          </p:cNvPr>
          <p:cNvSpPr>
            <a:spLocks noGrp="1"/>
          </p:cNvSpPr>
          <p:nvPr>
            <p:ph idx="1"/>
          </p:nvPr>
        </p:nvSpPr>
        <p:spPr/>
        <p:txBody>
          <a:bodyPr>
            <a:normAutofit fontScale="85000" lnSpcReduction="10000"/>
          </a:bodyPr>
          <a:lstStyle/>
          <a:p>
            <a:r>
              <a:rPr lang="en-GB" dirty="0"/>
              <a:t>Alpha-beta pruning is a modified version of the minimax algorithm. It is an optimization technique for the minimax algorithm.</a:t>
            </a:r>
          </a:p>
          <a:p>
            <a:r>
              <a:rPr lang="en-GB" dirty="0"/>
              <a:t>As we have seen in the minimax search algorithm that the number of game states it has to examine are exponential in depth of the tree. Since we cannot eliminate the exponent, but we can cut it to half. Hence there is a technique by which without checking each node of the game tree we can compute the correct minimax decision, and this technique is called pruning. This involves two threshold parameter </a:t>
            </a:r>
            <a:r>
              <a:rPr lang="en-GB" b="1" dirty="0"/>
              <a:t>alpha</a:t>
            </a:r>
            <a:r>
              <a:rPr lang="en-GB" dirty="0"/>
              <a:t> and </a:t>
            </a:r>
            <a:r>
              <a:rPr lang="en-GB" b="1" dirty="0"/>
              <a:t>beta</a:t>
            </a:r>
            <a:r>
              <a:rPr lang="en-GB" dirty="0"/>
              <a:t> for future expansion, so it is called alpha-beta pruning. It is also called as Alpha-Beta Algorithm.</a:t>
            </a:r>
          </a:p>
          <a:p>
            <a:r>
              <a:rPr lang="en-GB" dirty="0"/>
              <a:t>Alpha-beta pruning can be applied at any depth of a tree, and sometimes it not only prune the tree leaves but also entire sub-tree.</a:t>
            </a:r>
            <a:endParaRPr lang="en-US" dirty="0"/>
          </a:p>
        </p:txBody>
      </p:sp>
    </p:spTree>
    <p:extLst>
      <p:ext uri="{BB962C8B-B14F-4D97-AF65-F5344CB8AC3E}">
        <p14:creationId xmlns:p14="http://schemas.microsoft.com/office/powerpoint/2010/main" val="616015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5611-331A-37EA-FD25-AD2EE954F0BE}"/>
              </a:ext>
            </a:extLst>
          </p:cNvPr>
          <p:cNvSpPr>
            <a:spLocks noGrp="1"/>
          </p:cNvSpPr>
          <p:nvPr>
            <p:ph type="title"/>
          </p:nvPr>
        </p:nvSpPr>
        <p:spPr/>
        <p:txBody>
          <a:bodyPr/>
          <a:lstStyle/>
          <a:p>
            <a:r>
              <a:rPr lang="en-US" dirty="0"/>
              <a:t>Alpha-Beta Pruning</a:t>
            </a:r>
          </a:p>
        </p:txBody>
      </p:sp>
      <p:sp>
        <p:nvSpPr>
          <p:cNvPr id="3" name="Content Placeholder 2">
            <a:extLst>
              <a:ext uri="{FF2B5EF4-FFF2-40B4-BE49-F238E27FC236}">
                <a16:creationId xmlns:a16="http://schemas.microsoft.com/office/drawing/2014/main" id="{4AFB5671-8EB3-5ED8-5E18-F37027E37D18}"/>
              </a:ext>
            </a:extLst>
          </p:cNvPr>
          <p:cNvSpPr>
            <a:spLocks noGrp="1"/>
          </p:cNvSpPr>
          <p:nvPr>
            <p:ph idx="1"/>
          </p:nvPr>
        </p:nvSpPr>
        <p:spPr/>
        <p:txBody>
          <a:bodyPr>
            <a:normAutofit/>
          </a:bodyPr>
          <a:lstStyle/>
          <a:p>
            <a:r>
              <a:rPr lang="en-GB" dirty="0"/>
              <a:t>The two-parameter can be defined as:</a:t>
            </a:r>
          </a:p>
          <a:p>
            <a:pPr lvl="1"/>
            <a:r>
              <a:rPr lang="en-GB" b="1" dirty="0"/>
              <a:t>Alpha</a:t>
            </a:r>
            <a:r>
              <a:rPr lang="en-GB" dirty="0"/>
              <a:t>: The best (highest-value) choice we have found so far at any point along the path of </a:t>
            </a:r>
            <a:r>
              <a:rPr lang="en-GB" dirty="0" err="1"/>
              <a:t>Maximizer</a:t>
            </a:r>
            <a:r>
              <a:rPr lang="en-GB" dirty="0"/>
              <a:t>. The initial value of alpha is -∞.</a:t>
            </a:r>
          </a:p>
          <a:p>
            <a:pPr lvl="1"/>
            <a:r>
              <a:rPr lang="en-GB" b="1" dirty="0"/>
              <a:t>Beta</a:t>
            </a:r>
            <a:r>
              <a:rPr lang="en-GB" dirty="0"/>
              <a:t>: The best (lowest-value) choice we have found so far at any point along the path of Minimizer. The initial value of beta is +∞.</a:t>
            </a:r>
          </a:p>
          <a:p>
            <a:r>
              <a:rPr lang="en-GB" dirty="0"/>
              <a:t>The Alpha-beta pruning to a standard minimax algorithm returns the same move as the standard algorithm does, but it removes all the nodes which are not really affecting the final decision but making algorithm slow. Hence by pruning these nodes, it makes the algorithm fast.</a:t>
            </a:r>
            <a:endParaRPr lang="en-US" dirty="0"/>
          </a:p>
        </p:txBody>
      </p:sp>
    </p:spTree>
    <p:extLst>
      <p:ext uri="{BB962C8B-B14F-4D97-AF65-F5344CB8AC3E}">
        <p14:creationId xmlns:p14="http://schemas.microsoft.com/office/powerpoint/2010/main" val="1276231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31FB-6452-1809-A705-3ED5C2124B4E}"/>
              </a:ext>
            </a:extLst>
          </p:cNvPr>
          <p:cNvSpPr>
            <a:spLocks noGrp="1"/>
          </p:cNvSpPr>
          <p:nvPr>
            <p:ph type="title"/>
          </p:nvPr>
        </p:nvSpPr>
        <p:spPr/>
        <p:txBody>
          <a:bodyPr/>
          <a:lstStyle/>
          <a:p>
            <a:r>
              <a:rPr lang="en-GB" dirty="0"/>
              <a:t>Condition for Alpha-beta pruning</a:t>
            </a:r>
            <a:endParaRPr lang="en-US" dirty="0"/>
          </a:p>
        </p:txBody>
      </p:sp>
      <p:sp>
        <p:nvSpPr>
          <p:cNvPr id="3" name="Content Placeholder 2">
            <a:extLst>
              <a:ext uri="{FF2B5EF4-FFF2-40B4-BE49-F238E27FC236}">
                <a16:creationId xmlns:a16="http://schemas.microsoft.com/office/drawing/2014/main" id="{BA2E161B-D8A8-D046-9E68-A6DAC988278C}"/>
              </a:ext>
            </a:extLst>
          </p:cNvPr>
          <p:cNvSpPr>
            <a:spLocks noGrp="1"/>
          </p:cNvSpPr>
          <p:nvPr>
            <p:ph idx="1"/>
          </p:nvPr>
        </p:nvSpPr>
        <p:spPr/>
        <p:txBody>
          <a:bodyPr/>
          <a:lstStyle/>
          <a:p>
            <a:r>
              <a:rPr lang="en-GB" dirty="0"/>
              <a:t>The main condition which required for alpha-beta pruning is:</a:t>
            </a:r>
          </a:p>
          <a:p>
            <a:endParaRPr lang="en-GB" dirty="0"/>
          </a:p>
          <a:p>
            <a:pPr lvl="1"/>
            <a:r>
              <a:rPr lang="en-GB" dirty="0"/>
              <a:t>α&gt;=β </a:t>
            </a:r>
            <a:endParaRPr lang="en-US" dirty="0"/>
          </a:p>
        </p:txBody>
      </p:sp>
    </p:spTree>
    <p:extLst>
      <p:ext uri="{BB962C8B-B14F-4D97-AF65-F5344CB8AC3E}">
        <p14:creationId xmlns:p14="http://schemas.microsoft.com/office/powerpoint/2010/main" val="1996251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ADE6C-DD0F-B019-3FF3-FB763BA4A602}"/>
              </a:ext>
            </a:extLst>
          </p:cNvPr>
          <p:cNvSpPr>
            <a:spLocks noGrp="1"/>
          </p:cNvSpPr>
          <p:nvPr>
            <p:ph type="title"/>
          </p:nvPr>
        </p:nvSpPr>
        <p:spPr/>
        <p:txBody>
          <a:bodyPr/>
          <a:lstStyle/>
          <a:p>
            <a:r>
              <a:rPr lang="en-GB" dirty="0"/>
              <a:t>Key points about alpha-beta pruning</a:t>
            </a:r>
            <a:endParaRPr lang="en-US" dirty="0"/>
          </a:p>
        </p:txBody>
      </p:sp>
      <p:sp>
        <p:nvSpPr>
          <p:cNvPr id="3" name="Content Placeholder 2">
            <a:extLst>
              <a:ext uri="{FF2B5EF4-FFF2-40B4-BE49-F238E27FC236}">
                <a16:creationId xmlns:a16="http://schemas.microsoft.com/office/drawing/2014/main" id="{BD4420B5-E8DB-CB3F-1CAB-EF9C8F967B65}"/>
              </a:ext>
            </a:extLst>
          </p:cNvPr>
          <p:cNvSpPr>
            <a:spLocks noGrp="1"/>
          </p:cNvSpPr>
          <p:nvPr>
            <p:ph idx="1"/>
          </p:nvPr>
        </p:nvSpPr>
        <p:spPr/>
        <p:txBody>
          <a:bodyPr/>
          <a:lstStyle/>
          <a:p>
            <a:r>
              <a:rPr lang="en-GB" dirty="0"/>
              <a:t>The Max player will only update the value of alpha.</a:t>
            </a:r>
          </a:p>
          <a:p>
            <a:r>
              <a:rPr lang="en-GB" dirty="0"/>
              <a:t>The Min player will only update the value of beta.</a:t>
            </a:r>
          </a:p>
          <a:p>
            <a:r>
              <a:rPr lang="en-GB" dirty="0"/>
              <a:t>While backtracking the tree, the node values will be passed to upper nodes instead of values of alpha and beta.</a:t>
            </a:r>
          </a:p>
          <a:p>
            <a:r>
              <a:rPr lang="en-GB" dirty="0"/>
              <a:t>We will only pass the alpha, beta values to the child nodes.</a:t>
            </a:r>
            <a:endParaRPr lang="en-US" dirty="0"/>
          </a:p>
        </p:txBody>
      </p:sp>
    </p:spTree>
    <p:extLst>
      <p:ext uri="{BB962C8B-B14F-4D97-AF65-F5344CB8AC3E}">
        <p14:creationId xmlns:p14="http://schemas.microsoft.com/office/powerpoint/2010/main" val="4239194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661F-AE6C-901F-024C-17B65D86CFFE}"/>
              </a:ext>
            </a:extLst>
          </p:cNvPr>
          <p:cNvSpPr>
            <a:spLocks noGrp="1"/>
          </p:cNvSpPr>
          <p:nvPr>
            <p:ph type="title"/>
          </p:nvPr>
        </p:nvSpPr>
        <p:spPr/>
        <p:txBody>
          <a:bodyPr/>
          <a:lstStyle/>
          <a:p>
            <a:r>
              <a:rPr lang="en-US" dirty="0"/>
              <a:t>Pseudo-code for Alpha-beta Pruning:</a:t>
            </a:r>
          </a:p>
        </p:txBody>
      </p:sp>
      <p:sp>
        <p:nvSpPr>
          <p:cNvPr id="3" name="Content Placeholder 2">
            <a:extLst>
              <a:ext uri="{FF2B5EF4-FFF2-40B4-BE49-F238E27FC236}">
                <a16:creationId xmlns:a16="http://schemas.microsoft.com/office/drawing/2014/main" id="{5DF297C3-9F9E-FD64-CE28-B2BD739439F7}"/>
              </a:ext>
            </a:extLst>
          </p:cNvPr>
          <p:cNvSpPr>
            <a:spLocks noGrp="1"/>
          </p:cNvSpPr>
          <p:nvPr>
            <p:ph idx="1"/>
          </p:nvPr>
        </p:nvSpPr>
        <p:spPr>
          <a:xfrm>
            <a:off x="838200" y="1690688"/>
            <a:ext cx="5054600" cy="4943792"/>
          </a:xfrm>
          <a:solidFill>
            <a:schemeClr val="bg1">
              <a:lumMod val="85000"/>
            </a:schemeClr>
          </a:solidFill>
        </p:spPr>
        <p:txBody>
          <a:bodyPr>
            <a:noAutofit/>
          </a:bodyPr>
          <a:lstStyle/>
          <a:p>
            <a:pPr marL="0" indent="0">
              <a:buNone/>
            </a:pPr>
            <a:r>
              <a:rPr lang="en-US" sz="1400" dirty="0">
                <a:latin typeface="Consolas" panose="020B0609020204030204" pitchFamily="49" charset="0"/>
              </a:rPr>
              <a:t>function minimax(node: Node, depth: number, alpha: number, beta: number, </a:t>
            </a:r>
            <a:r>
              <a:rPr lang="en-US" sz="1400" dirty="0" err="1">
                <a:latin typeface="Consolas" panose="020B0609020204030204" pitchFamily="49" charset="0"/>
              </a:rPr>
              <a:t>isMaximizingPlayer</a:t>
            </a:r>
            <a:r>
              <a:rPr lang="en-US" sz="1400" dirty="0">
                <a:latin typeface="Consolas" panose="020B0609020204030204" pitchFamily="49" charset="0"/>
              </a:rPr>
              <a:t>: </a:t>
            </a:r>
            <a:r>
              <a:rPr lang="en-US" sz="1400" dirty="0" err="1">
                <a:latin typeface="Consolas" panose="020B0609020204030204" pitchFamily="49" charset="0"/>
              </a:rPr>
              <a:t>boolean</a:t>
            </a:r>
            <a:r>
              <a:rPr lang="en-US" sz="1400" dirty="0">
                <a:latin typeface="Consolas" panose="020B0609020204030204" pitchFamily="49" charset="0"/>
              </a:rPr>
              <a:t>):</a:t>
            </a:r>
          </a:p>
          <a:p>
            <a:pPr marL="233363" indent="0">
              <a:buNone/>
            </a:pPr>
            <a:r>
              <a:rPr lang="en-US" sz="1400" dirty="0">
                <a:latin typeface="Consolas" panose="020B0609020204030204" pitchFamily="49" charset="0"/>
              </a:rPr>
              <a:t>if depth == 0 or node is a terminal node then  </a:t>
            </a:r>
          </a:p>
          <a:p>
            <a:pPr marL="233363" indent="0">
              <a:buNone/>
            </a:pPr>
            <a:r>
              <a:rPr lang="en-US" sz="1400" dirty="0">
                <a:latin typeface="Consolas" panose="020B0609020204030204" pitchFamily="49" charset="0"/>
              </a:rPr>
              <a:t>return static evaluation of node  </a:t>
            </a:r>
          </a:p>
          <a:p>
            <a:pPr marL="233363" indent="0">
              <a:buNone/>
            </a:pPr>
            <a:r>
              <a:rPr lang="en-US" sz="1400" dirty="0">
                <a:latin typeface="Consolas" panose="020B0609020204030204" pitchFamily="49" charset="0"/>
              </a:rPr>
              <a:t>  </a:t>
            </a:r>
          </a:p>
          <a:p>
            <a:pPr marL="233363" indent="0">
              <a:buNone/>
            </a:pPr>
            <a:r>
              <a:rPr lang="en-US" sz="1400" dirty="0">
                <a:latin typeface="Consolas" panose="020B0609020204030204" pitchFamily="49" charset="0"/>
              </a:rPr>
              <a:t>if </a:t>
            </a:r>
            <a:r>
              <a:rPr lang="en-US" sz="1400" dirty="0" err="1">
                <a:latin typeface="Consolas" panose="020B0609020204030204" pitchFamily="49" charset="0"/>
              </a:rPr>
              <a:t>isMaximizingPlayer</a:t>
            </a:r>
            <a:r>
              <a:rPr lang="en-US" sz="1400" dirty="0">
                <a:latin typeface="Consolas" panose="020B0609020204030204" pitchFamily="49" charset="0"/>
              </a:rPr>
              <a:t> then  // for Maximizer Player  </a:t>
            </a:r>
          </a:p>
          <a:p>
            <a:pPr marL="233363" indent="0">
              <a:buNone/>
            </a:pPr>
            <a:r>
              <a:rPr lang="en-US" sz="1400" dirty="0">
                <a:latin typeface="Consolas" panose="020B0609020204030204" pitchFamily="49" charset="0"/>
              </a:rPr>
              <a:t>   </a:t>
            </a:r>
            <a:r>
              <a:rPr lang="en-US" sz="1400" dirty="0" err="1">
                <a:latin typeface="Consolas" panose="020B0609020204030204" pitchFamily="49" charset="0"/>
              </a:rPr>
              <a:t>maxEval</a:t>
            </a:r>
            <a:r>
              <a:rPr lang="en-US" sz="1400" dirty="0">
                <a:latin typeface="Consolas" panose="020B0609020204030204" pitchFamily="49" charset="0"/>
              </a:rPr>
              <a:t> = -infinity            </a:t>
            </a:r>
          </a:p>
          <a:p>
            <a:pPr marL="233363" indent="0">
              <a:buNone/>
            </a:pPr>
            <a:r>
              <a:rPr lang="en-US" sz="1400" dirty="0">
                <a:latin typeface="Consolas" panose="020B0609020204030204" pitchFamily="49" charset="0"/>
              </a:rPr>
              <a:t>   for each child of node do  </a:t>
            </a:r>
          </a:p>
          <a:p>
            <a:pPr marL="690563" indent="0">
              <a:buNone/>
            </a:pPr>
            <a:r>
              <a:rPr lang="en-US" sz="1400" dirty="0">
                <a:latin typeface="Consolas" panose="020B0609020204030204" pitchFamily="49" charset="0"/>
              </a:rPr>
              <a:t>eval = minimax(child, depth - 1, alpha, beta, False)  </a:t>
            </a:r>
          </a:p>
          <a:p>
            <a:pPr marL="690563" indent="0">
              <a:buNone/>
            </a:pPr>
            <a:r>
              <a:rPr lang="en-US" sz="1400" dirty="0" err="1">
                <a:latin typeface="Consolas" panose="020B0609020204030204" pitchFamily="49" charset="0"/>
              </a:rPr>
              <a:t>maxEval</a:t>
            </a:r>
            <a:r>
              <a:rPr lang="en-US" sz="1400" dirty="0">
                <a:latin typeface="Consolas" panose="020B0609020204030204" pitchFamily="49" charset="0"/>
              </a:rPr>
              <a:t> = max(</a:t>
            </a:r>
            <a:r>
              <a:rPr lang="en-US" sz="1400" dirty="0" err="1">
                <a:latin typeface="Consolas" panose="020B0609020204030204" pitchFamily="49" charset="0"/>
              </a:rPr>
              <a:t>maxEval</a:t>
            </a:r>
            <a:r>
              <a:rPr lang="en-US" sz="1400" dirty="0">
                <a:latin typeface="Consolas" panose="020B0609020204030204" pitchFamily="49" charset="0"/>
              </a:rPr>
              <a:t>, eval)   </a:t>
            </a:r>
          </a:p>
          <a:p>
            <a:pPr marL="690563" indent="0">
              <a:buNone/>
            </a:pPr>
            <a:r>
              <a:rPr lang="en-US" sz="1400" dirty="0">
                <a:latin typeface="Consolas" panose="020B0609020204030204" pitchFamily="49" charset="0"/>
              </a:rPr>
              <a:t>alpha = max(alpha, </a:t>
            </a:r>
            <a:r>
              <a:rPr lang="en-US" sz="1400" dirty="0" err="1">
                <a:latin typeface="Consolas" panose="020B0609020204030204" pitchFamily="49" charset="0"/>
              </a:rPr>
              <a:t>maxEval</a:t>
            </a:r>
            <a:r>
              <a:rPr lang="en-US" sz="1400" dirty="0">
                <a:latin typeface="Consolas" panose="020B0609020204030204" pitchFamily="49" charset="0"/>
              </a:rPr>
              <a:t>)      </a:t>
            </a:r>
          </a:p>
          <a:p>
            <a:pPr marL="690563" indent="0">
              <a:buNone/>
            </a:pPr>
            <a:r>
              <a:rPr lang="en-US" sz="1400" dirty="0">
                <a:latin typeface="Consolas" panose="020B0609020204030204" pitchFamily="49" charset="0"/>
              </a:rPr>
              <a:t>if beta&lt;=alpha  </a:t>
            </a:r>
          </a:p>
          <a:p>
            <a:pPr marL="690563" indent="0">
              <a:buNone/>
            </a:pPr>
            <a:r>
              <a:rPr lang="en-US" sz="1400" dirty="0">
                <a:latin typeface="Consolas" panose="020B0609020204030204" pitchFamily="49" charset="0"/>
              </a:rPr>
              <a:t>   break  </a:t>
            </a:r>
          </a:p>
          <a:p>
            <a:pPr marL="233363" indent="0">
              <a:buNone/>
            </a:pPr>
            <a:r>
              <a:rPr lang="en-US" sz="1400" dirty="0">
                <a:latin typeface="Consolas" panose="020B0609020204030204" pitchFamily="49" charset="0"/>
              </a:rPr>
              <a:t>   return </a:t>
            </a:r>
            <a:r>
              <a:rPr lang="en-US" sz="1400" dirty="0" err="1">
                <a:latin typeface="Consolas" panose="020B0609020204030204" pitchFamily="49" charset="0"/>
              </a:rPr>
              <a:t>maxEval</a:t>
            </a:r>
            <a:r>
              <a:rPr lang="en-US" sz="1400" dirty="0">
                <a:latin typeface="Consolas" panose="020B0609020204030204" pitchFamily="49" charset="0"/>
              </a:rPr>
              <a:t>  </a:t>
            </a:r>
          </a:p>
          <a:p>
            <a:pPr marL="0" indent="0">
              <a:buNone/>
            </a:pPr>
            <a:r>
              <a:rPr lang="en-US" sz="1400" dirty="0">
                <a:latin typeface="Consolas" panose="020B0609020204030204" pitchFamily="49" charset="0"/>
              </a:rPr>
              <a:t>    </a:t>
            </a:r>
          </a:p>
          <a:p>
            <a:pPr marL="0" indent="0">
              <a:buNone/>
            </a:pPr>
            <a:endParaRPr lang="en-US" sz="1400" dirty="0">
              <a:latin typeface="Consolas" panose="020B0609020204030204" pitchFamily="49" charset="0"/>
            </a:endParaRPr>
          </a:p>
        </p:txBody>
      </p:sp>
      <p:sp>
        <p:nvSpPr>
          <p:cNvPr id="4" name="Content Placeholder 2">
            <a:extLst>
              <a:ext uri="{FF2B5EF4-FFF2-40B4-BE49-F238E27FC236}">
                <a16:creationId xmlns:a16="http://schemas.microsoft.com/office/drawing/2014/main" id="{639EE617-3B3A-6313-8897-F839ECD58F23}"/>
              </a:ext>
            </a:extLst>
          </p:cNvPr>
          <p:cNvSpPr txBox="1">
            <a:spLocks/>
          </p:cNvSpPr>
          <p:nvPr/>
        </p:nvSpPr>
        <p:spPr>
          <a:xfrm>
            <a:off x="6096000" y="1690688"/>
            <a:ext cx="4754880" cy="4943791"/>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latin typeface="Consolas" panose="020B0609020204030204" pitchFamily="49" charset="0"/>
              </a:rPr>
              <a:t>    </a:t>
            </a:r>
          </a:p>
          <a:p>
            <a:pPr marL="0" indent="0">
              <a:buFont typeface="Arial" panose="020B0604020202020204" pitchFamily="34" charset="0"/>
              <a:buNone/>
            </a:pPr>
            <a:r>
              <a:rPr lang="en-US" sz="1400" dirty="0">
                <a:latin typeface="Consolas" panose="020B0609020204030204" pitchFamily="49" charset="0"/>
              </a:rPr>
              <a:t>else       // for Minimizer player  </a:t>
            </a:r>
          </a:p>
          <a:p>
            <a:pPr marL="0" indent="0">
              <a:buFont typeface="Arial" panose="020B0604020202020204" pitchFamily="34" charset="0"/>
              <a:buNone/>
            </a:pPr>
            <a:r>
              <a:rPr lang="en-US" sz="1400" dirty="0">
                <a:latin typeface="Consolas" panose="020B0609020204030204" pitchFamily="49" charset="0"/>
              </a:rPr>
              <a:t>   </a:t>
            </a:r>
            <a:r>
              <a:rPr lang="en-US" sz="1400" dirty="0" err="1">
                <a:latin typeface="Consolas" panose="020B0609020204030204" pitchFamily="49" charset="0"/>
              </a:rPr>
              <a:t>minEval</a:t>
            </a:r>
            <a:r>
              <a:rPr lang="en-US" sz="1400" dirty="0">
                <a:latin typeface="Consolas" panose="020B0609020204030204" pitchFamily="49" charset="0"/>
              </a:rPr>
              <a:t> = +infinity   </a:t>
            </a:r>
          </a:p>
          <a:p>
            <a:pPr marL="0" indent="284163">
              <a:buFont typeface="Arial" panose="020B0604020202020204" pitchFamily="34" charset="0"/>
              <a:buNone/>
            </a:pPr>
            <a:r>
              <a:rPr lang="en-US" sz="1400" dirty="0">
                <a:latin typeface="Consolas" panose="020B0609020204030204" pitchFamily="49" charset="0"/>
              </a:rPr>
              <a:t>for each child of node do  </a:t>
            </a:r>
          </a:p>
          <a:p>
            <a:pPr marL="568325" indent="0">
              <a:buFont typeface="Arial" panose="020B0604020202020204" pitchFamily="34" charset="0"/>
              <a:buNone/>
            </a:pPr>
            <a:r>
              <a:rPr lang="en-US" sz="1400" dirty="0">
                <a:latin typeface="Consolas" panose="020B0609020204030204" pitchFamily="49" charset="0"/>
              </a:rPr>
              <a:t>eval = minimax(child, depth - 1, alpha,   beta, True)  </a:t>
            </a:r>
          </a:p>
          <a:p>
            <a:pPr marL="568325" indent="0">
              <a:buFont typeface="Arial" panose="020B0604020202020204" pitchFamily="34" charset="0"/>
              <a:buNone/>
            </a:pPr>
            <a:r>
              <a:rPr lang="en-US" sz="1400" dirty="0" err="1">
                <a:latin typeface="Consolas" panose="020B0609020204030204" pitchFamily="49" charset="0"/>
              </a:rPr>
              <a:t>minEval</a:t>
            </a:r>
            <a:r>
              <a:rPr lang="en-US" sz="1400" dirty="0">
                <a:latin typeface="Consolas" panose="020B0609020204030204" pitchFamily="49" charset="0"/>
              </a:rPr>
              <a:t> = min(</a:t>
            </a:r>
            <a:r>
              <a:rPr lang="en-US" sz="1400" dirty="0" err="1">
                <a:latin typeface="Consolas" panose="020B0609020204030204" pitchFamily="49" charset="0"/>
              </a:rPr>
              <a:t>minEval</a:t>
            </a:r>
            <a:r>
              <a:rPr lang="en-US" sz="1400" dirty="0">
                <a:latin typeface="Consolas" panose="020B0609020204030204" pitchFamily="49" charset="0"/>
              </a:rPr>
              <a:t>, eval)   </a:t>
            </a:r>
          </a:p>
          <a:p>
            <a:pPr marL="568325" indent="0">
              <a:buFont typeface="Arial" panose="020B0604020202020204" pitchFamily="34" charset="0"/>
              <a:buNone/>
            </a:pPr>
            <a:r>
              <a:rPr lang="en-US" sz="1400" dirty="0">
                <a:latin typeface="Consolas" panose="020B0609020204030204" pitchFamily="49" charset="0"/>
              </a:rPr>
              <a:t>beta = min(beta, eval)  </a:t>
            </a:r>
          </a:p>
          <a:p>
            <a:pPr marL="568325" indent="0">
              <a:buFont typeface="Arial" panose="020B0604020202020204" pitchFamily="34" charset="0"/>
              <a:buNone/>
            </a:pPr>
            <a:r>
              <a:rPr lang="en-US" sz="1400" dirty="0">
                <a:latin typeface="Consolas" panose="020B0609020204030204" pitchFamily="49" charset="0"/>
              </a:rPr>
              <a:t>if beta &lt;= alpha  </a:t>
            </a:r>
          </a:p>
          <a:p>
            <a:pPr marL="803275" indent="0">
              <a:buFont typeface="Arial" panose="020B0604020202020204" pitchFamily="34" charset="0"/>
              <a:buNone/>
            </a:pPr>
            <a:r>
              <a:rPr lang="en-US" sz="1400" dirty="0">
                <a:latin typeface="Consolas" panose="020B0609020204030204" pitchFamily="49" charset="0"/>
              </a:rPr>
              <a:t>break          </a:t>
            </a:r>
          </a:p>
          <a:p>
            <a:pPr marL="0" indent="0">
              <a:buFont typeface="Arial" panose="020B0604020202020204" pitchFamily="34" charset="0"/>
              <a:buNone/>
            </a:pPr>
            <a:r>
              <a:rPr lang="en-US" sz="1400" dirty="0">
                <a:latin typeface="Consolas" panose="020B0609020204030204" pitchFamily="49" charset="0"/>
              </a:rPr>
              <a:t> return </a:t>
            </a:r>
            <a:r>
              <a:rPr lang="en-US" sz="1400" dirty="0" err="1">
                <a:latin typeface="Consolas" panose="020B0609020204030204" pitchFamily="49" charset="0"/>
              </a:rPr>
              <a:t>minEval</a:t>
            </a:r>
            <a:r>
              <a:rPr lang="en-US" sz="1400" dirty="0">
                <a:latin typeface="Consolas" panose="020B0609020204030204" pitchFamily="49" charset="0"/>
              </a:rPr>
              <a:t> </a:t>
            </a:r>
          </a:p>
        </p:txBody>
      </p:sp>
    </p:spTree>
    <p:extLst>
      <p:ext uri="{BB962C8B-B14F-4D97-AF65-F5344CB8AC3E}">
        <p14:creationId xmlns:p14="http://schemas.microsoft.com/office/powerpoint/2010/main" val="1671566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6F8E1-9467-B699-4434-870221773F76}"/>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F6396311-EA97-7C37-AAC9-A7D784535875}"/>
              </a:ext>
            </a:extLst>
          </p:cNvPr>
          <p:cNvSpPr>
            <a:spLocks noGrp="1"/>
          </p:cNvSpPr>
          <p:nvPr>
            <p:ph idx="1"/>
          </p:nvPr>
        </p:nvSpPr>
        <p:spPr>
          <a:xfrm>
            <a:off x="838200" y="1825625"/>
            <a:ext cx="5257800" cy="4351338"/>
          </a:xfrm>
        </p:spPr>
        <p:txBody>
          <a:bodyPr>
            <a:normAutofit lnSpcReduction="10000"/>
          </a:bodyPr>
          <a:lstStyle/>
          <a:p>
            <a:r>
              <a:rPr lang="en-GB" sz="2400" dirty="0"/>
              <a:t>Let's take an example of two-player search tree to understand the working of Alpha-beta pruning</a:t>
            </a:r>
          </a:p>
          <a:p>
            <a:endParaRPr lang="en-GB" sz="2400" dirty="0"/>
          </a:p>
          <a:p>
            <a:r>
              <a:rPr lang="en-GB" sz="2400" b="1" dirty="0"/>
              <a:t>Step 1</a:t>
            </a:r>
            <a:r>
              <a:rPr lang="en-GB" sz="2400" dirty="0"/>
              <a:t>: At the first step the, Max player will start first move from node A where α= -∞ and β= +∞, these value of alpha and beta passed down to node B where again α= -∞ and β= +∞, and Node B passes the same value to its child D.</a:t>
            </a:r>
            <a:endParaRPr lang="en-US" sz="2400" dirty="0"/>
          </a:p>
        </p:txBody>
      </p:sp>
      <p:pic>
        <p:nvPicPr>
          <p:cNvPr id="4" name="Picture 3">
            <a:extLst>
              <a:ext uri="{FF2B5EF4-FFF2-40B4-BE49-F238E27FC236}">
                <a16:creationId xmlns:a16="http://schemas.microsoft.com/office/drawing/2014/main" id="{45E95EE2-72AF-08E3-3F1C-5E0021106366}"/>
              </a:ext>
            </a:extLst>
          </p:cNvPr>
          <p:cNvPicPr>
            <a:picLocks noChangeAspect="1"/>
          </p:cNvPicPr>
          <p:nvPr/>
        </p:nvPicPr>
        <p:blipFill>
          <a:blip r:embed="rId2"/>
          <a:stretch>
            <a:fillRect/>
          </a:stretch>
        </p:blipFill>
        <p:spPr>
          <a:xfrm>
            <a:off x="6275070" y="1690688"/>
            <a:ext cx="4762500" cy="4257675"/>
          </a:xfrm>
          <a:prstGeom prst="rect">
            <a:avLst/>
          </a:prstGeom>
        </p:spPr>
      </p:pic>
    </p:spTree>
    <p:extLst>
      <p:ext uri="{BB962C8B-B14F-4D97-AF65-F5344CB8AC3E}">
        <p14:creationId xmlns:p14="http://schemas.microsoft.com/office/powerpoint/2010/main" val="2189346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1FDE-1296-A072-0DF4-71A218AC443D}"/>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AF50A2F4-7DBF-E344-88CE-F70B2048B5FB}"/>
              </a:ext>
            </a:extLst>
          </p:cNvPr>
          <p:cNvSpPr>
            <a:spLocks noGrp="1"/>
          </p:cNvSpPr>
          <p:nvPr>
            <p:ph idx="1"/>
          </p:nvPr>
        </p:nvSpPr>
        <p:spPr>
          <a:xfrm>
            <a:off x="838200" y="1825625"/>
            <a:ext cx="5257800" cy="4351338"/>
          </a:xfrm>
        </p:spPr>
        <p:txBody>
          <a:bodyPr>
            <a:normAutofit fontScale="77500" lnSpcReduction="20000"/>
          </a:bodyPr>
          <a:lstStyle/>
          <a:p>
            <a:r>
              <a:rPr lang="en-GB" b="1" dirty="0"/>
              <a:t>Step 2</a:t>
            </a:r>
            <a:r>
              <a:rPr lang="en-GB" dirty="0"/>
              <a:t>: At Node D, the value of α will be calculated as its turn for Max. The value of α is compared with firstly 2 and then 3, and the max (2, 3) = 3 will be the value of α at node D and node value will also 3.</a:t>
            </a:r>
          </a:p>
          <a:p>
            <a:r>
              <a:rPr lang="en-GB" b="1" dirty="0"/>
              <a:t>Step 3</a:t>
            </a:r>
            <a:r>
              <a:rPr lang="en-GB" dirty="0"/>
              <a:t>: Now algorithm backtrack to node B, where the value of β will change as this is a turn of Min, Now β= +∞, will compare with the available subsequent nodes value, i.e. min (∞, 3) = 3, hence at node B now α= -∞, and β= 3.</a:t>
            </a:r>
          </a:p>
          <a:p>
            <a:r>
              <a:rPr lang="en-GB" dirty="0"/>
              <a:t>In the next step, algorithm traverse the next successor of Node B which is node E, and the values of α= -∞, and β= 3 will also be passed.</a:t>
            </a:r>
            <a:endParaRPr lang="en-US" dirty="0"/>
          </a:p>
        </p:txBody>
      </p:sp>
      <p:pic>
        <p:nvPicPr>
          <p:cNvPr id="4" name="Picture 3">
            <a:extLst>
              <a:ext uri="{FF2B5EF4-FFF2-40B4-BE49-F238E27FC236}">
                <a16:creationId xmlns:a16="http://schemas.microsoft.com/office/drawing/2014/main" id="{77B520CA-D2A6-310C-AFAF-085603DDDBC5}"/>
              </a:ext>
            </a:extLst>
          </p:cNvPr>
          <p:cNvPicPr>
            <a:picLocks noChangeAspect="1"/>
          </p:cNvPicPr>
          <p:nvPr/>
        </p:nvPicPr>
        <p:blipFill>
          <a:blip r:embed="rId2"/>
          <a:srcRect b="9604"/>
          <a:stretch/>
        </p:blipFill>
        <p:spPr>
          <a:xfrm>
            <a:off x="6284209" y="1760696"/>
            <a:ext cx="5280861" cy="4264183"/>
          </a:xfrm>
          <a:prstGeom prst="rect">
            <a:avLst/>
          </a:prstGeom>
        </p:spPr>
      </p:pic>
    </p:spTree>
    <p:extLst>
      <p:ext uri="{BB962C8B-B14F-4D97-AF65-F5344CB8AC3E}">
        <p14:creationId xmlns:p14="http://schemas.microsoft.com/office/powerpoint/2010/main" val="2800635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7B2E8-93FD-EFB3-F62F-F3EC70B55318}"/>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6D9C889D-0741-B33E-4E4C-16B8D0D9B85B}"/>
              </a:ext>
            </a:extLst>
          </p:cNvPr>
          <p:cNvSpPr>
            <a:spLocks noGrp="1"/>
          </p:cNvSpPr>
          <p:nvPr>
            <p:ph idx="1"/>
          </p:nvPr>
        </p:nvSpPr>
        <p:spPr>
          <a:xfrm>
            <a:off x="838200" y="1825625"/>
            <a:ext cx="4485640" cy="4351338"/>
          </a:xfrm>
        </p:spPr>
        <p:txBody>
          <a:bodyPr>
            <a:normAutofit fontScale="92500" lnSpcReduction="10000"/>
          </a:bodyPr>
          <a:lstStyle/>
          <a:p>
            <a:r>
              <a:rPr lang="en-GB" b="1" dirty="0"/>
              <a:t>Step 4</a:t>
            </a:r>
            <a:r>
              <a:rPr lang="en-GB" dirty="0"/>
              <a:t>:At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a:t>
            </a:r>
            <a:endParaRPr lang="en-US" dirty="0"/>
          </a:p>
        </p:txBody>
      </p:sp>
      <p:pic>
        <p:nvPicPr>
          <p:cNvPr id="4" name="Picture 3">
            <a:extLst>
              <a:ext uri="{FF2B5EF4-FFF2-40B4-BE49-F238E27FC236}">
                <a16:creationId xmlns:a16="http://schemas.microsoft.com/office/drawing/2014/main" id="{14458FA5-8850-741C-A678-7D19D4EBE1FA}"/>
              </a:ext>
            </a:extLst>
          </p:cNvPr>
          <p:cNvPicPr>
            <a:picLocks noChangeAspect="1"/>
          </p:cNvPicPr>
          <p:nvPr/>
        </p:nvPicPr>
        <p:blipFill>
          <a:blip r:embed="rId2"/>
          <a:stretch>
            <a:fillRect/>
          </a:stretch>
        </p:blipFill>
        <p:spPr>
          <a:xfrm>
            <a:off x="5828030" y="1825625"/>
            <a:ext cx="4762500" cy="4257675"/>
          </a:xfrm>
          <a:prstGeom prst="rect">
            <a:avLst/>
          </a:prstGeom>
        </p:spPr>
      </p:pic>
    </p:spTree>
    <p:extLst>
      <p:ext uri="{BB962C8B-B14F-4D97-AF65-F5344CB8AC3E}">
        <p14:creationId xmlns:p14="http://schemas.microsoft.com/office/powerpoint/2010/main" val="3959725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D764-2F03-491F-3251-EB804FCA6957}"/>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A42695F3-8B40-44D1-7C43-6332785FADB0}"/>
              </a:ext>
            </a:extLst>
          </p:cNvPr>
          <p:cNvSpPr>
            <a:spLocks noGrp="1"/>
          </p:cNvSpPr>
          <p:nvPr>
            <p:ph idx="1"/>
          </p:nvPr>
        </p:nvSpPr>
        <p:spPr>
          <a:xfrm>
            <a:off x="838200" y="1825625"/>
            <a:ext cx="5257800" cy="4351338"/>
          </a:xfrm>
        </p:spPr>
        <p:txBody>
          <a:bodyPr>
            <a:normAutofit fontScale="70000" lnSpcReduction="20000"/>
          </a:bodyPr>
          <a:lstStyle/>
          <a:p>
            <a:r>
              <a:rPr lang="en-GB" b="1" dirty="0"/>
              <a:t>Step 5</a:t>
            </a:r>
            <a:r>
              <a:rPr lang="en-GB" dirty="0"/>
              <a:t>: At next step, algorithm again backtrack the tree, from node B to node A. At node A, the value of alpha will be changed the maximum available value is 3 as max (-∞, 3)= 3, and β= +∞, these two values now passes to right successor of A which is Node C.</a:t>
            </a:r>
          </a:p>
          <a:p>
            <a:endParaRPr lang="en-GB" dirty="0"/>
          </a:p>
          <a:p>
            <a:r>
              <a:rPr lang="en-GB" dirty="0"/>
              <a:t>At node C, α=3 and β= +∞, and the same values will be passed on to node F.</a:t>
            </a:r>
          </a:p>
          <a:p>
            <a:endParaRPr lang="en-GB" dirty="0"/>
          </a:p>
          <a:p>
            <a:r>
              <a:rPr lang="en-GB" b="1" dirty="0"/>
              <a:t>Step 6</a:t>
            </a:r>
            <a:r>
              <a:rPr lang="en-GB" dirty="0"/>
              <a:t>: At node F, again the value of α will be compared with left child which is 0, and max(3,0)= 3, and then compared with right child which is 1, and max(3,1)= 3 still α remains 3, but the node value of F will become 1.</a:t>
            </a:r>
            <a:endParaRPr lang="en-US" dirty="0"/>
          </a:p>
        </p:txBody>
      </p:sp>
      <p:pic>
        <p:nvPicPr>
          <p:cNvPr id="4" name="Picture 3">
            <a:extLst>
              <a:ext uri="{FF2B5EF4-FFF2-40B4-BE49-F238E27FC236}">
                <a16:creationId xmlns:a16="http://schemas.microsoft.com/office/drawing/2014/main" id="{A90C5BF0-DA06-BD0A-49B5-10BB568F160B}"/>
              </a:ext>
            </a:extLst>
          </p:cNvPr>
          <p:cNvPicPr>
            <a:picLocks noChangeAspect="1"/>
          </p:cNvPicPr>
          <p:nvPr/>
        </p:nvPicPr>
        <p:blipFill>
          <a:blip r:embed="rId2"/>
          <a:stretch>
            <a:fillRect/>
          </a:stretch>
        </p:blipFill>
        <p:spPr>
          <a:xfrm>
            <a:off x="6234430" y="1872456"/>
            <a:ext cx="4762500" cy="4257675"/>
          </a:xfrm>
          <a:prstGeom prst="rect">
            <a:avLst/>
          </a:prstGeom>
        </p:spPr>
      </p:pic>
    </p:spTree>
    <p:extLst>
      <p:ext uri="{BB962C8B-B14F-4D97-AF65-F5344CB8AC3E}">
        <p14:creationId xmlns:p14="http://schemas.microsoft.com/office/powerpoint/2010/main" val="1831011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A19FF-37D1-139A-4952-8FF64E8FCF6D}"/>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3E9FA4E5-ED71-0806-27B2-6F55E763ED8E}"/>
              </a:ext>
            </a:extLst>
          </p:cNvPr>
          <p:cNvSpPr>
            <a:spLocks noGrp="1"/>
          </p:cNvSpPr>
          <p:nvPr>
            <p:ph idx="1"/>
          </p:nvPr>
        </p:nvSpPr>
        <p:spPr>
          <a:xfrm>
            <a:off x="838200" y="1825625"/>
            <a:ext cx="4739640" cy="4351338"/>
          </a:xfrm>
        </p:spPr>
        <p:txBody>
          <a:bodyPr>
            <a:normAutofit fontScale="92500" lnSpcReduction="10000"/>
          </a:bodyPr>
          <a:lstStyle/>
          <a:p>
            <a:r>
              <a:rPr lang="en-GB" b="1" dirty="0"/>
              <a:t>Step 7</a:t>
            </a:r>
            <a:r>
              <a:rPr lang="en-GB" dirty="0"/>
              <a:t>: 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a:t>
            </a:r>
            <a:endParaRPr lang="en-US" dirty="0"/>
          </a:p>
        </p:txBody>
      </p:sp>
      <p:pic>
        <p:nvPicPr>
          <p:cNvPr id="4" name="Picture 3">
            <a:extLst>
              <a:ext uri="{FF2B5EF4-FFF2-40B4-BE49-F238E27FC236}">
                <a16:creationId xmlns:a16="http://schemas.microsoft.com/office/drawing/2014/main" id="{7633C2A7-4AA2-E775-6476-4DD7226FF20A}"/>
              </a:ext>
            </a:extLst>
          </p:cNvPr>
          <p:cNvPicPr>
            <a:picLocks noChangeAspect="1"/>
          </p:cNvPicPr>
          <p:nvPr/>
        </p:nvPicPr>
        <p:blipFill>
          <a:blip r:embed="rId2"/>
          <a:stretch>
            <a:fillRect/>
          </a:stretch>
        </p:blipFill>
        <p:spPr>
          <a:xfrm>
            <a:off x="6000750" y="2235200"/>
            <a:ext cx="4762500" cy="4257675"/>
          </a:xfrm>
          <a:prstGeom prst="rect">
            <a:avLst/>
          </a:prstGeom>
        </p:spPr>
      </p:pic>
    </p:spTree>
    <p:extLst>
      <p:ext uri="{BB962C8B-B14F-4D97-AF65-F5344CB8AC3E}">
        <p14:creationId xmlns:p14="http://schemas.microsoft.com/office/powerpoint/2010/main" val="316443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31DC-79B3-A12C-6D5E-3C56F4BD532F}"/>
              </a:ext>
            </a:extLst>
          </p:cNvPr>
          <p:cNvSpPr>
            <a:spLocks noGrp="1"/>
          </p:cNvSpPr>
          <p:nvPr>
            <p:ph type="title"/>
          </p:nvPr>
        </p:nvSpPr>
        <p:spPr/>
        <p:txBody>
          <a:bodyPr/>
          <a:lstStyle/>
          <a:p>
            <a:r>
              <a:rPr lang="en-US" dirty="0"/>
              <a:t>Working of Alpha-Beta Pruning</a:t>
            </a:r>
          </a:p>
        </p:txBody>
      </p:sp>
      <p:sp>
        <p:nvSpPr>
          <p:cNvPr id="3" name="Content Placeholder 2">
            <a:extLst>
              <a:ext uri="{FF2B5EF4-FFF2-40B4-BE49-F238E27FC236}">
                <a16:creationId xmlns:a16="http://schemas.microsoft.com/office/drawing/2014/main" id="{130F317B-8064-9074-3172-678D23CC5B57}"/>
              </a:ext>
            </a:extLst>
          </p:cNvPr>
          <p:cNvSpPr>
            <a:spLocks noGrp="1"/>
          </p:cNvSpPr>
          <p:nvPr>
            <p:ph idx="1"/>
          </p:nvPr>
        </p:nvSpPr>
        <p:spPr>
          <a:xfrm>
            <a:off x="838200" y="1825625"/>
            <a:ext cx="4312920" cy="4351338"/>
          </a:xfrm>
        </p:spPr>
        <p:txBody>
          <a:bodyPr>
            <a:normAutofit fontScale="92500" lnSpcReduction="10000"/>
          </a:bodyPr>
          <a:lstStyle/>
          <a:p>
            <a:r>
              <a:rPr lang="en-GB" dirty="0"/>
              <a:t>Step 8: C now returns the value of 1 to A here the best value for A is max (3, 1) = 3. Following is the final game tree which is the showing the nodes which are computed and nodes which has never computed. Hence the optimal value for the </a:t>
            </a:r>
            <a:r>
              <a:rPr lang="en-GB" dirty="0" err="1"/>
              <a:t>maximizer</a:t>
            </a:r>
            <a:r>
              <a:rPr lang="en-GB" dirty="0"/>
              <a:t> is 3 for this example.</a:t>
            </a:r>
            <a:endParaRPr lang="en-US" dirty="0"/>
          </a:p>
        </p:txBody>
      </p:sp>
      <p:pic>
        <p:nvPicPr>
          <p:cNvPr id="4" name="Picture 3">
            <a:extLst>
              <a:ext uri="{FF2B5EF4-FFF2-40B4-BE49-F238E27FC236}">
                <a16:creationId xmlns:a16="http://schemas.microsoft.com/office/drawing/2014/main" id="{F08820A4-2506-B872-793B-22F8C8E01C0A}"/>
              </a:ext>
            </a:extLst>
          </p:cNvPr>
          <p:cNvPicPr>
            <a:picLocks noChangeAspect="1"/>
          </p:cNvPicPr>
          <p:nvPr/>
        </p:nvPicPr>
        <p:blipFill>
          <a:blip r:embed="rId2"/>
          <a:stretch>
            <a:fillRect/>
          </a:stretch>
        </p:blipFill>
        <p:spPr>
          <a:xfrm>
            <a:off x="5685790" y="1690688"/>
            <a:ext cx="4762500" cy="4257675"/>
          </a:xfrm>
          <a:prstGeom prst="rect">
            <a:avLst/>
          </a:prstGeom>
        </p:spPr>
      </p:pic>
    </p:spTree>
    <p:extLst>
      <p:ext uri="{BB962C8B-B14F-4D97-AF65-F5344CB8AC3E}">
        <p14:creationId xmlns:p14="http://schemas.microsoft.com/office/powerpoint/2010/main" val="736662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094F5-E722-192E-3906-9CE61D652531}"/>
              </a:ext>
            </a:extLst>
          </p:cNvPr>
          <p:cNvSpPr>
            <a:spLocks noGrp="1"/>
          </p:cNvSpPr>
          <p:nvPr>
            <p:ph type="title"/>
          </p:nvPr>
        </p:nvSpPr>
        <p:spPr/>
        <p:txBody>
          <a:bodyPr/>
          <a:lstStyle/>
          <a:p>
            <a:r>
              <a:rPr lang="en-US" dirty="0"/>
              <a:t>Move Ordering in Alpha-Beta pruning</a:t>
            </a:r>
          </a:p>
        </p:txBody>
      </p:sp>
      <p:sp>
        <p:nvSpPr>
          <p:cNvPr id="3" name="Content Placeholder 2">
            <a:extLst>
              <a:ext uri="{FF2B5EF4-FFF2-40B4-BE49-F238E27FC236}">
                <a16:creationId xmlns:a16="http://schemas.microsoft.com/office/drawing/2014/main" id="{5FE2A29F-E1CA-738E-95C2-E3E526AC4AAB}"/>
              </a:ext>
            </a:extLst>
          </p:cNvPr>
          <p:cNvSpPr>
            <a:spLocks noGrp="1"/>
          </p:cNvSpPr>
          <p:nvPr>
            <p:ph idx="1"/>
          </p:nvPr>
        </p:nvSpPr>
        <p:spPr/>
        <p:txBody>
          <a:bodyPr>
            <a:normAutofit fontScale="92500" lnSpcReduction="20000"/>
          </a:bodyPr>
          <a:lstStyle/>
          <a:p>
            <a:pPr algn="just"/>
            <a:r>
              <a:rPr lang="en-GB" b="0" i="0" dirty="0">
                <a:solidFill>
                  <a:srgbClr val="2B2A29"/>
                </a:solidFill>
                <a:effectLst/>
              </a:rPr>
              <a:t>The effectiveness of alpha-beta pruning is highly dependent on the order in which each node is examined. Move order is an important aspect of alpha-beta pruning.</a:t>
            </a:r>
          </a:p>
          <a:p>
            <a:pPr algn="just"/>
            <a:r>
              <a:rPr lang="en-GB" b="0" i="0" dirty="0">
                <a:solidFill>
                  <a:srgbClr val="2B2A29"/>
                </a:solidFill>
                <a:effectLst/>
              </a:rPr>
              <a:t>It can be of two types:</a:t>
            </a:r>
          </a:p>
          <a:p>
            <a:pPr lvl="1" algn="just"/>
            <a:r>
              <a:rPr lang="en-GB" b="1" i="0" dirty="0">
                <a:solidFill>
                  <a:srgbClr val="2B2A29"/>
                </a:solidFill>
                <a:effectLst/>
              </a:rPr>
              <a:t>Worst ordering:</a:t>
            </a:r>
            <a:r>
              <a:rPr lang="en-GB" b="0" i="0" dirty="0">
                <a:solidFill>
                  <a:srgbClr val="2B2A29"/>
                </a:solidFill>
                <a:effectLst/>
              </a:rPr>
              <a:t> In some cases, alpha-beta pruning algorithm does not prune any of the leaves of the tree, and works exactly as minimax algorithm. In this case, it also consumes more time because of alpha-beta factors, such a move of pruning is called worst ordering. In this case, the best move occurs on the right side of the tree. The time complexity for such an order is O(b</a:t>
            </a:r>
            <a:r>
              <a:rPr lang="en-GB" b="0" i="0" baseline="30000" dirty="0">
                <a:solidFill>
                  <a:srgbClr val="2B2A29"/>
                </a:solidFill>
                <a:effectLst/>
              </a:rPr>
              <a:t>m</a:t>
            </a:r>
            <a:r>
              <a:rPr lang="en-GB" b="0" i="0" dirty="0">
                <a:solidFill>
                  <a:srgbClr val="2B2A29"/>
                </a:solidFill>
                <a:effectLst/>
              </a:rPr>
              <a:t>).</a:t>
            </a:r>
          </a:p>
          <a:p>
            <a:pPr lvl="1" algn="just"/>
            <a:r>
              <a:rPr lang="en-GB" b="1" i="0" dirty="0">
                <a:solidFill>
                  <a:srgbClr val="2B2A29"/>
                </a:solidFill>
                <a:effectLst/>
              </a:rPr>
              <a:t>Ideal ordering:</a:t>
            </a:r>
            <a:r>
              <a:rPr lang="en-GB" b="0" i="0" dirty="0">
                <a:solidFill>
                  <a:srgbClr val="2B2A29"/>
                </a:solidFill>
                <a:effectLst/>
              </a:rPr>
              <a:t> The ideal ordering for alpha-beta pruning occurs when lots of pruning happens in the tree, and best moves occur at the left side of the tree. We apply DFS hence it first search left of the tree and go deep twice as minimax algorithm in the same amount of time. Complexity in ideal ordering is O(b</a:t>
            </a:r>
            <a:r>
              <a:rPr lang="en-GB" b="0" i="0" baseline="30000" dirty="0">
                <a:solidFill>
                  <a:srgbClr val="2B2A29"/>
                </a:solidFill>
                <a:effectLst/>
              </a:rPr>
              <a:t>m/2</a:t>
            </a:r>
            <a:r>
              <a:rPr lang="en-GB" b="0" i="0" dirty="0">
                <a:solidFill>
                  <a:srgbClr val="2B2A29"/>
                </a:solidFill>
                <a:effectLst/>
              </a:rPr>
              <a:t>).</a:t>
            </a:r>
          </a:p>
          <a:p>
            <a:endParaRPr lang="en-US" dirty="0"/>
          </a:p>
        </p:txBody>
      </p:sp>
    </p:spTree>
    <p:extLst>
      <p:ext uri="{BB962C8B-B14F-4D97-AF65-F5344CB8AC3E}">
        <p14:creationId xmlns:p14="http://schemas.microsoft.com/office/powerpoint/2010/main" val="106918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1DD4-54B7-56EE-22E1-D724ACB9DE41}"/>
              </a:ext>
            </a:extLst>
          </p:cNvPr>
          <p:cNvSpPr>
            <a:spLocks noGrp="1"/>
          </p:cNvSpPr>
          <p:nvPr>
            <p:ph type="title"/>
          </p:nvPr>
        </p:nvSpPr>
        <p:spPr/>
        <p:txBody>
          <a:bodyPr/>
          <a:lstStyle/>
          <a:p>
            <a:r>
              <a:rPr lang="en-GB" dirty="0"/>
              <a:t>Rules to find good ordering</a:t>
            </a:r>
            <a:endParaRPr lang="en-US" dirty="0"/>
          </a:p>
        </p:txBody>
      </p:sp>
      <p:sp>
        <p:nvSpPr>
          <p:cNvPr id="3" name="Content Placeholder 2">
            <a:extLst>
              <a:ext uri="{FF2B5EF4-FFF2-40B4-BE49-F238E27FC236}">
                <a16:creationId xmlns:a16="http://schemas.microsoft.com/office/drawing/2014/main" id="{BB2FF427-F428-DD9C-E146-60FF5ABDE4A6}"/>
              </a:ext>
            </a:extLst>
          </p:cNvPr>
          <p:cNvSpPr>
            <a:spLocks noGrp="1"/>
          </p:cNvSpPr>
          <p:nvPr>
            <p:ph idx="1"/>
          </p:nvPr>
        </p:nvSpPr>
        <p:spPr/>
        <p:txBody>
          <a:bodyPr>
            <a:normAutofit/>
          </a:bodyPr>
          <a:lstStyle/>
          <a:p>
            <a:r>
              <a:rPr lang="en-GB" dirty="0"/>
              <a:t>Following are some rules to find good ordering in alpha-beta pruning:</a:t>
            </a:r>
          </a:p>
          <a:p>
            <a:pPr lvl="1"/>
            <a:r>
              <a:rPr lang="en-GB" dirty="0"/>
              <a:t>Occur the best move from the shallowest node.</a:t>
            </a:r>
          </a:p>
          <a:p>
            <a:pPr lvl="1"/>
            <a:r>
              <a:rPr lang="en-GB" dirty="0"/>
              <a:t>Order the nodes in the tree such that the best nodes are checked first.</a:t>
            </a:r>
          </a:p>
          <a:p>
            <a:pPr lvl="1"/>
            <a:r>
              <a:rPr lang="en-GB" dirty="0"/>
              <a:t>Use domain knowledge while finding the best move. Ex: for Chess, try order: captures first, then threats, then forward moves, backward moves.</a:t>
            </a:r>
          </a:p>
          <a:p>
            <a:pPr lvl="1"/>
            <a:r>
              <a:rPr lang="en-GB" dirty="0"/>
              <a:t>We can bookkeep the states, as there is a possibility that states may repeat.</a:t>
            </a:r>
            <a:endParaRPr lang="en-US" dirty="0"/>
          </a:p>
        </p:txBody>
      </p:sp>
    </p:spTree>
    <p:extLst>
      <p:ext uri="{BB962C8B-B14F-4D97-AF65-F5344CB8AC3E}">
        <p14:creationId xmlns:p14="http://schemas.microsoft.com/office/powerpoint/2010/main" val="828887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5FDCE-5F55-D437-B265-8F6F34BB4007}"/>
              </a:ext>
            </a:extLst>
          </p:cNvPr>
          <p:cNvSpPr>
            <a:spLocks noGrp="1"/>
          </p:cNvSpPr>
          <p:nvPr>
            <p:ph type="title"/>
          </p:nvPr>
        </p:nvSpPr>
        <p:spPr/>
        <p:txBody>
          <a:bodyPr/>
          <a:lstStyle/>
          <a:p>
            <a:r>
              <a:rPr lang="en-US" dirty="0"/>
              <a:t>Interactive visualization</a:t>
            </a:r>
          </a:p>
        </p:txBody>
      </p:sp>
      <p:sp>
        <p:nvSpPr>
          <p:cNvPr id="3" name="Content Placeholder 2">
            <a:extLst>
              <a:ext uri="{FF2B5EF4-FFF2-40B4-BE49-F238E27FC236}">
                <a16:creationId xmlns:a16="http://schemas.microsoft.com/office/drawing/2014/main" id="{C8842F8F-3059-D1A9-ACA2-061BEBA78384}"/>
              </a:ext>
            </a:extLst>
          </p:cNvPr>
          <p:cNvSpPr>
            <a:spLocks noGrp="1"/>
          </p:cNvSpPr>
          <p:nvPr>
            <p:ph idx="1"/>
          </p:nvPr>
        </p:nvSpPr>
        <p:spPr/>
        <p:txBody>
          <a:bodyPr/>
          <a:lstStyle/>
          <a:p>
            <a:r>
              <a:rPr lang="en-US" dirty="0"/>
              <a:t>Browse the </a:t>
            </a:r>
            <a:r>
              <a:rPr lang="en-US" dirty="0" err="1"/>
              <a:t>AlphaBeta</a:t>
            </a:r>
            <a:r>
              <a:rPr lang="en-US" dirty="0"/>
              <a:t> Visualization Folder and open </a:t>
            </a:r>
            <a:r>
              <a:rPr lang="en-US" dirty="0">
                <a:hlinkClick r:id="rId2" action="ppaction://hlinkfile"/>
              </a:rPr>
              <a:t>index.html </a:t>
            </a:r>
            <a:r>
              <a:rPr lang="en-US" dirty="0"/>
              <a:t>to run an interactive visualization of alpha-beta pruning.</a:t>
            </a:r>
          </a:p>
        </p:txBody>
      </p:sp>
    </p:spTree>
    <p:extLst>
      <p:ext uri="{BB962C8B-B14F-4D97-AF65-F5344CB8AC3E}">
        <p14:creationId xmlns:p14="http://schemas.microsoft.com/office/powerpoint/2010/main" val="3869998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86715E-103D-A4A4-3AC1-75CD10F0BDC8}"/>
              </a:ext>
            </a:extLst>
          </p:cNvPr>
          <p:cNvSpPr>
            <a:spLocks noGrp="1"/>
          </p:cNvSpPr>
          <p:nvPr>
            <p:ph idx="1"/>
          </p:nvPr>
        </p:nvSpPr>
        <p:spPr/>
        <p:txBody>
          <a:bodyPr/>
          <a:lstStyle/>
          <a:p>
            <a:r>
              <a:rPr lang="en-US" dirty="0"/>
              <a:t>Thanks </a:t>
            </a:r>
          </a:p>
        </p:txBody>
      </p:sp>
    </p:spTree>
    <p:extLst>
      <p:ext uri="{BB962C8B-B14F-4D97-AF65-F5344CB8AC3E}">
        <p14:creationId xmlns:p14="http://schemas.microsoft.com/office/powerpoint/2010/main" val="1729863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1474</Words>
  <Application>Microsoft Office PowerPoint</Application>
  <PresentationFormat>Widescreen</PresentationFormat>
  <Paragraphs>79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Schoolbook</vt:lpstr>
      <vt:lpstr>Consolas</vt:lpstr>
      <vt:lpstr>Office Theme</vt:lpstr>
      <vt:lpstr>Alpha-Beta Pruning</vt:lpstr>
      <vt:lpstr>Alpha-Beta Pruning</vt:lpstr>
      <vt:lpstr>Alpha-Beta Pruning</vt:lpstr>
      <vt:lpstr>Condition for Alpha-beta pruning</vt:lpstr>
      <vt:lpstr>Key points about alpha-beta pruning</vt:lpstr>
      <vt:lpstr>Pseudo-code for Alpha-beta Pruning:</vt:lpstr>
      <vt:lpstr>Working of Alpha-Beta Pruning</vt:lpstr>
      <vt:lpstr>Working of Alpha-Beta Pruning</vt:lpstr>
      <vt:lpstr>Working of Alpha-Beta Pruning</vt:lpstr>
      <vt:lpstr>Working of Alpha-Beta Pruning</vt:lpstr>
      <vt:lpstr>Working of Alpha-Beta Pruning</vt:lpstr>
      <vt:lpstr>Working of Alpha-Beta Pruning</vt:lpstr>
      <vt:lpstr>Move Ordering in Alpha-Beta pruning</vt:lpstr>
      <vt:lpstr>Rules to find good ordering</vt:lpstr>
      <vt:lpstr>Interactive visualization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20</cp:revision>
  <dcterms:created xsi:type="dcterms:W3CDTF">2024-10-13T17:56:17Z</dcterms:created>
  <dcterms:modified xsi:type="dcterms:W3CDTF">2024-10-13T18:21:21Z</dcterms:modified>
</cp:coreProperties>
</file>