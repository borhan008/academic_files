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72" r:id="rId14"/>
    <p:sldId id="273" r:id="rId15"/>
    <p:sldId id="274" r:id="rId16"/>
    <p:sldId id="275" r:id="rId17"/>
    <p:sldId id="268" r:id="rId18"/>
    <p:sldId id="267" r:id="rId19"/>
    <p:sldId id="269" r:id="rId20"/>
    <p:sldId id="270" r:id="rId21"/>
    <p:sldId id="278" r:id="rId22"/>
    <p:sldId id="279" r:id="rId23"/>
    <p:sldId id="277"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50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D457D-8680-2292-6F96-3E4428A42B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89B4FD-9DB0-5F61-599E-83FCB8A38B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DF574F-BF67-CF5C-F11F-9CAE4F3402EA}"/>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5" name="Footer Placeholder 4">
            <a:extLst>
              <a:ext uri="{FF2B5EF4-FFF2-40B4-BE49-F238E27FC236}">
                <a16:creationId xmlns:a16="http://schemas.microsoft.com/office/drawing/2014/main" id="{A42641B2-DAD1-5432-C63C-637D326B28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870D0-C3EC-CD98-2098-477719AB5199}"/>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374105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B3424-F295-C253-1067-A4C644AD18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DB3D72-AB67-DDE9-F337-A606F18EF1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222096-3386-7E94-64D5-6184BC9F503C}"/>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5" name="Footer Placeholder 4">
            <a:extLst>
              <a:ext uri="{FF2B5EF4-FFF2-40B4-BE49-F238E27FC236}">
                <a16:creationId xmlns:a16="http://schemas.microsoft.com/office/drawing/2014/main" id="{80526BF9-E593-5287-71E1-A46739B4AB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0381F-1302-E419-11F7-370EF7C2CE35}"/>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617325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0454B-2691-59A4-913F-D76ACBC63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0BA561-E04E-C1AB-8EFA-7A82040DF0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58B592-8DC3-43C6-C644-C9DEB66D094C}"/>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5" name="Footer Placeholder 4">
            <a:extLst>
              <a:ext uri="{FF2B5EF4-FFF2-40B4-BE49-F238E27FC236}">
                <a16:creationId xmlns:a16="http://schemas.microsoft.com/office/drawing/2014/main" id="{C167D3F7-7C01-58AD-5BE6-9B09D01344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B0366A-BCDB-CABE-6D33-35E0ED94D2E7}"/>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3293188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80EC7-F5A3-3C0F-A3AE-D084490570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E6DABF-0886-55ED-701D-B2CA7FDF41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601E4D-4779-14BF-25E8-AEE8B517B9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287D25-E1C0-98C4-FAD3-12A0737D923D}"/>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6" name="Footer Placeholder 5">
            <a:extLst>
              <a:ext uri="{FF2B5EF4-FFF2-40B4-BE49-F238E27FC236}">
                <a16:creationId xmlns:a16="http://schemas.microsoft.com/office/drawing/2014/main" id="{2707FF86-D9A3-2C83-985E-39C018AC73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401D8C-95CE-4A4C-774B-6D529956DC46}"/>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1729802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0CEC8-1F48-CD98-2932-950B576262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2F56DD-27B2-D23D-BD6A-753435E39B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9E1FF1-1E82-5840-E07D-C9AADC2C62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1C74FF-C6DC-8C38-69E8-47B05BAEC0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66B7AB-0F11-A150-84C5-4B53255267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609127-AF6A-F7B7-2E52-F9C3F352DE04}"/>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8" name="Footer Placeholder 7">
            <a:extLst>
              <a:ext uri="{FF2B5EF4-FFF2-40B4-BE49-F238E27FC236}">
                <a16:creationId xmlns:a16="http://schemas.microsoft.com/office/drawing/2014/main" id="{1656E005-309C-1C6E-C97F-B2E3CC048D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A23DF7-D3E5-6C81-8221-EA532C053867}"/>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1231656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F1BCE-8C52-DA1F-64A6-D1DCBAF714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3DAD55-F7B8-7F6D-2534-37AFD5239BE2}"/>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4" name="Footer Placeholder 3">
            <a:extLst>
              <a:ext uri="{FF2B5EF4-FFF2-40B4-BE49-F238E27FC236}">
                <a16:creationId xmlns:a16="http://schemas.microsoft.com/office/drawing/2014/main" id="{F34D230D-1D5C-B147-3408-16A3291AF8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CD04A6-19BE-256A-7251-A66992A5C1A2}"/>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2992853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ED608B-37DE-948E-0284-0319EBD6F3EA}"/>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3" name="Footer Placeholder 2">
            <a:extLst>
              <a:ext uri="{FF2B5EF4-FFF2-40B4-BE49-F238E27FC236}">
                <a16:creationId xmlns:a16="http://schemas.microsoft.com/office/drawing/2014/main" id="{EEAC7DB3-8D77-D273-9834-12203FCAC8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38587D-F59D-05A3-7BE4-832289F622A8}"/>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3308390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F4701-7C56-9447-099E-71E1953EF5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EBF268-FAF0-E4D0-CFD1-3B3352F9DB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43CF5D-DEAF-A01B-717B-6AB28A5F03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FF8015-A30E-CB3A-CC74-C4F95192D5B3}"/>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6" name="Footer Placeholder 5">
            <a:extLst>
              <a:ext uri="{FF2B5EF4-FFF2-40B4-BE49-F238E27FC236}">
                <a16:creationId xmlns:a16="http://schemas.microsoft.com/office/drawing/2014/main" id="{AF297289-76AD-7A3D-42E3-8EDC76176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94C118-C16C-3733-7201-B7A6CA73E006}"/>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345386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91C03-8FC8-FDA5-8D5F-59642211E3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A3E666-C0FD-9560-78A2-127AD303BA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AA1640-C719-F3DB-A25A-B086806128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F60D64-11FC-25DE-6B91-E6B0464059B2}"/>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6" name="Footer Placeholder 5">
            <a:extLst>
              <a:ext uri="{FF2B5EF4-FFF2-40B4-BE49-F238E27FC236}">
                <a16:creationId xmlns:a16="http://schemas.microsoft.com/office/drawing/2014/main" id="{AA829F62-CEB4-2FAF-F3AC-CBCD28C725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539EA3-CF50-1958-7226-3F6D7BE26422}"/>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584074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9089-EBE9-CF0D-433A-541233A82D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8D6FAC-30C6-DBE7-22C6-A5E741E407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8FF696-2B16-5CFB-7E9E-BA0EB127C509}"/>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5" name="Footer Placeholder 4">
            <a:extLst>
              <a:ext uri="{FF2B5EF4-FFF2-40B4-BE49-F238E27FC236}">
                <a16:creationId xmlns:a16="http://schemas.microsoft.com/office/drawing/2014/main" id="{540EEFD9-14E1-8277-B2F8-19A26E3E77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04B11-2F05-ADB5-6545-5A63E60CEF18}"/>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1353224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0F34CD-DF9E-1617-E9ED-684C77420A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D83523-3CF5-46D9-530C-5634B781A7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695335-8C31-457D-D815-9ED6BFA88EDB}"/>
              </a:ext>
            </a:extLst>
          </p:cNvPr>
          <p:cNvSpPr>
            <a:spLocks noGrp="1"/>
          </p:cNvSpPr>
          <p:nvPr>
            <p:ph type="dt" sz="half" idx="10"/>
          </p:nvPr>
        </p:nvSpPr>
        <p:spPr/>
        <p:txBody>
          <a:bodyPr/>
          <a:lstStyle/>
          <a:p>
            <a:fld id="{E026C519-4FFE-433D-8E96-E606E17D8A91}" type="datetimeFigureOut">
              <a:rPr lang="en-US" smtClean="0"/>
              <a:t>10/13/2024</a:t>
            </a:fld>
            <a:endParaRPr lang="en-US"/>
          </a:p>
        </p:txBody>
      </p:sp>
      <p:sp>
        <p:nvSpPr>
          <p:cNvPr id="5" name="Footer Placeholder 4">
            <a:extLst>
              <a:ext uri="{FF2B5EF4-FFF2-40B4-BE49-F238E27FC236}">
                <a16:creationId xmlns:a16="http://schemas.microsoft.com/office/drawing/2014/main" id="{A3BA7457-0FA2-907E-A3EE-450166FC77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1E62EB-2147-9074-4EF5-D880F1F0F963}"/>
              </a:ext>
            </a:extLst>
          </p:cNvPr>
          <p:cNvSpPr>
            <a:spLocks noGrp="1"/>
          </p:cNvSpPr>
          <p:nvPr>
            <p:ph type="sldNum" sz="quarter" idx="12"/>
          </p:nvPr>
        </p:nvSpPr>
        <p:spPr/>
        <p:txBody>
          <a:bodyPr/>
          <a:lstStyle/>
          <a:p>
            <a:fld id="{E1863517-79FE-4EDD-B679-F950FC01543C}" type="slidenum">
              <a:rPr lang="en-US" smtClean="0"/>
              <a:t>‹#›</a:t>
            </a:fld>
            <a:endParaRPr lang="en-US"/>
          </a:p>
        </p:txBody>
      </p:sp>
    </p:spTree>
    <p:extLst>
      <p:ext uri="{BB962C8B-B14F-4D97-AF65-F5344CB8AC3E}">
        <p14:creationId xmlns:p14="http://schemas.microsoft.com/office/powerpoint/2010/main" val="795943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791CB9-1CBB-97F7-CCE8-FFAE9CAE6E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6A88D1-9FEE-106E-3036-4DF2C84BED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7D6A71-56E4-78C7-028D-7BF6E36F30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26C519-4FFE-433D-8E96-E606E17D8A91}" type="datetimeFigureOut">
              <a:rPr lang="en-US" smtClean="0"/>
              <a:t>10/13/2024</a:t>
            </a:fld>
            <a:endParaRPr lang="en-US"/>
          </a:p>
        </p:txBody>
      </p:sp>
      <p:sp>
        <p:nvSpPr>
          <p:cNvPr id="5" name="Footer Placeholder 4">
            <a:extLst>
              <a:ext uri="{FF2B5EF4-FFF2-40B4-BE49-F238E27FC236}">
                <a16:creationId xmlns:a16="http://schemas.microsoft.com/office/drawing/2014/main" id="{1C2ABF57-F13D-E62E-6495-90B078F9AB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D5F51D-8322-013D-6DE7-691589328D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863517-79FE-4EDD-B679-F950FC01543C}" type="slidenum">
              <a:rPr lang="en-US" smtClean="0"/>
              <a:t>‹#›</a:t>
            </a:fld>
            <a:endParaRPr lang="en-US"/>
          </a:p>
        </p:txBody>
      </p:sp>
    </p:spTree>
    <p:extLst>
      <p:ext uri="{BB962C8B-B14F-4D97-AF65-F5344CB8AC3E}">
        <p14:creationId xmlns:p14="http://schemas.microsoft.com/office/powerpoint/2010/main" val="20619328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en.wikipedia.org/wiki/Travelling_salesman_problem"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baeldung.com/cs/ga-order-one-crossover"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768FF-1BEA-A6B2-2974-C939DBD29A82}"/>
              </a:ext>
            </a:extLst>
          </p:cNvPr>
          <p:cNvSpPr>
            <a:spLocks noGrp="1"/>
          </p:cNvSpPr>
          <p:nvPr>
            <p:ph type="ctrTitle"/>
          </p:nvPr>
        </p:nvSpPr>
        <p:spPr/>
        <p:txBody>
          <a:bodyPr/>
          <a:lstStyle/>
          <a:p>
            <a:r>
              <a:rPr lang="en-US" dirty="0"/>
              <a:t>Genetic Algorithm</a:t>
            </a:r>
          </a:p>
        </p:txBody>
      </p:sp>
      <p:sp>
        <p:nvSpPr>
          <p:cNvPr id="3" name="Subtitle 2">
            <a:extLst>
              <a:ext uri="{FF2B5EF4-FFF2-40B4-BE49-F238E27FC236}">
                <a16:creationId xmlns:a16="http://schemas.microsoft.com/office/drawing/2014/main" id="{C11647C5-7000-77EE-4428-84BFD630D666}"/>
              </a:ext>
            </a:extLst>
          </p:cNvPr>
          <p:cNvSpPr>
            <a:spLocks noGrp="1"/>
          </p:cNvSpPr>
          <p:nvPr>
            <p:ph type="subTitle" idx="1"/>
          </p:nvPr>
        </p:nvSpPr>
        <p:spPr/>
        <p:txBody>
          <a:bodyPr/>
          <a:lstStyle/>
          <a:p>
            <a:r>
              <a:rPr lang="en-US" dirty="0"/>
              <a:t>Iftekhar Mahmud Towhid</a:t>
            </a:r>
          </a:p>
        </p:txBody>
      </p:sp>
    </p:spTree>
    <p:extLst>
      <p:ext uri="{BB962C8B-B14F-4D97-AF65-F5344CB8AC3E}">
        <p14:creationId xmlns:p14="http://schemas.microsoft.com/office/powerpoint/2010/main" val="4000862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1D91C-2D1D-64C9-7C32-737545100E4E}"/>
              </a:ext>
            </a:extLst>
          </p:cNvPr>
          <p:cNvSpPr>
            <a:spLocks noGrp="1"/>
          </p:cNvSpPr>
          <p:nvPr>
            <p:ph type="title"/>
          </p:nvPr>
        </p:nvSpPr>
        <p:spPr/>
        <p:txBody>
          <a:bodyPr/>
          <a:lstStyle/>
          <a:p>
            <a:r>
              <a:rPr lang="en-US" dirty="0"/>
              <a:t>Genetic Algorithm</a:t>
            </a:r>
          </a:p>
        </p:txBody>
      </p:sp>
      <p:sp>
        <p:nvSpPr>
          <p:cNvPr id="3" name="Content Placeholder 2">
            <a:extLst>
              <a:ext uri="{FF2B5EF4-FFF2-40B4-BE49-F238E27FC236}">
                <a16:creationId xmlns:a16="http://schemas.microsoft.com/office/drawing/2014/main" id="{D5E7B5EB-B94F-283F-929E-6A56156E33C1}"/>
              </a:ext>
            </a:extLst>
          </p:cNvPr>
          <p:cNvSpPr>
            <a:spLocks noGrp="1"/>
          </p:cNvSpPr>
          <p:nvPr>
            <p:ph idx="1"/>
          </p:nvPr>
        </p:nvSpPr>
        <p:spPr/>
        <p:txBody>
          <a:bodyPr>
            <a:normAutofit fontScale="92500"/>
          </a:bodyPr>
          <a:lstStyle/>
          <a:p>
            <a:r>
              <a:rPr lang="en-GB" dirty="0"/>
              <a:t>A genetic algorithm is a search heuristic that is inspired by Charles Darwin’s theory of natural evolution. This algorithm reflects the process of natural selection where the fittest individuals are selected for reproduction in order to produce offspring of the next generation.</a:t>
            </a:r>
          </a:p>
          <a:p>
            <a:r>
              <a:rPr lang="en-GB" dirty="0"/>
              <a:t>It is used to solve optimization problems in machine learning. It is one of the important algorithms as it helps solve complex problems that would take a long time to solve.</a:t>
            </a:r>
          </a:p>
          <a:p>
            <a:r>
              <a:rPr lang="en-GB" dirty="0"/>
              <a:t>Genetic Algorithms are being widely used in different real-world applications, for example, Designing electronic circuits, code-breaking, image processing, and artificial creativity.</a:t>
            </a:r>
            <a:endParaRPr lang="en-US" dirty="0"/>
          </a:p>
        </p:txBody>
      </p:sp>
    </p:spTree>
    <p:extLst>
      <p:ext uri="{BB962C8B-B14F-4D97-AF65-F5344CB8AC3E}">
        <p14:creationId xmlns:p14="http://schemas.microsoft.com/office/powerpoint/2010/main" val="417036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A9E27-E676-87C0-B621-0C90236BE528}"/>
              </a:ext>
            </a:extLst>
          </p:cNvPr>
          <p:cNvSpPr>
            <a:spLocks noGrp="1"/>
          </p:cNvSpPr>
          <p:nvPr>
            <p:ph type="title"/>
          </p:nvPr>
        </p:nvSpPr>
        <p:spPr/>
        <p:txBody>
          <a:bodyPr/>
          <a:lstStyle/>
          <a:p>
            <a:r>
              <a:rPr lang="en-US" dirty="0"/>
              <a:t>Terminologies</a:t>
            </a:r>
          </a:p>
        </p:txBody>
      </p:sp>
      <p:sp>
        <p:nvSpPr>
          <p:cNvPr id="3" name="Content Placeholder 2">
            <a:extLst>
              <a:ext uri="{FF2B5EF4-FFF2-40B4-BE49-F238E27FC236}">
                <a16:creationId xmlns:a16="http://schemas.microsoft.com/office/drawing/2014/main" id="{0AF72432-9644-128F-4FEA-990536A0EE1A}"/>
              </a:ext>
            </a:extLst>
          </p:cNvPr>
          <p:cNvSpPr>
            <a:spLocks noGrp="1"/>
          </p:cNvSpPr>
          <p:nvPr>
            <p:ph idx="1"/>
          </p:nvPr>
        </p:nvSpPr>
        <p:spPr/>
        <p:txBody>
          <a:bodyPr>
            <a:normAutofit fontScale="85000" lnSpcReduction="20000"/>
          </a:bodyPr>
          <a:lstStyle/>
          <a:p>
            <a:r>
              <a:rPr lang="en-GB" dirty="0"/>
              <a:t>Before understanding the Genetic algorithm, let's first understand basic terminologies to better understand this algorithm:</a:t>
            </a:r>
          </a:p>
          <a:p>
            <a:pPr lvl="1"/>
            <a:r>
              <a:rPr lang="en-GB" b="1" dirty="0"/>
              <a:t>Population</a:t>
            </a:r>
            <a:r>
              <a:rPr lang="en-GB" dirty="0"/>
              <a:t>: Population is the subset of all possible or probable solutions, which can solve the given problem.</a:t>
            </a:r>
          </a:p>
          <a:p>
            <a:pPr lvl="1"/>
            <a:r>
              <a:rPr lang="en-GB" b="1" dirty="0"/>
              <a:t>Chromosomes</a:t>
            </a:r>
            <a:r>
              <a:rPr lang="en-GB" dirty="0"/>
              <a:t>: A chromosome is one of the solutions in the population for the given problem, and the collection of gene generate a chromosome.</a:t>
            </a:r>
          </a:p>
          <a:p>
            <a:pPr lvl="1"/>
            <a:r>
              <a:rPr lang="en-GB" b="1" dirty="0"/>
              <a:t>Gene</a:t>
            </a:r>
            <a:r>
              <a:rPr lang="en-GB" dirty="0"/>
              <a:t>: A chromosome is divided into a different gene, or it is an element of the chromosome.</a:t>
            </a:r>
          </a:p>
          <a:p>
            <a:pPr lvl="1"/>
            <a:r>
              <a:rPr lang="en-GB" b="1" dirty="0"/>
              <a:t>Allele</a:t>
            </a:r>
            <a:r>
              <a:rPr lang="en-GB" dirty="0"/>
              <a:t>: Allele is the value provided to the gene within a particular chromosome.</a:t>
            </a:r>
          </a:p>
          <a:p>
            <a:pPr lvl="1"/>
            <a:r>
              <a:rPr lang="en-GB" b="1" dirty="0"/>
              <a:t>Fitness Function</a:t>
            </a:r>
            <a:r>
              <a:rPr lang="en-GB" dirty="0"/>
              <a:t>: The fitness function is used to determine the individual's fitness level in the population. It means the ability of an individual to compete with other individuals. In every iteration, individuals are evaluated based on their fitness function.</a:t>
            </a:r>
          </a:p>
          <a:p>
            <a:pPr lvl="1"/>
            <a:r>
              <a:rPr lang="en-GB" b="1" dirty="0"/>
              <a:t>Genetic Operators</a:t>
            </a:r>
            <a:r>
              <a:rPr lang="en-GB" dirty="0"/>
              <a:t>: In a genetic algorithm, the best individual mate to regenerate offspring better than parents. Here genetic operators play a role in changing the genetic composition of the next generation.</a:t>
            </a:r>
            <a:endParaRPr lang="en-US" dirty="0"/>
          </a:p>
        </p:txBody>
      </p:sp>
    </p:spTree>
    <p:extLst>
      <p:ext uri="{BB962C8B-B14F-4D97-AF65-F5344CB8AC3E}">
        <p14:creationId xmlns:p14="http://schemas.microsoft.com/office/powerpoint/2010/main" val="1587757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838B1-28B7-D851-E7FB-3CF62D9B7799}"/>
              </a:ext>
            </a:extLst>
          </p:cNvPr>
          <p:cNvSpPr>
            <a:spLocks noGrp="1"/>
          </p:cNvSpPr>
          <p:nvPr>
            <p:ph type="title"/>
          </p:nvPr>
        </p:nvSpPr>
        <p:spPr/>
        <p:txBody>
          <a:bodyPr/>
          <a:lstStyle/>
          <a:p>
            <a:r>
              <a:rPr lang="en-US" dirty="0"/>
              <a:t>Selection</a:t>
            </a:r>
          </a:p>
        </p:txBody>
      </p:sp>
      <p:sp>
        <p:nvSpPr>
          <p:cNvPr id="3" name="Content Placeholder 2">
            <a:extLst>
              <a:ext uri="{FF2B5EF4-FFF2-40B4-BE49-F238E27FC236}">
                <a16:creationId xmlns:a16="http://schemas.microsoft.com/office/drawing/2014/main" id="{E59833F4-85AC-B73D-83E9-E57BECA7742C}"/>
              </a:ext>
            </a:extLst>
          </p:cNvPr>
          <p:cNvSpPr>
            <a:spLocks noGrp="1"/>
          </p:cNvSpPr>
          <p:nvPr>
            <p:ph idx="1"/>
          </p:nvPr>
        </p:nvSpPr>
        <p:spPr/>
        <p:txBody>
          <a:bodyPr>
            <a:normAutofit fontScale="92500" lnSpcReduction="20000"/>
          </a:bodyPr>
          <a:lstStyle/>
          <a:p>
            <a:r>
              <a:rPr lang="en-GB" dirty="0"/>
              <a:t>After calculating the fitness of every existent in the population, a selection process is used to determine which of the individualities in the population will get to reproduce and produce the seed that will form the coming generation.</a:t>
            </a:r>
          </a:p>
          <a:p>
            <a:r>
              <a:rPr lang="en-GB" dirty="0"/>
              <a:t>Types of selection styles available</a:t>
            </a:r>
          </a:p>
          <a:p>
            <a:pPr lvl="1"/>
            <a:r>
              <a:rPr lang="en-GB" dirty="0"/>
              <a:t>Roulette wheel selection</a:t>
            </a:r>
          </a:p>
          <a:p>
            <a:pPr lvl="1"/>
            <a:r>
              <a:rPr lang="en-GB" dirty="0"/>
              <a:t>Event selection</a:t>
            </a:r>
          </a:p>
          <a:p>
            <a:pPr lvl="1"/>
            <a:r>
              <a:rPr lang="en-GB" dirty="0"/>
              <a:t>Rank- grounded selection</a:t>
            </a:r>
          </a:p>
          <a:p>
            <a:pPr lvl="1"/>
            <a:endParaRPr lang="en-GB" dirty="0"/>
          </a:p>
          <a:p>
            <a:r>
              <a:rPr lang="en-GB" dirty="0"/>
              <a:t>So, now we can define a genetic algorithm as a heuristic search algorithm to solve optimization problems. It is a subset of evolutionary algorithms, which is used in computing. A genetic algorithm uses genetic and natural selection concepts to solve optimization problems.</a:t>
            </a:r>
          </a:p>
        </p:txBody>
      </p:sp>
    </p:spTree>
    <p:extLst>
      <p:ext uri="{BB962C8B-B14F-4D97-AF65-F5344CB8AC3E}">
        <p14:creationId xmlns:p14="http://schemas.microsoft.com/office/powerpoint/2010/main" val="3922963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86D3-C5A0-65FC-76A8-28A0D4D0F2AA}"/>
              </a:ext>
            </a:extLst>
          </p:cNvPr>
          <p:cNvSpPr>
            <a:spLocks noGrp="1"/>
          </p:cNvSpPr>
          <p:nvPr>
            <p:ph type="title"/>
          </p:nvPr>
        </p:nvSpPr>
        <p:spPr/>
        <p:txBody>
          <a:bodyPr/>
          <a:lstStyle/>
          <a:p>
            <a:r>
              <a:rPr lang="en-US" dirty="0"/>
              <a:t>How Genetic Algorithm Work?</a:t>
            </a:r>
          </a:p>
        </p:txBody>
      </p:sp>
      <p:sp>
        <p:nvSpPr>
          <p:cNvPr id="3" name="Content Placeholder 2">
            <a:extLst>
              <a:ext uri="{FF2B5EF4-FFF2-40B4-BE49-F238E27FC236}">
                <a16:creationId xmlns:a16="http://schemas.microsoft.com/office/drawing/2014/main" id="{FA5A4677-6AE0-27ED-90D4-F80B16CDD6BE}"/>
              </a:ext>
            </a:extLst>
          </p:cNvPr>
          <p:cNvSpPr>
            <a:spLocks noGrp="1"/>
          </p:cNvSpPr>
          <p:nvPr>
            <p:ph idx="1"/>
          </p:nvPr>
        </p:nvSpPr>
        <p:spPr/>
        <p:txBody>
          <a:bodyPr>
            <a:normAutofit fontScale="92500" lnSpcReduction="20000"/>
          </a:bodyPr>
          <a:lstStyle/>
          <a:p>
            <a:r>
              <a:rPr lang="en-GB" dirty="0"/>
              <a:t>The genetic algorithm works on the evolutionary generational cycle to generate high-quality solutions. These algorithms use different operations that either enhance or replace the population to give an improved fit solution.</a:t>
            </a:r>
          </a:p>
          <a:p>
            <a:endParaRPr lang="en-GB" dirty="0"/>
          </a:p>
          <a:p>
            <a:r>
              <a:rPr lang="en-GB" dirty="0"/>
              <a:t>It basically involves five phases to solve the complex optimization problems, which are given as below:</a:t>
            </a:r>
          </a:p>
          <a:p>
            <a:endParaRPr lang="en-GB" dirty="0"/>
          </a:p>
          <a:p>
            <a:pPr lvl="1"/>
            <a:r>
              <a:rPr lang="en-GB" dirty="0"/>
              <a:t>Initialization / Initial Population</a:t>
            </a:r>
          </a:p>
          <a:p>
            <a:pPr lvl="1"/>
            <a:r>
              <a:rPr lang="en-GB" dirty="0"/>
              <a:t>Fitness Function</a:t>
            </a:r>
          </a:p>
          <a:p>
            <a:pPr lvl="1"/>
            <a:r>
              <a:rPr lang="en-GB" dirty="0"/>
              <a:t>Selection</a:t>
            </a:r>
          </a:p>
          <a:p>
            <a:pPr lvl="1"/>
            <a:r>
              <a:rPr lang="en-GB" dirty="0"/>
              <a:t>Reproduction (Crossover and Mutation)</a:t>
            </a:r>
          </a:p>
          <a:p>
            <a:pPr lvl="1"/>
            <a:r>
              <a:rPr lang="en-GB" dirty="0"/>
              <a:t>Termination</a:t>
            </a:r>
            <a:endParaRPr lang="en-US" dirty="0"/>
          </a:p>
        </p:txBody>
      </p:sp>
    </p:spTree>
    <p:extLst>
      <p:ext uri="{BB962C8B-B14F-4D97-AF65-F5344CB8AC3E}">
        <p14:creationId xmlns:p14="http://schemas.microsoft.com/office/powerpoint/2010/main" val="4132731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A26DD-A58D-4EEE-614D-F4488C8F7989}"/>
              </a:ext>
            </a:extLst>
          </p:cNvPr>
          <p:cNvSpPr>
            <a:spLocks noGrp="1"/>
          </p:cNvSpPr>
          <p:nvPr>
            <p:ph type="title"/>
          </p:nvPr>
        </p:nvSpPr>
        <p:spPr/>
        <p:txBody>
          <a:bodyPr/>
          <a:lstStyle/>
          <a:p>
            <a:r>
              <a:rPr lang="en-GB" dirty="0"/>
              <a:t>Initialization / Initial Population</a:t>
            </a:r>
            <a:endParaRPr lang="en-US" dirty="0"/>
          </a:p>
        </p:txBody>
      </p:sp>
      <p:sp>
        <p:nvSpPr>
          <p:cNvPr id="3" name="Content Placeholder 2">
            <a:extLst>
              <a:ext uri="{FF2B5EF4-FFF2-40B4-BE49-F238E27FC236}">
                <a16:creationId xmlns:a16="http://schemas.microsoft.com/office/drawing/2014/main" id="{D5ADEFB2-19FF-7A8F-20D4-29886B83F1FF}"/>
              </a:ext>
            </a:extLst>
          </p:cNvPr>
          <p:cNvSpPr>
            <a:spLocks noGrp="1"/>
          </p:cNvSpPr>
          <p:nvPr>
            <p:ph idx="1"/>
          </p:nvPr>
        </p:nvSpPr>
        <p:spPr>
          <a:xfrm>
            <a:off x="838200" y="1825625"/>
            <a:ext cx="5735320" cy="4351338"/>
          </a:xfrm>
        </p:spPr>
        <p:txBody>
          <a:bodyPr>
            <a:normAutofit fontScale="77500" lnSpcReduction="20000"/>
          </a:bodyPr>
          <a:lstStyle/>
          <a:p>
            <a:r>
              <a:rPr lang="en-GB" dirty="0"/>
              <a:t>The process begins with a set of individuals which is called a Population. Each individual is a solution to the problem you want to solve.</a:t>
            </a:r>
          </a:p>
          <a:p>
            <a:r>
              <a:rPr lang="en-GB" dirty="0"/>
              <a:t>An individual is characterized by a set of parameters (variables) known as Genes. Genes are joined into a string to form a Chromosome (solution).</a:t>
            </a:r>
          </a:p>
          <a:p>
            <a:r>
              <a:rPr lang="en-GB" dirty="0"/>
              <a:t>In a genetic algorithm, the set of genes of an individual is represented using a string, in terms of an alphabet. Usually, binary values are used (string of 1s and 0s). We say that we encode the genes in a chromosome.</a:t>
            </a:r>
            <a:endParaRPr lang="en-US" dirty="0"/>
          </a:p>
        </p:txBody>
      </p:sp>
      <p:pic>
        <p:nvPicPr>
          <p:cNvPr id="5" name="Picture 4">
            <a:extLst>
              <a:ext uri="{FF2B5EF4-FFF2-40B4-BE49-F238E27FC236}">
                <a16:creationId xmlns:a16="http://schemas.microsoft.com/office/drawing/2014/main" id="{6195D285-C481-6622-B189-006267EF24AF}"/>
              </a:ext>
            </a:extLst>
          </p:cNvPr>
          <p:cNvPicPr>
            <a:picLocks noChangeAspect="1"/>
          </p:cNvPicPr>
          <p:nvPr/>
        </p:nvPicPr>
        <p:blipFill>
          <a:blip r:embed="rId2"/>
          <a:stretch>
            <a:fillRect/>
          </a:stretch>
        </p:blipFill>
        <p:spPr>
          <a:xfrm>
            <a:off x="6967220" y="2177510"/>
            <a:ext cx="4605020" cy="2849149"/>
          </a:xfrm>
          <a:prstGeom prst="rect">
            <a:avLst/>
          </a:prstGeom>
        </p:spPr>
      </p:pic>
    </p:spTree>
    <p:extLst>
      <p:ext uri="{BB962C8B-B14F-4D97-AF65-F5344CB8AC3E}">
        <p14:creationId xmlns:p14="http://schemas.microsoft.com/office/powerpoint/2010/main" val="2911473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340E-6774-79BA-E87F-C7FD850E674D}"/>
              </a:ext>
            </a:extLst>
          </p:cNvPr>
          <p:cNvSpPr>
            <a:spLocks noGrp="1"/>
          </p:cNvSpPr>
          <p:nvPr>
            <p:ph type="title"/>
          </p:nvPr>
        </p:nvSpPr>
        <p:spPr/>
        <p:txBody>
          <a:bodyPr/>
          <a:lstStyle/>
          <a:p>
            <a:r>
              <a:rPr lang="en-GB" dirty="0"/>
              <a:t>Fitness Function</a:t>
            </a:r>
            <a:endParaRPr lang="en-US" dirty="0"/>
          </a:p>
        </p:txBody>
      </p:sp>
      <p:sp>
        <p:nvSpPr>
          <p:cNvPr id="3" name="Content Placeholder 2">
            <a:extLst>
              <a:ext uri="{FF2B5EF4-FFF2-40B4-BE49-F238E27FC236}">
                <a16:creationId xmlns:a16="http://schemas.microsoft.com/office/drawing/2014/main" id="{AC48C0F7-AC74-BADB-5373-7EE0FAF03A63}"/>
              </a:ext>
            </a:extLst>
          </p:cNvPr>
          <p:cNvSpPr>
            <a:spLocks noGrp="1"/>
          </p:cNvSpPr>
          <p:nvPr>
            <p:ph idx="1"/>
          </p:nvPr>
        </p:nvSpPr>
        <p:spPr/>
        <p:txBody>
          <a:bodyPr/>
          <a:lstStyle/>
          <a:p>
            <a:r>
              <a:rPr lang="en-GB" dirty="0"/>
              <a:t>The fitness function determines how fit an individual is (the ability of an individual to compete with other individuals). It gives a fitness score to each individual. The probability that an individual will be selected for reproduction is based on its fitness score.</a:t>
            </a:r>
            <a:endParaRPr lang="en-US" dirty="0"/>
          </a:p>
        </p:txBody>
      </p:sp>
    </p:spTree>
    <p:extLst>
      <p:ext uri="{BB962C8B-B14F-4D97-AF65-F5344CB8AC3E}">
        <p14:creationId xmlns:p14="http://schemas.microsoft.com/office/powerpoint/2010/main" val="652345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D7243-BBBA-A244-46D4-748441518847}"/>
              </a:ext>
            </a:extLst>
          </p:cNvPr>
          <p:cNvSpPr>
            <a:spLocks noGrp="1"/>
          </p:cNvSpPr>
          <p:nvPr>
            <p:ph type="title"/>
          </p:nvPr>
        </p:nvSpPr>
        <p:spPr/>
        <p:txBody>
          <a:bodyPr/>
          <a:lstStyle/>
          <a:p>
            <a:r>
              <a:rPr lang="en-US" dirty="0"/>
              <a:t>Selection</a:t>
            </a:r>
          </a:p>
        </p:txBody>
      </p:sp>
      <p:sp>
        <p:nvSpPr>
          <p:cNvPr id="3" name="Content Placeholder 2">
            <a:extLst>
              <a:ext uri="{FF2B5EF4-FFF2-40B4-BE49-F238E27FC236}">
                <a16:creationId xmlns:a16="http://schemas.microsoft.com/office/drawing/2014/main" id="{5423D312-291E-A1C2-CF58-6F125AFF42BC}"/>
              </a:ext>
            </a:extLst>
          </p:cNvPr>
          <p:cNvSpPr>
            <a:spLocks noGrp="1"/>
          </p:cNvSpPr>
          <p:nvPr>
            <p:ph idx="1"/>
          </p:nvPr>
        </p:nvSpPr>
        <p:spPr/>
        <p:txBody>
          <a:bodyPr/>
          <a:lstStyle/>
          <a:p>
            <a:r>
              <a:rPr lang="en-GB" dirty="0"/>
              <a:t>The idea of selection phase is to select the fittest individuals and let them pass their genes to the next generation.</a:t>
            </a:r>
          </a:p>
          <a:p>
            <a:endParaRPr lang="en-GB" dirty="0"/>
          </a:p>
          <a:p>
            <a:r>
              <a:rPr lang="en-GB" dirty="0"/>
              <a:t>Two pairs of individuals (parents) are selected based on their fitness scores. Individuals with high fitness have more chance to be selected for reproduction.</a:t>
            </a:r>
            <a:endParaRPr lang="en-US" dirty="0"/>
          </a:p>
        </p:txBody>
      </p:sp>
    </p:spTree>
    <p:extLst>
      <p:ext uri="{BB962C8B-B14F-4D97-AF65-F5344CB8AC3E}">
        <p14:creationId xmlns:p14="http://schemas.microsoft.com/office/powerpoint/2010/main" val="4211141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AFD56-79AB-79DA-4D80-002AE7A0DE5D}"/>
              </a:ext>
            </a:extLst>
          </p:cNvPr>
          <p:cNvSpPr>
            <a:spLocks noGrp="1"/>
          </p:cNvSpPr>
          <p:nvPr>
            <p:ph type="title"/>
          </p:nvPr>
        </p:nvSpPr>
        <p:spPr/>
        <p:txBody>
          <a:bodyPr/>
          <a:lstStyle/>
          <a:p>
            <a:r>
              <a:rPr lang="en-US" dirty="0"/>
              <a:t>Crossover</a:t>
            </a:r>
          </a:p>
        </p:txBody>
      </p:sp>
      <p:sp>
        <p:nvSpPr>
          <p:cNvPr id="3" name="Content Placeholder 2">
            <a:extLst>
              <a:ext uri="{FF2B5EF4-FFF2-40B4-BE49-F238E27FC236}">
                <a16:creationId xmlns:a16="http://schemas.microsoft.com/office/drawing/2014/main" id="{DA15F165-CBB2-305E-F9E4-43408A9A7BC5}"/>
              </a:ext>
            </a:extLst>
          </p:cNvPr>
          <p:cNvSpPr>
            <a:spLocks noGrp="1"/>
          </p:cNvSpPr>
          <p:nvPr>
            <p:ph idx="1"/>
          </p:nvPr>
        </p:nvSpPr>
        <p:spPr>
          <a:xfrm>
            <a:off x="838200" y="1825624"/>
            <a:ext cx="10515600" cy="4627603"/>
          </a:xfrm>
        </p:spPr>
        <p:txBody>
          <a:bodyPr>
            <a:normAutofit fontScale="70000" lnSpcReduction="20000"/>
          </a:bodyPr>
          <a:lstStyle/>
          <a:p>
            <a:r>
              <a:rPr lang="en-GB" dirty="0"/>
              <a:t>Crossover is the most significant phase in a genetic algorithm. For each pair of parents to be mated, a crossover point is chosen at random from within the genes.</a:t>
            </a:r>
          </a:p>
          <a:p>
            <a:r>
              <a:rPr lang="en-GB" dirty="0"/>
              <a:t>For example, consider the crossover point to be 3 as shown below.</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Offspring are created by exchanging the genes of parents among themselves until the crossover point is reached.</a:t>
            </a:r>
          </a:p>
          <a:p>
            <a:r>
              <a:rPr lang="en-GB" dirty="0"/>
              <a:t>The new offspring are added to the population.</a:t>
            </a:r>
          </a:p>
        </p:txBody>
      </p:sp>
      <p:pic>
        <p:nvPicPr>
          <p:cNvPr id="4" name="Picture 3">
            <a:extLst>
              <a:ext uri="{FF2B5EF4-FFF2-40B4-BE49-F238E27FC236}">
                <a16:creationId xmlns:a16="http://schemas.microsoft.com/office/drawing/2014/main" id="{18108DFF-7C7E-9755-54FA-5A7CDA54B897}"/>
              </a:ext>
            </a:extLst>
          </p:cNvPr>
          <p:cNvPicPr>
            <a:picLocks noChangeAspect="1"/>
          </p:cNvPicPr>
          <p:nvPr/>
        </p:nvPicPr>
        <p:blipFill>
          <a:blip r:embed="rId2"/>
          <a:stretch>
            <a:fillRect/>
          </a:stretch>
        </p:blipFill>
        <p:spPr>
          <a:xfrm>
            <a:off x="1480503" y="2886164"/>
            <a:ext cx="2231670" cy="2067878"/>
          </a:xfrm>
          <a:prstGeom prst="rect">
            <a:avLst/>
          </a:prstGeom>
        </p:spPr>
      </p:pic>
      <p:sp>
        <p:nvSpPr>
          <p:cNvPr id="5" name="TextBox 4">
            <a:extLst>
              <a:ext uri="{FF2B5EF4-FFF2-40B4-BE49-F238E27FC236}">
                <a16:creationId xmlns:a16="http://schemas.microsoft.com/office/drawing/2014/main" id="{5CE137F4-CB3D-C1A7-877B-DBB366BCF709}"/>
              </a:ext>
            </a:extLst>
          </p:cNvPr>
          <p:cNvSpPr txBox="1"/>
          <p:nvPr/>
        </p:nvSpPr>
        <p:spPr>
          <a:xfrm>
            <a:off x="1814251" y="4923303"/>
            <a:ext cx="1856598" cy="646331"/>
          </a:xfrm>
          <a:prstGeom prst="rect">
            <a:avLst/>
          </a:prstGeom>
          <a:noFill/>
        </p:spPr>
        <p:txBody>
          <a:bodyPr wrap="none" rtlCol="0">
            <a:spAutoFit/>
          </a:bodyPr>
          <a:lstStyle/>
          <a:p>
            <a:r>
              <a:rPr lang="en-GB" dirty="0"/>
              <a:t>Crossover point</a:t>
            </a:r>
          </a:p>
          <a:p>
            <a:endParaRPr lang="en-US" dirty="0"/>
          </a:p>
        </p:txBody>
      </p:sp>
      <p:sp>
        <p:nvSpPr>
          <p:cNvPr id="6" name="TextBox 5">
            <a:extLst>
              <a:ext uri="{FF2B5EF4-FFF2-40B4-BE49-F238E27FC236}">
                <a16:creationId xmlns:a16="http://schemas.microsoft.com/office/drawing/2014/main" id="{366C0391-7412-8637-04D0-2CBD653613CC}"/>
              </a:ext>
            </a:extLst>
          </p:cNvPr>
          <p:cNvSpPr txBox="1"/>
          <p:nvPr/>
        </p:nvSpPr>
        <p:spPr>
          <a:xfrm>
            <a:off x="4417357" y="4432332"/>
            <a:ext cx="3773790" cy="369332"/>
          </a:xfrm>
          <a:prstGeom prst="rect">
            <a:avLst/>
          </a:prstGeom>
          <a:noFill/>
        </p:spPr>
        <p:txBody>
          <a:bodyPr wrap="none" rtlCol="0">
            <a:spAutoFit/>
          </a:bodyPr>
          <a:lstStyle/>
          <a:p>
            <a:r>
              <a:rPr lang="en-GB" dirty="0"/>
              <a:t>Exchanging genes among parents</a:t>
            </a:r>
            <a:endParaRPr lang="en-US" dirty="0"/>
          </a:p>
        </p:txBody>
      </p:sp>
      <p:sp>
        <p:nvSpPr>
          <p:cNvPr id="7" name="TextBox 6">
            <a:extLst>
              <a:ext uri="{FF2B5EF4-FFF2-40B4-BE49-F238E27FC236}">
                <a16:creationId xmlns:a16="http://schemas.microsoft.com/office/drawing/2014/main" id="{AC415FC3-3E42-D532-D58C-42FA63C7328F}"/>
              </a:ext>
            </a:extLst>
          </p:cNvPr>
          <p:cNvSpPr txBox="1"/>
          <p:nvPr/>
        </p:nvSpPr>
        <p:spPr>
          <a:xfrm>
            <a:off x="8846230" y="4432332"/>
            <a:ext cx="1680268" cy="369332"/>
          </a:xfrm>
          <a:prstGeom prst="rect">
            <a:avLst/>
          </a:prstGeom>
          <a:noFill/>
        </p:spPr>
        <p:txBody>
          <a:bodyPr wrap="none" rtlCol="0">
            <a:spAutoFit/>
          </a:bodyPr>
          <a:lstStyle/>
          <a:p>
            <a:r>
              <a:rPr lang="en-GB" dirty="0"/>
              <a:t>New offspring</a:t>
            </a:r>
            <a:endParaRPr lang="en-US" dirty="0"/>
          </a:p>
        </p:txBody>
      </p:sp>
      <p:pic>
        <p:nvPicPr>
          <p:cNvPr id="8" name="Picture 7">
            <a:extLst>
              <a:ext uri="{FF2B5EF4-FFF2-40B4-BE49-F238E27FC236}">
                <a16:creationId xmlns:a16="http://schemas.microsoft.com/office/drawing/2014/main" id="{A4B48790-6478-949E-643A-A9055C9E3F41}"/>
              </a:ext>
            </a:extLst>
          </p:cNvPr>
          <p:cNvPicPr>
            <a:picLocks noChangeAspect="1"/>
          </p:cNvPicPr>
          <p:nvPr/>
        </p:nvPicPr>
        <p:blipFill>
          <a:blip r:embed="rId3"/>
          <a:stretch>
            <a:fillRect/>
          </a:stretch>
        </p:blipFill>
        <p:spPr>
          <a:xfrm>
            <a:off x="4642672" y="3034995"/>
            <a:ext cx="2349037" cy="1397337"/>
          </a:xfrm>
          <a:prstGeom prst="rect">
            <a:avLst/>
          </a:prstGeom>
        </p:spPr>
      </p:pic>
      <p:pic>
        <p:nvPicPr>
          <p:cNvPr id="9" name="Picture 8">
            <a:extLst>
              <a:ext uri="{FF2B5EF4-FFF2-40B4-BE49-F238E27FC236}">
                <a16:creationId xmlns:a16="http://schemas.microsoft.com/office/drawing/2014/main" id="{F590831F-CC03-7862-80F7-F045F867D0C6}"/>
              </a:ext>
            </a:extLst>
          </p:cNvPr>
          <p:cNvPicPr>
            <a:picLocks noChangeAspect="1"/>
          </p:cNvPicPr>
          <p:nvPr/>
        </p:nvPicPr>
        <p:blipFill>
          <a:blip r:embed="rId4"/>
          <a:stretch>
            <a:fillRect/>
          </a:stretch>
        </p:blipFill>
        <p:spPr>
          <a:xfrm>
            <a:off x="8183431" y="3092181"/>
            <a:ext cx="2349037" cy="913934"/>
          </a:xfrm>
          <a:prstGeom prst="rect">
            <a:avLst/>
          </a:prstGeom>
        </p:spPr>
      </p:pic>
    </p:spTree>
    <p:extLst>
      <p:ext uri="{BB962C8B-B14F-4D97-AF65-F5344CB8AC3E}">
        <p14:creationId xmlns:p14="http://schemas.microsoft.com/office/powerpoint/2010/main" val="4031520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E050D-BBB2-5437-7C33-8527766DD44D}"/>
              </a:ext>
            </a:extLst>
          </p:cNvPr>
          <p:cNvSpPr>
            <a:spLocks noGrp="1"/>
          </p:cNvSpPr>
          <p:nvPr>
            <p:ph type="title"/>
          </p:nvPr>
        </p:nvSpPr>
        <p:spPr/>
        <p:txBody>
          <a:bodyPr/>
          <a:lstStyle/>
          <a:p>
            <a:r>
              <a:rPr lang="en-US" dirty="0"/>
              <a:t>Mutation</a:t>
            </a:r>
          </a:p>
        </p:txBody>
      </p:sp>
      <p:sp>
        <p:nvSpPr>
          <p:cNvPr id="3" name="Content Placeholder 2">
            <a:extLst>
              <a:ext uri="{FF2B5EF4-FFF2-40B4-BE49-F238E27FC236}">
                <a16:creationId xmlns:a16="http://schemas.microsoft.com/office/drawing/2014/main" id="{8B5EBAD6-62ED-912C-FACB-F9258B0342B9}"/>
              </a:ext>
            </a:extLst>
          </p:cNvPr>
          <p:cNvSpPr>
            <a:spLocks noGrp="1"/>
          </p:cNvSpPr>
          <p:nvPr>
            <p:ph idx="1"/>
          </p:nvPr>
        </p:nvSpPr>
        <p:spPr>
          <a:xfrm>
            <a:off x="838200" y="1825625"/>
            <a:ext cx="10515600" cy="4795094"/>
          </a:xfrm>
        </p:spPr>
        <p:txBody>
          <a:bodyPr>
            <a:normAutofit/>
          </a:bodyPr>
          <a:lstStyle/>
          <a:p>
            <a:r>
              <a:rPr lang="en-GB" sz="2400" dirty="0"/>
              <a:t>In certain new offspring formed, some of their genes can be subjected to a mutation with a low random probability. This implies that some of the bits in the bit string can be flipped.</a:t>
            </a:r>
          </a:p>
          <a:p>
            <a:endParaRPr lang="en-GB" sz="2400" dirty="0"/>
          </a:p>
          <a:p>
            <a:endParaRPr lang="en-GB" sz="2400" dirty="0"/>
          </a:p>
          <a:p>
            <a:pPr marL="0" indent="0">
              <a:buNone/>
            </a:pPr>
            <a:r>
              <a:rPr lang="en-GB" sz="1800" dirty="0"/>
              <a:t>                                         </a:t>
            </a:r>
          </a:p>
          <a:p>
            <a:pPr marL="0" indent="0">
              <a:buNone/>
            </a:pPr>
            <a:endParaRPr lang="en-GB" sz="1800" dirty="0"/>
          </a:p>
          <a:p>
            <a:pPr marL="0" indent="0">
              <a:buNone/>
            </a:pPr>
            <a:r>
              <a:rPr lang="en-GB" sz="1800" dirty="0"/>
              <a:t>						</a:t>
            </a:r>
          </a:p>
          <a:p>
            <a:endParaRPr lang="en-GB" sz="2400" dirty="0"/>
          </a:p>
          <a:p>
            <a:r>
              <a:rPr lang="en-GB" sz="2400" dirty="0"/>
              <a:t>Mutation occurs to maintain diversity within the population and pre premature convergence.</a:t>
            </a:r>
            <a:endParaRPr lang="en-US" sz="2400" dirty="0"/>
          </a:p>
        </p:txBody>
      </p:sp>
      <p:pic>
        <p:nvPicPr>
          <p:cNvPr id="4" name="Picture 3">
            <a:extLst>
              <a:ext uri="{FF2B5EF4-FFF2-40B4-BE49-F238E27FC236}">
                <a16:creationId xmlns:a16="http://schemas.microsoft.com/office/drawing/2014/main" id="{0DC99DDF-3358-8B6E-2F91-3F6E71007770}"/>
              </a:ext>
            </a:extLst>
          </p:cNvPr>
          <p:cNvPicPr>
            <a:picLocks noChangeAspect="1"/>
          </p:cNvPicPr>
          <p:nvPr/>
        </p:nvPicPr>
        <p:blipFill>
          <a:blip r:embed="rId2"/>
          <a:stretch>
            <a:fillRect/>
          </a:stretch>
        </p:blipFill>
        <p:spPr>
          <a:xfrm>
            <a:off x="4424360" y="2948209"/>
            <a:ext cx="3343275" cy="1895475"/>
          </a:xfrm>
          <a:prstGeom prst="rect">
            <a:avLst/>
          </a:prstGeom>
        </p:spPr>
      </p:pic>
      <p:sp>
        <p:nvSpPr>
          <p:cNvPr id="5" name="TextBox 4">
            <a:extLst>
              <a:ext uri="{FF2B5EF4-FFF2-40B4-BE49-F238E27FC236}">
                <a16:creationId xmlns:a16="http://schemas.microsoft.com/office/drawing/2014/main" id="{C6627F7B-201B-96FD-EB65-794C5CE2CDE6}"/>
              </a:ext>
            </a:extLst>
          </p:cNvPr>
          <p:cNvSpPr txBox="1"/>
          <p:nvPr/>
        </p:nvSpPr>
        <p:spPr>
          <a:xfrm>
            <a:off x="4554549" y="4978621"/>
            <a:ext cx="3082895" cy="369332"/>
          </a:xfrm>
          <a:prstGeom prst="rect">
            <a:avLst/>
          </a:prstGeom>
          <a:noFill/>
        </p:spPr>
        <p:txBody>
          <a:bodyPr wrap="none" rtlCol="0">
            <a:spAutoFit/>
          </a:bodyPr>
          <a:lstStyle/>
          <a:p>
            <a:r>
              <a:rPr lang="en-GB" sz="1800" dirty="0"/>
              <a:t>Mutation: Before and After</a:t>
            </a:r>
            <a:endParaRPr lang="en-US" dirty="0"/>
          </a:p>
        </p:txBody>
      </p:sp>
    </p:spTree>
    <p:extLst>
      <p:ext uri="{BB962C8B-B14F-4D97-AF65-F5344CB8AC3E}">
        <p14:creationId xmlns:p14="http://schemas.microsoft.com/office/powerpoint/2010/main" val="1293644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A9548-EFE2-4E63-D856-E218DC6F2FA9}"/>
              </a:ext>
            </a:extLst>
          </p:cNvPr>
          <p:cNvSpPr>
            <a:spLocks noGrp="1"/>
          </p:cNvSpPr>
          <p:nvPr>
            <p:ph type="title"/>
          </p:nvPr>
        </p:nvSpPr>
        <p:spPr/>
        <p:txBody>
          <a:bodyPr/>
          <a:lstStyle/>
          <a:p>
            <a:r>
              <a:rPr lang="en-US" dirty="0"/>
              <a:t>Termination</a:t>
            </a:r>
          </a:p>
        </p:txBody>
      </p:sp>
      <p:sp>
        <p:nvSpPr>
          <p:cNvPr id="3" name="Content Placeholder 2">
            <a:extLst>
              <a:ext uri="{FF2B5EF4-FFF2-40B4-BE49-F238E27FC236}">
                <a16:creationId xmlns:a16="http://schemas.microsoft.com/office/drawing/2014/main" id="{FE87715D-8389-8C6A-C35C-0F8E9E6319CD}"/>
              </a:ext>
            </a:extLst>
          </p:cNvPr>
          <p:cNvSpPr>
            <a:spLocks noGrp="1"/>
          </p:cNvSpPr>
          <p:nvPr>
            <p:ph idx="1"/>
          </p:nvPr>
        </p:nvSpPr>
        <p:spPr/>
        <p:txBody>
          <a:bodyPr/>
          <a:lstStyle/>
          <a:p>
            <a:r>
              <a:rPr lang="en-GB" dirty="0"/>
              <a:t>The algorithm terminates if the population has converged (does not produce offspring which are significantly different from the previous generation). Then it is said that the genetic algorithm has provided a set of solutions to our problem.</a:t>
            </a:r>
            <a:endParaRPr lang="en-US" dirty="0"/>
          </a:p>
        </p:txBody>
      </p:sp>
    </p:spTree>
    <p:extLst>
      <p:ext uri="{BB962C8B-B14F-4D97-AF65-F5344CB8AC3E}">
        <p14:creationId xmlns:p14="http://schemas.microsoft.com/office/powerpoint/2010/main" val="2097632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734A8-0CD5-B5D7-CA33-FF70922859D1}"/>
              </a:ext>
            </a:extLst>
          </p:cNvPr>
          <p:cNvSpPr>
            <a:spLocks noGrp="1"/>
          </p:cNvSpPr>
          <p:nvPr>
            <p:ph type="title"/>
          </p:nvPr>
        </p:nvSpPr>
        <p:spPr/>
        <p:txBody>
          <a:bodyPr/>
          <a:lstStyle/>
          <a:p>
            <a:r>
              <a:rPr lang="en-US" dirty="0"/>
              <a:t>Details on Selection</a:t>
            </a:r>
          </a:p>
        </p:txBody>
      </p:sp>
      <p:sp>
        <p:nvSpPr>
          <p:cNvPr id="3" name="Content Placeholder 2">
            <a:extLst>
              <a:ext uri="{FF2B5EF4-FFF2-40B4-BE49-F238E27FC236}">
                <a16:creationId xmlns:a16="http://schemas.microsoft.com/office/drawing/2014/main" id="{03A8A4FD-D86A-4D75-EC27-ABA9AAEB5BBC}"/>
              </a:ext>
            </a:extLst>
          </p:cNvPr>
          <p:cNvSpPr>
            <a:spLocks noGrp="1"/>
          </p:cNvSpPr>
          <p:nvPr>
            <p:ph idx="1"/>
          </p:nvPr>
        </p:nvSpPr>
        <p:spPr/>
        <p:txBody>
          <a:bodyPr/>
          <a:lstStyle/>
          <a:p>
            <a:r>
              <a:rPr lang="en-GB" dirty="0"/>
              <a:t> There are many different strategies to select the individuals to be copied over into the next generation</a:t>
            </a:r>
            <a:endParaRPr lang="en-US" dirty="0"/>
          </a:p>
        </p:txBody>
      </p:sp>
    </p:spTree>
    <p:extLst>
      <p:ext uri="{BB962C8B-B14F-4D97-AF65-F5344CB8AC3E}">
        <p14:creationId xmlns:p14="http://schemas.microsoft.com/office/powerpoint/2010/main" val="734070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D9C8D-A005-B473-A832-0F63D4C9CD89}"/>
              </a:ext>
            </a:extLst>
          </p:cNvPr>
          <p:cNvSpPr>
            <a:spLocks noGrp="1"/>
          </p:cNvSpPr>
          <p:nvPr>
            <p:ph type="title"/>
          </p:nvPr>
        </p:nvSpPr>
        <p:spPr/>
        <p:txBody>
          <a:bodyPr/>
          <a:lstStyle/>
          <a:p>
            <a:r>
              <a:rPr lang="en-US" dirty="0"/>
              <a:t>Methods of Selection</a:t>
            </a:r>
          </a:p>
        </p:txBody>
      </p:sp>
      <p:sp>
        <p:nvSpPr>
          <p:cNvPr id="3" name="Content Placeholder 2">
            <a:extLst>
              <a:ext uri="{FF2B5EF4-FFF2-40B4-BE49-F238E27FC236}">
                <a16:creationId xmlns:a16="http://schemas.microsoft.com/office/drawing/2014/main" id="{45E9D7DA-4A5E-D9D7-6471-051067B7229C}"/>
              </a:ext>
            </a:extLst>
          </p:cNvPr>
          <p:cNvSpPr>
            <a:spLocks noGrp="1"/>
          </p:cNvSpPr>
          <p:nvPr>
            <p:ph idx="1"/>
          </p:nvPr>
        </p:nvSpPr>
        <p:spPr/>
        <p:txBody>
          <a:bodyPr/>
          <a:lstStyle/>
          <a:p>
            <a:r>
              <a:rPr lang="en-GB" dirty="0"/>
              <a:t>Roulette-wheel selection.</a:t>
            </a:r>
          </a:p>
          <a:p>
            <a:r>
              <a:rPr lang="en-GB" dirty="0"/>
              <a:t>Elitist selection.</a:t>
            </a:r>
          </a:p>
          <a:p>
            <a:r>
              <a:rPr lang="en-GB" dirty="0"/>
              <a:t>Fitness-proportionate selection.</a:t>
            </a:r>
          </a:p>
          <a:p>
            <a:r>
              <a:rPr lang="en-GB" dirty="0"/>
              <a:t>Scaling selection.</a:t>
            </a:r>
          </a:p>
          <a:p>
            <a:r>
              <a:rPr lang="en-GB" dirty="0"/>
              <a:t>Rank selection.</a:t>
            </a:r>
            <a:endParaRPr lang="en-US" dirty="0"/>
          </a:p>
        </p:txBody>
      </p:sp>
    </p:spTree>
    <p:extLst>
      <p:ext uri="{BB962C8B-B14F-4D97-AF65-F5344CB8AC3E}">
        <p14:creationId xmlns:p14="http://schemas.microsoft.com/office/powerpoint/2010/main" val="1017058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90FD3-060E-9B1D-575B-59B11DDD2E58}"/>
              </a:ext>
            </a:extLst>
          </p:cNvPr>
          <p:cNvSpPr>
            <a:spLocks noGrp="1"/>
          </p:cNvSpPr>
          <p:nvPr>
            <p:ph type="title"/>
          </p:nvPr>
        </p:nvSpPr>
        <p:spPr/>
        <p:txBody>
          <a:bodyPr/>
          <a:lstStyle/>
          <a:p>
            <a:r>
              <a:rPr lang="en-US" dirty="0"/>
              <a:t>Roulette-wheel selection</a:t>
            </a:r>
          </a:p>
        </p:txBody>
      </p:sp>
      <p:sp>
        <p:nvSpPr>
          <p:cNvPr id="3" name="Content Placeholder 2">
            <a:extLst>
              <a:ext uri="{FF2B5EF4-FFF2-40B4-BE49-F238E27FC236}">
                <a16:creationId xmlns:a16="http://schemas.microsoft.com/office/drawing/2014/main" id="{AE61D616-DC8F-2A28-62A5-D281C450FADA}"/>
              </a:ext>
            </a:extLst>
          </p:cNvPr>
          <p:cNvSpPr>
            <a:spLocks noGrp="1"/>
          </p:cNvSpPr>
          <p:nvPr>
            <p:ph idx="1"/>
          </p:nvPr>
        </p:nvSpPr>
        <p:spPr/>
        <p:txBody>
          <a:bodyPr>
            <a:normAutofit/>
          </a:bodyPr>
          <a:lstStyle/>
          <a:p>
            <a:r>
              <a:rPr lang="en-GB" sz="2400" dirty="0"/>
              <a:t>Fitness proportionate selection, also known as roulette wheel selection, is a genetic operator used in genetic algorithms for selecting potentially useful solutions for recombination.</a:t>
            </a:r>
          </a:p>
          <a:p>
            <a:r>
              <a:rPr lang="en-GB" sz="2400" dirty="0"/>
              <a:t>Conceptually, this can be represented as a game of roulette - each individual gets a slice of the wheel, but more fit ones get larger slices than less fit ones.</a:t>
            </a:r>
          </a:p>
          <a:p>
            <a:endParaRPr lang="en-US" sz="2400" dirty="0"/>
          </a:p>
        </p:txBody>
      </p:sp>
      <p:pic>
        <p:nvPicPr>
          <p:cNvPr id="4" name="Picture 3">
            <a:extLst>
              <a:ext uri="{FF2B5EF4-FFF2-40B4-BE49-F238E27FC236}">
                <a16:creationId xmlns:a16="http://schemas.microsoft.com/office/drawing/2014/main" id="{955491A4-E868-83B3-C081-9E85F226B696}"/>
              </a:ext>
            </a:extLst>
          </p:cNvPr>
          <p:cNvPicPr>
            <a:picLocks noChangeAspect="1"/>
          </p:cNvPicPr>
          <p:nvPr/>
        </p:nvPicPr>
        <p:blipFill>
          <a:blip r:embed="rId2"/>
          <a:stretch>
            <a:fillRect/>
          </a:stretch>
        </p:blipFill>
        <p:spPr>
          <a:xfrm>
            <a:off x="957110" y="4672878"/>
            <a:ext cx="5138890" cy="1639022"/>
          </a:xfrm>
          <a:prstGeom prst="rect">
            <a:avLst/>
          </a:prstGeom>
        </p:spPr>
      </p:pic>
      <p:pic>
        <p:nvPicPr>
          <p:cNvPr id="6" name="Picture 5">
            <a:extLst>
              <a:ext uri="{FF2B5EF4-FFF2-40B4-BE49-F238E27FC236}">
                <a16:creationId xmlns:a16="http://schemas.microsoft.com/office/drawing/2014/main" id="{02FBB2CB-B7C7-A71A-1525-7F25164F3844}"/>
              </a:ext>
            </a:extLst>
          </p:cNvPr>
          <p:cNvPicPr>
            <a:picLocks noChangeAspect="1"/>
          </p:cNvPicPr>
          <p:nvPr/>
        </p:nvPicPr>
        <p:blipFill>
          <a:blip r:embed="rId3"/>
          <a:stretch>
            <a:fillRect/>
          </a:stretch>
        </p:blipFill>
        <p:spPr>
          <a:xfrm>
            <a:off x="6214911" y="3995530"/>
            <a:ext cx="4804188" cy="2675186"/>
          </a:xfrm>
          <a:prstGeom prst="rect">
            <a:avLst/>
          </a:prstGeom>
        </p:spPr>
      </p:pic>
    </p:spTree>
    <p:extLst>
      <p:ext uri="{BB962C8B-B14F-4D97-AF65-F5344CB8AC3E}">
        <p14:creationId xmlns:p14="http://schemas.microsoft.com/office/powerpoint/2010/main" val="1595746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257C-8C76-9EFE-D1D8-887566AE2664}"/>
              </a:ext>
            </a:extLst>
          </p:cNvPr>
          <p:cNvSpPr>
            <a:spLocks noGrp="1"/>
          </p:cNvSpPr>
          <p:nvPr>
            <p:ph type="title"/>
          </p:nvPr>
        </p:nvSpPr>
        <p:spPr/>
        <p:txBody>
          <a:bodyPr/>
          <a:lstStyle/>
          <a:p>
            <a:r>
              <a:rPr lang="en-US" dirty="0"/>
              <a:t>Roulette-wheel selection</a:t>
            </a:r>
          </a:p>
        </p:txBody>
      </p:sp>
      <p:sp>
        <p:nvSpPr>
          <p:cNvPr id="3" name="Content Placeholder 2">
            <a:extLst>
              <a:ext uri="{FF2B5EF4-FFF2-40B4-BE49-F238E27FC236}">
                <a16:creationId xmlns:a16="http://schemas.microsoft.com/office/drawing/2014/main" id="{2E77BA73-6101-4DA9-8084-0CF19FF08A40}"/>
              </a:ext>
            </a:extLst>
          </p:cNvPr>
          <p:cNvSpPr>
            <a:spLocks noGrp="1"/>
          </p:cNvSpPr>
          <p:nvPr>
            <p:ph idx="1"/>
          </p:nvPr>
        </p:nvSpPr>
        <p:spPr/>
        <p:txBody>
          <a:bodyPr>
            <a:normAutofit/>
          </a:bodyPr>
          <a:lstStyle/>
          <a:p>
            <a:r>
              <a:rPr lang="en-GB" dirty="0"/>
              <a:t>In fitness proportionate selection, as in all selection methods, the fitness function assigns a fitness to possible solutions or chromosomes. This fitness level is used to associate a probability of selection with each individual chromosome. If </a:t>
            </a:r>
            <a:r>
              <a:rPr lang="en-GB" i="1" dirty="0"/>
              <a:t>f</a:t>
            </a:r>
            <a:r>
              <a:rPr lang="en-GB" i="1" baseline="-25000" dirty="0"/>
              <a:t>i</a:t>
            </a:r>
            <a:r>
              <a:rPr lang="en-GB" dirty="0"/>
              <a:t> is the fitness of individual </a:t>
            </a:r>
            <a:r>
              <a:rPr lang="en-GB" i="1" dirty="0" err="1"/>
              <a:t>i</a:t>
            </a:r>
            <a:r>
              <a:rPr lang="en-GB" dirty="0"/>
              <a:t> in the population, its probability of being selected is –</a:t>
            </a:r>
          </a:p>
          <a:p>
            <a:endParaRPr lang="en-GB" dirty="0"/>
          </a:p>
          <a:p>
            <a:endParaRPr lang="en-GB" dirty="0"/>
          </a:p>
          <a:p>
            <a:pPr marL="0" indent="0">
              <a:buNone/>
            </a:pPr>
            <a:r>
              <a:rPr lang="en-GB" dirty="0"/>
              <a:t>	where </a:t>
            </a:r>
            <a:r>
              <a:rPr lang="en-GB" i="1" dirty="0"/>
              <a:t>N </a:t>
            </a:r>
            <a:r>
              <a:rPr lang="en-GB" dirty="0"/>
              <a:t>is the number of individuals in the population.</a:t>
            </a:r>
          </a:p>
          <a:p>
            <a:endParaRPr lang="en-US" dirty="0"/>
          </a:p>
        </p:txBody>
      </p:sp>
      <p:pic>
        <p:nvPicPr>
          <p:cNvPr id="4" name="Picture 3">
            <a:extLst>
              <a:ext uri="{FF2B5EF4-FFF2-40B4-BE49-F238E27FC236}">
                <a16:creationId xmlns:a16="http://schemas.microsoft.com/office/drawing/2014/main" id="{A3E01445-93FF-9453-F188-9F1A7974886C}"/>
              </a:ext>
            </a:extLst>
          </p:cNvPr>
          <p:cNvPicPr>
            <a:picLocks noChangeAspect="1"/>
          </p:cNvPicPr>
          <p:nvPr/>
        </p:nvPicPr>
        <p:blipFill>
          <a:blip r:embed="rId2"/>
          <a:stretch>
            <a:fillRect/>
          </a:stretch>
        </p:blipFill>
        <p:spPr>
          <a:xfrm>
            <a:off x="4499283" y="4363655"/>
            <a:ext cx="1596717" cy="814991"/>
          </a:xfrm>
          <a:prstGeom prst="rect">
            <a:avLst/>
          </a:prstGeom>
        </p:spPr>
      </p:pic>
    </p:spTree>
    <p:extLst>
      <p:ext uri="{BB962C8B-B14F-4D97-AF65-F5344CB8AC3E}">
        <p14:creationId xmlns:p14="http://schemas.microsoft.com/office/powerpoint/2010/main" val="1786938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E278C-843A-D949-CC35-E07043AB6B59}"/>
              </a:ext>
            </a:extLst>
          </p:cNvPr>
          <p:cNvSpPr>
            <a:spLocks noGrp="1"/>
          </p:cNvSpPr>
          <p:nvPr>
            <p:ph type="title"/>
          </p:nvPr>
        </p:nvSpPr>
        <p:spPr/>
        <p:txBody>
          <a:bodyPr/>
          <a:lstStyle/>
          <a:p>
            <a:r>
              <a:rPr lang="en-US" dirty="0"/>
              <a:t>Other selection methods</a:t>
            </a:r>
            <a:br>
              <a:rPr lang="en-US" dirty="0"/>
            </a:br>
            <a:endParaRPr lang="en-US" dirty="0"/>
          </a:p>
        </p:txBody>
      </p:sp>
      <p:sp>
        <p:nvSpPr>
          <p:cNvPr id="3" name="Content Placeholder 2">
            <a:extLst>
              <a:ext uri="{FF2B5EF4-FFF2-40B4-BE49-F238E27FC236}">
                <a16:creationId xmlns:a16="http://schemas.microsoft.com/office/drawing/2014/main" id="{60AAC495-6926-3F26-C5C1-DD2E052B4625}"/>
              </a:ext>
            </a:extLst>
          </p:cNvPr>
          <p:cNvSpPr>
            <a:spLocks noGrp="1"/>
          </p:cNvSpPr>
          <p:nvPr>
            <p:ph idx="1"/>
          </p:nvPr>
        </p:nvSpPr>
        <p:spPr/>
        <p:txBody>
          <a:bodyPr/>
          <a:lstStyle/>
          <a:p>
            <a:r>
              <a:rPr lang="en-GB" dirty="0"/>
              <a:t>Elitist selection: </a:t>
            </a:r>
          </a:p>
          <a:p>
            <a:pPr lvl="1"/>
            <a:r>
              <a:rPr lang="en-GB" dirty="0"/>
              <a:t>Chose only the most fit members of each generation.</a:t>
            </a:r>
          </a:p>
          <a:p>
            <a:pPr marL="457200" lvl="1" indent="0">
              <a:buNone/>
            </a:pPr>
            <a:endParaRPr lang="en-GB" dirty="0"/>
          </a:p>
          <a:p>
            <a:r>
              <a:rPr lang="en-GB" dirty="0"/>
              <a:t> Cutoff selection:</a:t>
            </a:r>
          </a:p>
          <a:p>
            <a:pPr lvl="1"/>
            <a:r>
              <a:rPr lang="en-GB" dirty="0"/>
              <a:t>Select only those that are above a certain cutoff for the target function.</a:t>
            </a:r>
          </a:p>
          <a:p>
            <a:endParaRPr lang="en-US" dirty="0"/>
          </a:p>
        </p:txBody>
      </p:sp>
    </p:spTree>
    <p:extLst>
      <p:ext uri="{BB962C8B-B14F-4D97-AF65-F5344CB8AC3E}">
        <p14:creationId xmlns:p14="http://schemas.microsoft.com/office/powerpoint/2010/main" val="1725292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B0D7C-64FD-18DF-0B84-9B6F0CF78F9D}"/>
              </a:ext>
            </a:extLst>
          </p:cNvPr>
          <p:cNvSpPr>
            <a:spLocks noGrp="1"/>
          </p:cNvSpPr>
          <p:nvPr>
            <p:ph type="title"/>
          </p:nvPr>
        </p:nvSpPr>
        <p:spPr/>
        <p:txBody>
          <a:bodyPr/>
          <a:lstStyle/>
          <a:p>
            <a:r>
              <a:rPr lang="en-US" dirty="0"/>
              <a:t>Crossover Strategies</a:t>
            </a:r>
          </a:p>
        </p:txBody>
      </p:sp>
      <p:sp>
        <p:nvSpPr>
          <p:cNvPr id="3" name="Content Placeholder 2">
            <a:extLst>
              <a:ext uri="{FF2B5EF4-FFF2-40B4-BE49-F238E27FC236}">
                <a16:creationId xmlns:a16="http://schemas.microsoft.com/office/drawing/2014/main" id="{1AE05C4E-DB40-14B7-32CA-5F396FBB3290}"/>
              </a:ext>
            </a:extLst>
          </p:cNvPr>
          <p:cNvSpPr>
            <a:spLocks noGrp="1"/>
          </p:cNvSpPr>
          <p:nvPr>
            <p:ph idx="1"/>
          </p:nvPr>
        </p:nvSpPr>
        <p:spPr/>
        <p:txBody>
          <a:bodyPr/>
          <a:lstStyle/>
          <a:p>
            <a:r>
              <a:rPr lang="en-GB" dirty="0"/>
              <a:t>Types of crossover styles available:</a:t>
            </a:r>
          </a:p>
          <a:p>
            <a:pPr lvl="1"/>
            <a:r>
              <a:rPr lang="en-GB" dirty="0"/>
              <a:t>Single / One point crossover</a:t>
            </a:r>
          </a:p>
          <a:p>
            <a:pPr lvl="1"/>
            <a:r>
              <a:rPr lang="en-GB" dirty="0"/>
              <a:t>Two-point / N-point crossover</a:t>
            </a:r>
          </a:p>
          <a:p>
            <a:pPr lvl="1"/>
            <a:r>
              <a:rPr lang="en-GB" dirty="0"/>
              <a:t>Uniform crossover</a:t>
            </a:r>
            <a:endParaRPr lang="en-US" dirty="0"/>
          </a:p>
        </p:txBody>
      </p:sp>
    </p:spTree>
    <p:extLst>
      <p:ext uri="{BB962C8B-B14F-4D97-AF65-F5344CB8AC3E}">
        <p14:creationId xmlns:p14="http://schemas.microsoft.com/office/powerpoint/2010/main" val="2391110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5147F-B4A7-B03B-E277-59125DDFB033}"/>
              </a:ext>
            </a:extLst>
          </p:cNvPr>
          <p:cNvSpPr>
            <a:spLocks noGrp="1"/>
          </p:cNvSpPr>
          <p:nvPr>
            <p:ph type="title"/>
          </p:nvPr>
        </p:nvSpPr>
        <p:spPr/>
        <p:txBody>
          <a:bodyPr/>
          <a:lstStyle/>
          <a:p>
            <a:r>
              <a:rPr lang="en-US" dirty="0"/>
              <a:t>Single Point Crossover</a:t>
            </a:r>
          </a:p>
        </p:txBody>
      </p:sp>
      <p:sp>
        <p:nvSpPr>
          <p:cNvPr id="3" name="Content Placeholder 2">
            <a:extLst>
              <a:ext uri="{FF2B5EF4-FFF2-40B4-BE49-F238E27FC236}">
                <a16:creationId xmlns:a16="http://schemas.microsoft.com/office/drawing/2014/main" id="{187B11E0-1F22-8AD6-1053-2479D70A5C26}"/>
              </a:ext>
            </a:extLst>
          </p:cNvPr>
          <p:cNvSpPr>
            <a:spLocks noGrp="1"/>
          </p:cNvSpPr>
          <p:nvPr>
            <p:ph idx="1"/>
          </p:nvPr>
        </p:nvSpPr>
        <p:spPr>
          <a:xfrm>
            <a:off x="838200" y="1825625"/>
            <a:ext cx="10609162" cy="4351338"/>
          </a:xfrm>
        </p:spPr>
        <p:txBody>
          <a:bodyPr/>
          <a:lstStyle/>
          <a:p>
            <a:r>
              <a:rPr lang="en-GB" dirty="0"/>
              <a:t>A crossover point on the parent organism string is selected. All data beyond that point in the organism string is swapped between the two parent organisms. Strings are characterized by Positional Bias. </a:t>
            </a:r>
            <a:endParaRPr lang="en-US" dirty="0"/>
          </a:p>
        </p:txBody>
      </p:sp>
      <p:pic>
        <p:nvPicPr>
          <p:cNvPr id="6" name="Picture 5">
            <a:extLst>
              <a:ext uri="{FF2B5EF4-FFF2-40B4-BE49-F238E27FC236}">
                <a16:creationId xmlns:a16="http://schemas.microsoft.com/office/drawing/2014/main" id="{86FAA749-664D-93FB-0A3E-190D15A1C9AC}"/>
              </a:ext>
            </a:extLst>
          </p:cNvPr>
          <p:cNvPicPr>
            <a:picLocks noChangeAspect="1"/>
          </p:cNvPicPr>
          <p:nvPr/>
        </p:nvPicPr>
        <p:blipFill>
          <a:blip r:embed="rId2"/>
          <a:stretch>
            <a:fillRect/>
          </a:stretch>
        </p:blipFill>
        <p:spPr>
          <a:xfrm>
            <a:off x="2337877" y="3429000"/>
            <a:ext cx="8352174" cy="2532969"/>
          </a:xfrm>
          <a:prstGeom prst="rect">
            <a:avLst/>
          </a:prstGeom>
        </p:spPr>
      </p:pic>
    </p:spTree>
    <p:extLst>
      <p:ext uri="{BB962C8B-B14F-4D97-AF65-F5344CB8AC3E}">
        <p14:creationId xmlns:p14="http://schemas.microsoft.com/office/powerpoint/2010/main" val="3702855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7CF63-AFDB-0F91-D64D-5DF8E5281F00}"/>
              </a:ext>
            </a:extLst>
          </p:cNvPr>
          <p:cNvSpPr>
            <a:spLocks noGrp="1"/>
          </p:cNvSpPr>
          <p:nvPr>
            <p:ph type="title"/>
          </p:nvPr>
        </p:nvSpPr>
        <p:spPr/>
        <p:txBody>
          <a:bodyPr/>
          <a:lstStyle/>
          <a:p>
            <a:r>
              <a:rPr lang="en-US" dirty="0"/>
              <a:t>Two-Point Crossover</a:t>
            </a:r>
          </a:p>
        </p:txBody>
      </p:sp>
      <p:sp>
        <p:nvSpPr>
          <p:cNvPr id="3" name="Content Placeholder 2">
            <a:extLst>
              <a:ext uri="{FF2B5EF4-FFF2-40B4-BE49-F238E27FC236}">
                <a16:creationId xmlns:a16="http://schemas.microsoft.com/office/drawing/2014/main" id="{B6433E24-AF38-0D7B-D565-DF9CE3E92272}"/>
              </a:ext>
            </a:extLst>
          </p:cNvPr>
          <p:cNvSpPr>
            <a:spLocks noGrp="1"/>
          </p:cNvSpPr>
          <p:nvPr>
            <p:ph idx="1"/>
          </p:nvPr>
        </p:nvSpPr>
        <p:spPr/>
        <p:txBody>
          <a:bodyPr/>
          <a:lstStyle/>
          <a:p>
            <a:r>
              <a:rPr lang="en-GB" dirty="0"/>
              <a:t>This is a specific case of a N-point Crossover technique. Two random points are chosen on the individual chromosomes (strings) and the genetic material is exchanged at these points. </a:t>
            </a:r>
            <a:endParaRPr lang="en-US" dirty="0"/>
          </a:p>
        </p:txBody>
      </p:sp>
      <p:pic>
        <p:nvPicPr>
          <p:cNvPr id="9" name="Picture 8">
            <a:extLst>
              <a:ext uri="{FF2B5EF4-FFF2-40B4-BE49-F238E27FC236}">
                <a16:creationId xmlns:a16="http://schemas.microsoft.com/office/drawing/2014/main" id="{2C1CE6D2-53EA-CAC3-C60D-F1373145B45B}"/>
              </a:ext>
            </a:extLst>
          </p:cNvPr>
          <p:cNvPicPr>
            <a:picLocks noChangeAspect="1"/>
          </p:cNvPicPr>
          <p:nvPr/>
        </p:nvPicPr>
        <p:blipFill>
          <a:blip r:embed="rId2"/>
          <a:stretch>
            <a:fillRect/>
          </a:stretch>
        </p:blipFill>
        <p:spPr>
          <a:xfrm>
            <a:off x="2428394" y="3773347"/>
            <a:ext cx="8075991" cy="2133528"/>
          </a:xfrm>
          <a:prstGeom prst="rect">
            <a:avLst/>
          </a:prstGeom>
        </p:spPr>
      </p:pic>
    </p:spTree>
    <p:extLst>
      <p:ext uri="{BB962C8B-B14F-4D97-AF65-F5344CB8AC3E}">
        <p14:creationId xmlns:p14="http://schemas.microsoft.com/office/powerpoint/2010/main" val="1978874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E154B-092F-BAA6-0820-A9A4C292C76F}"/>
              </a:ext>
            </a:extLst>
          </p:cNvPr>
          <p:cNvSpPr>
            <a:spLocks noGrp="1"/>
          </p:cNvSpPr>
          <p:nvPr>
            <p:ph type="title"/>
          </p:nvPr>
        </p:nvSpPr>
        <p:spPr/>
        <p:txBody>
          <a:bodyPr/>
          <a:lstStyle/>
          <a:p>
            <a:r>
              <a:rPr lang="en-US" dirty="0"/>
              <a:t>Uniform Crossover</a:t>
            </a:r>
          </a:p>
        </p:txBody>
      </p:sp>
      <p:sp>
        <p:nvSpPr>
          <p:cNvPr id="3" name="Content Placeholder 2">
            <a:extLst>
              <a:ext uri="{FF2B5EF4-FFF2-40B4-BE49-F238E27FC236}">
                <a16:creationId xmlns:a16="http://schemas.microsoft.com/office/drawing/2014/main" id="{A9025938-54A2-F08C-5960-D16CDF27CE23}"/>
              </a:ext>
            </a:extLst>
          </p:cNvPr>
          <p:cNvSpPr>
            <a:spLocks noGrp="1"/>
          </p:cNvSpPr>
          <p:nvPr>
            <p:ph idx="1"/>
          </p:nvPr>
        </p:nvSpPr>
        <p:spPr/>
        <p:txBody>
          <a:bodyPr/>
          <a:lstStyle/>
          <a:p>
            <a:r>
              <a:rPr lang="en-GB" dirty="0"/>
              <a:t>Each gene (bit) is selected randomly from one of the corresponding genes of the parent chromosomes. </a:t>
            </a:r>
          </a:p>
          <a:p>
            <a:r>
              <a:rPr lang="en-GB" dirty="0"/>
              <a:t>Use tossing of a coin as an example technique. </a:t>
            </a:r>
            <a:endParaRPr lang="en-US" dirty="0"/>
          </a:p>
        </p:txBody>
      </p:sp>
      <p:pic>
        <p:nvPicPr>
          <p:cNvPr id="6" name="Picture 5">
            <a:extLst>
              <a:ext uri="{FF2B5EF4-FFF2-40B4-BE49-F238E27FC236}">
                <a16:creationId xmlns:a16="http://schemas.microsoft.com/office/drawing/2014/main" id="{25AB0431-7F4E-7464-528D-3330542B1B06}"/>
              </a:ext>
            </a:extLst>
          </p:cNvPr>
          <p:cNvPicPr>
            <a:picLocks noChangeAspect="1"/>
          </p:cNvPicPr>
          <p:nvPr/>
        </p:nvPicPr>
        <p:blipFill>
          <a:blip r:embed="rId2"/>
          <a:stretch>
            <a:fillRect/>
          </a:stretch>
        </p:blipFill>
        <p:spPr>
          <a:xfrm>
            <a:off x="2362815" y="3429000"/>
            <a:ext cx="6725589" cy="2248214"/>
          </a:xfrm>
          <a:prstGeom prst="rect">
            <a:avLst/>
          </a:prstGeom>
        </p:spPr>
      </p:pic>
    </p:spTree>
    <p:extLst>
      <p:ext uri="{BB962C8B-B14F-4D97-AF65-F5344CB8AC3E}">
        <p14:creationId xmlns:p14="http://schemas.microsoft.com/office/powerpoint/2010/main" val="3032723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3F05C-918A-E493-0922-98AFD27D6A6B}"/>
              </a:ext>
            </a:extLst>
          </p:cNvPr>
          <p:cNvSpPr>
            <a:spLocks noGrp="1"/>
          </p:cNvSpPr>
          <p:nvPr>
            <p:ph type="title"/>
          </p:nvPr>
        </p:nvSpPr>
        <p:spPr/>
        <p:txBody>
          <a:bodyPr/>
          <a:lstStyle/>
          <a:p>
            <a:r>
              <a:rPr lang="en-US" dirty="0"/>
              <a:t>GA Example (The MAXONE Problem)</a:t>
            </a:r>
          </a:p>
        </p:txBody>
      </p:sp>
      <p:sp>
        <p:nvSpPr>
          <p:cNvPr id="3" name="Content Placeholder 2">
            <a:extLst>
              <a:ext uri="{FF2B5EF4-FFF2-40B4-BE49-F238E27FC236}">
                <a16:creationId xmlns:a16="http://schemas.microsoft.com/office/drawing/2014/main" id="{10F12FE7-9A4B-6B05-643D-42B4E0AF4EDA}"/>
              </a:ext>
            </a:extLst>
          </p:cNvPr>
          <p:cNvSpPr>
            <a:spLocks noGrp="1"/>
          </p:cNvSpPr>
          <p:nvPr>
            <p:ph idx="1"/>
          </p:nvPr>
        </p:nvSpPr>
        <p:spPr/>
        <p:txBody>
          <a:bodyPr>
            <a:normAutofit/>
          </a:bodyPr>
          <a:lstStyle/>
          <a:p>
            <a:pPr marL="0" indent="0">
              <a:buNone/>
            </a:pPr>
            <a:r>
              <a:rPr lang="en-US" dirty="0"/>
              <a:t>the MAXONE problem:</a:t>
            </a:r>
          </a:p>
          <a:p>
            <a:r>
              <a:rPr lang="en-GB" dirty="0"/>
              <a:t>Suppose we want to maximize the number of  ones in a string of </a:t>
            </a:r>
            <a:r>
              <a:rPr lang="en-GB" i="1" dirty="0"/>
              <a:t>l</a:t>
            </a:r>
            <a:r>
              <a:rPr lang="en-GB" dirty="0"/>
              <a:t> binary digits</a:t>
            </a:r>
          </a:p>
          <a:p>
            <a:pPr lvl="1"/>
            <a:r>
              <a:rPr lang="en-GB" dirty="0"/>
              <a:t> Is it a trivial problem?</a:t>
            </a:r>
          </a:p>
          <a:p>
            <a:pPr lvl="1"/>
            <a:r>
              <a:rPr lang="en-GB" dirty="0"/>
              <a:t> It may seem so because we know the answer in advance</a:t>
            </a:r>
          </a:p>
          <a:p>
            <a:r>
              <a:rPr lang="en-GB" dirty="0"/>
              <a:t> However, we can think of it as maximizing the number of correct answers, each encoded by 1, to </a:t>
            </a:r>
            <a:r>
              <a:rPr lang="en-GB" i="1" dirty="0"/>
              <a:t>l</a:t>
            </a:r>
            <a:r>
              <a:rPr lang="en-GB" dirty="0"/>
              <a:t> yes/no difficult questions</a:t>
            </a:r>
            <a:endParaRPr lang="en-US" dirty="0"/>
          </a:p>
        </p:txBody>
      </p:sp>
    </p:spTree>
    <p:extLst>
      <p:ext uri="{BB962C8B-B14F-4D97-AF65-F5344CB8AC3E}">
        <p14:creationId xmlns:p14="http://schemas.microsoft.com/office/powerpoint/2010/main" val="1372305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7F5C8-B97B-D011-C786-7FADABBD0373}"/>
              </a:ext>
            </a:extLst>
          </p:cNvPr>
          <p:cNvSpPr>
            <a:spLocks noGrp="1"/>
          </p:cNvSpPr>
          <p:nvPr>
            <p:ph type="title"/>
          </p:nvPr>
        </p:nvSpPr>
        <p:spPr/>
        <p:txBody>
          <a:bodyPr/>
          <a:lstStyle/>
          <a:p>
            <a:r>
              <a:rPr lang="en-US" dirty="0"/>
              <a:t>The MAXONE Problem</a:t>
            </a:r>
          </a:p>
        </p:txBody>
      </p:sp>
      <p:sp>
        <p:nvSpPr>
          <p:cNvPr id="3" name="Content Placeholder 2">
            <a:extLst>
              <a:ext uri="{FF2B5EF4-FFF2-40B4-BE49-F238E27FC236}">
                <a16:creationId xmlns:a16="http://schemas.microsoft.com/office/drawing/2014/main" id="{2F27110E-944D-1C1C-B74F-916D9D87C9EA}"/>
              </a:ext>
            </a:extLst>
          </p:cNvPr>
          <p:cNvSpPr>
            <a:spLocks noGrp="1"/>
          </p:cNvSpPr>
          <p:nvPr>
            <p:ph idx="1"/>
          </p:nvPr>
        </p:nvSpPr>
        <p:spPr/>
        <p:txBody>
          <a:bodyPr>
            <a:normAutofit fontScale="85000" lnSpcReduction="20000"/>
          </a:bodyPr>
          <a:lstStyle/>
          <a:p>
            <a:r>
              <a:rPr lang="en-GB" dirty="0"/>
              <a:t>The MAXONE problem is a trivial problem often used to introduce the concept of genetic algorithms. It’s incredibly simple, but it’s great for introducing many of the critical aspects of a genetic algorithm. The problem boils down to one question: what is the maximum sum of a bitstring (a string consisting of only 1s and 0s) of length N?</a:t>
            </a:r>
          </a:p>
          <a:p>
            <a:endParaRPr lang="en-GB" dirty="0"/>
          </a:p>
          <a:p>
            <a:r>
              <a:rPr lang="en-GB" dirty="0"/>
              <a:t>Of course, you know that the maximum sum of a bitstring of length N is N. However, if you wanted to prove this using a brute-force search, you’d end up needing to search through 2</a:t>
            </a:r>
            <a:r>
              <a:rPr lang="en-GB" baseline="30000" dirty="0"/>
              <a:t>N</a:t>
            </a:r>
            <a:r>
              <a:rPr lang="en-GB" dirty="0"/>
              <a:t> different solutions. As with any search problem, this isn’t too difficult with relatively small bitstrings. But what happens if you want to use this technique for bitstrings of length 40? You’d have to search over one trillion possible bitstrings. To avoid this, you’ll create a genetic algorithm that produces an optimal solution without iterating over every possible solution in the search space.</a:t>
            </a:r>
            <a:endParaRPr lang="en-US" dirty="0"/>
          </a:p>
        </p:txBody>
      </p:sp>
    </p:spTree>
    <p:extLst>
      <p:ext uri="{BB962C8B-B14F-4D97-AF65-F5344CB8AC3E}">
        <p14:creationId xmlns:p14="http://schemas.microsoft.com/office/powerpoint/2010/main" val="2659873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2A210-CBC5-7AA2-7E19-10C12946418D}"/>
              </a:ext>
            </a:extLst>
          </p:cNvPr>
          <p:cNvSpPr>
            <a:spLocks noGrp="1"/>
          </p:cNvSpPr>
          <p:nvPr>
            <p:ph type="title"/>
          </p:nvPr>
        </p:nvSpPr>
        <p:spPr/>
        <p:txBody>
          <a:bodyPr/>
          <a:lstStyle/>
          <a:p>
            <a:r>
              <a:rPr lang="en-US" dirty="0"/>
              <a:t>GA Implementation</a:t>
            </a:r>
          </a:p>
        </p:txBody>
      </p:sp>
      <p:sp>
        <p:nvSpPr>
          <p:cNvPr id="3" name="Content Placeholder 2">
            <a:extLst>
              <a:ext uri="{FF2B5EF4-FFF2-40B4-BE49-F238E27FC236}">
                <a16:creationId xmlns:a16="http://schemas.microsoft.com/office/drawing/2014/main" id="{63E08D71-D7C2-17A7-140E-5AF7742BAE7A}"/>
              </a:ext>
            </a:extLst>
          </p:cNvPr>
          <p:cNvSpPr>
            <a:spLocks noGrp="1"/>
          </p:cNvSpPr>
          <p:nvPr>
            <p:ph idx="1"/>
          </p:nvPr>
        </p:nvSpPr>
        <p:spPr/>
        <p:txBody>
          <a:bodyPr/>
          <a:lstStyle/>
          <a:p>
            <a:r>
              <a:rPr lang="en-GB" dirty="0"/>
              <a:t>Common representation methods</a:t>
            </a:r>
          </a:p>
          <a:p>
            <a:pPr lvl="1"/>
            <a:r>
              <a:rPr lang="en-GB" dirty="0"/>
              <a:t> Binary strings.</a:t>
            </a:r>
          </a:p>
          <a:p>
            <a:pPr lvl="1"/>
            <a:r>
              <a:rPr lang="en-GB" dirty="0"/>
              <a:t> Arrays of integers (usually bound)</a:t>
            </a:r>
          </a:p>
          <a:p>
            <a:pPr lvl="1"/>
            <a:r>
              <a:rPr lang="en-GB" dirty="0"/>
              <a:t> Arrays of letters</a:t>
            </a:r>
          </a:p>
          <a:p>
            <a:pPr lvl="1"/>
            <a:r>
              <a:rPr lang="en-GB" dirty="0"/>
              <a:t>…</a:t>
            </a:r>
          </a:p>
          <a:p>
            <a:pPr lvl="1"/>
            <a:endParaRPr lang="en-US" dirty="0"/>
          </a:p>
          <a:p>
            <a:pPr lvl="1"/>
            <a:endParaRPr lang="en-US" dirty="0"/>
          </a:p>
          <a:p>
            <a:r>
              <a:rPr lang="en-US" dirty="0"/>
              <a:t>For solving MAXONE Problem, we will use the Binary String representation.</a:t>
            </a:r>
            <a:endParaRPr lang="en-GB" dirty="0"/>
          </a:p>
        </p:txBody>
      </p:sp>
    </p:spTree>
    <p:extLst>
      <p:ext uri="{BB962C8B-B14F-4D97-AF65-F5344CB8AC3E}">
        <p14:creationId xmlns:p14="http://schemas.microsoft.com/office/powerpoint/2010/main" val="2720053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5F527-49A8-121A-3F0F-8287D8862B58}"/>
              </a:ext>
            </a:extLst>
          </p:cNvPr>
          <p:cNvSpPr>
            <a:spLocks noGrp="1"/>
          </p:cNvSpPr>
          <p:nvPr>
            <p:ph type="title"/>
          </p:nvPr>
        </p:nvSpPr>
        <p:spPr/>
        <p:txBody>
          <a:bodyPr/>
          <a:lstStyle/>
          <a:p>
            <a:r>
              <a:rPr lang="en-US" dirty="0"/>
              <a:t>GA Solution of MAXONE Problem</a:t>
            </a:r>
          </a:p>
        </p:txBody>
      </p:sp>
      <p:sp>
        <p:nvSpPr>
          <p:cNvPr id="3" name="Content Placeholder 2">
            <a:extLst>
              <a:ext uri="{FF2B5EF4-FFF2-40B4-BE49-F238E27FC236}">
                <a16:creationId xmlns:a16="http://schemas.microsoft.com/office/drawing/2014/main" id="{9532C1E4-6EA9-7330-70CF-B8B30A73C7A0}"/>
              </a:ext>
            </a:extLst>
          </p:cNvPr>
          <p:cNvSpPr>
            <a:spLocks noGrp="1"/>
          </p:cNvSpPr>
          <p:nvPr>
            <p:ph idx="1"/>
          </p:nvPr>
        </p:nvSpPr>
        <p:spPr/>
        <p:txBody>
          <a:bodyPr/>
          <a:lstStyle/>
          <a:p>
            <a:r>
              <a:rPr lang="en-US" dirty="0"/>
              <a:t>Encoding: </a:t>
            </a:r>
          </a:p>
          <a:p>
            <a:pPr lvl="1"/>
            <a:r>
              <a:rPr lang="en-GB" dirty="0"/>
              <a:t>An individual is encoded (naturally) as a string of l binary digits</a:t>
            </a:r>
          </a:p>
          <a:p>
            <a:r>
              <a:rPr lang="en-GB" dirty="0"/>
              <a:t>Fitness Function: </a:t>
            </a:r>
          </a:p>
          <a:p>
            <a:pPr lvl="1"/>
            <a:r>
              <a:rPr lang="en-GB" dirty="0"/>
              <a:t>The fitness </a:t>
            </a:r>
            <a:r>
              <a:rPr lang="en-GB" i="1" dirty="0"/>
              <a:t>f</a:t>
            </a:r>
            <a:r>
              <a:rPr lang="en-GB" dirty="0"/>
              <a:t> of a candidate solution to the MAXONE problem is the number of ones in its genetic code</a:t>
            </a:r>
          </a:p>
          <a:p>
            <a:r>
              <a:rPr lang="en-US" dirty="0"/>
              <a:t>Initialization:</a:t>
            </a:r>
          </a:p>
          <a:p>
            <a:pPr lvl="1"/>
            <a:r>
              <a:rPr lang="en-GB" dirty="0"/>
              <a:t>We start with a population of n random strings. Suppose that l = 10 and n = 6</a:t>
            </a:r>
            <a:endParaRPr lang="en-US" dirty="0"/>
          </a:p>
          <a:p>
            <a:endParaRPr lang="en-US" dirty="0"/>
          </a:p>
        </p:txBody>
      </p:sp>
    </p:spTree>
    <p:extLst>
      <p:ext uri="{BB962C8B-B14F-4D97-AF65-F5344CB8AC3E}">
        <p14:creationId xmlns:p14="http://schemas.microsoft.com/office/powerpoint/2010/main" val="984328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A6179-E165-FCBD-D0B0-05957949F52F}"/>
              </a:ext>
            </a:extLst>
          </p:cNvPr>
          <p:cNvSpPr>
            <a:spLocks noGrp="1"/>
          </p:cNvSpPr>
          <p:nvPr>
            <p:ph type="title"/>
          </p:nvPr>
        </p:nvSpPr>
        <p:spPr/>
        <p:txBody>
          <a:bodyPr/>
          <a:lstStyle/>
          <a:p>
            <a:r>
              <a:rPr lang="en-US" dirty="0"/>
              <a:t>MAXONE: Initialization</a:t>
            </a:r>
          </a:p>
        </p:txBody>
      </p:sp>
      <p:sp>
        <p:nvSpPr>
          <p:cNvPr id="3" name="Content Placeholder 2">
            <a:extLst>
              <a:ext uri="{FF2B5EF4-FFF2-40B4-BE49-F238E27FC236}">
                <a16:creationId xmlns:a16="http://schemas.microsoft.com/office/drawing/2014/main" id="{6D67243E-38D1-070D-D28E-7D44FAEDC26D}"/>
              </a:ext>
            </a:extLst>
          </p:cNvPr>
          <p:cNvSpPr>
            <a:spLocks noGrp="1"/>
          </p:cNvSpPr>
          <p:nvPr>
            <p:ph idx="1"/>
          </p:nvPr>
        </p:nvSpPr>
        <p:spPr/>
        <p:txBody>
          <a:bodyPr/>
          <a:lstStyle/>
          <a:p>
            <a:r>
              <a:rPr lang="en-GB" dirty="0"/>
              <a:t>We toss a fair coin 60 times and get the following initial population:</a:t>
            </a:r>
          </a:p>
          <a:p>
            <a:endParaRPr lang="en-US" dirty="0"/>
          </a:p>
        </p:txBody>
      </p:sp>
      <p:pic>
        <p:nvPicPr>
          <p:cNvPr id="5" name="Picture 4">
            <a:extLst>
              <a:ext uri="{FF2B5EF4-FFF2-40B4-BE49-F238E27FC236}">
                <a16:creationId xmlns:a16="http://schemas.microsoft.com/office/drawing/2014/main" id="{E3102798-EF99-D970-3725-05D56D575266}"/>
              </a:ext>
            </a:extLst>
          </p:cNvPr>
          <p:cNvPicPr>
            <a:picLocks noChangeAspect="1"/>
          </p:cNvPicPr>
          <p:nvPr/>
        </p:nvPicPr>
        <p:blipFill>
          <a:blip r:embed="rId2"/>
          <a:stretch>
            <a:fillRect/>
          </a:stretch>
        </p:blipFill>
        <p:spPr>
          <a:xfrm>
            <a:off x="3581617" y="2687299"/>
            <a:ext cx="4658375" cy="3705742"/>
          </a:xfrm>
          <a:prstGeom prst="rect">
            <a:avLst/>
          </a:prstGeom>
        </p:spPr>
      </p:pic>
    </p:spTree>
    <p:extLst>
      <p:ext uri="{BB962C8B-B14F-4D97-AF65-F5344CB8AC3E}">
        <p14:creationId xmlns:p14="http://schemas.microsoft.com/office/powerpoint/2010/main" val="7610205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B55AA-1FFB-30DC-DF09-2AB4E50FA798}"/>
              </a:ext>
            </a:extLst>
          </p:cNvPr>
          <p:cNvSpPr>
            <a:spLocks noGrp="1"/>
          </p:cNvSpPr>
          <p:nvPr>
            <p:ph type="title"/>
          </p:nvPr>
        </p:nvSpPr>
        <p:spPr/>
        <p:txBody>
          <a:bodyPr/>
          <a:lstStyle/>
          <a:p>
            <a:r>
              <a:rPr lang="en-US" dirty="0"/>
              <a:t>Step 1: Selection</a:t>
            </a:r>
          </a:p>
        </p:txBody>
      </p:sp>
      <p:sp>
        <p:nvSpPr>
          <p:cNvPr id="3" name="Content Placeholder 2">
            <a:extLst>
              <a:ext uri="{FF2B5EF4-FFF2-40B4-BE49-F238E27FC236}">
                <a16:creationId xmlns:a16="http://schemas.microsoft.com/office/drawing/2014/main" id="{BDE00017-0CAA-0481-1903-9F64B0A37EB1}"/>
              </a:ext>
            </a:extLst>
          </p:cNvPr>
          <p:cNvSpPr>
            <a:spLocks noGrp="1"/>
          </p:cNvSpPr>
          <p:nvPr>
            <p:ph idx="1"/>
          </p:nvPr>
        </p:nvSpPr>
        <p:spPr>
          <a:xfrm>
            <a:off x="838200" y="1825625"/>
            <a:ext cx="4856544" cy="4351338"/>
          </a:xfrm>
        </p:spPr>
        <p:txBody>
          <a:bodyPr/>
          <a:lstStyle/>
          <a:p>
            <a:r>
              <a:rPr lang="en-GB" dirty="0"/>
              <a:t> We randomly (using a biased coin) select a subset of the individuals based on their fitness:</a:t>
            </a:r>
          </a:p>
          <a:p>
            <a:endParaRPr lang="en-US" dirty="0"/>
          </a:p>
        </p:txBody>
      </p:sp>
      <p:pic>
        <p:nvPicPr>
          <p:cNvPr id="5" name="Picture 4">
            <a:extLst>
              <a:ext uri="{FF2B5EF4-FFF2-40B4-BE49-F238E27FC236}">
                <a16:creationId xmlns:a16="http://schemas.microsoft.com/office/drawing/2014/main" id="{2BECA664-EB66-0BCB-3B23-84B6022550A1}"/>
              </a:ext>
            </a:extLst>
          </p:cNvPr>
          <p:cNvPicPr>
            <a:picLocks noChangeAspect="1"/>
          </p:cNvPicPr>
          <p:nvPr/>
        </p:nvPicPr>
        <p:blipFill>
          <a:blip r:embed="rId2"/>
          <a:stretch>
            <a:fillRect/>
          </a:stretch>
        </p:blipFill>
        <p:spPr>
          <a:xfrm>
            <a:off x="6288914" y="2084528"/>
            <a:ext cx="5235174" cy="4092435"/>
          </a:xfrm>
          <a:prstGeom prst="rect">
            <a:avLst/>
          </a:prstGeom>
        </p:spPr>
      </p:pic>
    </p:spTree>
    <p:extLst>
      <p:ext uri="{BB962C8B-B14F-4D97-AF65-F5344CB8AC3E}">
        <p14:creationId xmlns:p14="http://schemas.microsoft.com/office/powerpoint/2010/main" val="39341854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5CB98-648F-F462-6ADB-442428E09595}"/>
              </a:ext>
            </a:extLst>
          </p:cNvPr>
          <p:cNvSpPr>
            <a:spLocks noGrp="1"/>
          </p:cNvSpPr>
          <p:nvPr>
            <p:ph type="title"/>
          </p:nvPr>
        </p:nvSpPr>
        <p:spPr/>
        <p:txBody>
          <a:bodyPr/>
          <a:lstStyle/>
          <a:p>
            <a:r>
              <a:rPr lang="en-US" dirty="0"/>
              <a:t>Selected set</a:t>
            </a:r>
          </a:p>
        </p:txBody>
      </p:sp>
      <p:sp>
        <p:nvSpPr>
          <p:cNvPr id="3" name="Content Placeholder 2">
            <a:extLst>
              <a:ext uri="{FF2B5EF4-FFF2-40B4-BE49-F238E27FC236}">
                <a16:creationId xmlns:a16="http://schemas.microsoft.com/office/drawing/2014/main" id="{0CE97940-6DA7-F8EC-45C1-CE419DEABDE6}"/>
              </a:ext>
            </a:extLst>
          </p:cNvPr>
          <p:cNvSpPr>
            <a:spLocks noGrp="1"/>
          </p:cNvSpPr>
          <p:nvPr>
            <p:ph idx="1"/>
          </p:nvPr>
        </p:nvSpPr>
        <p:spPr/>
        <p:txBody>
          <a:bodyPr/>
          <a:lstStyle/>
          <a:p>
            <a:r>
              <a:rPr lang="en-GB" dirty="0"/>
              <a:t> Suppose that, after performing selection, we get the following population:</a:t>
            </a:r>
            <a:endParaRPr lang="en-US" dirty="0"/>
          </a:p>
        </p:txBody>
      </p:sp>
      <p:pic>
        <p:nvPicPr>
          <p:cNvPr id="5" name="Picture 4">
            <a:extLst>
              <a:ext uri="{FF2B5EF4-FFF2-40B4-BE49-F238E27FC236}">
                <a16:creationId xmlns:a16="http://schemas.microsoft.com/office/drawing/2014/main" id="{76539F1A-F516-9883-5726-E941CA1A9EFB}"/>
              </a:ext>
            </a:extLst>
          </p:cNvPr>
          <p:cNvPicPr>
            <a:picLocks noChangeAspect="1"/>
          </p:cNvPicPr>
          <p:nvPr/>
        </p:nvPicPr>
        <p:blipFill>
          <a:blip r:embed="rId2"/>
          <a:stretch>
            <a:fillRect/>
          </a:stretch>
        </p:blipFill>
        <p:spPr>
          <a:xfrm>
            <a:off x="4209787" y="2780903"/>
            <a:ext cx="3522102" cy="3530997"/>
          </a:xfrm>
          <a:prstGeom prst="rect">
            <a:avLst/>
          </a:prstGeom>
        </p:spPr>
      </p:pic>
    </p:spTree>
    <p:extLst>
      <p:ext uri="{BB962C8B-B14F-4D97-AF65-F5344CB8AC3E}">
        <p14:creationId xmlns:p14="http://schemas.microsoft.com/office/powerpoint/2010/main" val="402945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643F-3FA8-431E-C118-ADBD82FA1D18}"/>
              </a:ext>
            </a:extLst>
          </p:cNvPr>
          <p:cNvSpPr>
            <a:spLocks noGrp="1"/>
          </p:cNvSpPr>
          <p:nvPr>
            <p:ph type="title"/>
          </p:nvPr>
        </p:nvSpPr>
        <p:spPr/>
        <p:txBody>
          <a:bodyPr/>
          <a:lstStyle/>
          <a:p>
            <a:r>
              <a:rPr lang="en-US" dirty="0"/>
              <a:t>Step 2: crossover</a:t>
            </a:r>
          </a:p>
        </p:txBody>
      </p:sp>
      <p:sp>
        <p:nvSpPr>
          <p:cNvPr id="3" name="Content Placeholder 2">
            <a:extLst>
              <a:ext uri="{FF2B5EF4-FFF2-40B4-BE49-F238E27FC236}">
                <a16:creationId xmlns:a16="http://schemas.microsoft.com/office/drawing/2014/main" id="{67706F27-4F33-E845-6268-A873038877DA}"/>
              </a:ext>
            </a:extLst>
          </p:cNvPr>
          <p:cNvSpPr>
            <a:spLocks noGrp="1"/>
          </p:cNvSpPr>
          <p:nvPr>
            <p:ph idx="1"/>
          </p:nvPr>
        </p:nvSpPr>
        <p:spPr/>
        <p:txBody>
          <a:bodyPr/>
          <a:lstStyle/>
          <a:p>
            <a:r>
              <a:rPr lang="en-GB" dirty="0"/>
              <a:t>Next, we mate strings for crossover. For each couple we first decide (using some pre-defined probability, for instance 0.6) whether to actually perform the crossover or not</a:t>
            </a:r>
          </a:p>
          <a:p>
            <a:r>
              <a:rPr lang="en-GB" dirty="0"/>
              <a:t> If we decide to actually perform crossover, we randomly extract the crossover points, for instance 2 and 5</a:t>
            </a:r>
            <a:endParaRPr lang="en-US" dirty="0"/>
          </a:p>
        </p:txBody>
      </p:sp>
      <p:pic>
        <p:nvPicPr>
          <p:cNvPr id="5" name="Picture 4">
            <a:extLst>
              <a:ext uri="{FF2B5EF4-FFF2-40B4-BE49-F238E27FC236}">
                <a16:creationId xmlns:a16="http://schemas.microsoft.com/office/drawing/2014/main" id="{9FDFC58B-5C36-AA22-94E0-9E4AF9D52D0C}"/>
              </a:ext>
            </a:extLst>
          </p:cNvPr>
          <p:cNvPicPr>
            <a:picLocks noChangeAspect="1"/>
          </p:cNvPicPr>
          <p:nvPr/>
        </p:nvPicPr>
        <p:blipFill>
          <a:blip r:embed="rId2"/>
          <a:stretch>
            <a:fillRect/>
          </a:stretch>
        </p:blipFill>
        <p:spPr>
          <a:xfrm>
            <a:off x="4132162" y="4160642"/>
            <a:ext cx="4224760" cy="2151258"/>
          </a:xfrm>
          <a:prstGeom prst="rect">
            <a:avLst/>
          </a:prstGeom>
        </p:spPr>
      </p:pic>
    </p:spTree>
    <p:extLst>
      <p:ext uri="{BB962C8B-B14F-4D97-AF65-F5344CB8AC3E}">
        <p14:creationId xmlns:p14="http://schemas.microsoft.com/office/powerpoint/2010/main" val="19183994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B8B8-18B0-05E3-50AC-931ADAC28201}"/>
              </a:ext>
            </a:extLst>
          </p:cNvPr>
          <p:cNvSpPr>
            <a:spLocks noGrp="1"/>
          </p:cNvSpPr>
          <p:nvPr>
            <p:ph type="title"/>
          </p:nvPr>
        </p:nvSpPr>
        <p:spPr/>
        <p:txBody>
          <a:bodyPr/>
          <a:lstStyle/>
          <a:p>
            <a:r>
              <a:rPr lang="en-US" dirty="0"/>
              <a:t>Step 3: mutations</a:t>
            </a:r>
          </a:p>
        </p:txBody>
      </p:sp>
      <p:sp>
        <p:nvSpPr>
          <p:cNvPr id="3" name="Content Placeholder 2">
            <a:extLst>
              <a:ext uri="{FF2B5EF4-FFF2-40B4-BE49-F238E27FC236}">
                <a16:creationId xmlns:a16="http://schemas.microsoft.com/office/drawing/2014/main" id="{73BA0A4A-E33A-EAE5-E00C-77AAEAA79D9A}"/>
              </a:ext>
            </a:extLst>
          </p:cNvPr>
          <p:cNvSpPr>
            <a:spLocks noGrp="1"/>
          </p:cNvSpPr>
          <p:nvPr>
            <p:ph idx="1"/>
          </p:nvPr>
        </p:nvSpPr>
        <p:spPr/>
        <p:txBody>
          <a:bodyPr/>
          <a:lstStyle/>
          <a:p>
            <a:r>
              <a:rPr lang="en-GB" dirty="0"/>
              <a:t>The final step is to apply random mutations: for each bit that we are to copy to the new population we allow a small probability of error (for instance 0.1)</a:t>
            </a:r>
            <a:endParaRPr lang="en-US" dirty="0"/>
          </a:p>
        </p:txBody>
      </p:sp>
      <p:pic>
        <p:nvPicPr>
          <p:cNvPr id="5" name="Picture 4">
            <a:extLst>
              <a:ext uri="{FF2B5EF4-FFF2-40B4-BE49-F238E27FC236}">
                <a16:creationId xmlns:a16="http://schemas.microsoft.com/office/drawing/2014/main" id="{D73C9978-E6E8-FF54-DAB7-71D33E115B6E}"/>
              </a:ext>
            </a:extLst>
          </p:cNvPr>
          <p:cNvPicPr>
            <a:picLocks noChangeAspect="1"/>
          </p:cNvPicPr>
          <p:nvPr/>
        </p:nvPicPr>
        <p:blipFill>
          <a:blip r:embed="rId2"/>
          <a:stretch>
            <a:fillRect/>
          </a:stretch>
        </p:blipFill>
        <p:spPr>
          <a:xfrm>
            <a:off x="3180881" y="3200743"/>
            <a:ext cx="5830238" cy="3292132"/>
          </a:xfrm>
          <a:prstGeom prst="rect">
            <a:avLst/>
          </a:prstGeom>
        </p:spPr>
      </p:pic>
    </p:spTree>
    <p:extLst>
      <p:ext uri="{BB962C8B-B14F-4D97-AF65-F5344CB8AC3E}">
        <p14:creationId xmlns:p14="http://schemas.microsoft.com/office/powerpoint/2010/main" val="899208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E481-E874-24A0-939D-DB7D923685D2}"/>
              </a:ext>
            </a:extLst>
          </p:cNvPr>
          <p:cNvSpPr>
            <a:spLocks noGrp="1"/>
          </p:cNvSpPr>
          <p:nvPr>
            <p:ph type="title"/>
          </p:nvPr>
        </p:nvSpPr>
        <p:spPr/>
        <p:txBody>
          <a:bodyPr/>
          <a:lstStyle/>
          <a:p>
            <a:r>
              <a:rPr lang="en-US" dirty="0"/>
              <a:t>Iteration and Termination</a:t>
            </a:r>
          </a:p>
        </p:txBody>
      </p:sp>
      <p:sp>
        <p:nvSpPr>
          <p:cNvPr id="3" name="Content Placeholder 2">
            <a:extLst>
              <a:ext uri="{FF2B5EF4-FFF2-40B4-BE49-F238E27FC236}">
                <a16:creationId xmlns:a16="http://schemas.microsoft.com/office/drawing/2014/main" id="{8DF9FD80-0991-ADBD-A7F3-DE2A4060965E}"/>
              </a:ext>
            </a:extLst>
          </p:cNvPr>
          <p:cNvSpPr>
            <a:spLocks noGrp="1"/>
          </p:cNvSpPr>
          <p:nvPr>
            <p:ph idx="1"/>
          </p:nvPr>
        </p:nvSpPr>
        <p:spPr/>
        <p:txBody>
          <a:bodyPr/>
          <a:lstStyle/>
          <a:p>
            <a:r>
              <a:rPr lang="en-GB" dirty="0"/>
              <a:t> In one generation, the total population fitness changed from 34 to 37, thus improved by ~9%</a:t>
            </a:r>
          </a:p>
          <a:p>
            <a:r>
              <a:rPr lang="en-GB" dirty="0"/>
              <a:t> At this point, we go through the same process all over again, until a </a:t>
            </a:r>
            <a:r>
              <a:rPr lang="en-GB" dirty="0">
                <a:hlinkClick r:id="rId2" action="ppaction://hlinksldjump"/>
              </a:rPr>
              <a:t>stopping criterion</a:t>
            </a:r>
            <a:r>
              <a:rPr lang="en-GB" dirty="0"/>
              <a:t> is met</a:t>
            </a:r>
            <a:endParaRPr lang="en-US" dirty="0"/>
          </a:p>
        </p:txBody>
      </p:sp>
    </p:spTree>
    <p:extLst>
      <p:ext uri="{BB962C8B-B14F-4D97-AF65-F5344CB8AC3E}">
        <p14:creationId xmlns:p14="http://schemas.microsoft.com/office/powerpoint/2010/main" val="587313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BFCDC-D3D1-B402-490A-4B348150B2C1}"/>
              </a:ext>
            </a:extLst>
          </p:cNvPr>
          <p:cNvSpPr>
            <a:spLocks noGrp="1"/>
          </p:cNvSpPr>
          <p:nvPr>
            <p:ph type="title"/>
          </p:nvPr>
        </p:nvSpPr>
        <p:spPr/>
        <p:txBody>
          <a:bodyPr/>
          <a:lstStyle/>
          <a:p>
            <a:r>
              <a:rPr lang="en-US" dirty="0"/>
              <a:t>Travelling Salesman Problem</a:t>
            </a:r>
          </a:p>
        </p:txBody>
      </p:sp>
      <p:sp>
        <p:nvSpPr>
          <p:cNvPr id="3" name="Content Placeholder 2">
            <a:extLst>
              <a:ext uri="{FF2B5EF4-FFF2-40B4-BE49-F238E27FC236}">
                <a16:creationId xmlns:a16="http://schemas.microsoft.com/office/drawing/2014/main" id="{8E46A51B-3B4C-26D4-4D0A-1A7EEEB5695F}"/>
              </a:ext>
            </a:extLst>
          </p:cNvPr>
          <p:cNvSpPr>
            <a:spLocks noGrp="1"/>
          </p:cNvSpPr>
          <p:nvPr>
            <p:ph idx="1"/>
          </p:nvPr>
        </p:nvSpPr>
        <p:spPr/>
        <p:txBody>
          <a:bodyPr/>
          <a:lstStyle/>
          <a:p>
            <a:r>
              <a:rPr lang="en-GB" dirty="0"/>
              <a:t>The </a:t>
            </a:r>
            <a:r>
              <a:rPr lang="en-GB" dirty="0">
                <a:hlinkClick r:id="rId2"/>
              </a:rPr>
              <a:t>Traveling Salesman Problem</a:t>
            </a:r>
            <a:r>
              <a:rPr lang="en-GB" dirty="0"/>
              <a:t>:</a:t>
            </a:r>
          </a:p>
          <a:p>
            <a:r>
              <a:rPr lang="en-GB" dirty="0"/>
              <a:t> Find a tour of a given set of cities so that </a:t>
            </a:r>
          </a:p>
          <a:p>
            <a:pPr lvl="1"/>
            <a:r>
              <a:rPr lang="en-GB" dirty="0"/>
              <a:t>each city is visited only once</a:t>
            </a:r>
          </a:p>
          <a:p>
            <a:pPr lvl="1"/>
            <a:r>
              <a:rPr lang="en-GB" dirty="0"/>
              <a:t>the total distance </a:t>
            </a:r>
            <a:r>
              <a:rPr lang="en-GB" dirty="0" err="1"/>
              <a:t>traveled</a:t>
            </a:r>
            <a:r>
              <a:rPr lang="en-GB" dirty="0"/>
              <a:t> is minimize</a:t>
            </a:r>
            <a:endParaRPr lang="en-US" dirty="0"/>
          </a:p>
        </p:txBody>
      </p:sp>
    </p:spTree>
    <p:extLst>
      <p:ext uri="{BB962C8B-B14F-4D97-AF65-F5344CB8AC3E}">
        <p14:creationId xmlns:p14="http://schemas.microsoft.com/office/powerpoint/2010/main" val="994749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358E7-79FC-E39C-1FEA-C48C009F730C}"/>
              </a:ext>
            </a:extLst>
          </p:cNvPr>
          <p:cNvSpPr>
            <a:spLocks noGrp="1"/>
          </p:cNvSpPr>
          <p:nvPr>
            <p:ph type="title"/>
          </p:nvPr>
        </p:nvSpPr>
        <p:spPr/>
        <p:txBody>
          <a:bodyPr/>
          <a:lstStyle/>
          <a:p>
            <a:r>
              <a:rPr lang="en-US" dirty="0"/>
              <a:t>Representation</a:t>
            </a:r>
          </a:p>
        </p:txBody>
      </p:sp>
      <p:sp>
        <p:nvSpPr>
          <p:cNvPr id="3" name="Content Placeholder 2">
            <a:extLst>
              <a:ext uri="{FF2B5EF4-FFF2-40B4-BE49-F238E27FC236}">
                <a16:creationId xmlns:a16="http://schemas.microsoft.com/office/drawing/2014/main" id="{6D4C9211-88D7-2FE8-ADB2-91F8018CED67}"/>
              </a:ext>
            </a:extLst>
          </p:cNvPr>
          <p:cNvSpPr>
            <a:spLocks noGrp="1"/>
          </p:cNvSpPr>
          <p:nvPr>
            <p:ph idx="1"/>
          </p:nvPr>
        </p:nvSpPr>
        <p:spPr/>
        <p:txBody>
          <a:bodyPr/>
          <a:lstStyle/>
          <a:p>
            <a:r>
              <a:rPr lang="en-GB" dirty="0"/>
              <a:t> Representation is an ordered list of city numbers known as an order-based GA.</a:t>
            </a:r>
            <a:endParaRPr lang="en-US" dirty="0"/>
          </a:p>
        </p:txBody>
      </p:sp>
      <p:pic>
        <p:nvPicPr>
          <p:cNvPr id="5" name="Picture 4">
            <a:extLst>
              <a:ext uri="{FF2B5EF4-FFF2-40B4-BE49-F238E27FC236}">
                <a16:creationId xmlns:a16="http://schemas.microsoft.com/office/drawing/2014/main" id="{218F9EE8-983E-0A29-0300-325D35A612D1}"/>
              </a:ext>
            </a:extLst>
          </p:cNvPr>
          <p:cNvPicPr>
            <a:picLocks noChangeAspect="1"/>
          </p:cNvPicPr>
          <p:nvPr/>
        </p:nvPicPr>
        <p:blipFill>
          <a:blip r:embed="rId2"/>
          <a:stretch>
            <a:fillRect/>
          </a:stretch>
        </p:blipFill>
        <p:spPr>
          <a:xfrm>
            <a:off x="2564947" y="3073667"/>
            <a:ext cx="7062105" cy="2690001"/>
          </a:xfrm>
          <a:prstGeom prst="rect">
            <a:avLst/>
          </a:prstGeom>
        </p:spPr>
      </p:pic>
    </p:spTree>
    <p:extLst>
      <p:ext uri="{BB962C8B-B14F-4D97-AF65-F5344CB8AC3E}">
        <p14:creationId xmlns:p14="http://schemas.microsoft.com/office/powerpoint/2010/main" val="996810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F1151-0DFB-5097-4AA7-F55C819FDF59}"/>
              </a:ext>
            </a:extLst>
          </p:cNvPr>
          <p:cNvSpPr>
            <a:spLocks noGrp="1"/>
          </p:cNvSpPr>
          <p:nvPr>
            <p:ph type="title"/>
          </p:nvPr>
        </p:nvSpPr>
        <p:spPr/>
        <p:txBody>
          <a:bodyPr/>
          <a:lstStyle/>
          <a:p>
            <a:r>
              <a:rPr lang="en-US" dirty="0"/>
              <a:t>Crossover</a:t>
            </a:r>
          </a:p>
        </p:txBody>
      </p:sp>
      <p:sp>
        <p:nvSpPr>
          <p:cNvPr id="3" name="Content Placeholder 2">
            <a:extLst>
              <a:ext uri="{FF2B5EF4-FFF2-40B4-BE49-F238E27FC236}">
                <a16:creationId xmlns:a16="http://schemas.microsoft.com/office/drawing/2014/main" id="{ED37B51F-8831-E839-A96A-6B83D407AB33}"/>
              </a:ext>
            </a:extLst>
          </p:cNvPr>
          <p:cNvSpPr>
            <a:spLocks noGrp="1"/>
          </p:cNvSpPr>
          <p:nvPr>
            <p:ph idx="1"/>
          </p:nvPr>
        </p:nvSpPr>
        <p:spPr/>
        <p:txBody>
          <a:bodyPr/>
          <a:lstStyle/>
          <a:p>
            <a:r>
              <a:rPr lang="en-GB" dirty="0"/>
              <a:t>Crossover combines inversion and recombination:</a:t>
            </a:r>
          </a:p>
          <a:p>
            <a:endParaRPr lang="en-GB" dirty="0"/>
          </a:p>
          <a:p>
            <a:endParaRPr lang="en-GB" dirty="0"/>
          </a:p>
          <a:p>
            <a:endParaRPr lang="en-GB" dirty="0"/>
          </a:p>
          <a:p>
            <a:endParaRPr lang="en-GB" dirty="0"/>
          </a:p>
          <a:p>
            <a:endParaRPr lang="en-GB" dirty="0"/>
          </a:p>
          <a:p>
            <a:endParaRPr lang="en-GB" dirty="0"/>
          </a:p>
          <a:p>
            <a:r>
              <a:rPr lang="en-GB" dirty="0"/>
              <a:t> This operator is called the </a:t>
            </a:r>
            <a:r>
              <a:rPr lang="en-GB" dirty="0">
                <a:hlinkClick r:id="rId2"/>
              </a:rPr>
              <a:t>Order1 crossover</a:t>
            </a:r>
            <a:r>
              <a:rPr lang="en-GB" dirty="0"/>
              <a:t>.</a:t>
            </a:r>
            <a:endParaRPr lang="en-US" dirty="0"/>
          </a:p>
        </p:txBody>
      </p:sp>
      <p:pic>
        <p:nvPicPr>
          <p:cNvPr id="5" name="Picture 4">
            <a:extLst>
              <a:ext uri="{FF2B5EF4-FFF2-40B4-BE49-F238E27FC236}">
                <a16:creationId xmlns:a16="http://schemas.microsoft.com/office/drawing/2014/main" id="{D9F7A5C4-4D5B-261A-4FA7-29CD9DCD0943}"/>
              </a:ext>
            </a:extLst>
          </p:cNvPr>
          <p:cNvPicPr>
            <a:picLocks noChangeAspect="1"/>
          </p:cNvPicPr>
          <p:nvPr/>
        </p:nvPicPr>
        <p:blipFill>
          <a:blip r:embed="rId3"/>
          <a:stretch>
            <a:fillRect/>
          </a:stretch>
        </p:blipFill>
        <p:spPr>
          <a:xfrm>
            <a:off x="2285468" y="2532309"/>
            <a:ext cx="5770512" cy="2640009"/>
          </a:xfrm>
          <a:prstGeom prst="rect">
            <a:avLst/>
          </a:prstGeom>
        </p:spPr>
      </p:pic>
    </p:spTree>
    <p:extLst>
      <p:ext uri="{BB962C8B-B14F-4D97-AF65-F5344CB8AC3E}">
        <p14:creationId xmlns:p14="http://schemas.microsoft.com/office/powerpoint/2010/main" val="16209749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792F5-17F8-CA14-6F60-2B23AE730E99}"/>
              </a:ext>
            </a:extLst>
          </p:cNvPr>
          <p:cNvSpPr>
            <a:spLocks noGrp="1"/>
          </p:cNvSpPr>
          <p:nvPr>
            <p:ph type="title"/>
          </p:nvPr>
        </p:nvSpPr>
        <p:spPr/>
        <p:txBody>
          <a:bodyPr/>
          <a:lstStyle/>
          <a:p>
            <a:r>
              <a:rPr lang="en-US" dirty="0"/>
              <a:t>Mutation</a:t>
            </a:r>
          </a:p>
        </p:txBody>
      </p:sp>
      <p:sp>
        <p:nvSpPr>
          <p:cNvPr id="3" name="Content Placeholder 2">
            <a:extLst>
              <a:ext uri="{FF2B5EF4-FFF2-40B4-BE49-F238E27FC236}">
                <a16:creationId xmlns:a16="http://schemas.microsoft.com/office/drawing/2014/main" id="{FA8E1CA9-C4A0-C0E8-9F42-1CF40B57FF9F}"/>
              </a:ext>
            </a:extLst>
          </p:cNvPr>
          <p:cNvSpPr>
            <a:spLocks noGrp="1"/>
          </p:cNvSpPr>
          <p:nvPr>
            <p:ph idx="1"/>
          </p:nvPr>
        </p:nvSpPr>
        <p:spPr/>
        <p:txBody>
          <a:bodyPr/>
          <a:lstStyle/>
          <a:p>
            <a:r>
              <a:rPr lang="en-GB" dirty="0"/>
              <a:t>Mutation involves reordering of the list:</a:t>
            </a:r>
          </a:p>
          <a:p>
            <a:endParaRPr lang="en-US" dirty="0"/>
          </a:p>
        </p:txBody>
      </p:sp>
      <p:pic>
        <p:nvPicPr>
          <p:cNvPr id="6" name="Picture 5">
            <a:extLst>
              <a:ext uri="{FF2B5EF4-FFF2-40B4-BE49-F238E27FC236}">
                <a16:creationId xmlns:a16="http://schemas.microsoft.com/office/drawing/2014/main" id="{B932C1F8-BF8F-D885-A7B0-64C936B56A49}"/>
              </a:ext>
            </a:extLst>
          </p:cNvPr>
          <p:cNvPicPr>
            <a:picLocks noChangeAspect="1"/>
          </p:cNvPicPr>
          <p:nvPr/>
        </p:nvPicPr>
        <p:blipFill>
          <a:blip r:embed="rId2"/>
          <a:stretch>
            <a:fillRect/>
          </a:stretch>
        </p:blipFill>
        <p:spPr>
          <a:xfrm>
            <a:off x="3373597" y="3009419"/>
            <a:ext cx="5444805" cy="2044800"/>
          </a:xfrm>
          <a:prstGeom prst="rect">
            <a:avLst/>
          </a:prstGeom>
        </p:spPr>
      </p:pic>
    </p:spTree>
    <p:extLst>
      <p:ext uri="{BB962C8B-B14F-4D97-AF65-F5344CB8AC3E}">
        <p14:creationId xmlns:p14="http://schemas.microsoft.com/office/powerpoint/2010/main" val="2092708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189EF-95D0-2A7D-E72D-7A0E27AD8E7E}"/>
              </a:ext>
            </a:extLst>
          </p:cNvPr>
          <p:cNvSpPr>
            <a:spLocks noGrp="1"/>
          </p:cNvSpPr>
          <p:nvPr>
            <p:ph type="title"/>
          </p:nvPr>
        </p:nvSpPr>
        <p:spPr/>
        <p:txBody>
          <a:bodyPr/>
          <a:lstStyle/>
          <a:p>
            <a:r>
              <a:rPr lang="en-US" dirty="0"/>
              <a:t>TSP Example: 30 Cities</a:t>
            </a:r>
          </a:p>
        </p:txBody>
      </p:sp>
      <p:pic>
        <p:nvPicPr>
          <p:cNvPr id="5" name="Content Placeholder 4">
            <a:extLst>
              <a:ext uri="{FF2B5EF4-FFF2-40B4-BE49-F238E27FC236}">
                <a16:creationId xmlns:a16="http://schemas.microsoft.com/office/drawing/2014/main" id="{1571720F-A7C2-25F6-F939-664C956474F8}"/>
              </a:ext>
            </a:extLst>
          </p:cNvPr>
          <p:cNvPicPr>
            <a:picLocks noGrp="1" noChangeAspect="1"/>
          </p:cNvPicPr>
          <p:nvPr>
            <p:ph idx="1"/>
          </p:nvPr>
        </p:nvPicPr>
        <p:blipFill>
          <a:blip r:embed="rId2"/>
          <a:stretch>
            <a:fillRect/>
          </a:stretch>
        </p:blipFill>
        <p:spPr>
          <a:xfrm>
            <a:off x="2432340" y="1825625"/>
            <a:ext cx="7327320" cy="4351338"/>
          </a:xfrm>
        </p:spPr>
      </p:pic>
    </p:spTree>
    <p:extLst>
      <p:ext uri="{BB962C8B-B14F-4D97-AF65-F5344CB8AC3E}">
        <p14:creationId xmlns:p14="http://schemas.microsoft.com/office/powerpoint/2010/main" val="4019009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FE35D-D6DA-B1C4-92AE-6AC3FD08E912}"/>
              </a:ext>
            </a:extLst>
          </p:cNvPr>
          <p:cNvSpPr>
            <a:spLocks noGrp="1"/>
          </p:cNvSpPr>
          <p:nvPr>
            <p:ph type="title"/>
          </p:nvPr>
        </p:nvSpPr>
        <p:spPr/>
        <p:txBody>
          <a:bodyPr/>
          <a:lstStyle/>
          <a:p>
            <a:r>
              <a:rPr lang="en-US" dirty="0" err="1"/>
              <a:t>Solution</a:t>
            </a:r>
            <a:r>
              <a:rPr lang="en-US" baseline="-25000" dirty="0" err="1"/>
              <a:t>i</a:t>
            </a:r>
            <a:r>
              <a:rPr lang="en-US" dirty="0"/>
              <a:t> (Distance = 941)</a:t>
            </a:r>
          </a:p>
        </p:txBody>
      </p:sp>
      <p:pic>
        <p:nvPicPr>
          <p:cNvPr id="5" name="Content Placeholder 4">
            <a:extLst>
              <a:ext uri="{FF2B5EF4-FFF2-40B4-BE49-F238E27FC236}">
                <a16:creationId xmlns:a16="http://schemas.microsoft.com/office/drawing/2014/main" id="{F324CAE6-6812-0703-F0E7-E630AEAD76FF}"/>
              </a:ext>
            </a:extLst>
          </p:cNvPr>
          <p:cNvPicPr>
            <a:picLocks noGrp="1" noChangeAspect="1"/>
          </p:cNvPicPr>
          <p:nvPr>
            <p:ph idx="1"/>
          </p:nvPr>
        </p:nvPicPr>
        <p:blipFill>
          <a:blip r:embed="rId2"/>
          <a:stretch>
            <a:fillRect/>
          </a:stretch>
        </p:blipFill>
        <p:spPr>
          <a:xfrm>
            <a:off x="2195866" y="1825625"/>
            <a:ext cx="7800267" cy="4351338"/>
          </a:xfrm>
        </p:spPr>
      </p:pic>
    </p:spTree>
    <p:extLst>
      <p:ext uri="{BB962C8B-B14F-4D97-AF65-F5344CB8AC3E}">
        <p14:creationId xmlns:p14="http://schemas.microsoft.com/office/powerpoint/2010/main" val="2907064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7907-C690-543F-8D00-A50D986A3E0A}"/>
              </a:ext>
            </a:extLst>
          </p:cNvPr>
          <p:cNvSpPr>
            <a:spLocks noGrp="1"/>
          </p:cNvSpPr>
          <p:nvPr>
            <p:ph type="title"/>
          </p:nvPr>
        </p:nvSpPr>
        <p:spPr/>
        <p:txBody>
          <a:bodyPr/>
          <a:lstStyle/>
          <a:p>
            <a:r>
              <a:rPr lang="en-US" dirty="0" err="1"/>
              <a:t>Solution</a:t>
            </a:r>
            <a:r>
              <a:rPr lang="en-US" baseline="-25000" dirty="0" err="1"/>
              <a:t>j</a:t>
            </a:r>
            <a:r>
              <a:rPr lang="en-US" dirty="0"/>
              <a:t> (Distance = 800)</a:t>
            </a:r>
          </a:p>
        </p:txBody>
      </p:sp>
      <p:pic>
        <p:nvPicPr>
          <p:cNvPr id="5" name="Content Placeholder 4">
            <a:extLst>
              <a:ext uri="{FF2B5EF4-FFF2-40B4-BE49-F238E27FC236}">
                <a16:creationId xmlns:a16="http://schemas.microsoft.com/office/drawing/2014/main" id="{39650C2D-E0C5-E89E-5A7D-302F9B0E100B}"/>
              </a:ext>
            </a:extLst>
          </p:cNvPr>
          <p:cNvPicPr>
            <a:picLocks noGrp="1" noChangeAspect="1"/>
          </p:cNvPicPr>
          <p:nvPr>
            <p:ph idx="1"/>
          </p:nvPr>
        </p:nvPicPr>
        <p:blipFill>
          <a:blip r:embed="rId2"/>
          <a:stretch>
            <a:fillRect/>
          </a:stretch>
        </p:blipFill>
        <p:spPr>
          <a:xfrm>
            <a:off x="2131234" y="1825625"/>
            <a:ext cx="7929531" cy="4351338"/>
          </a:xfrm>
        </p:spPr>
      </p:pic>
    </p:spTree>
    <p:extLst>
      <p:ext uri="{BB962C8B-B14F-4D97-AF65-F5344CB8AC3E}">
        <p14:creationId xmlns:p14="http://schemas.microsoft.com/office/powerpoint/2010/main" val="6381382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5D6D7-2167-3420-2739-E2CA3695B8E3}"/>
              </a:ext>
            </a:extLst>
          </p:cNvPr>
          <p:cNvSpPr>
            <a:spLocks noGrp="1"/>
          </p:cNvSpPr>
          <p:nvPr>
            <p:ph type="title"/>
          </p:nvPr>
        </p:nvSpPr>
        <p:spPr/>
        <p:txBody>
          <a:bodyPr/>
          <a:lstStyle/>
          <a:p>
            <a:r>
              <a:rPr lang="en-US" dirty="0" err="1"/>
              <a:t>Solution</a:t>
            </a:r>
            <a:r>
              <a:rPr lang="en-US" baseline="-25000" dirty="0" err="1"/>
              <a:t>k</a:t>
            </a:r>
            <a:r>
              <a:rPr lang="en-US" dirty="0"/>
              <a:t> (Distance = 652)</a:t>
            </a:r>
          </a:p>
        </p:txBody>
      </p:sp>
      <p:pic>
        <p:nvPicPr>
          <p:cNvPr id="5" name="Content Placeholder 4">
            <a:extLst>
              <a:ext uri="{FF2B5EF4-FFF2-40B4-BE49-F238E27FC236}">
                <a16:creationId xmlns:a16="http://schemas.microsoft.com/office/drawing/2014/main" id="{85F6286F-5138-7E3C-94FD-C18C8AF61FCF}"/>
              </a:ext>
            </a:extLst>
          </p:cNvPr>
          <p:cNvPicPr>
            <a:picLocks noGrp="1" noChangeAspect="1"/>
          </p:cNvPicPr>
          <p:nvPr>
            <p:ph idx="1"/>
          </p:nvPr>
        </p:nvPicPr>
        <p:blipFill>
          <a:blip r:embed="rId2"/>
          <a:stretch>
            <a:fillRect/>
          </a:stretch>
        </p:blipFill>
        <p:spPr>
          <a:xfrm>
            <a:off x="2278826" y="1825625"/>
            <a:ext cx="7634347" cy="4351338"/>
          </a:xfrm>
        </p:spPr>
      </p:pic>
    </p:spTree>
    <p:extLst>
      <p:ext uri="{BB962C8B-B14F-4D97-AF65-F5344CB8AC3E}">
        <p14:creationId xmlns:p14="http://schemas.microsoft.com/office/powerpoint/2010/main" val="2134559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DE6A8-8D98-CFB5-1C22-6A1422D2DA3A}"/>
              </a:ext>
            </a:extLst>
          </p:cNvPr>
          <p:cNvSpPr>
            <a:spLocks noGrp="1"/>
          </p:cNvSpPr>
          <p:nvPr>
            <p:ph type="title"/>
          </p:nvPr>
        </p:nvSpPr>
        <p:spPr/>
        <p:txBody>
          <a:bodyPr/>
          <a:lstStyle/>
          <a:p>
            <a:r>
              <a:rPr lang="en-US" dirty="0"/>
              <a:t>Best Solution (Distance = 420)</a:t>
            </a:r>
          </a:p>
        </p:txBody>
      </p:sp>
      <p:pic>
        <p:nvPicPr>
          <p:cNvPr id="5" name="Content Placeholder 4">
            <a:extLst>
              <a:ext uri="{FF2B5EF4-FFF2-40B4-BE49-F238E27FC236}">
                <a16:creationId xmlns:a16="http://schemas.microsoft.com/office/drawing/2014/main" id="{238D8E1D-F194-08EC-7E14-1A10CF2483B7}"/>
              </a:ext>
            </a:extLst>
          </p:cNvPr>
          <p:cNvPicPr>
            <a:picLocks noGrp="1" noChangeAspect="1"/>
          </p:cNvPicPr>
          <p:nvPr>
            <p:ph idx="1"/>
          </p:nvPr>
        </p:nvPicPr>
        <p:blipFill>
          <a:blip r:embed="rId2"/>
          <a:stretch>
            <a:fillRect/>
          </a:stretch>
        </p:blipFill>
        <p:spPr>
          <a:xfrm>
            <a:off x="2278492" y="1825625"/>
            <a:ext cx="7635015" cy="4351338"/>
          </a:xfrm>
        </p:spPr>
      </p:pic>
    </p:spTree>
    <p:extLst>
      <p:ext uri="{BB962C8B-B14F-4D97-AF65-F5344CB8AC3E}">
        <p14:creationId xmlns:p14="http://schemas.microsoft.com/office/powerpoint/2010/main" val="1123077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551C2-860B-32BD-2193-285F2C9CEF05}"/>
              </a:ext>
            </a:extLst>
          </p:cNvPr>
          <p:cNvSpPr>
            <a:spLocks noGrp="1"/>
          </p:cNvSpPr>
          <p:nvPr>
            <p:ph type="title"/>
          </p:nvPr>
        </p:nvSpPr>
        <p:spPr/>
        <p:txBody>
          <a:bodyPr/>
          <a:lstStyle/>
          <a:p>
            <a:r>
              <a:rPr lang="en-US" dirty="0"/>
              <a:t>GA Applications</a:t>
            </a:r>
          </a:p>
        </p:txBody>
      </p:sp>
      <p:graphicFrame>
        <p:nvGraphicFramePr>
          <p:cNvPr id="4" name="Content Placeholder 3">
            <a:extLst>
              <a:ext uri="{FF2B5EF4-FFF2-40B4-BE49-F238E27FC236}">
                <a16:creationId xmlns:a16="http://schemas.microsoft.com/office/drawing/2014/main" id="{D4B963B7-9E22-48AF-5ED7-8AEB1A7DD0B0}"/>
              </a:ext>
            </a:extLst>
          </p:cNvPr>
          <p:cNvGraphicFramePr>
            <a:graphicFrameLocks noGrp="1"/>
          </p:cNvGraphicFramePr>
          <p:nvPr>
            <p:ph idx="1"/>
            <p:extLst>
              <p:ext uri="{D42A27DB-BD31-4B8C-83A1-F6EECF244321}">
                <p14:modId xmlns:p14="http://schemas.microsoft.com/office/powerpoint/2010/main" val="3443814149"/>
              </p:ext>
            </p:extLst>
          </p:nvPr>
        </p:nvGraphicFramePr>
        <p:xfrm>
          <a:off x="838200" y="1825625"/>
          <a:ext cx="10515600" cy="3535680"/>
        </p:xfrm>
        <a:graphic>
          <a:graphicData uri="http://schemas.openxmlformats.org/drawingml/2006/table">
            <a:tbl>
              <a:tblPr firstRow="1" bandRow="1">
                <a:tableStyleId>{5C22544A-7EE6-4342-B048-85BDC9FD1C3A}</a:tableStyleId>
              </a:tblPr>
              <a:tblGrid>
                <a:gridCol w="3351835">
                  <a:extLst>
                    <a:ext uri="{9D8B030D-6E8A-4147-A177-3AD203B41FA5}">
                      <a16:colId xmlns:a16="http://schemas.microsoft.com/office/drawing/2014/main" val="3936431367"/>
                    </a:ext>
                  </a:extLst>
                </a:gridCol>
                <a:gridCol w="7163765">
                  <a:extLst>
                    <a:ext uri="{9D8B030D-6E8A-4147-A177-3AD203B41FA5}">
                      <a16:colId xmlns:a16="http://schemas.microsoft.com/office/drawing/2014/main" val="2334907205"/>
                    </a:ext>
                  </a:extLst>
                </a:gridCol>
              </a:tblGrid>
              <a:tr h="370840">
                <a:tc>
                  <a:txBody>
                    <a:bodyPr/>
                    <a:lstStyle/>
                    <a:p>
                      <a:r>
                        <a:rPr lang="en-US" sz="2800" dirty="0"/>
                        <a:t>Domain</a:t>
                      </a:r>
                    </a:p>
                  </a:txBody>
                  <a:tcPr/>
                </a:tc>
                <a:tc>
                  <a:txBody>
                    <a:bodyPr/>
                    <a:lstStyle/>
                    <a:p>
                      <a:r>
                        <a:rPr lang="en-US" sz="2800" dirty="0"/>
                        <a:t>Application Type </a:t>
                      </a:r>
                    </a:p>
                  </a:txBody>
                  <a:tcPr/>
                </a:tc>
                <a:extLst>
                  <a:ext uri="{0D108BD9-81ED-4DB2-BD59-A6C34878D82A}">
                    <a16:rowId xmlns:a16="http://schemas.microsoft.com/office/drawing/2014/main" val="3861723045"/>
                  </a:ext>
                </a:extLst>
              </a:tr>
              <a:tr h="370840">
                <a:tc>
                  <a:txBody>
                    <a:bodyPr/>
                    <a:lstStyle/>
                    <a:p>
                      <a:r>
                        <a:rPr lang="en-US" sz="2800" dirty="0"/>
                        <a:t>Control</a:t>
                      </a:r>
                    </a:p>
                  </a:txBody>
                  <a:tcPr/>
                </a:tc>
                <a:tc>
                  <a:txBody>
                    <a:bodyPr/>
                    <a:lstStyle/>
                    <a:p>
                      <a:r>
                        <a:rPr lang="en-US" sz="2800" dirty="0"/>
                        <a:t>Gas pipeline, missile evasion </a:t>
                      </a:r>
                    </a:p>
                  </a:txBody>
                  <a:tcPr/>
                </a:tc>
                <a:extLst>
                  <a:ext uri="{0D108BD9-81ED-4DB2-BD59-A6C34878D82A}">
                    <a16:rowId xmlns:a16="http://schemas.microsoft.com/office/drawing/2014/main" val="2919728695"/>
                  </a:ext>
                </a:extLst>
              </a:tr>
              <a:tr h="370840">
                <a:tc>
                  <a:txBody>
                    <a:bodyPr/>
                    <a:lstStyle/>
                    <a:p>
                      <a:r>
                        <a:rPr lang="en-US" sz="2800" dirty="0"/>
                        <a:t>Design</a:t>
                      </a:r>
                    </a:p>
                  </a:txBody>
                  <a:tcPr/>
                </a:tc>
                <a:tc>
                  <a:txBody>
                    <a:bodyPr/>
                    <a:lstStyle/>
                    <a:p>
                      <a:r>
                        <a:rPr lang="en-US" sz="2800" dirty="0"/>
                        <a:t>Aircraft design, keyboard configuration, communication networks </a:t>
                      </a:r>
                    </a:p>
                  </a:txBody>
                  <a:tcPr/>
                </a:tc>
                <a:extLst>
                  <a:ext uri="{0D108BD9-81ED-4DB2-BD59-A6C34878D82A}">
                    <a16:rowId xmlns:a16="http://schemas.microsoft.com/office/drawing/2014/main" val="4209685459"/>
                  </a:ext>
                </a:extLst>
              </a:tr>
              <a:tr h="370840">
                <a:tc>
                  <a:txBody>
                    <a:bodyPr/>
                    <a:lstStyle/>
                    <a:p>
                      <a:r>
                        <a:rPr lang="en-US" sz="2800" dirty="0"/>
                        <a:t>Game playing </a:t>
                      </a:r>
                    </a:p>
                  </a:txBody>
                  <a:tcPr/>
                </a:tc>
                <a:tc>
                  <a:txBody>
                    <a:bodyPr/>
                    <a:lstStyle/>
                    <a:p>
                      <a:r>
                        <a:rPr lang="en-US" sz="2800" dirty="0"/>
                        <a:t>Poker, checkers </a:t>
                      </a:r>
                    </a:p>
                  </a:txBody>
                  <a:tcPr/>
                </a:tc>
                <a:extLst>
                  <a:ext uri="{0D108BD9-81ED-4DB2-BD59-A6C34878D82A}">
                    <a16:rowId xmlns:a16="http://schemas.microsoft.com/office/drawing/2014/main" val="1133219110"/>
                  </a:ext>
                </a:extLst>
              </a:tr>
              <a:tr h="370840">
                <a:tc>
                  <a:txBody>
                    <a:bodyPr/>
                    <a:lstStyle/>
                    <a:p>
                      <a:r>
                        <a:rPr lang="en-US" sz="2800" dirty="0"/>
                        <a:t>Security</a:t>
                      </a:r>
                    </a:p>
                  </a:txBody>
                  <a:tcPr/>
                </a:tc>
                <a:tc>
                  <a:txBody>
                    <a:bodyPr/>
                    <a:lstStyle/>
                    <a:p>
                      <a:r>
                        <a:rPr lang="en-US" sz="2800" dirty="0"/>
                        <a:t>Encryption and Decryption </a:t>
                      </a:r>
                    </a:p>
                  </a:txBody>
                  <a:tcPr/>
                </a:tc>
                <a:extLst>
                  <a:ext uri="{0D108BD9-81ED-4DB2-BD59-A6C34878D82A}">
                    <a16:rowId xmlns:a16="http://schemas.microsoft.com/office/drawing/2014/main" val="4020965926"/>
                  </a:ext>
                </a:extLst>
              </a:tr>
              <a:tr h="370840">
                <a:tc>
                  <a:txBody>
                    <a:bodyPr/>
                    <a:lstStyle/>
                    <a:p>
                      <a:r>
                        <a:rPr lang="en-US" sz="2800" dirty="0"/>
                        <a:t>Robotics</a:t>
                      </a:r>
                    </a:p>
                  </a:txBody>
                  <a:tcPr/>
                </a:tc>
                <a:tc>
                  <a:txBody>
                    <a:bodyPr/>
                    <a:lstStyle/>
                    <a:p>
                      <a:r>
                        <a:rPr lang="en-US" sz="2800" dirty="0"/>
                        <a:t>Trajectory planning </a:t>
                      </a:r>
                    </a:p>
                  </a:txBody>
                  <a:tcPr/>
                </a:tc>
                <a:extLst>
                  <a:ext uri="{0D108BD9-81ED-4DB2-BD59-A6C34878D82A}">
                    <a16:rowId xmlns:a16="http://schemas.microsoft.com/office/drawing/2014/main" val="1719787486"/>
                  </a:ext>
                </a:extLst>
              </a:tr>
            </a:tbl>
          </a:graphicData>
        </a:graphic>
      </p:graphicFrame>
    </p:spTree>
    <p:extLst>
      <p:ext uri="{BB962C8B-B14F-4D97-AF65-F5344CB8AC3E}">
        <p14:creationId xmlns:p14="http://schemas.microsoft.com/office/powerpoint/2010/main" val="37427098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A7F15-9C4A-1C27-51DD-D17D85E659EF}"/>
              </a:ext>
            </a:extLst>
          </p:cNvPr>
          <p:cNvSpPr>
            <a:spLocks noGrp="1"/>
          </p:cNvSpPr>
          <p:nvPr>
            <p:ph type="title"/>
          </p:nvPr>
        </p:nvSpPr>
        <p:spPr/>
        <p:txBody>
          <a:bodyPr/>
          <a:lstStyle/>
          <a:p>
            <a:r>
              <a:rPr lang="en-US" dirty="0"/>
              <a:t>Benefits of Genetic Algorithms</a:t>
            </a:r>
          </a:p>
        </p:txBody>
      </p:sp>
      <p:sp>
        <p:nvSpPr>
          <p:cNvPr id="3" name="Content Placeholder 2">
            <a:extLst>
              <a:ext uri="{FF2B5EF4-FFF2-40B4-BE49-F238E27FC236}">
                <a16:creationId xmlns:a16="http://schemas.microsoft.com/office/drawing/2014/main" id="{8B451D58-28A2-AFD9-E963-E30A06A697AE}"/>
              </a:ext>
            </a:extLst>
          </p:cNvPr>
          <p:cNvSpPr>
            <a:spLocks noGrp="1"/>
          </p:cNvSpPr>
          <p:nvPr>
            <p:ph idx="1"/>
          </p:nvPr>
        </p:nvSpPr>
        <p:spPr/>
        <p:txBody>
          <a:bodyPr/>
          <a:lstStyle/>
          <a:p>
            <a:r>
              <a:rPr lang="en-GB" dirty="0"/>
              <a:t> Concept is easy to understand</a:t>
            </a:r>
          </a:p>
          <a:p>
            <a:r>
              <a:rPr lang="en-GB" dirty="0"/>
              <a:t> Modular, separate from application</a:t>
            </a:r>
          </a:p>
          <a:p>
            <a:r>
              <a:rPr lang="en-GB" dirty="0"/>
              <a:t> Supports multi-objective optimization</a:t>
            </a:r>
          </a:p>
          <a:p>
            <a:r>
              <a:rPr lang="en-GB" dirty="0"/>
              <a:t> Always an answer; answer gets better with time.</a:t>
            </a:r>
          </a:p>
          <a:p>
            <a:r>
              <a:rPr lang="en-GB" dirty="0"/>
              <a:t> Easy to exploit previous or alternate solutions</a:t>
            </a:r>
          </a:p>
          <a:p>
            <a:r>
              <a:rPr lang="en-GB" dirty="0"/>
              <a:t> Flexible building blocks for hybrid applications.</a:t>
            </a:r>
            <a:endParaRPr lang="en-US" dirty="0"/>
          </a:p>
        </p:txBody>
      </p:sp>
    </p:spTree>
    <p:extLst>
      <p:ext uri="{BB962C8B-B14F-4D97-AF65-F5344CB8AC3E}">
        <p14:creationId xmlns:p14="http://schemas.microsoft.com/office/powerpoint/2010/main" val="2171935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1913</Words>
  <Application>Microsoft Office PowerPoint</Application>
  <PresentationFormat>Widescreen</PresentationFormat>
  <Paragraphs>187</Paragraphs>
  <Slides>41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Century Schoolbook</vt:lpstr>
      <vt:lpstr>Office Theme</vt:lpstr>
      <vt:lpstr>Genetic Algorithm</vt:lpstr>
      <vt:lpstr>Genetic Algorithm</vt:lpstr>
      <vt:lpstr>Terminologies</vt:lpstr>
      <vt:lpstr>Selection</vt:lpstr>
      <vt:lpstr>How Genetic Algorithm Work?</vt:lpstr>
      <vt:lpstr>Initialization / Initial Population</vt:lpstr>
      <vt:lpstr>Fitness Function</vt:lpstr>
      <vt:lpstr>Selection</vt:lpstr>
      <vt:lpstr>Crossover</vt:lpstr>
      <vt:lpstr>Mutation</vt:lpstr>
      <vt:lpstr>Termination</vt:lpstr>
      <vt:lpstr>Details on Selection</vt:lpstr>
      <vt:lpstr>Methods of Selection</vt:lpstr>
      <vt:lpstr>Roulette-wheel selection</vt:lpstr>
      <vt:lpstr>Roulette-wheel selection</vt:lpstr>
      <vt:lpstr>Other selection methods </vt:lpstr>
      <vt:lpstr>Crossover Strategies</vt:lpstr>
      <vt:lpstr>Single Point Crossover</vt:lpstr>
      <vt:lpstr>Two-Point Crossover</vt:lpstr>
      <vt:lpstr>Uniform Crossover</vt:lpstr>
      <vt:lpstr>GA Example (The MAXONE Problem)</vt:lpstr>
      <vt:lpstr>The MAXONE Problem</vt:lpstr>
      <vt:lpstr>GA Implementation</vt:lpstr>
      <vt:lpstr>GA Solution of MAXONE Problem</vt:lpstr>
      <vt:lpstr>MAXONE: Initialization</vt:lpstr>
      <vt:lpstr>Step 1: Selection</vt:lpstr>
      <vt:lpstr>Selected set</vt:lpstr>
      <vt:lpstr>Step 2: crossover</vt:lpstr>
      <vt:lpstr>Step 3: mutations</vt:lpstr>
      <vt:lpstr>Iteration and Termination</vt:lpstr>
      <vt:lpstr>Travelling Salesman Problem</vt:lpstr>
      <vt:lpstr>Representation</vt:lpstr>
      <vt:lpstr>Crossover</vt:lpstr>
      <vt:lpstr>Mutation</vt:lpstr>
      <vt:lpstr>TSP Example: 30 Cities</vt:lpstr>
      <vt:lpstr>Solutioni (Distance = 941)</vt:lpstr>
      <vt:lpstr>Solutionj (Distance = 800)</vt:lpstr>
      <vt:lpstr>Solutionk (Distance = 652)</vt:lpstr>
      <vt:lpstr>Best Solution (Distance = 420)</vt:lpstr>
      <vt:lpstr>GA Applications</vt:lpstr>
      <vt:lpstr>Benefits of Genetic Algorithms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83</cp:revision>
  <dcterms:created xsi:type="dcterms:W3CDTF">2024-10-13T15:05:34Z</dcterms:created>
  <dcterms:modified xsi:type="dcterms:W3CDTF">2024-10-13T16:17:37Z</dcterms:modified>
</cp:coreProperties>
</file>