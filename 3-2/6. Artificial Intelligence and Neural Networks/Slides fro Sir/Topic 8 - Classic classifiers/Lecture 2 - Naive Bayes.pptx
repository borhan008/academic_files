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59" r:id="rId5"/>
    <p:sldId id="266" r:id="rId6"/>
    <p:sldId id="267" r:id="rId7"/>
    <p:sldId id="268" r:id="rId8"/>
    <p:sldId id="271" r:id="rId9"/>
    <p:sldId id="262" r:id="rId10"/>
    <p:sldId id="261" r:id="rId11"/>
    <p:sldId id="263" r:id="rId12"/>
    <p:sldId id="264" r:id="rId13"/>
    <p:sldId id="265" r:id="rId14"/>
    <p:sldId id="269" r:id="rId15"/>
    <p:sldId id="270" r:id="rId16"/>
    <p:sldId id="272" r:id="rId17"/>
    <p:sldId id="273" r:id="rId18"/>
    <p:sldId id="274" r:id="rId19"/>
    <p:sldId id="275" r:id="rId20"/>
    <p:sldId id="276" r:id="rId21"/>
    <p:sldId id="280" r:id="rId22"/>
    <p:sldId id="281" r:id="rId23"/>
    <p:sldId id="277" r:id="rId24"/>
    <p:sldId id="282" r:id="rId25"/>
    <p:sldId id="279" r:id="rId26"/>
    <p:sldId id="278" r:id="rId27"/>
    <p:sldId id="283" r:id="rId28"/>
    <p:sldId id="284" r:id="rId29"/>
    <p:sldId id="285" r:id="rId30"/>
    <p:sldId id="287" r:id="rId31"/>
    <p:sldId id="286" r:id="rId32"/>
    <p:sldId id="288" r:id="rId33"/>
    <p:sldId id="289" r:id="rId34"/>
    <p:sldId id="290" r:id="rId35"/>
    <p:sldId id="291" r:id="rId36"/>
    <p:sldId id="292" r:id="rId37"/>
    <p:sldId id="293" r:id="rId38"/>
    <p:sldId id="29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07" autoAdjust="0"/>
    <p:restoredTop sz="94660"/>
  </p:normalViewPr>
  <p:slideViewPr>
    <p:cSldViewPr snapToGrid="0">
      <p:cViewPr varScale="1">
        <p:scale>
          <a:sx n="75" d="100"/>
          <a:sy n="75" d="100"/>
        </p:scale>
        <p:origin x="355"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D803BE-D3F2-436A-BE14-DFDA03D2039E}" type="datetimeFigureOut">
              <a:rPr lang="en-US" smtClean="0"/>
              <a:t>11/24/2024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C38557-F777-4B39-B1C5-5BC53FAD1807}" type="slidenum">
              <a:rPr lang="en-US" smtClean="0"/>
              <a:t>‹#›</a:t>
            </a:fld>
            <a:endParaRPr lang="en-US"/>
          </a:p>
        </p:txBody>
      </p:sp>
    </p:spTree>
    <p:extLst>
      <p:ext uri="{BB962C8B-B14F-4D97-AF65-F5344CB8AC3E}">
        <p14:creationId xmlns:p14="http://schemas.microsoft.com/office/powerpoint/2010/main" val="230244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a:t>
            </a:r>
          </a:p>
        </p:txBody>
      </p:sp>
      <p:sp>
        <p:nvSpPr>
          <p:cNvPr id="4" name="Slide Number Placeholder 3"/>
          <p:cNvSpPr>
            <a:spLocks noGrp="1"/>
          </p:cNvSpPr>
          <p:nvPr>
            <p:ph type="sldNum" sz="quarter" idx="5"/>
          </p:nvPr>
        </p:nvSpPr>
        <p:spPr/>
        <p:txBody>
          <a:bodyPr/>
          <a:lstStyle/>
          <a:p>
            <a:fld id="{6AC38557-F777-4B39-B1C5-5BC53FAD1807}" type="slidenum">
              <a:rPr lang="en-US" smtClean="0"/>
              <a:t>19</a:t>
            </a:fld>
            <a:endParaRPr lang="en-US"/>
          </a:p>
        </p:txBody>
      </p:sp>
    </p:spTree>
    <p:extLst>
      <p:ext uri="{BB962C8B-B14F-4D97-AF65-F5344CB8AC3E}">
        <p14:creationId xmlns:p14="http://schemas.microsoft.com/office/powerpoint/2010/main" val="1858940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C38557-F777-4B39-B1C5-5BC53FAD1807}" type="slidenum">
              <a:rPr lang="en-US" smtClean="0"/>
              <a:t>22</a:t>
            </a:fld>
            <a:endParaRPr lang="en-US"/>
          </a:p>
        </p:txBody>
      </p:sp>
    </p:spTree>
    <p:extLst>
      <p:ext uri="{BB962C8B-B14F-4D97-AF65-F5344CB8AC3E}">
        <p14:creationId xmlns:p14="http://schemas.microsoft.com/office/powerpoint/2010/main" val="2421688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AC38557-F777-4B39-B1C5-5BC53FAD1807}" type="slidenum">
              <a:rPr lang="en-US" smtClean="0"/>
              <a:t>33</a:t>
            </a:fld>
            <a:endParaRPr lang="en-US"/>
          </a:p>
        </p:txBody>
      </p:sp>
    </p:spTree>
    <p:extLst>
      <p:ext uri="{BB962C8B-B14F-4D97-AF65-F5344CB8AC3E}">
        <p14:creationId xmlns:p14="http://schemas.microsoft.com/office/powerpoint/2010/main" val="916368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8E9AC-BA9E-9222-6760-26AA9E484A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3E20B3-CE83-1A93-B602-947FBF5A9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7138F-F403-CB6F-0273-52387D7B17CF}"/>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49DC6E09-5C4B-9452-9C01-EBF5970D49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BC5B2-147A-F3B5-DA8F-EE32E3EF6742}"/>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14062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5D42E-79FA-72B2-B9B1-8CE06B7C56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BB1206-848E-39FE-B2F6-637FBD6F40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BC032-324F-8580-E318-3F6CA51D05EE}"/>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4A34BCB7-5F56-80D9-7F16-BDF25E498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CA773-4892-A5B4-A985-3E9B5524BFE4}"/>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1035655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2791-C402-78D2-04FF-A6483BF133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4D499EE-8DAB-FF63-F8FC-7F803228E1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2E37F4-9692-11E4-0019-BCD1A35A0F95}"/>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191F588E-C3BB-65EB-56B4-7CE3698B8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8C95C7-6F34-21F2-BE58-23C4567502C1}"/>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3404790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A061-2C81-C9B2-3691-ADC11C6850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3EB5A3-D772-34AE-C082-1AE542C4CF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7B5CF9-BD06-253A-BC84-63198A738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EDE5BC-425C-87FA-7A5E-0084EC159E80}"/>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6" name="Footer Placeholder 5">
            <a:extLst>
              <a:ext uri="{FF2B5EF4-FFF2-40B4-BE49-F238E27FC236}">
                <a16:creationId xmlns:a16="http://schemas.microsoft.com/office/drawing/2014/main" id="{53207B89-56FE-A5EC-F8FA-C6870795E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4D18DB-72B0-8685-6103-5BE7037CCC8E}"/>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56651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DA14-7EAD-D4C7-29EF-7505EF22F3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725D62-8531-4E4A-F93B-2A1CD8FE30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F45575-6920-15DF-EC6A-3D2B1E7AD4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9FC1FC-5BEB-6E89-4A79-597919FA18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052B31-5D89-C2C8-EFCA-16E3A59043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7B6822-927E-E826-4B23-9CC06C7D0842}"/>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8" name="Footer Placeholder 7">
            <a:extLst>
              <a:ext uri="{FF2B5EF4-FFF2-40B4-BE49-F238E27FC236}">
                <a16:creationId xmlns:a16="http://schemas.microsoft.com/office/drawing/2014/main" id="{38CFF3E0-EA04-2FE6-D784-20486BCF74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81AD3D-FF72-6B30-00A1-B1DBAE841485}"/>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3042613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BE2C-DA53-F1C8-AEA4-8BEEFA81DB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ADEE57-8B1D-4DB1-0C25-5A05FADF562D}"/>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4" name="Footer Placeholder 3">
            <a:extLst>
              <a:ext uri="{FF2B5EF4-FFF2-40B4-BE49-F238E27FC236}">
                <a16:creationId xmlns:a16="http://schemas.microsoft.com/office/drawing/2014/main" id="{D01D7D69-0EA8-2AB8-BA88-956C569D6F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99CD65-52DE-6477-F40F-02240D6828E1}"/>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3912618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C03A5B-C60A-6E53-4F16-F66333166603}"/>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3" name="Footer Placeholder 2">
            <a:extLst>
              <a:ext uri="{FF2B5EF4-FFF2-40B4-BE49-F238E27FC236}">
                <a16:creationId xmlns:a16="http://schemas.microsoft.com/office/drawing/2014/main" id="{5F61E9E0-3588-915A-C118-DBE8BD013F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E299E3-FCC2-E5D4-64A6-8BC15339F785}"/>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1426969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AA80D-43B7-DE3F-DA21-18702D985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56D6C6-60A2-0805-2D6F-FF28DF8C65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BE4537-78F9-3974-D299-175E7FB8CC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C731A-6E95-1FF4-BE97-5794B262A96F}"/>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6" name="Footer Placeholder 5">
            <a:extLst>
              <a:ext uri="{FF2B5EF4-FFF2-40B4-BE49-F238E27FC236}">
                <a16:creationId xmlns:a16="http://schemas.microsoft.com/office/drawing/2014/main" id="{DB8F89C7-4391-7DBA-43B5-786E221046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8293BA-3243-1F5E-7FD2-DCDE10C70259}"/>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128357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4AE04-72C8-735B-453F-59F2D54BEF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B98244-2676-E956-198F-C2C96998D1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843394-E997-3766-35AD-37770D4FD3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D8FC64-BF14-44D0-8346-C311ED4D208C}"/>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6" name="Footer Placeholder 5">
            <a:extLst>
              <a:ext uri="{FF2B5EF4-FFF2-40B4-BE49-F238E27FC236}">
                <a16:creationId xmlns:a16="http://schemas.microsoft.com/office/drawing/2014/main" id="{2141D6A8-2DF7-5DCF-AEF8-B7BA53E5E8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40BA77-BD81-7FE0-69EB-BB454DD2C4BC}"/>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307788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127D-FB5F-B972-B619-78A1378EE7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C11C58-BC97-84FB-5F6E-1735A086D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A748F0-AC09-95CA-1467-DD4E2C9DC897}"/>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9EB27B40-2762-0AD8-2350-E2B06F7CEC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636826-532C-309C-169D-E2350419528F}"/>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193857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C71C27-8C18-2674-80A0-839A890C4F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294784-5721-C09D-B102-F2A2DF2EE2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6C38FE-6B89-270D-2D3F-D354A4A95F5C}"/>
              </a:ext>
            </a:extLst>
          </p:cNvPr>
          <p:cNvSpPr>
            <a:spLocks noGrp="1"/>
          </p:cNvSpPr>
          <p:nvPr>
            <p:ph type="dt" sz="half" idx="10"/>
          </p:nvPr>
        </p:nvSpPr>
        <p:spPr/>
        <p:txBody>
          <a:body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57A100C8-F2B9-0A93-40D7-76A7FE067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E8C15-455A-F8DF-332B-69757DE5125B}"/>
              </a:ext>
            </a:extLst>
          </p:cNvPr>
          <p:cNvSpPr>
            <a:spLocks noGrp="1"/>
          </p:cNvSpPr>
          <p:nvPr>
            <p:ph type="sldNum" sz="quarter" idx="12"/>
          </p:nvPr>
        </p:nvSpPr>
        <p:spPr/>
        <p:txBody>
          <a:bodyPr/>
          <a:lstStyle/>
          <a:p>
            <a:fld id="{659F648D-D48F-4B2D-AEEE-BDA4B3012713}" type="slidenum">
              <a:rPr lang="en-US" smtClean="0"/>
              <a:t>‹#›</a:t>
            </a:fld>
            <a:endParaRPr lang="en-US"/>
          </a:p>
        </p:txBody>
      </p:sp>
    </p:spTree>
    <p:extLst>
      <p:ext uri="{BB962C8B-B14F-4D97-AF65-F5344CB8AC3E}">
        <p14:creationId xmlns:p14="http://schemas.microsoft.com/office/powerpoint/2010/main" val="878311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55C51F-8D8F-A1C0-DA27-6586300432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EFD248-C2DC-1571-26AF-B6DEE3B1F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F9B93C-03D6-AE26-C140-70C743EAFB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12ECD9-4E1F-4EE4-9550-775489751649}" type="datetimeFigureOut">
              <a:rPr lang="en-US" smtClean="0"/>
              <a:t>11/24/2024</a:t>
            </a:fld>
            <a:endParaRPr lang="en-US"/>
          </a:p>
        </p:txBody>
      </p:sp>
      <p:sp>
        <p:nvSpPr>
          <p:cNvPr id="5" name="Footer Placeholder 4">
            <a:extLst>
              <a:ext uri="{FF2B5EF4-FFF2-40B4-BE49-F238E27FC236}">
                <a16:creationId xmlns:a16="http://schemas.microsoft.com/office/drawing/2014/main" id="{04077A35-593B-369F-D150-6DD1D2E310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EC3013-9D38-EADA-2EE7-D81F5E406A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9F648D-D48F-4B2D-AEEE-BDA4B3012713}" type="slidenum">
              <a:rPr lang="en-US" smtClean="0"/>
              <a:t>‹#›</a:t>
            </a:fld>
            <a:endParaRPr lang="en-US"/>
          </a:p>
        </p:txBody>
      </p:sp>
    </p:spTree>
    <p:extLst>
      <p:ext uri="{BB962C8B-B14F-4D97-AF65-F5344CB8AC3E}">
        <p14:creationId xmlns:p14="http://schemas.microsoft.com/office/powerpoint/2010/main" val="2903231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en.wikipedia.org/wiki/Normal_distribution"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en.wikipedia.org/wiki/Bessel%27s_correction"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en.wikipedia.org/wiki/Discretization_of_continuous_feature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n.wikipedia.org/wiki/Variance#Population_variance_and_sample_varianc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A7A9F-C60B-A594-5638-E1E842B26437}"/>
              </a:ext>
            </a:extLst>
          </p:cNvPr>
          <p:cNvSpPr>
            <a:spLocks noGrp="1"/>
          </p:cNvSpPr>
          <p:nvPr>
            <p:ph type="ctrTitle"/>
          </p:nvPr>
        </p:nvSpPr>
        <p:spPr/>
        <p:txBody>
          <a:bodyPr/>
          <a:lstStyle/>
          <a:p>
            <a:r>
              <a:rPr lang="en-US" dirty="0"/>
              <a:t>Naïve Bayes Classifier</a:t>
            </a:r>
          </a:p>
        </p:txBody>
      </p:sp>
      <p:sp>
        <p:nvSpPr>
          <p:cNvPr id="3" name="Subtitle 2">
            <a:extLst>
              <a:ext uri="{FF2B5EF4-FFF2-40B4-BE49-F238E27FC236}">
                <a16:creationId xmlns:a16="http://schemas.microsoft.com/office/drawing/2014/main" id="{91C2F592-96E5-DBEC-4B92-A29020D493F2}"/>
              </a:ext>
            </a:extLst>
          </p:cNvPr>
          <p:cNvSpPr>
            <a:spLocks noGrp="1"/>
          </p:cNvSpPr>
          <p:nvPr>
            <p:ph type="subTitle" idx="1"/>
          </p:nvPr>
        </p:nvSpPr>
        <p:spPr/>
        <p:txBody>
          <a:bodyPr/>
          <a:lstStyle/>
          <a:p>
            <a:r>
              <a:rPr lang="en-US" dirty="0"/>
              <a:t>Iftekhar </a:t>
            </a:r>
            <a:r>
              <a:rPr lang="en-US"/>
              <a:t>Mahmud Towhid</a:t>
            </a:r>
          </a:p>
        </p:txBody>
      </p:sp>
    </p:spTree>
    <p:extLst>
      <p:ext uri="{BB962C8B-B14F-4D97-AF65-F5344CB8AC3E}">
        <p14:creationId xmlns:p14="http://schemas.microsoft.com/office/powerpoint/2010/main" val="1007586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5F35-80EE-56B8-C7C4-7DDFAE3DB520}"/>
              </a:ext>
            </a:extLst>
          </p:cNvPr>
          <p:cNvSpPr>
            <a:spLocks noGrp="1"/>
          </p:cNvSpPr>
          <p:nvPr>
            <p:ph type="title"/>
          </p:nvPr>
        </p:nvSpPr>
        <p:spPr/>
        <p:txBody>
          <a:bodyPr/>
          <a:lstStyle/>
          <a:p>
            <a:r>
              <a:rPr lang="en-US" dirty="0"/>
              <a:t>Naïve Bayes Classifier</a:t>
            </a:r>
          </a:p>
        </p:txBody>
      </p:sp>
      <p:sp>
        <p:nvSpPr>
          <p:cNvPr id="3" name="Content Placeholder 2">
            <a:extLst>
              <a:ext uri="{FF2B5EF4-FFF2-40B4-BE49-F238E27FC236}">
                <a16:creationId xmlns:a16="http://schemas.microsoft.com/office/drawing/2014/main" id="{4069E887-E10E-FF10-190F-B5F347E9F07E}"/>
              </a:ext>
            </a:extLst>
          </p:cNvPr>
          <p:cNvSpPr>
            <a:spLocks noGrp="1"/>
          </p:cNvSpPr>
          <p:nvPr>
            <p:ph idx="1"/>
          </p:nvPr>
        </p:nvSpPr>
        <p:spPr/>
        <p:txBody>
          <a:bodyPr>
            <a:normAutofit fontScale="92500" lnSpcReduction="20000"/>
          </a:bodyPr>
          <a:lstStyle/>
          <a:p>
            <a:r>
              <a:rPr lang="en-GB" dirty="0"/>
              <a:t>Naïve Bayes algorithm is a supervised learning algorithm, which is based on Bayes theorem and used for solving classification problems.</a:t>
            </a:r>
          </a:p>
          <a:p>
            <a:r>
              <a:rPr lang="en-GB" dirty="0"/>
              <a:t>It is mainly used in text classification that includes a high-dimensional training dataset.</a:t>
            </a:r>
          </a:p>
          <a:p>
            <a:r>
              <a:rPr lang="en-GB" dirty="0"/>
              <a:t>Naïve Bayes Classifier is one of the simple and most effective Classification algorithms which helps in building the fast machine learning models that can make quick predictions.</a:t>
            </a:r>
          </a:p>
          <a:p>
            <a:r>
              <a:rPr lang="en-GB" dirty="0"/>
              <a:t>It is a probabilistic classifier, which means it predicts on the basis of the probability of an object.</a:t>
            </a:r>
          </a:p>
          <a:p>
            <a:r>
              <a:rPr lang="en-GB" dirty="0"/>
              <a:t>Some popular examples of Naïve Bayes Algorithm are spam filtration, Sentimental analysis, and classifying articles.</a:t>
            </a:r>
            <a:endParaRPr lang="en-US" dirty="0"/>
          </a:p>
        </p:txBody>
      </p:sp>
    </p:spTree>
    <p:extLst>
      <p:ext uri="{BB962C8B-B14F-4D97-AF65-F5344CB8AC3E}">
        <p14:creationId xmlns:p14="http://schemas.microsoft.com/office/powerpoint/2010/main" val="1083591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65C9-5314-98EF-499E-1E931B61BE87}"/>
              </a:ext>
            </a:extLst>
          </p:cNvPr>
          <p:cNvSpPr>
            <a:spLocks noGrp="1"/>
          </p:cNvSpPr>
          <p:nvPr>
            <p:ph type="title"/>
          </p:nvPr>
        </p:nvSpPr>
        <p:spPr/>
        <p:txBody>
          <a:bodyPr/>
          <a:lstStyle/>
          <a:p>
            <a:r>
              <a:rPr lang="en-GB" dirty="0"/>
              <a:t>Why is it called Naïve Bayes?</a:t>
            </a:r>
            <a:endParaRPr lang="en-US" dirty="0"/>
          </a:p>
        </p:txBody>
      </p:sp>
      <p:sp>
        <p:nvSpPr>
          <p:cNvPr id="3" name="Content Placeholder 2">
            <a:extLst>
              <a:ext uri="{FF2B5EF4-FFF2-40B4-BE49-F238E27FC236}">
                <a16:creationId xmlns:a16="http://schemas.microsoft.com/office/drawing/2014/main" id="{08C99224-0C8D-688E-956F-E89BBCDD14E0}"/>
              </a:ext>
            </a:extLst>
          </p:cNvPr>
          <p:cNvSpPr>
            <a:spLocks noGrp="1"/>
          </p:cNvSpPr>
          <p:nvPr>
            <p:ph idx="1"/>
          </p:nvPr>
        </p:nvSpPr>
        <p:spPr/>
        <p:txBody>
          <a:bodyPr>
            <a:normAutofit/>
          </a:bodyPr>
          <a:lstStyle/>
          <a:p>
            <a:r>
              <a:rPr lang="en-GB" dirty="0"/>
              <a:t>The Naïve Bayes algorithm is comprised of two words Naïve and Bayes, Which can be described as:</a:t>
            </a:r>
          </a:p>
          <a:p>
            <a:pPr lvl="1"/>
            <a:r>
              <a:rPr lang="en-GB" b="1" dirty="0"/>
              <a:t>Naïve</a:t>
            </a:r>
            <a:r>
              <a:rPr lang="en-GB" dirty="0"/>
              <a:t>: It is called Naïve because it assumes that the occurrence of a certain feature is independent of the occurrence of other features. Such as if the fruit is identified on the bases of </a:t>
            </a:r>
            <a:r>
              <a:rPr lang="en-GB" dirty="0" err="1"/>
              <a:t>color</a:t>
            </a:r>
            <a:r>
              <a:rPr lang="en-GB" dirty="0"/>
              <a:t>, shape, and taste, then red, spherical, and sweet fruit is recognized as an apple. Hence each feature individually contributes to identify that it is an apple without depending on each other.</a:t>
            </a:r>
          </a:p>
          <a:p>
            <a:pPr lvl="1"/>
            <a:r>
              <a:rPr lang="en-GB" b="1" dirty="0"/>
              <a:t>Bayes</a:t>
            </a:r>
            <a:r>
              <a:rPr lang="en-GB" dirty="0"/>
              <a:t>: It is called Bayes because it depends on the principle of Bayes' Theorem.</a:t>
            </a:r>
            <a:endParaRPr lang="en-US" dirty="0"/>
          </a:p>
        </p:txBody>
      </p:sp>
    </p:spTree>
    <p:extLst>
      <p:ext uri="{BB962C8B-B14F-4D97-AF65-F5344CB8AC3E}">
        <p14:creationId xmlns:p14="http://schemas.microsoft.com/office/powerpoint/2010/main" val="246000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8CCAE-9836-0830-ECD9-BAE6CA1CAA5A}"/>
              </a:ext>
            </a:extLst>
          </p:cNvPr>
          <p:cNvSpPr>
            <a:spLocks noGrp="1"/>
          </p:cNvSpPr>
          <p:nvPr>
            <p:ph type="title"/>
          </p:nvPr>
        </p:nvSpPr>
        <p:spPr/>
        <p:txBody>
          <a:bodyPr/>
          <a:lstStyle/>
          <a:p>
            <a:r>
              <a:rPr lang="en-US" dirty="0"/>
              <a:t>Bayes' Theorem</a:t>
            </a:r>
          </a:p>
        </p:txBody>
      </p:sp>
      <p:sp>
        <p:nvSpPr>
          <p:cNvPr id="3" name="Content Placeholder 2">
            <a:extLst>
              <a:ext uri="{FF2B5EF4-FFF2-40B4-BE49-F238E27FC236}">
                <a16:creationId xmlns:a16="http://schemas.microsoft.com/office/drawing/2014/main" id="{9F1CD42D-9ED9-B263-76E5-3A19415124DF}"/>
              </a:ext>
            </a:extLst>
          </p:cNvPr>
          <p:cNvSpPr>
            <a:spLocks noGrp="1"/>
          </p:cNvSpPr>
          <p:nvPr>
            <p:ph idx="1"/>
          </p:nvPr>
        </p:nvSpPr>
        <p:spPr/>
        <p:txBody>
          <a:bodyPr>
            <a:normAutofit fontScale="92500" lnSpcReduction="20000"/>
          </a:bodyPr>
          <a:lstStyle/>
          <a:p>
            <a:r>
              <a:rPr lang="en-GB" dirty="0"/>
              <a:t>Bayes' theorem is also known as Bayes' Rule or Bayes' law, which is used to determine the probability of a hypothesis with prior knowledge. It depends on the conditional probability.</a:t>
            </a:r>
          </a:p>
          <a:p>
            <a:r>
              <a:rPr lang="en-GB" dirty="0"/>
              <a:t>The formula for Bayes' theorem is given as:</a:t>
            </a:r>
          </a:p>
          <a:p>
            <a:pPr marL="457200" lvl="1" indent="0">
              <a:buNone/>
            </a:pPr>
            <a:r>
              <a:rPr lang="en-GB" dirty="0"/>
              <a:t>	</a:t>
            </a:r>
            <a:r>
              <a:rPr lang="en-US" dirty="0"/>
              <a:t>P(H|E) = (P(E|H) * P(H)) / P(E)</a:t>
            </a:r>
          </a:p>
          <a:p>
            <a:pPr marL="457200" lvl="1" indent="0">
              <a:buNone/>
            </a:pPr>
            <a:br>
              <a:rPr lang="en-US" dirty="0"/>
            </a:br>
            <a:r>
              <a:rPr lang="en-GB" dirty="0"/>
              <a:t>Where,</a:t>
            </a:r>
          </a:p>
          <a:p>
            <a:pPr lvl="1"/>
            <a:r>
              <a:rPr lang="en-GB" dirty="0"/>
              <a:t>P(H|E) is Posterior probability: Probability of hypothesis A on the observed event B.</a:t>
            </a:r>
          </a:p>
          <a:p>
            <a:pPr lvl="1"/>
            <a:r>
              <a:rPr lang="en-GB" dirty="0"/>
              <a:t>P(E|H) is Likelihood probability: Probability of the evidence given that the probability of a hypothesis is true.</a:t>
            </a:r>
          </a:p>
          <a:p>
            <a:pPr lvl="1"/>
            <a:r>
              <a:rPr lang="en-GB" dirty="0"/>
              <a:t>P(H) is Prior Probability: Probability of hypothesis before observing the evidence.</a:t>
            </a:r>
          </a:p>
          <a:p>
            <a:pPr lvl="1"/>
            <a:r>
              <a:rPr lang="en-GB" dirty="0"/>
              <a:t>P(E) is Marginal Probability: Probability of Evidence.</a:t>
            </a:r>
            <a:endParaRPr lang="en-US" dirty="0"/>
          </a:p>
        </p:txBody>
      </p:sp>
    </p:spTree>
    <p:extLst>
      <p:ext uri="{BB962C8B-B14F-4D97-AF65-F5344CB8AC3E}">
        <p14:creationId xmlns:p14="http://schemas.microsoft.com/office/powerpoint/2010/main" val="1844899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6371-AFA1-77AC-D721-90A5194367DF}"/>
              </a:ext>
            </a:extLst>
          </p:cNvPr>
          <p:cNvSpPr>
            <a:spLocks noGrp="1"/>
          </p:cNvSpPr>
          <p:nvPr>
            <p:ph type="title"/>
          </p:nvPr>
        </p:nvSpPr>
        <p:spPr/>
        <p:txBody>
          <a:bodyPr/>
          <a:lstStyle/>
          <a:p>
            <a:r>
              <a:rPr lang="en-GB" dirty="0"/>
              <a:t>Parameter estimation and event models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A92CAA-13A4-46B4-2FC0-0BEFCD394643}"/>
                  </a:ext>
                </a:extLst>
              </p:cNvPr>
              <p:cNvSpPr>
                <a:spLocks noGrp="1"/>
              </p:cNvSpPr>
              <p:nvPr>
                <p:ph idx="1"/>
              </p:nvPr>
            </p:nvSpPr>
            <p:spPr/>
            <p:txBody>
              <a:bodyPr>
                <a:normAutofit fontScale="85000" lnSpcReduction="10000"/>
              </a:bodyPr>
              <a:lstStyle/>
              <a:p>
                <a:r>
                  <a:rPr lang="en-GB" dirty="0"/>
                  <a:t>A class's prior may be calculated by assuming equiprobable classes, i.e.,    </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𝑘</m:t>
                          </m:r>
                        </m:den>
                      </m:f>
                    </m:oMath>
                  </m:oMathPara>
                </a14:m>
                <a:endParaRPr lang="en-GB" sz="2000" dirty="0"/>
              </a:p>
              <a:p>
                <a:pPr marL="233363" indent="0">
                  <a:buNone/>
                </a:pPr>
                <a:r>
                  <a:rPr lang="en-GB" dirty="0"/>
                  <a:t>or by calculating an estimate for the class probability from the training set:</a:t>
                </a:r>
              </a:p>
              <a:p>
                <a:pPr marL="233363"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𝑝𝑟𝑖𝑜𝑟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𝑎</m:t>
                      </m:r>
                      <m:r>
                        <a:rPr lang="en-US" sz="2000" b="0" i="1" smtClean="0">
                          <a:latin typeface="Cambria Math" panose="02040503050406030204" pitchFamily="18" charset="0"/>
                        </a:rPr>
                        <m:t> </m:t>
                      </m:r>
                      <m:r>
                        <a:rPr lang="en-US" sz="2000" b="0" i="1" smtClean="0">
                          <a:latin typeface="Cambria Math" panose="02040503050406030204" pitchFamily="18" charset="0"/>
                        </a:rPr>
                        <m:t>𝑔𝑖𝑣𝑒𝑛</m:t>
                      </m:r>
                      <m:r>
                        <a:rPr lang="en-US" sz="2000" b="0" i="1" smtClean="0">
                          <a:latin typeface="Cambria Math" panose="02040503050406030204" pitchFamily="18" charset="0"/>
                        </a:rPr>
                        <m:t> </m:t>
                      </m:r>
                      <m:r>
                        <a:rPr lang="en-US" sz="2000" b="0" i="1" smtClean="0">
                          <a:latin typeface="Cambria Math" panose="02040503050406030204" pitchFamily="18" charset="0"/>
                        </a:rPr>
                        <m:t>𝑐𝑙𝑎𝑠𝑠</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𝑠𝑎𝑚𝑝𝑙𝑒𝑠</m:t>
                          </m:r>
                          <m:r>
                            <a:rPr lang="en-US" sz="2000" b="0" i="1" smtClean="0">
                              <a:latin typeface="Cambria Math" panose="02040503050406030204" pitchFamily="18" charset="0"/>
                            </a:rPr>
                            <m:t> </m:t>
                          </m:r>
                          <m:r>
                            <a:rPr lang="en-US" sz="2000" b="0" i="1" smtClean="0">
                              <a:latin typeface="Cambria Math" panose="02040503050406030204" pitchFamily="18" charset="0"/>
                            </a:rPr>
                            <m:t>𝑖𝑛</m:t>
                          </m:r>
                          <m:r>
                            <a:rPr lang="en-US" sz="2000" b="0" i="1" smtClean="0">
                              <a:latin typeface="Cambria Math" panose="02040503050406030204" pitchFamily="18" charset="0"/>
                            </a:rPr>
                            <m:t> </m:t>
                          </m:r>
                          <m:r>
                            <a:rPr lang="en-US" sz="2000" b="0" i="1" smtClean="0">
                              <a:latin typeface="Cambria Math" panose="02040503050406030204" pitchFamily="18" charset="0"/>
                            </a:rPr>
                            <m:t>𝑡h𝑎𝑡</m:t>
                          </m:r>
                          <m:r>
                            <a:rPr lang="en-US" sz="2000" b="0" i="1" smtClean="0">
                              <a:latin typeface="Cambria Math" panose="02040503050406030204" pitchFamily="18" charset="0"/>
                            </a:rPr>
                            <m:t> </m:t>
                          </m:r>
                          <m:r>
                            <a:rPr lang="en-US" sz="2000" b="0" i="1" smtClean="0">
                              <a:latin typeface="Cambria Math" panose="02040503050406030204" pitchFamily="18" charset="0"/>
                            </a:rPr>
                            <m:t>𝑐𝑙𝑎𝑠𝑠</m:t>
                          </m:r>
                        </m:num>
                        <m:den>
                          <m:r>
                            <a:rPr lang="en-US" sz="2000" b="0" i="1" smtClean="0">
                              <a:latin typeface="Cambria Math" panose="02040503050406030204" pitchFamily="18" charset="0"/>
                            </a:rPr>
                            <m:t>𝑡𝑜𝑡𝑎𝑙</m:t>
                          </m:r>
                          <m:r>
                            <a:rPr lang="en-US" sz="2000" b="0" i="1" smtClean="0">
                              <a:latin typeface="Cambria Math" panose="02040503050406030204" pitchFamily="18" charset="0"/>
                            </a:rPr>
                            <m:t> </m:t>
                          </m:r>
                          <m:r>
                            <a:rPr lang="en-US" sz="2000" b="0" i="1" smtClean="0">
                              <a:latin typeface="Cambria Math" panose="02040503050406030204" pitchFamily="18" charset="0"/>
                            </a:rPr>
                            <m:t>𝑛𝑢𝑚𝑏𝑒𝑟</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𝑠𝑎𝑚𝑝𝑙𝑒𝑠</m:t>
                          </m:r>
                        </m:den>
                      </m:f>
                    </m:oMath>
                  </m:oMathPara>
                </a14:m>
                <a:endParaRPr lang="en-US" dirty="0"/>
              </a:p>
              <a:p>
                <a:pPr marL="233363" indent="-233363"/>
                <a:endParaRPr lang="en-GB" dirty="0"/>
              </a:p>
              <a:p>
                <a:pPr marL="233363" indent="-233363"/>
                <a:r>
                  <a:rPr lang="en-GB" dirty="0"/>
                  <a:t>To estimate the parameters for a feature's distribution, one must assume a distribution or generate nonparametric models for the features from the training set.</a:t>
                </a:r>
              </a:p>
              <a:p>
                <a:pPr marL="233363" indent="-233363"/>
                <a:r>
                  <a:rPr lang="en-GB" dirty="0"/>
                  <a:t>The assumptions on distributions of features are called the "event model" of the naive Bayes classifier.</a:t>
                </a:r>
              </a:p>
            </p:txBody>
          </p:sp>
        </mc:Choice>
        <mc:Fallback xmlns="">
          <p:sp>
            <p:nvSpPr>
              <p:cNvPr id="3" name="Content Placeholder 2">
                <a:extLst>
                  <a:ext uri="{FF2B5EF4-FFF2-40B4-BE49-F238E27FC236}">
                    <a16:creationId xmlns:a16="http://schemas.microsoft.com/office/drawing/2014/main" id="{6FA92CAA-13A4-46B4-2FC0-0BEFCD394643}"/>
                  </a:ext>
                </a:extLst>
              </p:cNvPr>
              <p:cNvSpPr>
                <a:spLocks noGrp="1" noRot="1" noChangeAspect="1" noMove="1" noResize="1" noEditPoints="1" noAdjustHandles="1" noChangeArrowheads="1" noChangeShapeType="1" noTextEdit="1"/>
              </p:cNvSpPr>
              <p:nvPr>
                <p:ph idx="1"/>
              </p:nvPr>
            </p:nvSpPr>
            <p:spPr>
              <a:blipFill>
                <a:blip r:embed="rId2"/>
                <a:stretch>
                  <a:fillRect l="-812" t="-2801" r="-3768"/>
                </a:stretch>
              </a:blipFill>
            </p:spPr>
            <p:txBody>
              <a:bodyPr/>
              <a:lstStyle/>
              <a:p>
                <a:r>
                  <a:rPr lang="en-US">
                    <a:noFill/>
                  </a:rPr>
                  <a:t> </a:t>
                </a:r>
              </a:p>
            </p:txBody>
          </p:sp>
        </mc:Fallback>
      </mc:AlternateContent>
    </p:spTree>
    <p:extLst>
      <p:ext uri="{BB962C8B-B14F-4D97-AF65-F5344CB8AC3E}">
        <p14:creationId xmlns:p14="http://schemas.microsoft.com/office/powerpoint/2010/main" val="3399238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E0A57-D79D-ED87-4ED1-E542DFD3B453}"/>
              </a:ext>
            </a:extLst>
          </p:cNvPr>
          <p:cNvSpPr>
            <a:spLocks noGrp="1"/>
          </p:cNvSpPr>
          <p:nvPr>
            <p:ph type="title"/>
          </p:nvPr>
        </p:nvSpPr>
        <p:spPr/>
        <p:txBody>
          <a:bodyPr/>
          <a:lstStyle/>
          <a:p>
            <a:r>
              <a:rPr lang="en-GB" dirty="0"/>
              <a:t>Assumption of Naive Bayes</a:t>
            </a:r>
            <a:endParaRPr lang="en-US" dirty="0"/>
          </a:p>
        </p:txBody>
      </p:sp>
      <p:sp>
        <p:nvSpPr>
          <p:cNvPr id="3" name="Content Placeholder 2">
            <a:extLst>
              <a:ext uri="{FF2B5EF4-FFF2-40B4-BE49-F238E27FC236}">
                <a16:creationId xmlns:a16="http://schemas.microsoft.com/office/drawing/2014/main" id="{91B8EC75-25ED-6AF9-36E7-EF58C9EFADA3}"/>
              </a:ext>
            </a:extLst>
          </p:cNvPr>
          <p:cNvSpPr>
            <a:spLocks noGrp="1"/>
          </p:cNvSpPr>
          <p:nvPr>
            <p:ph idx="1"/>
          </p:nvPr>
        </p:nvSpPr>
        <p:spPr/>
        <p:txBody>
          <a:bodyPr>
            <a:normAutofit lnSpcReduction="10000"/>
          </a:bodyPr>
          <a:lstStyle/>
          <a:p>
            <a:r>
              <a:rPr lang="en-GB" dirty="0"/>
              <a:t>The fundamental Naive Bayes assumption is:</a:t>
            </a:r>
          </a:p>
          <a:p>
            <a:pPr lvl="1"/>
            <a:r>
              <a:rPr lang="en-GB" i="1" dirty="0"/>
              <a:t>Feature independence</a:t>
            </a:r>
            <a:r>
              <a:rPr lang="en-GB" dirty="0"/>
              <a:t>: The features of the data are conditionally independent of each other, given the class label.</a:t>
            </a:r>
          </a:p>
          <a:p>
            <a:pPr lvl="1"/>
            <a:r>
              <a:rPr lang="en-GB" dirty="0"/>
              <a:t>Continuous features are normally distributed: If a feature is continuous, then it is assumed to be normally distributed within each class.</a:t>
            </a:r>
          </a:p>
          <a:p>
            <a:pPr lvl="1"/>
            <a:r>
              <a:rPr lang="en-GB" dirty="0"/>
              <a:t>Discrete features have multinomial (or Bernoulli) distributions: If a feature is discrete, then it is assumed to have a multinomial distribution within each class.</a:t>
            </a:r>
          </a:p>
          <a:p>
            <a:pPr lvl="1"/>
            <a:r>
              <a:rPr lang="en-GB" i="1" dirty="0"/>
              <a:t>Features are equally important</a:t>
            </a:r>
            <a:r>
              <a:rPr lang="en-GB" dirty="0"/>
              <a:t>: All features are assumed to contribute equally to the prediction of the class label.</a:t>
            </a:r>
          </a:p>
          <a:p>
            <a:pPr lvl="1"/>
            <a:r>
              <a:rPr lang="en-GB" i="1" dirty="0"/>
              <a:t>No missing data</a:t>
            </a:r>
            <a:r>
              <a:rPr lang="en-GB" dirty="0"/>
              <a:t>: The data should not contain any missing values.</a:t>
            </a:r>
            <a:endParaRPr lang="en-US" dirty="0"/>
          </a:p>
        </p:txBody>
      </p:sp>
    </p:spTree>
    <p:extLst>
      <p:ext uri="{BB962C8B-B14F-4D97-AF65-F5344CB8AC3E}">
        <p14:creationId xmlns:p14="http://schemas.microsoft.com/office/powerpoint/2010/main" val="3804273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87181-305B-F74F-6E9C-64003481D5F1}"/>
              </a:ext>
            </a:extLst>
          </p:cNvPr>
          <p:cNvSpPr>
            <a:spLocks noGrp="1"/>
          </p:cNvSpPr>
          <p:nvPr>
            <p:ph type="title"/>
          </p:nvPr>
        </p:nvSpPr>
        <p:spPr/>
        <p:txBody>
          <a:bodyPr/>
          <a:lstStyle/>
          <a:p>
            <a:r>
              <a:rPr lang="en-GB" dirty="0"/>
              <a:t>Assumption of Naive Bayes</a:t>
            </a:r>
            <a:endParaRPr lang="en-US" dirty="0"/>
          </a:p>
        </p:txBody>
      </p:sp>
      <p:sp>
        <p:nvSpPr>
          <p:cNvPr id="3" name="Content Placeholder 2">
            <a:extLst>
              <a:ext uri="{FF2B5EF4-FFF2-40B4-BE49-F238E27FC236}">
                <a16:creationId xmlns:a16="http://schemas.microsoft.com/office/drawing/2014/main" id="{5EB3E4B1-A393-DF26-98D2-A3E41DBC52AD}"/>
              </a:ext>
            </a:extLst>
          </p:cNvPr>
          <p:cNvSpPr>
            <a:spLocks noGrp="1"/>
          </p:cNvSpPr>
          <p:nvPr>
            <p:ph idx="1"/>
          </p:nvPr>
        </p:nvSpPr>
        <p:spPr/>
        <p:txBody>
          <a:bodyPr>
            <a:normAutofit lnSpcReduction="10000"/>
          </a:bodyPr>
          <a:lstStyle/>
          <a:p>
            <a:r>
              <a:rPr lang="en-GB" dirty="0"/>
              <a:t>With relation to our dataset, this concept can be understood as:</a:t>
            </a:r>
          </a:p>
          <a:p>
            <a:pPr lvl="1"/>
            <a:r>
              <a:rPr lang="en-GB" dirty="0"/>
              <a:t>We assume that no pair of features are dependent. For example, the temperature being ‘Hot’ has nothing to do with the humidity or the outlook being ‘Rainy’ has no effect on the winds. Hence, the features are assumed to be independent.</a:t>
            </a:r>
          </a:p>
          <a:p>
            <a:pPr lvl="1"/>
            <a:r>
              <a:rPr lang="en-GB" dirty="0"/>
              <a:t>Secondly, each feature is given the same weight(or importance). For example, knowing only temperature and humidity alone can’t predict the outcome accurately. None of the attributes is irrelevant and assumed to be contributing equally to the outcome.</a:t>
            </a:r>
          </a:p>
          <a:p>
            <a:r>
              <a:rPr lang="en-GB" sz="2200" i="1" dirty="0">
                <a:solidFill>
                  <a:srgbClr val="C00000"/>
                </a:solidFill>
              </a:rPr>
              <a:t>The assumptions made by Naive Bayes are not generally correct in real-world situations. In-fact, the independence assumption is never correct but often works well in practice. </a:t>
            </a:r>
          </a:p>
        </p:txBody>
      </p:sp>
    </p:spTree>
    <p:extLst>
      <p:ext uri="{BB962C8B-B14F-4D97-AF65-F5344CB8AC3E}">
        <p14:creationId xmlns:p14="http://schemas.microsoft.com/office/powerpoint/2010/main" val="1492157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6B9A9-1198-B6CE-6E14-0B59C4DC54BF}"/>
              </a:ext>
            </a:extLst>
          </p:cNvPr>
          <p:cNvSpPr>
            <a:spLocks noGrp="1"/>
          </p:cNvSpPr>
          <p:nvPr>
            <p:ph type="title"/>
          </p:nvPr>
        </p:nvSpPr>
        <p:spPr/>
        <p:txBody>
          <a:bodyPr/>
          <a:lstStyle/>
          <a:p>
            <a:r>
              <a:rPr lang="en-GB" dirty="0"/>
              <a:t>Types of Naïve Bayes Model</a:t>
            </a:r>
            <a:endParaRPr lang="en-US" dirty="0"/>
          </a:p>
        </p:txBody>
      </p:sp>
      <p:sp>
        <p:nvSpPr>
          <p:cNvPr id="3" name="Content Placeholder 2">
            <a:extLst>
              <a:ext uri="{FF2B5EF4-FFF2-40B4-BE49-F238E27FC236}">
                <a16:creationId xmlns:a16="http://schemas.microsoft.com/office/drawing/2014/main" id="{D7DC604D-CC84-DF1C-BA43-D416D76A6CC2}"/>
              </a:ext>
            </a:extLst>
          </p:cNvPr>
          <p:cNvSpPr>
            <a:spLocks noGrp="1"/>
          </p:cNvSpPr>
          <p:nvPr>
            <p:ph idx="1"/>
          </p:nvPr>
        </p:nvSpPr>
        <p:spPr/>
        <p:txBody>
          <a:bodyPr>
            <a:normAutofit fontScale="92500" lnSpcReduction="20000"/>
          </a:bodyPr>
          <a:lstStyle/>
          <a:p>
            <a:r>
              <a:rPr lang="en-GB" dirty="0"/>
              <a:t>There are three types of Naive Bayes Model, based on the assumed distribution of the data features, which are given below:</a:t>
            </a:r>
          </a:p>
          <a:p>
            <a:pPr lvl="1"/>
            <a:r>
              <a:rPr lang="en-GB" b="1" dirty="0"/>
              <a:t>Gaussian</a:t>
            </a:r>
            <a:r>
              <a:rPr lang="en-GB" dirty="0"/>
              <a:t>: The Gaussian model assumes that features follow a normal distribution. This means if predictors take continuous values instead of discrete, then the model assumes that these values are sampled from the Gaussian distribution.</a:t>
            </a:r>
          </a:p>
          <a:p>
            <a:pPr lvl="1"/>
            <a:r>
              <a:rPr lang="en-GB" b="1" dirty="0"/>
              <a:t>Multinomial</a:t>
            </a:r>
            <a:r>
              <a:rPr lang="en-GB" dirty="0"/>
              <a:t>: The Multinomial Naïve Bayes classifier is used when the data is multinomial distributed. It is primarily used for document classification problems, it means a particular document belongs to which category such as Sports, Politics, education, etc. The classifier uses the frequency of words for the predictors.</a:t>
            </a:r>
          </a:p>
          <a:p>
            <a:pPr lvl="1"/>
            <a:r>
              <a:rPr lang="en-GB" b="1" dirty="0"/>
              <a:t>Bernoulli</a:t>
            </a:r>
            <a:r>
              <a:rPr lang="en-GB" dirty="0"/>
              <a:t>: The Bernoulli classifier works similar to the Multinomial classifier, but the predictor variables are the independent Booleans variables. Such as if a particular word is present or not in a document. This model is also famous for document classification tasks.</a:t>
            </a:r>
            <a:endParaRPr lang="en-US" dirty="0"/>
          </a:p>
        </p:txBody>
      </p:sp>
    </p:spTree>
    <p:extLst>
      <p:ext uri="{BB962C8B-B14F-4D97-AF65-F5344CB8AC3E}">
        <p14:creationId xmlns:p14="http://schemas.microsoft.com/office/powerpoint/2010/main" val="2049412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2E86A-B1CF-7AA0-8F9F-91AAC584EB5D}"/>
              </a:ext>
            </a:extLst>
          </p:cNvPr>
          <p:cNvSpPr>
            <a:spLocks noGrp="1"/>
          </p:cNvSpPr>
          <p:nvPr>
            <p:ph type="title"/>
          </p:nvPr>
        </p:nvSpPr>
        <p:spPr/>
        <p:txBody>
          <a:bodyPr/>
          <a:lstStyle/>
          <a:p>
            <a:r>
              <a:rPr lang="en-US" dirty="0"/>
              <a:t>Naïve Bayes Classifier using an Example</a:t>
            </a:r>
          </a:p>
        </p:txBody>
      </p:sp>
      <p:sp>
        <p:nvSpPr>
          <p:cNvPr id="3" name="Content Placeholder 2">
            <a:extLst>
              <a:ext uri="{FF2B5EF4-FFF2-40B4-BE49-F238E27FC236}">
                <a16:creationId xmlns:a16="http://schemas.microsoft.com/office/drawing/2014/main" id="{6EE2B9FB-64CA-D4A0-E3BF-10C46A5D9AF7}"/>
              </a:ext>
            </a:extLst>
          </p:cNvPr>
          <p:cNvSpPr>
            <a:spLocks noGrp="1"/>
          </p:cNvSpPr>
          <p:nvPr>
            <p:ph idx="1"/>
          </p:nvPr>
        </p:nvSpPr>
        <p:spPr/>
        <p:txBody>
          <a:bodyPr>
            <a:normAutofit/>
          </a:bodyPr>
          <a:lstStyle/>
          <a:p>
            <a:r>
              <a:rPr lang="en-US" sz="2400" dirty="0"/>
              <a:t>The following table represents a fictional dataset that describes the weather conditions for playing some unspecified game.</a:t>
            </a:r>
          </a:p>
          <a:p>
            <a:endParaRPr lang="en-US" sz="2400" dirty="0"/>
          </a:p>
        </p:txBody>
      </p:sp>
      <p:graphicFrame>
        <p:nvGraphicFramePr>
          <p:cNvPr id="4" name="Table 3">
            <a:extLst>
              <a:ext uri="{FF2B5EF4-FFF2-40B4-BE49-F238E27FC236}">
                <a16:creationId xmlns:a16="http://schemas.microsoft.com/office/drawing/2014/main" id="{37584A94-C2DC-D67F-1D64-44D0191DF04F}"/>
              </a:ext>
            </a:extLst>
          </p:cNvPr>
          <p:cNvGraphicFramePr>
            <a:graphicFrameLocks noGrp="1"/>
          </p:cNvGraphicFramePr>
          <p:nvPr>
            <p:extLst>
              <p:ext uri="{D42A27DB-BD31-4B8C-83A1-F6EECF244321}">
                <p14:modId xmlns:p14="http://schemas.microsoft.com/office/powerpoint/2010/main" val="300698055"/>
              </p:ext>
            </p:extLst>
          </p:nvPr>
        </p:nvGraphicFramePr>
        <p:xfrm>
          <a:off x="1064260" y="2883746"/>
          <a:ext cx="5085080" cy="3009054"/>
        </p:xfrm>
        <a:graphic>
          <a:graphicData uri="http://schemas.openxmlformats.org/drawingml/2006/table">
            <a:tbl>
              <a:tblPr firstRow="1" bandRow="1">
                <a:tableStyleId>{9D7B26C5-4107-4FEC-AEDC-1716B250A1EF}</a:tableStyleId>
              </a:tblPr>
              <a:tblGrid>
                <a:gridCol w="1017016">
                  <a:extLst>
                    <a:ext uri="{9D8B030D-6E8A-4147-A177-3AD203B41FA5}">
                      <a16:colId xmlns:a16="http://schemas.microsoft.com/office/drawing/2014/main" val="4086675811"/>
                    </a:ext>
                  </a:extLst>
                </a:gridCol>
                <a:gridCol w="1017016">
                  <a:extLst>
                    <a:ext uri="{9D8B030D-6E8A-4147-A177-3AD203B41FA5}">
                      <a16:colId xmlns:a16="http://schemas.microsoft.com/office/drawing/2014/main" val="2374394787"/>
                    </a:ext>
                  </a:extLst>
                </a:gridCol>
                <a:gridCol w="1017016">
                  <a:extLst>
                    <a:ext uri="{9D8B030D-6E8A-4147-A177-3AD203B41FA5}">
                      <a16:colId xmlns:a16="http://schemas.microsoft.com/office/drawing/2014/main" val="1090452985"/>
                    </a:ext>
                  </a:extLst>
                </a:gridCol>
                <a:gridCol w="1017016">
                  <a:extLst>
                    <a:ext uri="{9D8B030D-6E8A-4147-A177-3AD203B41FA5}">
                      <a16:colId xmlns:a16="http://schemas.microsoft.com/office/drawing/2014/main" val="1957077295"/>
                    </a:ext>
                  </a:extLst>
                </a:gridCol>
                <a:gridCol w="1017016">
                  <a:extLst>
                    <a:ext uri="{9D8B030D-6E8A-4147-A177-3AD203B41FA5}">
                      <a16:colId xmlns:a16="http://schemas.microsoft.com/office/drawing/2014/main" val="2696718523"/>
                    </a:ext>
                  </a:extLst>
                </a:gridCol>
              </a:tblGrid>
              <a:tr h="370840">
                <a:tc>
                  <a:txBody>
                    <a:bodyPr/>
                    <a:lstStyle/>
                    <a:p>
                      <a:pPr algn="ctr" fontAlgn="b"/>
                      <a:r>
                        <a:rPr lang="en-US" sz="1400" b="0" u="none" strike="noStrike" dirty="0">
                          <a:solidFill>
                            <a:srgbClr val="000000"/>
                          </a:solidFill>
                          <a:effectLst/>
                          <a:latin typeface="+mn-lt"/>
                        </a:rPr>
                        <a:t>Outlook</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Temp.</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Humidity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Windy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Play</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745034027"/>
                  </a:ext>
                </a:extLst>
              </a:tr>
              <a:tr h="413174">
                <a:tc>
                  <a:txBody>
                    <a:bodyPr/>
                    <a:lstStyle/>
                    <a:p>
                      <a:pPr algn="ctr" fontAlgn="b"/>
                      <a:r>
                        <a:rPr lang="en-US" sz="1400" b="0" u="none" strike="noStrike" dirty="0">
                          <a:solidFill>
                            <a:srgbClr val="000000"/>
                          </a:solidFill>
                          <a:effectLst/>
                          <a:latin typeface="+mn-lt"/>
                        </a:rPr>
                        <a:t>sunny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hot</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high</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no</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3966197365"/>
                  </a:ext>
                </a:extLst>
              </a:tr>
              <a:tr h="370840">
                <a:tc>
                  <a:txBody>
                    <a:bodyPr/>
                    <a:lstStyle/>
                    <a:p>
                      <a:pPr algn="ctr" fontAlgn="b"/>
                      <a:r>
                        <a:rPr lang="en-US" sz="1400" b="0" u="none" strike="noStrike">
                          <a:solidFill>
                            <a:srgbClr val="000000"/>
                          </a:solidFill>
                          <a:effectLst/>
                          <a:latin typeface="+mn-lt"/>
                        </a:rPr>
                        <a:t>sunny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hot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453166382"/>
                  </a:ext>
                </a:extLst>
              </a:tr>
              <a:tr h="370840">
                <a:tc>
                  <a:txBody>
                    <a:bodyPr/>
                    <a:lstStyle/>
                    <a:p>
                      <a:pPr algn="ctr" fontAlgn="b"/>
                      <a:r>
                        <a:rPr lang="en-US" sz="1400" b="0" u="none" strike="noStrike" dirty="0">
                          <a:solidFill>
                            <a:srgbClr val="000000"/>
                          </a:solidFill>
                          <a:effectLst/>
                          <a:latin typeface="+mn-lt"/>
                        </a:rPr>
                        <a:t>overcast</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hot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2673874381"/>
                  </a:ext>
                </a:extLst>
              </a:tr>
              <a:tr h="370840">
                <a:tc>
                  <a:txBody>
                    <a:bodyPr/>
                    <a:lstStyle/>
                    <a:p>
                      <a:pPr algn="ctr" fontAlgn="b"/>
                      <a:r>
                        <a:rPr lang="en-US" sz="1400" b="0" u="none" strike="noStrike">
                          <a:solidFill>
                            <a:srgbClr val="000000"/>
                          </a:solidFill>
                          <a:effectLst/>
                          <a:latin typeface="+mn-l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mild</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1722069243"/>
                  </a:ext>
                </a:extLst>
              </a:tr>
              <a:tr h="370840">
                <a:tc>
                  <a:txBody>
                    <a:bodyPr/>
                    <a:lstStyle/>
                    <a:p>
                      <a:pPr algn="ctr" fontAlgn="b"/>
                      <a:r>
                        <a:rPr lang="en-US" sz="1400" b="0" u="none" strike="noStrike">
                          <a:solidFill>
                            <a:srgbClr val="000000"/>
                          </a:solidFill>
                          <a:effectLst/>
                          <a:latin typeface="+mn-l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4537559"/>
                  </a:ext>
                </a:extLst>
              </a:tr>
              <a:tr h="370840">
                <a:tc>
                  <a:txBody>
                    <a:bodyPr/>
                    <a:lstStyle/>
                    <a:p>
                      <a:pPr algn="ctr" fontAlgn="b"/>
                      <a:r>
                        <a:rPr lang="en-US" sz="1400" b="0" u="none" strike="noStrike">
                          <a:solidFill>
                            <a:srgbClr val="000000"/>
                          </a:solidFill>
                          <a:effectLst/>
                          <a:latin typeface="+mn-l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504356660"/>
                  </a:ext>
                </a:extLst>
              </a:tr>
              <a:tr h="370840">
                <a:tc>
                  <a:txBody>
                    <a:bodyPr/>
                    <a:lstStyle/>
                    <a:p>
                      <a:pPr algn="ctr" fontAlgn="b"/>
                      <a:r>
                        <a:rPr lang="en-US" sz="1400" b="0" u="none" strike="noStrike">
                          <a:solidFill>
                            <a:srgbClr val="000000"/>
                          </a:solidFill>
                          <a:effectLst/>
                          <a:latin typeface="+mn-lt"/>
                        </a:rPr>
                        <a:t>overcast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latin typeface="+mn-l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dirty="0">
                          <a:solidFill>
                            <a:srgbClr val="000000"/>
                          </a:solidFill>
                          <a:effectLst/>
                          <a:latin typeface="+mn-lt"/>
                        </a:rPr>
                        <a:t>yes</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3153778562"/>
                  </a:ext>
                </a:extLst>
              </a:tr>
            </a:tbl>
          </a:graphicData>
        </a:graphic>
      </p:graphicFrame>
      <p:graphicFrame>
        <p:nvGraphicFramePr>
          <p:cNvPr id="6" name="Table 5">
            <a:extLst>
              <a:ext uri="{FF2B5EF4-FFF2-40B4-BE49-F238E27FC236}">
                <a16:creationId xmlns:a16="http://schemas.microsoft.com/office/drawing/2014/main" id="{48D87C24-218C-C470-FE27-60FDDA79D5BE}"/>
              </a:ext>
            </a:extLst>
          </p:cNvPr>
          <p:cNvGraphicFramePr>
            <a:graphicFrameLocks noGrp="1"/>
          </p:cNvGraphicFramePr>
          <p:nvPr>
            <p:extLst>
              <p:ext uri="{D42A27DB-BD31-4B8C-83A1-F6EECF244321}">
                <p14:modId xmlns:p14="http://schemas.microsoft.com/office/powerpoint/2010/main" val="2106971378"/>
              </p:ext>
            </p:extLst>
          </p:nvPr>
        </p:nvGraphicFramePr>
        <p:xfrm>
          <a:off x="6268720" y="2883746"/>
          <a:ext cx="5085080" cy="3009054"/>
        </p:xfrm>
        <a:graphic>
          <a:graphicData uri="http://schemas.openxmlformats.org/drawingml/2006/table">
            <a:tbl>
              <a:tblPr firstRow="1" bandRow="1">
                <a:tableStyleId>{9D7B26C5-4107-4FEC-AEDC-1716B250A1EF}</a:tableStyleId>
              </a:tblPr>
              <a:tblGrid>
                <a:gridCol w="1017016">
                  <a:extLst>
                    <a:ext uri="{9D8B030D-6E8A-4147-A177-3AD203B41FA5}">
                      <a16:colId xmlns:a16="http://schemas.microsoft.com/office/drawing/2014/main" val="4086675811"/>
                    </a:ext>
                  </a:extLst>
                </a:gridCol>
                <a:gridCol w="1017016">
                  <a:extLst>
                    <a:ext uri="{9D8B030D-6E8A-4147-A177-3AD203B41FA5}">
                      <a16:colId xmlns:a16="http://schemas.microsoft.com/office/drawing/2014/main" val="2374394787"/>
                    </a:ext>
                  </a:extLst>
                </a:gridCol>
                <a:gridCol w="1017016">
                  <a:extLst>
                    <a:ext uri="{9D8B030D-6E8A-4147-A177-3AD203B41FA5}">
                      <a16:colId xmlns:a16="http://schemas.microsoft.com/office/drawing/2014/main" val="1090452985"/>
                    </a:ext>
                  </a:extLst>
                </a:gridCol>
                <a:gridCol w="1017016">
                  <a:extLst>
                    <a:ext uri="{9D8B030D-6E8A-4147-A177-3AD203B41FA5}">
                      <a16:colId xmlns:a16="http://schemas.microsoft.com/office/drawing/2014/main" val="1957077295"/>
                    </a:ext>
                  </a:extLst>
                </a:gridCol>
                <a:gridCol w="1017016">
                  <a:extLst>
                    <a:ext uri="{9D8B030D-6E8A-4147-A177-3AD203B41FA5}">
                      <a16:colId xmlns:a16="http://schemas.microsoft.com/office/drawing/2014/main" val="2696718523"/>
                    </a:ext>
                  </a:extLst>
                </a:gridCol>
              </a:tblGrid>
              <a:tr h="370840">
                <a:tc>
                  <a:txBody>
                    <a:bodyPr/>
                    <a:lstStyle/>
                    <a:p>
                      <a:pPr algn="ctr" fontAlgn="b"/>
                      <a:r>
                        <a:rPr lang="en-US" sz="1400" b="0" u="none" strike="noStrike" dirty="0">
                          <a:solidFill>
                            <a:srgbClr val="000000"/>
                          </a:solidFill>
                          <a:effectLst/>
                        </a:rPr>
                        <a:t>Outlook</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Temp.</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Humidity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Windy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Play</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745034027"/>
                  </a:ext>
                </a:extLst>
              </a:tr>
              <a:tr h="413174">
                <a:tc>
                  <a:txBody>
                    <a:bodyPr/>
                    <a:lstStyle/>
                    <a:p>
                      <a:pPr algn="ctr" fontAlgn="b"/>
                      <a:r>
                        <a:rPr lang="en-US" sz="1400" b="0" u="none" strike="noStrike" dirty="0">
                          <a:solidFill>
                            <a:srgbClr val="000000"/>
                          </a:solidFill>
                          <a:effectLst/>
                        </a:rPr>
                        <a:t>sunny</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hot</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no</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3966197365"/>
                  </a:ext>
                </a:extLst>
              </a:tr>
              <a:tr h="370840">
                <a:tc>
                  <a:txBody>
                    <a:bodyPr/>
                    <a:lstStyle/>
                    <a:p>
                      <a:pPr algn="ctr" fontAlgn="b"/>
                      <a:r>
                        <a:rPr lang="en-US" sz="1400" b="0" u="none" strike="noStrike">
                          <a:solidFill>
                            <a:srgbClr val="000000"/>
                          </a:solidFill>
                          <a:effectLst/>
                        </a:rPr>
                        <a:t>sunny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hot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a:solidFill>
                            <a:srgbClr val="000000"/>
                          </a:solidFill>
                          <a:effectLst/>
                        </a:rPr>
                        <a:t>no</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453166382"/>
                  </a:ext>
                </a:extLst>
              </a:tr>
              <a:tr h="370840">
                <a:tc>
                  <a:txBody>
                    <a:bodyPr/>
                    <a:lstStyle/>
                    <a:p>
                      <a:pPr algn="ctr" fontAlgn="b"/>
                      <a:r>
                        <a:rPr lang="en-US" sz="1400" b="0" u="none" strike="noStrike" dirty="0">
                          <a:solidFill>
                            <a:srgbClr val="000000"/>
                          </a:solidFill>
                          <a:effectLst/>
                        </a:rPr>
                        <a:t>overcast</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hot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2673874381"/>
                  </a:ext>
                </a:extLst>
              </a:tr>
              <a:tr h="370840">
                <a:tc>
                  <a:txBody>
                    <a:bodyPr/>
                    <a:lstStyle/>
                    <a:p>
                      <a:pPr algn="ctr" fontAlgn="b"/>
                      <a:r>
                        <a:rPr lang="en-US" sz="1400" b="0" u="none" strike="noStrike">
                          <a:solidFill>
                            <a:srgbClr val="000000"/>
                          </a:solidFill>
                          <a:effectLs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mild</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high</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1722069243"/>
                  </a:ext>
                </a:extLst>
              </a:tr>
              <a:tr h="370840">
                <a:tc>
                  <a:txBody>
                    <a:bodyPr/>
                    <a:lstStyle/>
                    <a:p>
                      <a:pPr algn="ctr" fontAlgn="b"/>
                      <a:r>
                        <a:rPr lang="en-US" sz="1400" b="0" u="none" strike="noStrike">
                          <a:solidFill>
                            <a:srgbClr val="000000"/>
                          </a:solidFill>
                          <a:effectLs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dirty="0">
                          <a:solidFill>
                            <a:srgbClr val="000000"/>
                          </a:solidFill>
                          <a:effectLst/>
                        </a:rPr>
                        <a:t>False</a:t>
                      </a:r>
                      <a:endParaRPr lang="en-US" sz="1400" b="0" i="0" u="none" strike="noStrike" dirty="0">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yes</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4537559"/>
                  </a:ext>
                </a:extLst>
              </a:tr>
              <a:tr h="370840">
                <a:tc>
                  <a:txBody>
                    <a:bodyPr/>
                    <a:lstStyle/>
                    <a:p>
                      <a:pPr algn="ctr" fontAlgn="b"/>
                      <a:r>
                        <a:rPr lang="en-US" sz="1400" b="0" u="none" strike="noStrike">
                          <a:solidFill>
                            <a:srgbClr val="000000"/>
                          </a:solidFill>
                          <a:effectLst/>
                        </a:rPr>
                        <a:t>rainy</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a:solidFill>
                            <a:srgbClr val="000000"/>
                          </a:solidFill>
                          <a:effectLst/>
                        </a:rPr>
                        <a:t>no</a:t>
                      </a:r>
                      <a:endParaRPr lang="en-US" sz="1400" b="0" i="0" u="none" strike="noStrike">
                        <a:solidFill>
                          <a:srgbClr val="000000"/>
                        </a:solidFill>
                        <a:effectLst/>
                        <a:latin typeface="+mn-lt"/>
                      </a:endParaRPr>
                    </a:p>
                  </a:txBody>
                  <a:tcPr marL="7620" marR="7620" marT="7620" marB="0" anchor="ctr"/>
                </a:tc>
                <a:extLst>
                  <a:ext uri="{0D108BD9-81ED-4DB2-BD59-A6C34878D82A}">
                    <a16:rowId xmlns:a16="http://schemas.microsoft.com/office/drawing/2014/main" val="504356660"/>
                  </a:ext>
                </a:extLst>
              </a:tr>
              <a:tr h="370840">
                <a:tc>
                  <a:txBody>
                    <a:bodyPr/>
                    <a:lstStyle/>
                    <a:p>
                      <a:pPr algn="ctr" fontAlgn="b"/>
                      <a:r>
                        <a:rPr lang="en-US" sz="1400" b="0" u="none" strike="noStrike">
                          <a:solidFill>
                            <a:srgbClr val="000000"/>
                          </a:solidFill>
                          <a:effectLst/>
                        </a:rPr>
                        <a:t>overcast</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cool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u="none" strike="noStrike">
                          <a:solidFill>
                            <a:srgbClr val="000000"/>
                          </a:solidFill>
                          <a:effectLst/>
                        </a:rPr>
                        <a:t>normal</a:t>
                      </a:r>
                      <a:endParaRPr lang="en-US" sz="1400" b="0" i="0" u="none" strike="noStrike">
                        <a:solidFill>
                          <a:srgbClr val="000000"/>
                        </a:solidFill>
                        <a:effectLst/>
                        <a:latin typeface="+mn-lt"/>
                      </a:endParaRPr>
                    </a:p>
                  </a:txBody>
                  <a:tcPr marL="7620" marR="7620" marT="7620" marB="0" anchor="ctr"/>
                </a:tc>
                <a:tc>
                  <a:txBody>
                    <a:bodyPr/>
                    <a:lstStyle/>
                    <a:p>
                      <a:pPr algn="ctr" fontAlgn="b"/>
                      <a:r>
                        <a:rPr lang="en-US" sz="1400" b="0" i="0" u="none" strike="noStrike" dirty="0">
                          <a:solidFill>
                            <a:srgbClr val="000000"/>
                          </a:solidFill>
                          <a:effectLst/>
                          <a:latin typeface="+mn-lt"/>
                        </a:rPr>
                        <a:t>True</a:t>
                      </a:r>
                    </a:p>
                  </a:txBody>
                  <a:tcPr marL="7620" marR="7620" marT="7620" marB="0" anchor="ctr"/>
                </a:tc>
                <a:tc>
                  <a:txBody>
                    <a:bodyPr/>
                    <a:lstStyle/>
                    <a:p>
                      <a:pPr algn="ctr" fontAlgn="b"/>
                      <a:r>
                        <a:rPr lang="en-US" sz="1400" b="0" u="none" strike="noStrike" dirty="0">
                          <a:solidFill>
                            <a:srgbClr val="000000"/>
                          </a:solidFill>
                          <a:effectLst/>
                        </a:rPr>
                        <a:t>yes</a:t>
                      </a:r>
                      <a:endParaRPr lang="en-US" sz="1400" b="0"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3153778562"/>
                  </a:ext>
                </a:extLst>
              </a:tr>
            </a:tbl>
          </a:graphicData>
        </a:graphic>
      </p:graphicFrame>
    </p:spTree>
    <p:extLst>
      <p:ext uri="{BB962C8B-B14F-4D97-AF65-F5344CB8AC3E}">
        <p14:creationId xmlns:p14="http://schemas.microsoft.com/office/powerpoint/2010/main" val="416632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4EAC2-E416-32A4-A577-A7BFADAD39F2}"/>
              </a:ext>
            </a:extLst>
          </p:cNvPr>
          <p:cNvSpPr>
            <a:spLocks noGrp="1"/>
          </p:cNvSpPr>
          <p:nvPr>
            <p:ph type="title"/>
          </p:nvPr>
        </p:nvSpPr>
        <p:spPr/>
        <p:txBody>
          <a:bodyPr/>
          <a:lstStyle/>
          <a:p>
            <a:r>
              <a:rPr lang="en-US" dirty="0"/>
              <a:t>Frequencies and Probabilities</a:t>
            </a:r>
          </a:p>
        </p:txBody>
      </p:sp>
      <p:sp>
        <p:nvSpPr>
          <p:cNvPr id="3" name="Content Placeholder 2">
            <a:extLst>
              <a:ext uri="{FF2B5EF4-FFF2-40B4-BE49-F238E27FC236}">
                <a16:creationId xmlns:a16="http://schemas.microsoft.com/office/drawing/2014/main" id="{C671C1FF-88EA-F778-E0EB-AD5D2A6EA635}"/>
              </a:ext>
            </a:extLst>
          </p:cNvPr>
          <p:cNvSpPr>
            <a:spLocks noGrp="1"/>
          </p:cNvSpPr>
          <p:nvPr>
            <p:ph idx="1"/>
          </p:nvPr>
        </p:nvSpPr>
        <p:spPr/>
        <p:txBody>
          <a:bodyPr>
            <a:normAutofit/>
          </a:bodyPr>
          <a:lstStyle/>
          <a:p>
            <a:r>
              <a:rPr lang="en-GB" sz="1800" dirty="0"/>
              <a:t>Frequencies and probabilities for the weather data:</a:t>
            </a:r>
          </a:p>
          <a:p>
            <a:endParaRPr lang="en-GB" sz="1800" dirty="0"/>
          </a:p>
          <a:p>
            <a:endParaRPr lang="en-GB" sz="1800" dirty="0"/>
          </a:p>
          <a:p>
            <a:endParaRPr lang="en-GB" sz="1800" dirty="0"/>
          </a:p>
          <a:p>
            <a:pPr marL="0" indent="0">
              <a:buNone/>
            </a:pPr>
            <a:endParaRPr lang="en-US" sz="1800" dirty="0"/>
          </a:p>
        </p:txBody>
      </p:sp>
      <p:graphicFrame>
        <p:nvGraphicFramePr>
          <p:cNvPr id="5" name="Table 4">
            <a:extLst>
              <a:ext uri="{FF2B5EF4-FFF2-40B4-BE49-F238E27FC236}">
                <a16:creationId xmlns:a16="http://schemas.microsoft.com/office/drawing/2014/main" id="{10957420-5D66-5347-4916-DD6BEAECA29E}"/>
              </a:ext>
            </a:extLst>
          </p:cNvPr>
          <p:cNvGraphicFramePr>
            <a:graphicFrameLocks noGrp="1"/>
          </p:cNvGraphicFramePr>
          <p:nvPr>
            <p:extLst>
              <p:ext uri="{D42A27DB-BD31-4B8C-83A1-F6EECF244321}">
                <p14:modId xmlns:p14="http://schemas.microsoft.com/office/powerpoint/2010/main" val="3083253865"/>
              </p:ext>
            </p:extLst>
          </p:nvPr>
        </p:nvGraphicFramePr>
        <p:xfrm>
          <a:off x="1148079" y="2300764"/>
          <a:ext cx="9895842" cy="3401060"/>
        </p:xfrm>
        <a:graphic>
          <a:graphicData uri="http://schemas.openxmlformats.org/drawingml/2006/table">
            <a:tbl>
              <a:tblPr firstRow="1" bandRow="1">
                <a:tableStyleId>{9D7B26C5-4107-4FEC-AEDC-1716B250A1EF}</a:tableStyleId>
              </a:tblPr>
              <a:tblGrid>
                <a:gridCol w="838202">
                  <a:extLst>
                    <a:ext uri="{9D8B030D-6E8A-4147-A177-3AD203B41FA5}">
                      <a16:colId xmlns:a16="http://schemas.microsoft.com/office/drawing/2014/main" val="3167324652"/>
                    </a:ext>
                  </a:extLst>
                </a:gridCol>
                <a:gridCol w="558800">
                  <a:extLst>
                    <a:ext uri="{9D8B030D-6E8A-4147-A177-3AD203B41FA5}">
                      <a16:colId xmlns:a16="http://schemas.microsoft.com/office/drawing/2014/main" val="420826335"/>
                    </a:ext>
                  </a:extLst>
                </a:gridCol>
                <a:gridCol w="558800">
                  <a:extLst>
                    <a:ext uri="{9D8B030D-6E8A-4147-A177-3AD203B41FA5}">
                      <a16:colId xmlns:a16="http://schemas.microsoft.com/office/drawing/2014/main" val="3628073430"/>
                    </a:ext>
                  </a:extLst>
                </a:gridCol>
                <a:gridCol w="243274">
                  <a:extLst>
                    <a:ext uri="{9D8B030D-6E8A-4147-A177-3AD203B41FA5}">
                      <a16:colId xmlns:a16="http://schemas.microsoft.com/office/drawing/2014/main" val="2321261061"/>
                    </a:ext>
                  </a:extLst>
                </a:gridCol>
                <a:gridCol w="686365">
                  <a:extLst>
                    <a:ext uri="{9D8B030D-6E8A-4147-A177-3AD203B41FA5}">
                      <a16:colId xmlns:a16="http://schemas.microsoft.com/office/drawing/2014/main" val="3446983107"/>
                    </a:ext>
                  </a:extLst>
                </a:gridCol>
                <a:gridCol w="619760">
                  <a:extLst>
                    <a:ext uri="{9D8B030D-6E8A-4147-A177-3AD203B41FA5}">
                      <a16:colId xmlns:a16="http://schemas.microsoft.com/office/drawing/2014/main" val="1846046220"/>
                    </a:ext>
                  </a:extLst>
                </a:gridCol>
                <a:gridCol w="619760">
                  <a:extLst>
                    <a:ext uri="{9D8B030D-6E8A-4147-A177-3AD203B41FA5}">
                      <a16:colId xmlns:a16="http://schemas.microsoft.com/office/drawing/2014/main" val="2059377845"/>
                    </a:ext>
                  </a:extLst>
                </a:gridCol>
                <a:gridCol w="233680">
                  <a:extLst>
                    <a:ext uri="{9D8B030D-6E8A-4147-A177-3AD203B41FA5}">
                      <a16:colId xmlns:a16="http://schemas.microsoft.com/office/drawing/2014/main" val="4232180060"/>
                    </a:ext>
                  </a:extLst>
                </a:gridCol>
                <a:gridCol w="741680">
                  <a:extLst>
                    <a:ext uri="{9D8B030D-6E8A-4147-A177-3AD203B41FA5}">
                      <a16:colId xmlns:a16="http://schemas.microsoft.com/office/drawing/2014/main" val="2416206153"/>
                    </a:ext>
                  </a:extLst>
                </a:gridCol>
                <a:gridCol w="619760">
                  <a:extLst>
                    <a:ext uri="{9D8B030D-6E8A-4147-A177-3AD203B41FA5}">
                      <a16:colId xmlns:a16="http://schemas.microsoft.com/office/drawing/2014/main" val="1074507695"/>
                    </a:ext>
                  </a:extLst>
                </a:gridCol>
                <a:gridCol w="619760">
                  <a:extLst>
                    <a:ext uri="{9D8B030D-6E8A-4147-A177-3AD203B41FA5}">
                      <a16:colId xmlns:a16="http://schemas.microsoft.com/office/drawing/2014/main" val="3758881331"/>
                    </a:ext>
                  </a:extLst>
                </a:gridCol>
                <a:gridCol w="257387">
                  <a:extLst>
                    <a:ext uri="{9D8B030D-6E8A-4147-A177-3AD203B41FA5}">
                      <a16:colId xmlns:a16="http://schemas.microsoft.com/office/drawing/2014/main" val="1582896285"/>
                    </a:ext>
                  </a:extLst>
                </a:gridCol>
                <a:gridCol w="677333">
                  <a:extLst>
                    <a:ext uri="{9D8B030D-6E8A-4147-A177-3AD203B41FA5}">
                      <a16:colId xmlns:a16="http://schemas.microsoft.com/office/drawing/2014/main" val="3406425676"/>
                    </a:ext>
                  </a:extLst>
                </a:gridCol>
                <a:gridCol w="604520">
                  <a:extLst>
                    <a:ext uri="{9D8B030D-6E8A-4147-A177-3AD203B41FA5}">
                      <a16:colId xmlns:a16="http://schemas.microsoft.com/office/drawing/2014/main" val="2721861289"/>
                    </a:ext>
                  </a:extLst>
                </a:gridCol>
                <a:gridCol w="604520">
                  <a:extLst>
                    <a:ext uri="{9D8B030D-6E8A-4147-A177-3AD203B41FA5}">
                      <a16:colId xmlns:a16="http://schemas.microsoft.com/office/drawing/2014/main" val="2344157430"/>
                    </a:ext>
                  </a:extLst>
                </a:gridCol>
                <a:gridCol w="312703">
                  <a:extLst>
                    <a:ext uri="{9D8B030D-6E8A-4147-A177-3AD203B41FA5}">
                      <a16:colId xmlns:a16="http://schemas.microsoft.com/office/drawing/2014/main" val="2152440442"/>
                    </a:ext>
                  </a:extLst>
                </a:gridCol>
                <a:gridCol w="549769">
                  <a:extLst>
                    <a:ext uri="{9D8B030D-6E8A-4147-A177-3AD203B41FA5}">
                      <a16:colId xmlns:a16="http://schemas.microsoft.com/office/drawing/2014/main" val="3300339595"/>
                    </a:ext>
                  </a:extLst>
                </a:gridCol>
                <a:gridCol w="549769">
                  <a:extLst>
                    <a:ext uri="{9D8B030D-6E8A-4147-A177-3AD203B41FA5}">
                      <a16:colId xmlns:a16="http://schemas.microsoft.com/office/drawing/2014/main" val="1459382059"/>
                    </a:ext>
                  </a:extLst>
                </a:gridCol>
              </a:tblGrid>
              <a:tr h="370840">
                <a:tc gridSpan="3">
                  <a:txBody>
                    <a:bodyPr/>
                    <a:lstStyle/>
                    <a:p>
                      <a:pPr algn="ctr" fontAlgn="b"/>
                      <a:r>
                        <a:rPr lang="en-US" sz="1400" b="0" u="none" strike="noStrike" dirty="0">
                          <a:solidFill>
                            <a:srgbClr val="000000"/>
                          </a:solidFill>
                          <a:effectLst/>
                          <a:latin typeface="+mn-lt"/>
                        </a:rPr>
                        <a:t>Outlook</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a:p>
                  </a:txBody>
                  <a:tcPr marL="7620" marR="7620" marT="7620" marB="0" anchor="ct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gridSpan="3">
                  <a:txBody>
                    <a:bodyPr/>
                    <a:lstStyle/>
                    <a:p>
                      <a:pPr algn="ctr" fontAlgn="b"/>
                      <a:r>
                        <a:rPr lang="en-US" sz="1400" b="0" u="none" strike="noStrike" dirty="0">
                          <a:solidFill>
                            <a:srgbClr val="000000"/>
                          </a:solidFill>
                          <a:effectLst/>
                          <a:latin typeface="+mn-lt"/>
                        </a:rPr>
                        <a:t>Temperature</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gridSpan="3">
                  <a:txBody>
                    <a:bodyPr/>
                    <a:lstStyle/>
                    <a:p>
                      <a:pPr algn="ctr" fontAlgn="b"/>
                      <a:r>
                        <a:rPr lang="en-US" sz="1400" b="0" u="none" strike="noStrike" dirty="0">
                          <a:solidFill>
                            <a:srgbClr val="000000"/>
                          </a:solidFill>
                          <a:effectLst/>
                          <a:latin typeface="+mn-lt"/>
                        </a:rPr>
                        <a:t>Humidity</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gridSpan="3">
                  <a:txBody>
                    <a:bodyPr/>
                    <a:lstStyle/>
                    <a:p>
                      <a:pPr algn="ctr" fontAlgn="b"/>
                      <a:r>
                        <a:rPr lang="en-US" sz="1400" b="0" u="none" strike="noStrike" dirty="0">
                          <a:solidFill>
                            <a:srgbClr val="000000"/>
                          </a:solidFill>
                          <a:effectLst/>
                          <a:latin typeface="+mn-lt"/>
                        </a:rPr>
                        <a:t>Windy</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a:p>
                  </a:txBody>
                  <a:tcPr marL="7620" marR="7620" marT="7620" marB="0" anchor="ctr"/>
                </a:tc>
                <a:tc hMerge="1">
                  <a:txBody>
                    <a:bodyPr/>
                    <a:lstStyle/>
                    <a:p>
                      <a:pPr algn="ctr" fontAlgn="b"/>
                      <a:endParaRPr lang="en-US" sz="11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gridSpan="2">
                  <a:txBody>
                    <a:bodyPr/>
                    <a:lstStyle/>
                    <a:p>
                      <a:pPr algn="ctr" fontAlgn="b"/>
                      <a:r>
                        <a:rPr lang="en-US" sz="1400" b="0" u="none" strike="noStrike" dirty="0">
                          <a:solidFill>
                            <a:srgbClr val="000000"/>
                          </a:solidFill>
                          <a:effectLst/>
                          <a:latin typeface="+mn-lt"/>
                        </a:rPr>
                        <a:t>Play</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w="12700" cmpd="sng">
                      <a:noFill/>
                    </a:lnB>
                    <a:lnTlToBr w="12700" cmpd="sng">
                      <a:noFill/>
                      <a:prstDash val="solid"/>
                    </a:lnTlToBr>
                    <a:lnBlToTr w="12700" cmpd="sng">
                      <a:noFill/>
                      <a:prstDash val="solid"/>
                    </a:lnBlToTr>
                  </a:tcPr>
                </a:tc>
                <a:tc hMerge="1">
                  <a:txBody>
                    <a:bodyPr/>
                    <a:lstStyle/>
                    <a:p>
                      <a:endParaRPr dirty="0"/>
                    </a:p>
                  </a:txBody>
                  <a:tcPr marL="7620" marR="7620" marT="7620" marB="0" anchor="ctr"/>
                </a:tc>
                <a:extLst>
                  <a:ext uri="{0D108BD9-81ED-4DB2-BD59-A6C34878D82A}">
                    <a16:rowId xmlns:a16="http://schemas.microsoft.com/office/drawing/2014/main" val="1973437461"/>
                  </a:ext>
                </a:extLst>
              </a:tr>
              <a:tr h="370840">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yes</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no</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yes</a:t>
                      </a:r>
                      <a:endParaRPr lang="en-US" sz="1400" b="0" i="0" u="none" strike="noStrike" dirty="0">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36038057"/>
                  </a:ext>
                </a:extLst>
              </a:tr>
              <a:tr h="370840">
                <a:tc>
                  <a:txBody>
                    <a:bodyPr/>
                    <a:lstStyle/>
                    <a:p>
                      <a:pPr algn="ctr" fontAlgn="b"/>
                      <a:r>
                        <a:rPr lang="en-US" sz="1400" b="0" u="none" strike="noStrike" dirty="0">
                          <a:solidFill>
                            <a:srgbClr val="000000"/>
                          </a:solidFill>
                          <a:effectLst/>
                          <a:latin typeface="+mn-lt"/>
                        </a:rPr>
                        <a:t>sunny</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hot</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high</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4</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6</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79911566"/>
                  </a:ext>
                </a:extLst>
              </a:tr>
              <a:tr h="370840">
                <a:tc>
                  <a:txBody>
                    <a:bodyPr/>
                    <a:lstStyle/>
                    <a:p>
                      <a:pPr algn="ctr" fontAlgn="b"/>
                      <a:r>
                        <a:rPr lang="en-US" sz="1400" b="0" u="none" strike="noStrike">
                          <a:solidFill>
                            <a:srgbClr val="000000"/>
                          </a:solidFill>
                          <a:effectLst/>
                          <a:latin typeface="+mn-lt"/>
                        </a:rPr>
                        <a:t>overcast</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4</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0</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mild</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4</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2</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normal</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6</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1</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i="0" u="none" strike="noStrike" dirty="0">
                          <a:solidFill>
                            <a:srgbClr val="000000"/>
                          </a:solidFill>
                          <a:effectLst/>
                          <a:latin typeface="+mn-lt"/>
                        </a:rPr>
                        <a:t>True</a:t>
                      </a: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3</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05958092"/>
                  </a:ext>
                </a:extLst>
              </a:tr>
              <a:tr h="370840">
                <a:tc>
                  <a:txBody>
                    <a:bodyPr/>
                    <a:lstStyle/>
                    <a:p>
                      <a:pPr algn="ctr" fontAlgn="b"/>
                      <a:r>
                        <a:rPr lang="en-US" sz="1400" b="0" u="none" strike="noStrike" dirty="0">
                          <a:solidFill>
                            <a:srgbClr val="000000"/>
                          </a:solidFill>
                          <a:effectLst/>
                          <a:latin typeface="+mn-lt"/>
                        </a:rPr>
                        <a:t>rainy</a:t>
                      </a:r>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a:t>
                      </a:r>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a:t>
                      </a:r>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cool</a:t>
                      </a:r>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a:t>
                      </a:r>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1</a:t>
                      </a:r>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1583915"/>
                  </a:ext>
                </a:extLst>
              </a:tr>
              <a:tr h="370840">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yes</a:t>
                      </a:r>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No</a:t>
                      </a:r>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yes</a:t>
                      </a:r>
                      <a:endParaRPr lang="en-US" sz="1400" b="0" i="0" u="none" strike="noStrike">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no</a:t>
                      </a:r>
                      <a:endParaRPr lang="en-US" sz="1400" b="0" i="0" u="none" strike="noStrike" dirty="0">
                        <a:solidFill>
                          <a:srgbClr val="000000"/>
                        </a:solidFill>
                        <a:effectLst/>
                        <a:latin typeface="+mn-lt"/>
                      </a:endParaRPr>
                    </a:p>
                  </a:txBody>
                  <a:tcPr marL="7620" marR="7620" marT="7620" marB="0" anchor="ctr">
                    <a:lnL>
                      <a:noFill/>
                    </a:lnL>
                    <a:lnR>
                      <a:noFill/>
                    </a:lnR>
                    <a:lnT w="1905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423127731"/>
                  </a:ext>
                </a:extLst>
              </a:tr>
              <a:tr h="370840">
                <a:tc>
                  <a:txBody>
                    <a:bodyPr/>
                    <a:lstStyle/>
                    <a:p>
                      <a:pPr algn="ctr" fontAlgn="b"/>
                      <a:r>
                        <a:rPr lang="en-US" sz="1400" b="0" u="none" strike="noStrike">
                          <a:solidFill>
                            <a:srgbClr val="000000"/>
                          </a:solidFill>
                          <a:effectLst/>
                          <a:latin typeface="+mn-lt"/>
                        </a:rPr>
                        <a:t>sunny</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hot</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high</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4/5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False</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6/9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9/14</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5/14</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001073406"/>
                  </a:ext>
                </a:extLst>
              </a:tr>
              <a:tr h="370840">
                <a:tc>
                  <a:txBody>
                    <a:bodyPr/>
                    <a:lstStyle/>
                    <a:p>
                      <a:pPr algn="ctr" fontAlgn="b"/>
                      <a:r>
                        <a:rPr lang="en-US" sz="1400" b="0" u="none" strike="noStrike">
                          <a:solidFill>
                            <a:srgbClr val="000000"/>
                          </a:solidFill>
                          <a:effectLst/>
                          <a:latin typeface="+mn-lt"/>
                        </a:rPr>
                        <a:t>overcast</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4/0</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0/5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mild</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4/9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a:solidFill>
                            <a:srgbClr val="000000"/>
                          </a:solidFill>
                          <a:effectLst/>
                          <a:latin typeface="+mn-lt"/>
                        </a:rPr>
                        <a:t>normal</a:t>
                      </a:r>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6/9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1/5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i="0" u="none" strike="noStrike" dirty="0">
                          <a:solidFill>
                            <a:srgbClr val="000000"/>
                          </a:solidFill>
                          <a:effectLst/>
                          <a:latin typeface="+mn-lt"/>
                        </a:rPr>
                        <a:t>True</a:t>
                      </a: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3/9</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3/5</a:t>
                      </a:r>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84028004"/>
                  </a:ext>
                </a:extLst>
              </a:tr>
              <a:tr h="370840">
                <a:tc>
                  <a:txBody>
                    <a:bodyPr/>
                    <a:lstStyle/>
                    <a:p>
                      <a:pPr algn="ctr" fontAlgn="b"/>
                      <a:r>
                        <a:rPr lang="en-US" sz="1400" b="0" u="none" strike="noStrike" dirty="0">
                          <a:solidFill>
                            <a:srgbClr val="000000"/>
                          </a:solidFill>
                          <a:effectLst/>
                          <a:latin typeface="+mn-lt"/>
                        </a:rPr>
                        <a:t>rainy</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3/9</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2/5</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cool</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3/9</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r>
                        <a:rPr lang="en-US" sz="1400" b="0" u="none" strike="noStrike" dirty="0">
                          <a:solidFill>
                            <a:srgbClr val="000000"/>
                          </a:solidFill>
                          <a:effectLst/>
                          <a:latin typeface="+mn-lt"/>
                        </a:rPr>
                        <a:t>1/5</a:t>
                      </a:r>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tc>
                  <a:txBody>
                    <a:bodyPr/>
                    <a:lstStyle/>
                    <a:p>
                      <a:pPr algn="ctr" fontAlgn="b"/>
                      <a:endParaRPr lang="en-US" sz="1400" b="0" i="0" u="none" strike="noStrike" dirty="0">
                        <a:solidFill>
                          <a:srgbClr val="000000"/>
                        </a:solidFill>
                        <a:effectLst/>
                        <a:latin typeface="+mn-lt"/>
                      </a:endParaRPr>
                    </a:p>
                  </a:txBody>
                  <a:tcPr marL="7620" marR="7620" marT="7620" marB="0" anchor="ct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93896526"/>
                  </a:ext>
                </a:extLst>
              </a:tr>
            </a:tbl>
          </a:graphicData>
        </a:graphic>
      </p:graphicFrame>
    </p:spTree>
    <p:extLst>
      <p:ext uri="{BB962C8B-B14F-4D97-AF65-F5344CB8AC3E}">
        <p14:creationId xmlns:p14="http://schemas.microsoft.com/office/powerpoint/2010/main" val="3022585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C68E-1C13-E135-1D4F-0CDE9C925E11}"/>
              </a:ext>
            </a:extLst>
          </p:cNvPr>
          <p:cNvSpPr>
            <a:spLocks noGrp="1"/>
          </p:cNvSpPr>
          <p:nvPr>
            <p:ph type="title"/>
          </p:nvPr>
        </p:nvSpPr>
        <p:spPr/>
        <p:txBody>
          <a:bodyPr/>
          <a:lstStyle/>
          <a:p>
            <a:r>
              <a:rPr lang="en-US" dirty="0"/>
              <a:t>Classifying an Unseen Example</a:t>
            </a:r>
          </a:p>
        </p:txBody>
      </p:sp>
      <p:sp>
        <p:nvSpPr>
          <p:cNvPr id="3" name="Content Placeholder 2">
            <a:extLst>
              <a:ext uri="{FF2B5EF4-FFF2-40B4-BE49-F238E27FC236}">
                <a16:creationId xmlns:a16="http://schemas.microsoft.com/office/drawing/2014/main" id="{7B6FF36C-FA9E-1881-42EE-48C78BD7C3AB}"/>
              </a:ext>
            </a:extLst>
          </p:cNvPr>
          <p:cNvSpPr>
            <a:spLocks noGrp="1"/>
          </p:cNvSpPr>
          <p:nvPr>
            <p:ph idx="1"/>
          </p:nvPr>
        </p:nvSpPr>
        <p:spPr/>
        <p:txBody>
          <a:bodyPr>
            <a:normAutofit/>
          </a:bodyPr>
          <a:lstStyle/>
          <a:p>
            <a:r>
              <a:rPr lang="en-GB" dirty="0"/>
              <a:t>Now assume that we have to classify the following new instance:</a:t>
            </a:r>
          </a:p>
          <a:p>
            <a:endParaRPr lang="en-GB" dirty="0"/>
          </a:p>
          <a:p>
            <a:endParaRPr lang="en-GB" dirty="0"/>
          </a:p>
        </p:txBody>
      </p:sp>
      <p:graphicFrame>
        <p:nvGraphicFramePr>
          <p:cNvPr id="4" name="Table 3">
            <a:extLst>
              <a:ext uri="{FF2B5EF4-FFF2-40B4-BE49-F238E27FC236}">
                <a16:creationId xmlns:a16="http://schemas.microsoft.com/office/drawing/2014/main" id="{17F4B2CD-96D0-1328-3E5F-48163E67AC3B}"/>
              </a:ext>
            </a:extLst>
          </p:cNvPr>
          <p:cNvGraphicFramePr>
            <a:graphicFrameLocks noGrp="1"/>
          </p:cNvGraphicFramePr>
          <p:nvPr>
            <p:extLst>
              <p:ext uri="{D42A27DB-BD31-4B8C-83A1-F6EECF244321}">
                <p14:modId xmlns:p14="http://schemas.microsoft.com/office/powerpoint/2010/main" val="1086960168"/>
              </p:ext>
            </p:extLst>
          </p:nvPr>
        </p:nvGraphicFramePr>
        <p:xfrm>
          <a:off x="2032000" y="2959625"/>
          <a:ext cx="8128000" cy="741680"/>
        </p:xfrm>
        <a:graphic>
          <a:graphicData uri="http://schemas.openxmlformats.org/drawingml/2006/table">
            <a:tbl>
              <a:tblPr firstRow="1" bandRow="1">
                <a:tableStyleId>{9D7B26C5-4107-4FEC-AEDC-1716B250A1EF}</a:tableStyleId>
              </a:tblPr>
              <a:tblGrid>
                <a:gridCol w="1625600">
                  <a:extLst>
                    <a:ext uri="{9D8B030D-6E8A-4147-A177-3AD203B41FA5}">
                      <a16:colId xmlns:a16="http://schemas.microsoft.com/office/drawing/2014/main" val="2114690219"/>
                    </a:ext>
                  </a:extLst>
                </a:gridCol>
                <a:gridCol w="1625600">
                  <a:extLst>
                    <a:ext uri="{9D8B030D-6E8A-4147-A177-3AD203B41FA5}">
                      <a16:colId xmlns:a16="http://schemas.microsoft.com/office/drawing/2014/main" val="629192691"/>
                    </a:ext>
                  </a:extLst>
                </a:gridCol>
                <a:gridCol w="1625600">
                  <a:extLst>
                    <a:ext uri="{9D8B030D-6E8A-4147-A177-3AD203B41FA5}">
                      <a16:colId xmlns:a16="http://schemas.microsoft.com/office/drawing/2014/main" val="3736167988"/>
                    </a:ext>
                  </a:extLst>
                </a:gridCol>
                <a:gridCol w="1625600">
                  <a:extLst>
                    <a:ext uri="{9D8B030D-6E8A-4147-A177-3AD203B41FA5}">
                      <a16:colId xmlns:a16="http://schemas.microsoft.com/office/drawing/2014/main" val="3097256822"/>
                    </a:ext>
                  </a:extLst>
                </a:gridCol>
                <a:gridCol w="1625600">
                  <a:extLst>
                    <a:ext uri="{9D8B030D-6E8A-4147-A177-3AD203B41FA5}">
                      <a16:colId xmlns:a16="http://schemas.microsoft.com/office/drawing/2014/main" val="2906714216"/>
                    </a:ext>
                  </a:extLst>
                </a:gridCol>
              </a:tblGrid>
              <a:tr h="370840">
                <a:tc>
                  <a:txBody>
                    <a:bodyPr/>
                    <a:lstStyle/>
                    <a:p>
                      <a:r>
                        <a:rPr lang="en-US" dirty="0"/>
                        <a:t>Outlook</a:t>
                      </a:r>
                    </a:p>
                  </a:txBody>
                  <a:tcPr/>
                </a:tc>
                <a:tc>
                  <a:txBody>
                    <a:bodyPr/>
                    <a:lstStyle/>
                    <a:p>
                      <a:r>
                        <a:rPr lang="en-US" dirty="0"/>
                        <a:t>Temp.</a:t>
                      </a:r>
                    </a:p>
                  </a:txBody>
                  <a:tcPr/>
                </a:tc>
                <a:tc>
                  <a:txBody>
                    <a:bodyPr/>
                    <a:lstStyle/>
                    <a:p>
                      <a:r>
                        <a:rPr lang="en-US" dirty="0"/>
                        <a:t>Humidity</a:t>
                      </a:r>
                    </a:p>
                  </a:txBody>
                  <a:tcPr/>
                </a:tc>
                <a:tc>
                  <a:txBody>
                    <a:bodyPr/>
                    <a:lstStyle/>
                    <a:p>
                      <a:r>
                        <a:rPr lang="en-US" dirty="0"/>
                        <a:t>Windy</a:t>
                      </a:r>
                    </a:p>
                  </a:txBody>
                  <a:tcPr/>
                </a:tc>
                <a:tc>
                  <a:txBody>
                    <a:bodyPr/>
                    <a:lstStyle/>
                    <a:p>
                      <a:r>
                        <a:rPr lang="en-US" dirty="0"/>
                        <a:t>Play</a:t>
                      </a:r>
                    </a:p>
                  </a:txBody>
                  <a:tcPr/>
                </a:tc>
                <a:extLst>
                  <a:ext uri="{0D108BD9-81ED-4DB2-BD59-A6C34878D82A}">
                    <a16:rowId xmlns:a16="http://schemas.microsoft.com/office/drawing/2014/main" val="973286749"/>
                  </a:ext>
                </a:extLst>
              </a:tr>
              <a:tr h="370840">
                <a:tc>
                  <a:txBody>
                    <a:bodyPr/>
                    <a:lstStyle/>
                    <a:p>
                      <a:r>
                        <a:rPr lang="en-US" dirty="0"/>
                        <a:t>sunny</a:t>
                      </a:r>
                    </a:p>
                  </a:txBody>
                  <a:tcPr/>
                </a:tc>
                <a:tc>
                  <a:txBody>
                    <a:bodyPr/>
                    <a:lstStyle/>
                    <a:p>
                      <a:r>
                        <a:rPr lang="en-US" dirty="0"/>
                        <a:t>cool</a:t>
                      </a:r>
                    </a:p>
                  </a:txBody>
                  <a:tcPr/>
                </a:tc>
                <a:tc>
                  <a:txBody>
                    <a:bodyPr/>
                    <a:lstStyle/>
                    <a:p>
                      <a:r>
                        <a:rPr lang="en-US" dirty="0"/>
                        <a:t>high</a:t>
                      </a:r>
                    </a:p>
                  </a:txBody>
                  <a:tcPr/>
                </a:tc>
                <a:tc>
                  <a:txBody>
                    <a:bodyPr/>
                    <a:lstStyle/>
                    <a:p>
                      <a:r>
                        <a:rPr lang="en-US" dirty="0"/>
                        <a:t>true</a:t>
                      </a:r>
                    </a:p>
                  </a:txBody>
                  <a:tcPr/>
                </a:tc>
                <a:tc>
                  <a:txBody>
                    <a:bodyPr/>
                    <a:lstStyle/>
                    <a:p>
                      <a:r>
                        <a:rPr lang="en-US" dirty="0"/>
                        <a:t>?</a:t>
                      </a:r>
                    </a:p>
                  </a:txBody>
                  <a:tcPr/>
                </a:tc>
                <a:extLst>
                  <a:ext uri="{0D108BD9-81ED-4DB2-BD59-A6C34878D82A}">
                    <a16:rowId xmlns:a16="http://schemas.microsoft.com/office/drawing/2014/main" val="967671288"/>
                  </a:ext>
                </a:extLst>
              </a:tr>
            </a:tbl>
          </a:graphicData>
        </a:graphic>
      </p:graphicFrame>
      <p:sp>
        <p:nvSpPr>
          <p:cNvPr id="5" name="TextBox 4">
            <a:extLst>
              <a:ext uri="{FF2B5EF4-FFF2-40B4-BE49-F238E27FC236}">
                <a16:creationId xmlns:a16="http://schemas.microsoft.com/office/drawing/2014/main" id="{264C5FA9-17C2-FFEE-4F06-436D3979CEC5}"/>
              </a:ext>
            </a:extLst>
          </p:cNvPr>
          <p:cNvSpPr txBox="1"/>
          <p:nvPr/>
        </p:nvSpPr>
        <p:spPr>
          <a:xfrm>
            <a:off x="1666240" y="4439920"/>
            <a:ext cx="5477782" cy="1200329"/>
          </a:xfrm>
          <a:prstGeom prst="rect">
            <a:avLst/>
          </a:prstGeom>
          <a:noFill/>
        </p:spPr>
        <p:txBody>
          <a:bodyPr wrap="none" rtlCol="0">
            <a:spAutoFit/>
          </a:bodyPr>
          <a:lstStyle/>
          <a:p>
            <a:r>
              <a:rPr lang="en-US" dirty="0"/>
              <a:t>Calculate posterior probability</a:t>
            </a:r>
          </a:p>
          <a:p>
            <a:r>
              <a:rPr lang="en-US" dirty="0"/>
              <a:t>P(Play = yes | outlook == sunny ^ temp = cool….)</a:t>
            </a:r>
          </a:p>
          <a:p>
            <a:r>
              <a:rPr lang="en-US" dirty="0"/>
              <a:t>P(Play = no | outlook == sunny ^ temp = cool….)</a:t>
            </a:r>
          </a:p>
          <a:p>
            <a:endParaRPr lang="en-US" dirty="0"/>
          </a:p>
        </p:txBody>
      </p:sp>
    </p:spTree>
    <p:extLst>
      <p:ext uri="{BB962C8B-B14F-4D97-AF65-F5344CB8AC3E}">
        <p14:creationId xmlns:p14="http://schemas.microsoft.com/office/powerpoint/2010/main" val="3333983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F8F3D-4610-807C-643B-07E78DC9EE55}"/>
              </a:ext>
            </a:extLst>
          </p:cNvPr>
          <p:cNvSpPr>
            <a:spLocks noGrp="1"/>
          </p:cNvSpPr>
          <p:nvPr>
            <p:ph type="title"/>
          </p:nvPr>
        </p:nvSpPr>
        <p:spPr/>
        <p:txBody>
          <a:bodyPr/>
          <a:lstStyle/>
          <a:p>
            <a:r>
              <a:rPr lang="en-US" dirty="0"/>
              <a:t>Simple approach</a:t>
            </a:r>
          </a:p>
        </p:txBody>
      </p:sp>
      <p:sp>
        <p:nvSpPr>
          <p:cNvPr id="3" name="Content Placeholder 2">
            <a:extLst>
              <a:ext uri="{FF2B5EF4-FFF2-40B4-BE49-F238E27FC236}">
                <a16:creationId xmlns:a16="http://schemas.microsoft.com/office/drawing/2014/main" id="{E6796997-1D00-9740-F2D3-B790B9F47D88}"/>
              </a:ext>
            </a:extLst>
          </p:cNvPr>
          <p:cNvSpPr>
            <a:spLocks noGrp="1"/>
          </p:cNvSpPr>
          <p:nvPr>
            <p:ph idx="1"/>
          </p:nvPr>
        </p:nvSpPr>
        <p:spPr/>
        <p:txBody>
          <a:bodyPr>
            <a:normAutofit fontScale="92500" lnSpcReduction="10000"/>
          </a:bodyPr>
          <a:lstStyle/>
          <a:p>
            <a:r>
              <a:rPr lang="en-GB" b="1" dirty="0"/>
              <a:t>Key idea</a:t>
            </a:r>
            <a:r>
              <a:rPr lang="en-GB" dirty="0"/>
              <a:t>: Compute a probability for each class based on the probability distribution in the training data.</a:t>
            </a:r>
          </a:p>
          <a:p>
            <a:r>
              <a:rPr lang="en-GB" dirty="0"/>
              <a:t>First consider the probability of each attribute. Treat all attributes equally important, i.e., multiply the probabilities:</a:t>
            </a:r>
          </a:p>
          <a:p>
            <a:pPr marL="914400" lvl="2" indent="0">
              <a:buNone/>
            </a:pPr>
            <a:r>
              <a:rPr lang="en-GB" sz="2200" dirty="0"/>
              <a:t>P(yes) = 2/9 • 3/9 • 3/9 • 3/9  = 0.0082</a:t>
            </a:r>
          </a:p>
          <a:p>
            <a:pPr marL="914400" lvl="2" indent="0">
              <a:buNone/>
            </a:pPr>
            <a:r>
              <a:rPr lang="en-GB" sz="2200" dirty="0"/>
              <a:t>P(no) = 3/5 • 1/5 • 4/5 • 3/5 = 0.0577</a:t>
            </a:r>
            <a:endParaRPr lang="en-US" sz="2200" dirty="0"/>
          </a:p>
          <a:p>
            <a:r>
              <a:rPr lang="en-GB" dirty="0"/>
              <a:t>Now consider the overall probability of a given class. Multiply it with the probabilities of the attributes:</a:t>
            </a:r>
          </a:p>
          <a:p>
            <a:pPr marL="914400" lvl="2" indent="0">
              <a:buNone/>
            </a:pPr>
            <a:r>
              <a:rPr lang="en-GB" sz="2200" dirty="0"/>
              <a:t>P(yes) = 0.0082 • 9/14 = 0.0053</a:t>
            </a:r>
          </a:p>
          <a:p>
            <a:pPr marL="914400" lvl="2" indent="0">
              <a:buNone/>
            </a:pPr>
            <a:r>
              <a:rPr lang="en-GB" sz="2200" dirty="0"/>
              <a:t>P(no) = 0.0577 • 5/14 = 0.0206</a:t>
            </a:r>
          </a:p>
          <a:p>
            <a:r>
              <a:rPr lang="en-GB" dirty="0"/>
              <a:t>Now choose the class so that it maximizes this probability. This means that the new instance will be classified as no.</a:t>
            </a:r>
            <a:endParaRPr lang="en-US" dirty="0"/>
          </a:p>
        </p:txBody>
      </p:sp>
    </p:spTree>
    <p:extLst>
      <p:ext uri="{BB962C8B-B14F-4D97-AF65-F5344CB8AC3E}">
        <p14:creationId xmlns:p14="http://schemas.microsoft.com/office/powerpoint/2010/main" val="1032504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F7FB-AF7A-64D6-73EC-EFF6734497F1}"/>
              </a:ext>
            </a:extLst>
          </p:cNvPr>
          <p:cNvSpPr>
            <a:spLocks noGrp="1"/>
          </p:cNvSpPr>
          <p:nvPr>
            <p:ph type="title"/>
          </p:nvPr>
        </p:nvSpPr>
        <p:spPr/>
        <p:txBody>
          <a:bodyPr/>
          <a:lstStyle/>
          <a:p>
            <a:r>
              <a:rPr lang="en-US" dirty="0"/>
              <a:t>Bayesian 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BD51C1-63D0-26FC-630D-0791E5CE3D79}"/>
                  </a:ext>
                </a:extLst>
              </p:cNvPr>
              <p:cNvSpPr>
                <a:spLocks noGrp="1"/>
              </p:cNvSpPr>
              <p:nvPr>
                <p:ph idx="1"/>
              </p:nvPr>
            </p:nvSpPr>
            <p:spPr/>
            <p:txBody>
              <a:bodyPr>
                <a:normAutofit fontScale="92500" lnSpcReduction="20000"/>
              </a:bodyPr>
              <a:lstStyle/>
              <a:p>
                <a:r>
                  <a:rPr lang="en-GB" dirty="0"/>
                  <a:t>Now, with regards to our dataset, we can apply Bayes’ theorem in following way:</a:t>
                </a:r>
              </a:p>
              <a:p>
                <a:pPr marL="457200" lvl="1" indent="0">
                  <a:buNone/>
                </a:pPr>
                <a:r>
                  <a:rPr lang="en-GB" dirty="0"/>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e>
                        <m:r>
                          <a:rPr lang="en-US" b="0" i="1" smtClean="0">
                            <a:latin typeface="Cambria Math" panose="02040503050406030204" pitchFamily="18" charset="0"/>
                          </a:rPr>
                          <m:t>𝑋</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a14:m>
                <a:endParaRPr lang="en-GB" dirty="0"/>
              </a:p>
              <a:p>
                <a:pPr marL="457200" lvl="1" indent="0">
                  <a:buNone/>
                </a:pPr>
                <a:r>
                  <a:rPr lang="en-GB" dirty="0"/>
                  <a:t>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GB" dirty="0"/>
                  <a:t> is one of the class variables and X is a dependent feature vector (of size n) where:</a:t>
                </a:r>
              </a:p>
              <a:p>
                <a:pPr marL="457200" lvl="1" indent="0">
                  <a:buNone/>
                </a:pPr>
                <a:r>
                  <a:rPr lang="en-GB" dirty="0"/>
                  <a:t>		</a:t>
                </a:r>
                <a14:m>
                  <m:oMath xmlns:m="http://schemas.openxmlformats.org/officeDocument/2006/math">
                    <m:r>
                      <m:rPr>
                        <m:nor/>
                      </m:rPr>
                      <a:rPr lang="en-GB" i="1" dirty="0"/>
                      <m:t>X</m:t>
                    </m:r>
                    <m:r>
                      <m:rPr>
                        <m:nor/>
                      </m:rPr>
                      <a:rPr lang="en-GB" i="1" dirty="0"/>
                      <m:t> = (</m:t>
                    </m:r>
                    <m:r>
                      <m:rPr>
                        <m:nor/>
                      </m:rPr>
                      <a:rPr lang="en-GB" i="1" dirty="0"/>
                      <m:t>x</m:t>
                    </m:r>
                    <m:r>
                      <m:rPr>
                        <m:nor/>
                      </m:rPr>
                      <a:rPr lang="en-GB" i="1" baseline="-25000" dirty="0"/>
                      <m:t>1</m:t>
                    </m:r>
                    <m:r>
                      <m:rPr>
                        <m:nor/>
                      </m:rPr>
                      <a:rPr lang="en-GB" i="1" dirty="0"/>
                      <m:t>, </m:t>
                    </m:r>
                    <m:r>
                      <m:rPr>
                        <m:nor/>
                      </m:rPr>
                      <a:rPr lang="en-GB" i="1" dirty="0"/>
                      <m:t>x</m:t>
                    </m:r>
                    <m:r>
                      <m:rPr>
                        <m:nor/>
                      </m:rPr>
                      <a:rPr lang="en-GB" i="1" baseline="-25000" dirty="0"/>
                      <m:t>2</m:t>
                    </m:r>
                    <m:r>
                      <m:rPr>
                        <m:nor/>
                      </m:rPr>
                      <a:rPr lang="en-GB" i="1" dirty="0"/>
                      <m:t>, </m:t>
                    </m:r>
                    <m:r>
                      <m:rPr>
                        <m:nor/>
                      </m:rPr>
                      <a:rPr lang="en-GB" i="1" dirty="0"/>
                      <m:t>x</m:t>
                    </m:r>
                    <m:r>
                      <m:rPr>
                        <m:nor/>
                      </m:rPr>
                      <a:rPr lang="en-GB" i="1" baseline="-25000" dirty="0"/>
                      <m:t>3</m:t>
                    </m:r>
                    <m:r>
                      <m:rPr>
                        <m:nor/>
                      </m:rPr>
                      <a:rPr lang="en-GB" i="1" dirty="0"/>
                      <m:t>, . . . , </m:t>
                    </m:r>
                    <m:r>
                      <m:rPr>
                        <m:nor/>
                      </m:rPr>
                      <a:rPr lang="en-GB" i="1" dirty="0"/>
                      <m:t>xn</m:t>
                    </m:r>
                    <m:r>
                      <m:rPr>
                        <m:nor/>
                      </m:rPr>
                      <a:rPr lang="en-GB" i="1" dirty="0"/>
                      <m:t>)</m:t>
                    </m:r>
                  </m:oMath>
                </a14:m>
                <a:endParaRPr lang="en-GB" dirty="0"/>
              </a:p>
              <a:p>
                <a:r>
                  <a:rPr lang="en-GB" dirty="0"/>
                  <a:t>Just to clarify, an example of a feature vector and corresponding class variable can be: (refer 1st row of dataset)</a:t>
                </a:r>
              </a:p>
              <a:p>
                <a:pPr marL="914400" lvl="2" indent="0">
                  <a:buNone/>
                </a:pPr>
                <a:r>
                  <a:rPr lang="en-GB" dirty="0"/>
                  <a:t>	</a:t>
                </a:r>
                <a:r>
                  <a:rPr lang="en-GB" sz="2400" i="1" dirty="0"/>
                  <a:t>X = (Sunny, Hot, High, False)</a:t>
                </a:r>
              </a:p>
              <a:p>
                <a:pPr marL="914400" lvl="2" indent="0">
                  <a:buNone/>
                </a:pPr>
                <a:r>
                  <a:rPr lang="en-GB" sz="2400" i="1" dirty="0"/>
                  <a: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𝑘</m:t>
                        </m:r>
                      </m:sub>
                    </m:sSub>
                  </m:oMath>
                </a14:m>
                <a:r>
                  <a:rPr lang="en-GB" sz="2400" i="1" dirty="0"/>
                  <a:t> = No</a:t>
                </a:r>
              </a:p>
              <a:p>
                <a:r>
                  <a:rPr lang="en-GB" dirty="0"/>
                  <a:t>So basically,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e>
                        <m:r>
                          <a:rPr lang="en-US" b="0" i="1" smtClean="0">
                            <a:latin typeface="Cambria Math" panose="02040503050406030204" pitchFamily="18" charset="0"/>
                          </a:rPr>
                          <m:t>𝑋</m:t>
                        </m:r>
                      </m:e>
                    </m:d>
                    <m:r>
                      <a:rPr lang="en-US" b="0" i="1" smtClean="0">
                        <a:latin typeface="Cambria Math" panose="02040503050406030204" pitchFamily="18" charset="0"/>
                      </a:rPr>
                      <m:t> </m:t>
                    </m:r>
                  </m:oMath>
                </a14:m>
                <a:r>
                  <a:rPr lang="en-GB" dirty="0"/>
                  <a:t>here means, the probability of “Not playing” given that the weather conditions are “Sunny outlook”, “Temperature is hot”, “high humidity” and “no wind”.</a:t>
                </a:r>
              </a:p>
              <a:p>
                <a:endParaRPr lang="en-GB" dirty="0"/>
              </a:p>
              <a:p>
                <a:endParaRPr lang="en-US" dirty="0"/>
              </a:p>
            </p:txBody>
          </p:sp>
        </mc:Choice>
        <mc:Fallback xmlns="">
          <p:sp>
            <p:nvSpPr>
              <p:cNvPr id="3" name="Content Placeholder 2">
                <a:extLst>
                  <a:ext uri="{FF2B5EF4-FFF2-40B4-BE49-F238E27FC236}">
                    <a16:creationId xmlns:a16="http://schemas.microsoft.com/office/drawing/2014/main" id="{09BD51C1-63D0-26FC-630D-0791E5CE3D79}"/>
                  </a:ext>
                </a:extLst>
              </p:cNvPr>
              <p:cNvSpPr>
                <a:spLocks noGrp="1" noRot="1" noChangeAspect="1" noMove="1" noResize="1" noEditPoints="1" noAdjustHandles="1" noChangeArrowheads="1" noChangeShapeType="1" noTextEdit="1"/>
              </p:cNvSpPr>
              <p:nvPr>
                <p:ph idx="1"/>
              </p:nvPr>
            </p:nvSpPr>
            <p:spPr>
              <a:blipFill>
                <a:blip r:embed="rId2"/>
                <a:stretch>
                  <a:fillRect l="-928" t="-3922" r="-1217" b="-980"/>
                </a:stretch>
              </a:blipFill>
            </p:spPr>
            <p:txBody>
              <a:bodyPr/>
              <a:lstStyle/>
              <a:p>
                <a:r>
                  <a:rPr lang="en-US">
                    <a:noFill/>
                  </a:rPr>
                  <a:t> </a:t>
                </a:r>
              </a:p>
            </p:txBody>
          </p:sp>
        </mc:Fallback>
      </mc:AlternateContent>
    </p:spTree>
    <p:extLst>
      <p:ext uri="{BB962C8B-B14F-4D97-AF65-F5344CB8AC3E}">
        <p14:creationId xmlns:p14="http://schemas.microsoft.com/office/powerpoint/2010/main" val="3597345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2C97-0710-70C6-CE7F-99D932C6F684}"/>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1C7527D-DFF1-46CA-1A36-05813539867B}"/>
              </a:ext>
            </a:extLst>
          </p:cNvPr>
          <p:cNvSpPr>
            <a:spLocks noGrp="1"/>
          </p:cNvSpPr>
          <p:nvPr>
            <p:ph idx="1"/>
          </p:nvPr>
        </p:nvSpPr>
        <p:spPr/>
        <p:txBody>
          <a:bodyPr>
            <a:normAutofit/>
          </a:bodyPr>
          <a:lstStyle/>
          <a:p>
            <a:r>
              <a:rPr lang="en-GB" dirty="0"/>
              <a:t>With relation to our dataset, this concept can be understood as:</a:t>
            </a:r>
          </a:p>
          <a:p>
            <a:pPr lvl="1"/>
            <a:endParaRPr lang="en-GB" dirty="0"/>
          </a:p>
          <a:p>
            <a:pPr lvl="1"/>
            <a:r>
              <a:rPr lang="en-GB" dirty="0"/>
              <a:t>We assume that no pair of features are dependent. For example, the temperature being ‘Hot’ has nothing to do with the humidity or the outlook being ‘Rainy’ has no effect on the winds. Hence, the features are assumed to be independent.</a:t>
            </a:r>
          </a:p>
          <a:p>
            <a:pPr lvl="1"/>
            <a:r>
              <a:rPr lang="en-GB" dirty="0"/>
              <a:t>Secondly, each feature is given the same weight(or importance). For example, knowing only temperature and humidity alone can’t predict the outcome accurately. None of the attributes is irrelevant and assumed to be contributing equally to the outcome.</a:t>
            </a:r>
            <a:endParaRPr lang="en-US" dirty="0"/>
          </a:p>
        </p:txBody>
      </p:sp>
    </p:spTree>
    <p:extLst>
      <p:ext uri="{BB962C8B-B14F-4D97-AF65-F5344CB8AC3E}">
        <p14:creationId xmlns:p14="http://schemas.microsoft.com/office/powerpoint/2010/main" val="2182325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84FF-1071-3BF6-E9AE-0556BBA3B2FB}"/>
              </a:ext>
            </a:extLst>
          </p:cNvPr>
          <p:cNvSpPr>
            <a:spLocks noGrp="1"/>
          </p:cNvSpPr>
          <p:nvPr>
            <p:ph type="title"/>
          </p:nvPr>
        </p:nvSpPr>
        <p:spPr/>
        <p:txBody>
          <a:bodyPr/>
          <a:lstStyle/>
          <a:p>
            <a:r>
              <a:rPr lang="en-US" dirty="0"/>
              <a:t>Formulating the classifier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25DB3A-617C-F41D-539E-778ABCE5A830}"/>
                  </a:ext>
                </a:extLst>
              </p:cNvPr>
              <p:cNvSpPr>
                <a:spLocks noGrp="1"/>
              </p:cNvSpPr>
              <p:nvPr>
                <p:ph idx="1"/>
              </p:nvPr>
            </p:nvSpPr>
            <p:spPr/>
            <p:txBody>
              <a:bodyPr>
                <a:normAutofit fontScale="70000" lnSpcReduction="20000"/>
              </a:bodyPr>
              <a:lstStyle/>
              <a:p>
                <a:r>
                  <a:rPr lang="en-GB" dirty="0"/>
                  <a:t>Abstractly, naive Bayes is a conditional probability model.</a:t>
                </a:r>
              </a:p>
              <a:p>
                <a:r>
                  <a:rPr lang="en-GB" dirty="0"/>
                  <a:t>However, if the number of features </a:t>
                </a:r>
                <a:r>
                  <a:rPr lang="en-GB" i="1" dirty="0"/>
                  <a:t>n</a:t>
                </a:r>
                <a:r>
                  <a:rPr lang="en-GB" dirty="0"/>
                  <a:t> is large or if a feature can take on a large number of values, then basing such a model on probability tables is infeasible. The model must therefore be reformulated to make it more tractable.</a:t>
                </a:r>
              </a:p>
              <a:p>
                <a:r>
                  <a:rPr lang="en-GB" dirty="0"/>
                  <a:t>Let's look at the Bayes rule again: </a:t>
                </a:r>
              </a:p>
              <a:p>
                <a:endParaRPr lang="en-GB"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e>
                          <m:r>
                            <a:rPr lang="en-US" b="0" i="1" smtClean="0">
                              <a:latin typeface="Cambria Math" panose="02040503050406030204" pitchFamily="18" charset="0"/>
                            </a:rPr>
                            <m:t>𝑋</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e>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den>
                      </m:f>
                    </m:oMath>
                  </m:oMathPara>
                </a14:m>
                <a:endParaRPr lang="en-US" dirty="0"/>
              </a:p>
              <a:p>
                <a:r>
                  <a:rPr lang="en-GB" dirty="0"/>
                  <a:t>In plain English, using Bayesian probability terminology, the above equation can be written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𝑝𝑜𝑠𝑡𝑒𝑟𝑖𝑜𝑟</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𝑝𝑟𝑖𝑜𝑟</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𝑙𝑖𝑘𝑒𝑙𝑖h𝑜𝑜𝑑</m:t>
                          </m:r>
                          <m:r>
                            <a:rPr lang="en-US" b="0" i="1" smtClean="0">
                              <a:latin typeface="Cambria Math" panose="02040503050406030204" pitchFamily="18" charset="0"/>
                            </a:rPr>
                            <m:t> </m:t>
                          </m:r>
                        </m:num>
                        <m:den>
                          <m:r>
                            <a:rPr lang="en-US" b="0" i="1" smtClean="0">
                              <a:latin typeface="Cambria Math" panose="02040503050406030204" pitchFamily="18" charset="0"/>
                            </a:rPr>
                            <m:t>𝑒𝑣𝑖𝑑𝑒𝑛𝑐𝑒</m:t>
                          </m:r>
                        </m:den>
                      </m:f>
                    </m:oMath>
                  </m:oMathPara>
                </a14:m>
                <a:endParaRPr lang="en-US" dirty="0"/>
              </a:p>
              <a:p>
                <a:r>
                  <a:rPr lang="en-GB" dirty="0"/>
                  <a:t>In practice, there is interest only in the numerator of that fraction, because the denominator does not depend on </a:t>
                </a:r>
                <a:r>
                  <a:rPr lang="en-GB" i="1" dirty="0"/>
                  <a:t>C</a:t>
                </a:r>
                <a:r>
                  <a:rPr lang="en-GB" dirty="0"/>
                  <a:t> and the values of the features </a:t>
                </a:r>
                <a:r>
                  <a:rPr lang="en-GB" i="1" dirty="0"/>
                  <a:t>x</a:t>
                </a:r>
                <a:r>
                  <a:rPr lang="en-GB" i="1" baseline="-25000" dirty="0"/>
                  <a:t>i</a:t>
                </a:r>
                <a:r>
                  <a:rPr lang="en-GB" dirty="0"/>
                  <a:t> are given, so that the </a:t>
                </a:r>
                <a:r>
                  <a:rPr lang="en-GB" b="1" dirty="0"/>
                  <a:t>denominator is effectively constant</a:t>
                </a:r>
                <a:r>
                  <a:rPr lang="en-GB" dirty="0"/>
                  <a:t>.</a:t>
                </a:r>
                <a:endParaRPr lang="en-US" dirty="0"/>
              </a:p>
            </p:txBody>
          </p:sp>
        </mc:Choice>
        <mc:Fallback xmlns="">
          <p:sp>
            <p:nvSpPr>
              <p:cNvPr id="3" name="Content Placeholder 2">
                <a:extLst>
                  <a:ext uri="{FF2B5EF4-FFF2-40B4-BE49-F238E27FC236}">
                    <a16:creationId xmlns:a16="http://schemas.microsoft.com/office/drawing/2014/main" id="{BB25DB3A-617C-F41D-539E-778ABCE5A830}"/>
                  </a:ext>
                </a:extLst>
              </p:cNvPr>
              <p:cNvSpPr>
                <a:spLocks noGrp="1" noRot="1" noChangeAspect="1" noMove="1" noResize="1" noEditPoints="1" noAdjustHandles="1" noChangeArrowheads="1" noChangeShapeType="1" noTextEdit="1"/>
              </p:cNvSpPr>
              <p:nvPr>
                <p:ph idx="1"/>
              </p:nvPr>
            </p:nvSpPr>
            <p:spPr>
              <a:blipFill>
                <a:blip r:embed="rId2"/>
                <a:stretch>
                  <a:fillRect l="-522" t="-2801"/>
                </a:stretch>
              </a:blipFill>
            </p:spPr>
            <p:txBody>
              <a:bodyPr/>
              <a:lstStyle/>
              <a:p>
                <a:r>
                  <a:rPr lang="en-US">
                    <a:noFill/>
                  </a:rPr>
                  <a:t> </a:t>
                </a:r>
              </a:p>
            </p:txBody>
          </p:sp>
        </mc:Fallback>
      </mc:AlternateContent>
    </p:spTree>
    <p:extLst>
      <p:ext uri="{BB962C8B-B14F-4D97-AF65-F5344CB8AC3E}">
        <p14:creationId xmlns:p14="http://schemas.microsoft.com/office/powerpoint/2010/main" val="3353344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3202C-6CAB-8D78-AD31-FA5B756F3104}"/>
              </a:ext>
            </a:extLst>
          </p:cNvPr>
          <p:cNvSpPr>
            <a:spLocks noGrp="1"/>
          </p:cNvSpPr>
          <p:nvPr>
            <p:ph type="title"/>
          </p:nvPr>
        </p:nvSpPr>
        <p:spPr/>
        <p:txBody>
          <a:bodyPr/>
          <a:lstStyle/>
          <a:p>
            <a:r>
              <a:rPr lang="en-US" dirty="0"/>
              <a:t>Formulating the classifier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487DCC-D2ED-48F4-5DB4-CE77EEAD7318}"/>
                  </a:ext>
                </a:extLst>
              </p:cNvPr>
              <p:cNvSpPr>
                <a:spLocks noGrp="1"/>
              </p:cNvSpPr>
              <p:nvPr>
                <p:ph idx="1"/>
              </p:nvPr>
            </p:nvSpPr>
            <p:spPr>
              <a:xfrm>
                <a:off x="838200" y="1825624"/>
                <a:ext cx="10515600" cy="4667251"/>
              </a:xfrm>
            </p:spPr>
            <p:txBody>
              <a:bodyPr>
                <a:normAutofit fontScale="92500" lnSpcReduction="10000"/>
              </a:bodyPr>
              <a:lstStyle/>
              <a:p>
                <a:r>
                  <a:rPr lang="en-GB" sz="2600" dirty="0"/>
                  <a:t>The numerator is equivalent to the joint probability model</a:t>
                </a:r>
              </a:p>
              <a:p>
                <a:pPr marL="457200" lvl="1" indent="0">
                  <a:buNone/>
                </a:pPr>
                <a:r>
                  <a:rPr lang="en-GB" sz="2800" dirty="0"/>
                  <a:t>	</a:t>
                </a:r>
                <a14:m>
                  <m:oMath xmlns:m="http://schemas.openxmlformats.org/officeDocument/2006/math">
                    <m:r>
                      <a:rPr lang="en-US" sz="2600" b="0" i="1" smtClean="0">
                        <a:latin typeface="Cambria Math" panose="02040503050406030204" pitchFamily="18" charset="0"/>
                      </a:rPr>
                      <m:t>𝑃</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𝐶</m:t>
                        </m:r>
                      </m:e>
                      <m:sub>
                        <m:r>
                          <a:rPr lang="en-US" sz="2600" b="0" i="1" smtClean="0">
                            <a:latin typeface="Cambria Math" panose="02040503050406030204" pitchFamily="18" charset="0"/>
                          </a:rPr>
                          <m:t>𝑘</m:t>
                        </m:r>
                        <m:r>
                          <a:rPr lang="en-US" sz="2600" b="0" i="1" smtClean="0">
                            <a:latin typeface="Cambria Math" panose="02040503050406030204" pitchFamily="18" charset="0"/>
                          </a:rPr>
                          <m:t> </m:t>
                        </m:r>
                      </m:sub>
                    </m:sSub>
                    <m:r>
                      <a:rPr lang="en-US" sz="2600" b="0" i="1" smtClean="0">
                        <a:latin typeface="Cambria Math" panose="02040503050406030204" pitchFamily="18" charset="0"/>
                      </a:rPr>
                      <m:t>, </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1</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2</m:t>
                        </m:r>
                      </m:sub>
                    </m:sSub>
                  </m:oMath>
                </a14:m>
                <a:r>
                  <a:rPr lang="en-US" sz="2600" dirty="0"/>
                  <a:t>,…,  </a:t>
                </a:r>
                <a14:m>
                  <m:oMath xmlns:m="http://schemas.openxmlformats.org/officeDocument/2006/math">
                    <m:sSub>
                      <m:sSubPr>
                        <m:ctrlPr>
                          <a:rPr lang="en-US" sz="2600" i="1">
                            <a:latin typeface="Cambria Math" panose="02040503050406030204" pitchFamily="18" charset="0"/>
                          </a:rPr>
                        </m:ctrlPr>
                      </m:sSubPr>
                      <m:e>
                        <m:r>
                          <a:rPr lang="en-US" sz="2600" b="0" i="1" smtClean="0">
                            <a:latin typeface="Cambria Math" panose="02040503050406030204" pitchFamily="18" charset="0"/>
                          </a:rPr>
                          <m:t>𝑥</m:t>
                        </m:r>
                      </m:e>
                      <m:sub>
                        <m:r>
                          <a:rPr lang="en-US" sz="2600" b="0" i="1" smtClean="0">
                            <a:latin typeface="Cambria Math" panose="02040503050406030204" pitchFamily="18" charset="0"/>
                          </a:rPr>
                          <m:t>𝑛</m:t>
                        </m:r>
                      </m:sub>
                    </m:sSub>
                    <m:r>
                      <a:rPr lang="en-US" sz="2600" b="0" i="1" smtClean="0">
                        <a:latin typeface="Cambria Math" panose="02040503050406030204" pitchFamily="18" charset="0"/>
                      </a:rPr>
                      <m:t>)</m:t>
                    </m:r>
                  </m:oMath>
                </a14:m>
                <a:r>
                  <a:rPr lang="en-US" sz="2600" dirty="0"/>
                  <a:t> [here comma means AND operator ]</a:t>
                </a:r>
              </a:p>
              <a:p>
                <a:pPr marL="457200" lvl="1" indent="0">
                  <a:buNone/>
                </a:pPr>
                <a:r>
                  <a:rPr lang="en-GB" dirty="0"/>
                  <a:t>which can be rewritten as follows, using the chain rule for repeated applications of the definition of conditional probability:</a:t>
                </a:r>
              </a:p>
              <a:p>
                <a:pPr marL="457200" lvl="1" indent="0">
                  <a:buNone/>
                </a:pPr>
                <a:r>
                  <a:rPr lang="en-GB" sz="2600" dirty="0"/>
                  <a:t>	</a:t>
                </a:r>
                <a14:m>
                  <m:oMath xmlns:m="http://schemas.openxmlformats.org/officeDocument/2006/math">
                    <m:r>
                      <a:rPr lang="en-US" sz="2600" b="0" i="1" smtClean="0">
                        <a:latin typeface="Cambria Math" panose="02040503050406030204" pitchFamily="18" charset="0"/>
                      </a:rPr>
                      <m:t>𝑃</m:t>
                    </m:r>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r>
                          <a:rPr lang="en-US" sz="2600" i="1">
                            <a:latin typeface="Cambria Math" panose="02040503050406030204" pitchFamily="18" charset="0"/>
                          </a:rPr>
                          <m:t> </m:t>
                        </m:r>
                      </m:sub>
                    </m:sSub>
                    <m:r>
                      <a:rPr lang="en-US" sz="2600" i="1">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1</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i="1">
                        <a:latin typeface="Cambria Math" panose="02040503050406030204" pitchFamily="18" charset="0"/>
                      </a:rPr>
                      <m:t>)</m:t>
                    </m:r>
                  </m:oMath>
                </a14:m>
                <a:r>
                  <a:rPr lang="en-GB" sz="2600" dirty="0"/>
                  <a:t> = </a:t>
                </a:r>
                <a14:m>
                  <m:oMath xmlns:m="http://schemas.openxmlformats.org/officeDocument/2006/math">
                    <m:r>
                      <a:rPr lang="en-US" sz="2600" b="0" i="1" smtClean="0">
                        <a:latin typeface="Cambria Math" panose="02040503050406030204" pitchFamily="18" charset="0"/>
                      </a:rPr>
                      <m:t>𝑃</m:t>
                    </m:r>
                    <m:r>
                      <a:rPr lang="en-US" sz="260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1</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r>
                      <a:rPr lang="en-US" sz="2600" i="1">
                        <a:latin typeface="Cambria Math" panose="02040503050406030204" pitchFamily="18" charset="0"/>
                      </a:rPr>
                      <m:t>)</m:t>
                    </m:r>
                  </m:oMath>
                </a14:m>
                <a:r>
                  <a:rPr lang="en-GB" sz="2600" dirty="0"/>
                  <a:t> </a:t>
                </a:r>
                <a:r>
                  <a:rPr lang="en-GB" sz="1500" b="1" dirty="0"/>
                  <a:t>[</a:t>
                </a:r>
                <a:r>
                  <a:rPr lang="en-US" sz="1500" i="1" dirty="0"/>
                  <a:t>P(A, B) = P(A|B).P(B)</a:t>
                </a:r>
                <a:r>
                  <a:rPr lang="en-GB" sz="1500" b="1" dirty="0"/>
                  <a:t>]</a:t>
                </a:r>
              </a:p>
              <a:p>
                <a:pPr marL="457200" lvl="1" indent="0">
                  <a:buNone/>
                </a:pPr>
                <a:r>
                  <a:rPr lang="en-GB" sz="2600" dirty="0"/>
                  <a:t>		= </a:t>
                </a:r>
                <a14:m>
                  <m:oMath xmlns:m="http://schemas.openxmlformats.org/officeDocument/2006/math">
                    <m:r>
                      <a:rPr lang="en-US" sz="2600" b="0" i="1" smtClean="0">
                        <a:latin typeface="Cambria Math" panose="02040503050406030204" pitchFamily="18" charset="0"/>
                      </a:rPr>
                      <m:t>𝑃</m:t>
                    </m:r>
                    <m:d>
                      <m:dPr>
                        <m:ctrlPr>
                          <a:rPr lang="en-US" sz="2600" i="1" smtClean="0">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1</m:t>
                            </m:r>
                          </m:sub>
                        </m:sSub>
                        <m:r>
                          <a:rPr lang="en-US" sz="2600" b="0" i="1" smtClean="0">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rPr>
                      <m:t>𝑃</m:t>
                    </m:r>
                    <m:d>
                      <m:dPr>
                        <m:ctrlPr>
                          <a:rPr lang="en-US" sz="2600" i="1">
                            <a:latin typeface="Cambria Math" panose="02040503050406030204" pitchFamily="18" charset="0"/>
                          </a:rPr>
                        </m:ctrlPr>
                      </m:dPr>
                      <m:e>
                        <m:sSub>
                          <m:sSubPr>
                            <m:ctrlPr>
                              <a:rPr lang="en-US" sz="2600" i="1" smtClean="0">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oMath>
                </a14:m>
                <a:endParaRPr lang="en-GB" sz="2600" dirty="0"/>
              </a:p>
              <a:p>
                <a:pPr marL="457200" lvl="1" indent="0">
                  <a:buNone/>
                </a:pPr>
                <a:r>
                  <a:rPr lang="en-GB" sz="2600" dirty="0"/>
                  <a:t>		= </a:t>
                </a:r>
                <a14:m>
                  <m:oMath xmlns:m="http://schemas.openxmlformats.org/officeDocument/2006/math">
                    <m:r>
                      <a:rPr lang="en-US" sz="2600" b="0" i="1" smtClean="0">
                        <a:latin typeface="Cambria Math" panose="02040503050406030204" pitchFamily="18" charset="0"/>
                      </a:rPr>
                      <m:t>𝑃</m:t>
                    </m:r>
                    <m:d>
                      <m:dPr>
                        <m:ctrlPr>
                          <a:rPr lang="en-US" sz="2600" i="1" smtClean="0">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1</m:t>
                            </m:r>
                          </m:sub>
                        </m:sSub>
                        <m:r>
                          <a:rPr lang="en-US" sz="2600" b="0" i="1" smtClean="0">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rPr>
                      <m:t>𝑃</m:t>
                    </m:r>
                    <m:d>
                      <m:dPr>
                        <m:ctrlPr>
                          <a:rPr lang="en-US" sz="2600" i="1">
                            <a:latin typeface="Cambria Math" panose="02040503050406030204" pitchFamily="18" charset="0"/>
                          </a:rPr>
                        </m:ctrlPr>
                      </m:dPr>
                      <m:e>
                        <m:sSub>
                          <m:sSubPr>
                            <m:ctrlPr>
                              <a:rPr lang="en-US" sz="2600" i="1" smtClean="0">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b="0" i="0" smtClean="0">
                            <a:latin typeface="Cambria Math" panose="02040503050406030204" pitchFamily="18" charset="0"/>
                          </a:rPr>
                          <m:t> |</m:t>
                        </m:r>
                        <m:sSub>
                          <m:sSubPr>
                            <m:ctrlPr>
                              <a:rPr lang="en-US" sz="2600" i="1">
                                <a:latin typeface="Cambria Math" panose="02040503050406030204" pitchFamily="18" charset="0"/>
                              </a:rPr>
                            </m:ctrlPr>
                          </m:sSubPr>
                          <m:e>
                            <m:r>
                              <a:rPr lang="en-US" sz="2600" b="0" i="1" smtClean="0">
                                <a:latin typeface="Cambria Math" panose="02040503050406030204" pitchFamily="18" charset="0"/>
                              </a:rPr>
                              <m:t> </m:t>
                            </m:r>
                            <m:r>
                              <a:rPr lang="en-US" sz="2600" i="1">
                                <a:latin typeface="Cambria Math" panose="02040503050406030204" pitchFamily="18" charset="0"/>
                              </a:rPr>
                              <m:t>𝑥</m:t>
                            </m:r>
                          </m:e>
                          <m:sub>
                            <m:r>
                              <a:rPr lang="en-US" sz="2600" b="0" i="1" smtClean="0">
                                <a:latin typeface="Cambria Math" panose="02040503050406030204" pitchFamily="18" charset="0"/>
                              </a:rPr>
                              <m:t>3</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b="0" i="1" smtClean="0">
                        <a:latin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rPr>
                      <m:t>𝑃</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b="0" i="1" smtClean="0">
                                <a:latin typeface="Cambria Math" panose="02040503050406030204" pitchFamily="18" charset="0"/>
                              </a:rPr>
                              <m:t>3</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oMath>
                </a14:m>
                <a:endParaRPr lang="en-GB" sz="2600" dirty="0"/>
              </a:p>
              <a:p>
                <a:pPr marL="457200" lvl="1" indent="0">
                  <a:buNone/>
                </a:pPr>
                <a:r>
                  <a:rPr lang="en-GB" sz="2600" dirty="0"/>
                  <a:t>		= …</a:t>
                </a:r>
              </a:p>
              <a:p>
                <a:pPr marL="457200" lvl="1" indent="0">
                  <a:buNone/>
                </a:pPr>
                <a:r>
                  <a:rPr lang="en-GB" sz="2600" dirty="0"/>
                  <a:t>		= </a:t>
                </a:r>
                <a14:m>
                  <m:oMath xmlns:m="http://schemas.openxmlformats.org/officeDocument/2006/math">
                    <m:r>
                      <a:rPr lang="en-US" sz="2600" b="0" i="1" smtClean="0">
                        <a:latin typeface="Cambria Math" panose="02040503050406030204" pitchFamily="18" charset="0"/>
                      </a:rPr>
                      <m:t>𝑃</m:t>
                    </m:r>
                    <m:d>
                      <m:dPr>
                        <m:ctrlPr>
                          <a:rPr lang="en-US" sz="2600" i="1" smtClean="0">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1</m:t>
                            </m:r>
                          </m:sub>
                        </m:sSub>
                        <m:r>
                          <a:rPr lang="en-US" sz="2600" b="0" i="1" smtClean="0">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2</m:t>
                            </m:r>
                          </m:sub>
                        </m:sSub>
                        <m:r>
                          <m:rPr>
                            <m:nor/>
                          </m:rPr>
                          <a:rPr lang="en-US" sz="2600" dirty="0"/>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 ∙</m:t>
                    </m:r>
                    <m:r>
                      <a:rPr lang="en-US" sz="2600" b="0" i="1" smtClean="0">
                        <a:latin typeface="Cambria Math" panose="02040503050406030204" pitchFamily="18" charset="0"/>
                      </a:rPr>
                      <m:t>𝑃</m:t>
                    </m:r>
                    <m:d>
                      <m:dPr>
                        <m:ctrlPr>
                          <a:rPr lang="en-US" sz="2600" i="1">
                            <a:latin typeface="Cambria Math" panose="02040503050406030204" pitchFamily="18" charset="0"/>
                          </a:rPr>
                        </m:ctrlPr>
                      </m:dPr>
                      <m:e>
                        <m:sSub>
                          <m:sSubPr>
                            <m:ctrlPr>
                              <a:rPr lang="en-US" sz="2600" i="1" smtClean="0">
                                <a:latin typeface="Cambria Math" panose="02040503050406030204" pitchFamily="18" charset="0"/>
                              </a:rPr>
                            </m:ctrlPr>
                          </m:sSubPr>
                          <m:e>
                            <m:r>
                              <a:rPr lang="en-US" sz="2600" i="1">
                                <a:latin typeface="Cambria Math" panose="02040503050406030204" pitchFamily="18" charset="0"/>
                              </a:rPr>
                              <m:t>𝑥</m:t>
                            </m:r>
                          </m:e>
                          <m:sub>
                            <m:r>
                              <a:rPr lang="en-US" sz="2600" b="0" i="1" smtClean="0">
                                <a:latin typeface="Cambria Math" panose="02040503050406030204" pitchFamily="18" charset="0"/>
                              </a:rPr>
                              <m:t>𝑛</m:t>
                            </m:r>
                            <m:r>
                              <a:rPr lang="en-US" sz="2600" b="0" i="1" smtClean="0">
                                <a:latin typeface="Cambria Math" panose="02040503050406030204" pitchFamily="18" charset="0"/>
                              </a:rPr>
                              <m:t> −1</m:t>
                            </m:r>
                          </m:sub>
                        </m:sSub>
                        <m:r>
                          <m:rPr>
                            <m:nor/>
                          </m:rPr>
                          <a:rPr lang="en-US" sz="2600" b="0" i="0" smtClean="0">
                            <a:latin typeface="Cambria Math" panose="02040503050406030204" pitchFamily="18" charset="0"/>
                          </a:rPr>
                          <m:t> |</m:t>
                        </m:r>
                        <m:r>
                          <a:rPr lang="en-US" sz="2600" b="0" i="1" smtClean="0">
                            <a:latin typeface="Cambria Math" panose="02040503050406030204" pitchFamily="18" charset="0"/>
                          </a:rPr>
                          <m:t> </m:t>
                        </m:r>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i="1">
                                <a:latin typeface="Cambria Math" panose="02040503050406030204" pitchFamily="18" charset="0"/>
                              </a:rPr>
                              <m:t>𝑛</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b="0" i="1" smtClean="0">
                        <a:latin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rPr>
                      <m:t>𝑃</m:t>
                    </m:r>
                    <m:d>
                      <m:dPr>
                        <m:ctrlPr>
                          <a:rPr lang="en-US" sz="2600" i="1">
                            <a:latin typeface="Cambria Math" panose="02040503050406030204" pitchFamily="18" charset="0"/>
                          </a:rPr>
                        </m:ctrlPr>
                      </m:dPr>
                      <m:e>
                        <m:sSub>
                          <m:sSubPr>
                            <m:ctrlPr>
                              <a:rPr lang="en-US" sz="2600" i="1">
                                <a:latin typeface="Cambria Math" panose="02040503050406030204" pitchFamily="18" charset="0"/>
                              </a:rPr>
                            </m:ctrlPr>
                          </m:sSubPr>
                          <m:e>
                            <m:r>
                              <a:rPr lang="en-US" sz="2600" i="1">
                                <a:latin typeface="Cambria Math" panose="02040503050406030204" pitchFamily="18" charset="0"/>
                              </a:rPr>
                              <m:t>𝑥</m:t>
                            </m:r>
                          </m:e>
                          <m:sub>
                            <m:r>
                              <a:rPr lang="en-US" sz="2600" b="0" i="1" smtClean="0">
                                <a:latin typeface="Cambria Math" panose="02040503050406030204" pitchFamily="18" charset="0"/>
                              </a:rPr>
                              <m:t>𝑛</m:t>
                            </m:r>
                          </m:sub>
                        </m:sSub>
                        <m:r>
                          <a:rPr lang="en-US" sz="2600" b="0" i="1" smtClean="0">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e>
                    </m:d>
                    <m:r>
                      <a:rPr lang="en-US" sz="2600" b="0" i="1" smtClean="0">
                        <a:latin typeface="Cambria Math" panose="02040503050406030204" pitchFamily="18" charset="0"/>
                      </a:rPr>
                      <m:t> </m:t>
                    </m:r>
                    <m:r>
                      <a:rPr lang="en-US" sz="2600" b="0" i="1" smtClean="0">
                        <a:latin typeface="Cambria Math" panose="02040503050406030204" pitchFamily="18" charset="0"/>
                        <a:ea typeface="Cambria Math" panose="02040503050406030204" pitchFamily="18" charset="0"/>
                      </a:rPr>
                      <m:t>∙</m:t>
                    </m:r>
                    <m:r>
                      <a:rPr lang="en-US" sz="2600" b="0" i="1" smtClean="0">
                        <a:latin typeface="Cambria Math" panose="02040503050406030204" pitchFamily="18" charset="0"/>
                        <a:ea typeface="Cambria Math" panose="02040503050406030204" pitchFamily="18" charset="0"/>
                      </a:rPr>
                      <m:t>𝑃</m:t>
                    </m:r>
                    <m:r>
                      <a:rPr lang="en-US" sz="2600" b="0" i="1" smtClean="0">
                        <a:latin typeface="Cambria Math" panose="02040503050406030204" pitchFamily="18" charset="0"/>
                        <a:ea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𝐶</m:t>
                        </m:r>
                      </m:e>
                      <m:sub>
                        <m:r>
                          <a:rPr lang="en-US" sz="2600" i="1">
                            <a:latin typeface="Cambria Math" panose="02040503050406030204" pitchFamily="18" charset="0"/>
                          </a:rPr>
                          <m:t>𝑘</m:t>
                        </m:r>
                      </m:sub>
                    </m:sSub>
                  </m:oMath>
                </a14:m>
                <a:r>
                  <a:rPr lang="en-GB" sz="2600" dirty="0"/>
                  <a:t>)</a:t>
                </a:r>
              </a:p>
              <a:p>
                <a:r>
                  <a:rPr lang="en-GB" sz="2400" b="0" dirty="0"/>
                  <a:t>Now the “naïve” conditional independence assumptions come into play: assume that all features in </a:t>
                </a:r>
                <a:r>
                  <a:rPr lang="en-GB" sz="2400" b="0" i="1" dirty="0"/>
                  <a:t>X</a:t>
                </a:r>
                <a:r>
                  <a:rPr lang="en-GB" sz="2400" b="0" dirty="0"/>
                  <a:t> are mutually independent, conditional on the category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𝑘</m:t>
                        </m:r>
                      </m:sub>
                    </m:sSub>
                  </m:oMath>
                </a14:m>
                <a:r>
                  <a:rPr lang="en-GB" sz="2400" b="0" dirty="0"/>
                  <a:t>. Under this assumption,</a:t>
                </a:r>
              </a:p>
              <a:p>
                <a:pPr marL="914400" lvl="2" indent="0">
                  <a:buNone/>
                </a:pPr>
                <a14:m>
                  <m:oMath xmlns:m="http://schemas.openxmlformats.org/officeDocument/2006/math">
                    <m:r>
                      <a:rPr lang="en-US" sz="2400" b="0" i="1" smtClean="0">
                        <a:latin typeface="Cambria Math" panose="02040503050406030204" pitchFamily="18" charset="0"/>
                      </a:rPr>
                      <m:t>𝑃</m:t>
                    </m:r>
                    <m:d>
                      <m:dPr>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  </m:t>
                        </m:r>
                        <m:sSub>
                          <m:sSubPr>
                            <m:ctrlPr>
                              <a:rPr lang="en-US" sz="2400" i="1" smtClean="0">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𝑖</m:t>
                            </m:r>
                            <m:r>
                              <a:rPr lang="en-US" sz="2400" b="0" i="1" smtClean="0">
                                <a:latin typeface="Cambria Math" panose="02040503050406030204" pitchFamily="18" charset="0"/>
                              </a:rPr>
                              <m:t>+1</m:t>
                            </m:r>
                          </m:sub>
                        </m:sSub>
                        <m:r>
                          <m:rPr>
                            <m:nor/>
                          </m:rPr>
                          <a:rPr lang="en-US" sz="2400" dirty="0"/>
                          <m:t>,…,  </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𝑘</m:t>
                            </m:r>
                          </m:sub>
                        </m:sSub>
                      </m:e>
                    </m:d>
                  </m:oMath>
                </a14:m>
                <a:r>
                  <a:rPr lang="en-US" sz="2400" b="0" dirty="0"/>
                  <a:t> = </a:t>
                </a:r>
                <a14:m>
                  <m:oMath xmlns:m="http://schemas.openxmlformats.org/officeDocument/2006/math">
                    <m:r>
                      <a:rPr lang="en-US" sz="2400" b="0" i="1" smtClean="0">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 </m:t>
                        </m:r>
                        <m:r>
                          <a:rPr lang="en-US" sz="2400" i="1">
                            <a:latin typeface="Cambria Math" panose="02040503050406030204" pitchFamily="18" charset="0"/>
                          </a:rPr>
                          <m:t>|</m:t>
                        </m:r>
                        <m:r>
                          <a:rPr lang="en-US" sz="2400" b="0" i="1" smtClean="0">
                            <a:latin typeface="Cambria Math" panose="02040503050406030204" pitchFamily="18" charset="0"/>
                          </a:rPr>
                          <m:t> </m:t>
                        </m:r>
                        <m:sSub>
                          <m:sSubPr>
                            <m:ctrlPr>
                              <a:rPr lang="en-US" sz="2400" i="1" smtClean="0">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𝑘</m:t>
                            </m:r>
                          </m:sub>
                        </m:sSub>
                      </m:e>
                    </m:d>
                  </m:oMath>
                </a14:m>
                <a:r>
                  <a:rPr lang="en-US" sz="2400" b="0" dirty="0"/>
                  <a:t> </a:t>
                </a:r>
                <a:r>
                  <a:rPr lang="en-US" sz="1300" b="0" dirty="0"/>
                  <a:t>[P(A|B, C) = P(A|B), if A and C are independent]</a:t>
                </a:r>
              </a:p>
            </p:txBody>
          </p:sp>
        </mc:Choice>
        <mc:Fallback xmlns="">
          <p:sp>
            <p:nvSpPr>
              <p:cNvPr id="3" name="Content Placeholder 2">
                <a:extLst>
                  <a:ext uri="{FF2B5EF4-FFF2-40B4-BE49-F238E27FC236}">
                    <a16:creationId xmlns:a16="http://schemas.microsoft.com/office/drawing/2014/main" id="{63487DCC-D2ED-48F4-5DB4-CE77EEAD7318}"/>
                  </a:ext>
                </a:extLst>
              </p:cNvPr>
              <p:cNvSpPr>
                <a:spLocks noGrp="1" noRot="1" noChangeAspect="1" noMove="1" noResize="1" noEditPoints="1" noAdjustHandles="1" noChangeArrowheads="1" noChangeShapeType="1" noTextEdit="1"/>
              </p:cNvSpPr>
              <p:nvPr>
                <p:ph idx="1"/>
              </p:nvPr>
            </p:nvSpPr>
            <p:spPr>
              <a:xfrm>
                <a:off x="838200" y="1825624"/>
                <a:ext cx="10515600" cy="4667251"/>
              </a:xfrm>
              <a:blipFill>
                <a:blip r:embed="rId2"/>
                <a:stretch>
                  <a:fillRect l="-812" t="-2611"/>
                </a:stretch>
              </a:blipFill>
            </p:spPr>
            <p:txBody>
              <a:bodyPr/>
              <a:lstStyle/>
              <a:p>
                <a:r>
                  <a:rPr lang="en-US">
                    <a:noFill/>
                  </a:rPr>
                  <a:t> </a:t>
                </a:r>
              </a:p>
            </p:txBody>
          </p:sp>
        </mc:Fallback>
      </mc:AlternateContent>
    </p:spTree>
    <p:extLst>
      <p:ext uri="{BB962C8B-B14F-4D97-AF65-F5344CB8AC3E}">
        <p14:creationId xmlns:p14="http://schemas.microsoft.com/office/powerpoint/2010/main" val="1116923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8804-F796-AE49-F014-5C4CAA6E7EFE}"/>
              </a:ext>
            </a:extLst>
          </p:cNvPr>
          <p:cNvSpPr>
            <a:spLocks noGrp="1"/>
          </p:cNvSpPr>
          <p:nvPr>
            <p:ph type="title"/>
          </p:nvPr>
        </p:nvSpPr>
        <p:spPr/>
        <p:txBody>
          <a:bodyPr/>
          <a:lstStyle/>
          <a:p>
            <a:r>
              <a:rPr lang="en-US" dirty="0"/>
              <a:t>Formulating the classifier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A22007-C86F-3F51-AE5F-3191EF3D32F7}"/>
                  </a:ext>
                </a:extLst>
              </p:cNvPr>
              <p:cNvSpPr>
                <a:spLocks noGrp="1"/>
              </p:cNvSpPr>
              <p:nvPr>
                <p:ph idx="1"/>
              </p:nvPr>
            </p:nvSpPr>
            <p:spPr/>
            <p:txBody>
              <a:bodyPr>
                <a:normAutofit lnSpcReduction="10000"/>
              </a:bodyPr>
              <a:lstStyle/>
              <a:p>
                <a:r>
                  <a:rPr lang="en-GB" dirty="0"/>
                  <a:t>Thus, the joint model can be expressed as: </a:t>
                </a:r>
              </a:p>
              <a:p>
                <a:pPr marL="914400" lvl="2" indent="0">
                  <a:buNone/>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m:rPr>
                        <m:nor/>
                      </m:rPr>
                      <a:rPr lang="en-US" dirty="0"/>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𝑛</m:t>
                        </m:r>
                      </m:sub>
                    </m:sSub>
                    <m:r>
                      <a:rPr lang="en-US" i="1">
                        <a:latin typeface="Cambria Math" panose="02040503050406030204" pitchFamily="18" charset="0"/>
                      </a:rPr>
                      <m:t>)</m:t>
                    </m:r>
                  </m:oMath>
                </a14:m>
                <a:endParaRPr lang="en-GB" dirty="0"/>
              </a:p>
              <a:p>
                <a:pPr marL="914400" lvl="2" indent="0">
                  <a:buNone/>
                </a:pPr>
                <a:r>
                  <a:rPr lang="en-GB" dirty="0"/>
                  <a:t>	= </a:t>
                </a:r>
                <a14:m>
                  <m:oMath xmlns:m="http://schemas.openxmlformats.org/officeDocument/2006/math">
                    <m:r>
                      <a:rPr lang="en-US" b="0" i="1" smtClean="0">
                        <a:latin typeface="Cambria Math" panose="02040503050406030204" pitchFamily="18" charset="0"/>
                      </a:rPr>
                      <m:t>𝑃</m:t>
                    </m:r>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3</m:t>
                            </m:r>
                          </m:sub>
                        </m:sSub>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 </m:t>
                    </m:r>
                    <m:r>
                      <a:rPr lang="en-US" i="1">
                        <a:latin typeface="Cambria Math" panose="02040503050406030204" pitchFamily="18" charset="0"/>
                        <a:ea typeface="Cambria Math" panose="02040503050406030204" pitchFamily="18" charset="0"/>
                      </a:rPr>
                      <m:t> </m:t>
                    </m:r>
                  </m:oMath>
                </a14:m>
                <a:endParaRPr lang="en-GB" dirty="0"/>
              </a:p>
              <a:p>
                <a:pPr marL="914400" lvl="2" indent="0">
                  <a:buNone/>
                </a:pPr>
                <a:r>
                  <a:rPr lang="en-GB" dirty="0"/>
                  <a:t>	= </a:t>
                </a:r>
                <a14:m>
                  <m:oMath xmlns:m="http://schemas.openxmlformats.org/officeDocument/2006/math">
                    <m:r>
                      <a:rPr lang="en-US" b="0" i="1" smtClean="0">
                        <a:latin typeface="Cambria Math" panose="02040503050406030204" pitchFamily="18" charset="0"/>
                      </a:rPr>
                      <m:t>𝑃</m:t>
                    </m:r>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e>
                    </m:nary>
                  </m:oMath>
                </a14:m>
                <a:r>
                  <a:rPr lang="en-GB" dirty="0"/>
                  <a:t>  </a:t>
                </a:r>
              </a:p>
              <a:p>
                <a:pPr marL="457200" lvl="1" indent="0">
                  <a:buNone/>
                </a:pPr>
                <a:r>
                  <a:rPr lang="en-US" dirty="0"/>
                  <a:t>where ∝ denotes proportionality since the denominator </a:t>
                </a:r>
                <a14:m>
                  <m:oMath xmlns:m="http://schemas.openxmlformats.org/officeDocument/2006/math">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a14:m>
                <a:r>
                  <a:rPr lang="en-US" dirty="0"/>
                  <a:t> is omitted.</a:t>
                </a:r>
              </a:p>
              <a:p>
                <a:r>
                  <a:rPr lang="en-US" dirty="0"/>
                  <a:t>This means, </a:t>
                </a:r>
                <a:r>
                  <a:rPr lang="en-GB" dirty="0"/>
                  <a:t>that under the above independence assumptions, the conditional distribution over the class variable </a:t>
                </a:r>
                <a:r>
                  <a:rPr lang="en-GB" i="1" dirty="0"/>
                  <a:t>C</a:t>
                </a:r>
                <a:r>
                  <a:rPr lang="en-GB" dirty="0"/>
                  <a:t> is:</a:t>
                </a:r>
              </a:p>
              <a:p>
                <a:pPr marL="914400" lvl="2" indent="0">
                  <a:buNone/>
                </a:pPr>
                <a14:m>
                  <m:oMath xmlns:m="http://schemas.openxmlformats.org/officeDocument/2006/math">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𝐶</m:t>
                            </m:r>
                          </m:e>
                          <m:sub>
                            <m:r>
                              <a:rPr lang="en-US" sz="2000" b="0" i="1" smtClean="0">
                                <a:latin typeface="Cambria Math" panose="02040503050406030204" pitchFamily="18" charset="0"/>
                              </a:rPr>
                              <m:t>𝑘</m:t>
                            </m:r>
                          </m:sub>
                        </m:sSub>
                      </m:e>
                    </m:d>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b="0" i="1" smtClean="0">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 </m:t>
                        </m:r>
                        <m:nary>
                          <m:naryPr>
                            <m:chr m:val="∏"/>
                            <m:ctrlPr>
                              <a:rPr lang="en-US" i="1">
                                <a:latin typeface="Cambria Math" panose="02040503050406030204" pitchFamily="18" charset="0"/>
                                <a:ea typeface="Cambria Math" panose="02040503050406030204" pitchFamily="18" charset="0"/>
                              </a:rPr>
                            </m:ctrlPr>
                          </m:naryPr>
                          <m:sub>
                            <m:r>
                              <m:rPr>
                                <m:brk m:alnAt="23"/>
                              </m:rP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=1</m:t>
                            </m:r>
                          </m:sub>
                          <m:sup>
                            <m:r>
                              <a:rPr lang="en-US" i="1">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𝑥</m:t>
                                    </m:r>
                                  </m:e>
                                  <m:sub>
                                    <m:r>
                                      <a:rPr 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 </m:t>
                            </m:r>
                          </m:e>
                        </m:nary>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den>
                    </m:f>
                  </m:oMath>
                </a14:m>
                <a:r>
                  <a:rPr lang="en-US" dirty="0"/>
                  <a:t>  </a:t>
                </a:r>
              </a:p>
              <a:p>
                <a:pPr marL="457200" lvl="1" indent="0">
                  <a:buNone/>
                </a:pPr>
                <a:r>
                  <a:rPr lang="en-US" dirty="0"/>
                  <a:t>Here, the evidence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𝑘</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 </m:t>
                        </m:r>
                      </m:e>
                    </m:nary>
                  </m:oMath>
                </a14:m>
                <a:r>
                  <a:rPr lang="en-US" dirty="0"/>
                  <a:t>is the scaling factor, and is constant, </a:t>
                </a:r>
                <a:r>
                  <a:rPr lang="en-US" dirty="0" err="1"/>
                  <a:t>i</a:t>
                </a:r>
                <a:r>
                  <a:rPr lang="en-GB" dirty="0"/>
                  <a:t>f the values of the feature variables are known.</a:t>
                </a:r>
                <a:endParaRPr lang="en-US" dirty="0"/>
              </a:p>
              <a:p>
                <a:pPr marL="914400" lvl="2" indent="0">
                  <a:buNone/>
                </a:pPr>
                <a:endParaRPr lang="en-US" dirty="0"/>
              </a:p>
            </p:txBody>
          </p:sp>
        </mc:Choice>
        <mc:Fallback xmlns="">
          <p:sp>
            <p:nvSpPr>
              <p:cNvPr id="3" name="Content Placeholder 2">
                <a:extLst>
                  <a:ext uri="{FF2B5EF4-FFF2-40B4-BE49-F238E27FC236}">
                    <a16:creationId xmlns:a16="http://schemas.microsoft.com/office/drawing/2014/main" id="{F1A22007-C86F-3F51-AE5F-3191EF3D32F7}"/>
                  </a:ext>
                </a:extLst>
              </p:cNvPr>
              <p:cNvSpPr>
                <a:spLocks noGrp="1" noRot="1" noChangeAspect="1" noMove="1" noResize="1" noEditPoints="1" noAdjustHandles="1" noChangeArrowheads="1" noChangeShapeType="1" noTextEdit="1"/>
              </p:cNvSpPr>
              <p:nvPr>
                <p:ph idx="1"/>
              </p:nvPr>
            </p:nvSpPr>
            <p:spPr>
              <a:blipFill>
                <a:blip r:embed="rId2"/>
                <a:stretch>
                  <a:fillRect l="-1043" t="-3361" r="-812" b="-12325"/>
                </a:stretch>
              </a:blipFill>
            </p:spPr>
            <p:txBody>
              <a:bodyPr/>
              <a:lstStyle/>
              <a:p>
                <a:r>
                  <a:rPr lang="en-US">
                    <a:noFill/>
                  </a:rPr>
                  <a:t> </a:t>
                </a:r>
              </a:p>
            </p:txBody>
          </p:sp>
        </mc:Fallback>
      </mc:AlternateContent>
    </p:spTree>
    <p:extLst>
      <p:ext uri="{BB962C8B-B14F-4D97-AF65-F5344CB8AC3E}">
        <p14:creationId xmlns:p14="http://schemas.microsoft.com/office/powerpoint/2010/main" val="855169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4FDF8-0A48-E910-20A7-51E02A1E55D9}"/>
              </a:ext>
            </a:extLst>
          </p:cNvPr>
          <p:cNvSpPr>
            <a:spLocks noGrp="1"/>
          </p:cNvSpPr>
          <p:nvPr>
            <p:ph type="title"/>
          </p:nvPr>
        </p:nvSpPr>
        <p:spPr/>
        <p:txBody>
          <a:bodyPr/>
          <a:lstStyle/>
          <a:p>
            <a:r>
              <a:rPr lang="en-GB" dirty="0"/>
              <a:t>Constructing a classifier from the probability model</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E9F002-7748-46A3-6A46-E44297F64EC8}"/>
                  </a:ext>
                </a:extLst>
              </p:cNvPr>
              <p:cNvSpPr>
                <a:spLocks noGrp="1"/>
              </p:cNvSpPr>
              <p:nvPr>
                <p:ph idx="1"/>
              </p:nvPr>
            </p:nvSpPr>
            <p:spPr/>
            <p:txBody>
              <a:bodyPr>
                <a:normAutofit/>
              </a:bodyPr>
              <a:lstStyle/>
              <a:p>
                <a:r>
                  <a:rPr lang="en-GB" dirty="0"/>
                  <a:t>The discussion so far has derived the independent feature model, that is, the naive Bayes probability model. The naive Bayes classifier combines this model with a decision rule. </a:t>
                </a:r>
              </a:p>
              <a:p>
                <a:r>
                  <a:rPr lang="en-GB" dirty="0"/>
                  <a:t>One common rule is to pick the hypothesis that is most probable to minimize the probability of misclassification; this is known as the maximum a posteriori or MAP decision rule. The corresponding classifier, a Bayes classifier, is the function that assigns a class label </a:t>
                </a:r>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GB" dirty="0"/>
                  <a:t> for some </a:t>
                </a:r>
                <a:r>
                  <a:rPr lang="en-GB" i="1" dirty="0"/>
                  <a:t>k</a:t>
                </a:r>
                <a:r>
                  <a:rPr lang="en-GB" dirty="0"/>
                  <a:t> as follows:</a:t>
                </a:r>
              </a:p>
              <a:p>
                <a:pPr marL="914400" lvl="2" indent="0">
                  <a:buNone/>
                </a:pPr>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𝑘</m:t>
                            </m:r>
                            <m:r>
                              <a:rPr lang="en-US" b="0" i="1" smtClean="0">
                                <a:latin typeface="Cambria Math" panose="02040503050406030204" pitchFamily="18" charset="0"/>
                              </a:rPr>
                              <m:t> ∈{1, …</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m:t>
                        </m:r>
                        <m:nary>
                          <m:naryPr>
                            <m:chr m:val="∏"/>
                            <m:grow m:val="on"/>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𝑖</m:t>
                            </m:r>
                            <m:r>
                              <a:rPr lang="en-US" i="1" smtClean="0">
                                <a:latin typeface="Cambria Math" panose="02040503050406030204" pitchFamily="18" charset="0"/>
                                <a:ea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𝑥</m:t>
                                    </m:r>
                                  </m:e>
                                  <m:sub>
                                    <m:r>
                                      <a:rPr lang="en-US" i="1" smtClean="0">
                                        <a:latin typeface="Cambria Math" panose="02040503050406030204" pitchFamily="18" charset="0"/>
                                        <a:ea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 </m:t>
                                </m:r>
                              </m:e>
                            </m:d>
                            <m:r>
                              <a:rPr lang="en-US"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𝐶</m:t>
                                </m:r>
                              </m:e>
                              <m:sub>
                                <m:r>
                                  <a:rPr lang="en-US" i="1" smtClean="0">
                                    <a:latin typeface="Cambria Math" panose="02040503050406030204" pitchFamily="18" charset="0"/>
                                    <a:ea typeface="Cambria Math" panose="02040503050406030204" pitchFamily="18" charset="0"/>
                                  </a:rPr>
                                  <m:t>𝑘</m:t>
                                </m:r>
                              </m:sub>
                            </m:sSub>
                            <m:r>
                              <a:rPr lang="en-US" i="1" smtClean="0">
                                <a:latin typeface="Cambria Math" panose="02040503050406030204" pitchFamily="18" charset="0"/>
                                <a:ea typeface="Cambria Math" panose="02040503050406030204" pitchFamily="18" charset="0"/>
                              </a:rPr>
                              <m:t>) </m:t>
                            </m:r>
                          </m:e>
                        </m:nary>
                      </m:e>
                    </m:func>
                  </m:oMath>
                </a14:m>
                <a:r>
                  <a:rPr lang="en-US" dirty="0"/>
                  <a:t>  </a:t>
                </a:r>
              </a:p>
              <a:p>
                <a:pPr marL="914400" lvl="2" indent="0">
                  <a:buNone/>
                </a:pPr>
                <a:endParaRPr lang="en-US" dirty="0"/>
              </a:p>
            </p:txBody>
          </p:sp>
        </mc:Choice>
        <mc:Fallback xmlns="">
          <p:sp>
            <p:nvSpPr>
              <p:cNvPr id="3" name="Content Placeholder 2">
                <a:extLst>
                  <a:ext uri="{FF2B5EF4-FFF2-40B4-BE49-F238E27FC236}">
                    <a16:creationId xmlns:a16="http://schemas.microsoft.com/office/drawing/2014/main" id="{7CE9F002-7748-46A3-6A46-E44297F64EC8}"/>
                  </a:ext>
                </a:extLst>
              </p:cNvPr>
              <p:cNvSpPr>
                <a:spLocks noGrp="1" noRot="1" noChangeAspect="1" noMove="1" noResize="1" noEditPoints="1" noAdjustHandles="1" noChangeArrowheads="1" noChangeShapeType="1" noTextEdit="1"/>
              </p:cNvSpPr>
              <p:nvPr>
                <p:ph idx="1"/>
              </p:nvPr>
            </p:nvSpPr>
            <p:spPr>
              <a:blipFill>
                <a:blip r:embed="rId2"/>
                <a:stretch>
                  <a:fillRect l="-1043" t="-2381" r="-1797" b="-15266"/>
                </a:stretch>
              </a:blipFill>
            </p:spPr>
            <p:txBody>
              <a:bodyPr/>
              <a:lstStyle/>
              <a:p>
                <a:r>
                  <a:rPr lang="en-US">
                    <a:noFill/>
                  </a:rPr>
                  <a:t> </a:t>
                </a:r>
              </a:p>
            </p:txBody>
          </p:sp>
        </mc:Fallback>
      </mc:AlternateContent>
    </p:spTree>
    <p:extLst>
      <p:ext uri="{BB962C8B-B14F-4D97-AF65-F5344CB8AC3E}">
        <p14:creationId xmlns:p14="http://schemas.microsoft.com/office/powerpoint/2010/main" val="518143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1D00E-A604-A412-41BA-E70AF984F9DC}"/>
              </a:ext>
            </a:extLst>
          </p:cNvPr>
          <p:cNvSpPr>
            <a:spLocks noGrp="1"/>
          </p:cNvSpPr>
          <p:nvPr>
            <p:ph type="title"/>
          </p:nvPr>
        </p:nvSpPr>
        <p:spPr/>
        <p:txBody>
          <a:bodyPr/>
          <a:lstStyle/>
          <a:p>
            <a:r>
              <a:rPr lang="en-US" dirty="0"/>
              <a:t>Solving the problem using Naïve Bayes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C20D57-C92C-8A5C-F8E2-97C1CF6BBD57}"/>
                  </a:ext>
                </a:extLst>
              </p:cNvPr>
              <p:cNvSpPr>
                <a:spLocks noGrp="1"/>
              </p:cNvSpPr>
              <p:nvPr>
                <p:ph idx="1"/>
              </p:nvPr>
            </p:nvSpPr>
            <p:spPr/>
            <p:txBody>
              <a:bodyPr>
                <a:normAutofit fontScale="92500" lnSpcReduction="10000"/>
              </a:bodyPr>
              <a:lstStyle/>
              <a:p>
                <a:r>
                  <a:rPr lang="en-GB" dirty="0"/>
                  <a:t>Let’s apply Naive Bayes to the weather training data. The hypothesis space is C </a:t>
                </a:r>
                <a:r>
                  <a:rPr lang="en-GB" i="1" dirty="0"/>
                  <a:t>= {yes, no}</a:t>
                </a:r>
                <a:r>
                  <a:rPr lang="en-GB" dirty="0"/>
                  <a:t>. We are asked to classify the following new instance:</a:t>
                </a:r>
              </a:p>
              <a:p>
                <a:endParaRPr lang="en-US" dirty="0"/>
              </a:p>
              <a:p>
                <a:endParaRPr lang="en-US" dirty="0"/>
              </a:p>
              <a:p>
                <a:endParaRPr lang="en-US" dirty="0"/>
              </a:p>
              <a:p>
                <a:r>
                  <a:rPr lang="en-US" dirty="0"/>
                  <a:t>The solution is, </a:t>
                </a:r>
              </a:p>
              <a:p>
                <a:pPr marL="457200" lvl="1" indent="0">
                  <a:buNone/>
                </a:pPr>
                <a:r>
                  <a:rPr lang="en-GB" dirty="0"/>
                  <a:t>	</a:t>
                </a:r>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rPr>
                              <m:t>𝑦𝑒𝑠</m:t>
                            </m:r>
                            <m:r>
                              <a:rPr lang="en-US" b="0" i="1" smtClean="0">
                                <a:latin typeface="Cambria Math" panose="02040503050406030204" pitchFamily="18" charset="0"/>
                              </a:rPr>
                              <m:t>,  </m:t>
                            </m:r>
                            <m:r>
                              <a:rPr lang="en-US" b="0" i="1" smtClean="0">
                                <a:latin typeface="Cambria Math" panose="02040503050406030204" pitchFamily="18" charset="0"/>
                              </a:rPr>
                              <m:t>𝑛𝑜</m:t>
                            </m:r>
                            <m:r>
                              <a:rPr lang="en-US" b="0" i="1" smtClean="0">
                                <a:latin typeface="Cambria Math" panose="02040503050406030204" pitchFamily="18" charset="0"/>
                                <a:ea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m:t>
                        </m:r>
                        <m:nary>
                          <m:naryPr>
                            <m:chr m:val="∏"/>
                            <m:grow m:val="on"/>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𝑖</m:t>
                            </m:r>
                            <m:r>
                              <a:rPr lang="en-US" i="1" smtClean="0">
                                <a:latin typeface="Cambria Math" panose="02040503050406030204" pitchFamily="18" charset="0"/>
                                <a:ea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𝑥</m:t>
                                    </m:r>
                                  </m:e>
                                  <m:sub>
                                    <m:r>
                                      <a:rPr lang="en-US" i="1" smtClean="0">
                                        <a:latin typeface="Cambria Math" panose="02040503050406030204" pitchFamily="18" charset="0"/>
                                        <a:ea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 </m:t>
                                </m:r>
                              </m:e>
                            </m:d>
                            <m:r>
                              <a:rPr lang="en-US"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𝐶</m:t>
                                </m:r>
                              </m:e>
                              <m:sub>
                                <m:r>
                                  <a:rPr lang="en-US" i="1" smtClean="0">
                                    <a:latin typeface="Cambria Math" panose="02040503050406030204" pitchFamily="18" charset="0"/>
                                    <a:ea typeface="Cambria Math" panose="02040503050406030204" pitchFamily="18" charset="0"/>
                                  </a:rPr>
                                  <m:t>𝑘</m:t>
                                </m:r>
                              </m:sub>
                            </m:sSub>
                            <m:r>
                              <a:rPr lang="en-US" i="1" smtClean="0">
                                <a:latin typeface="Cambria Math" panose="02040503050406030204" pitchFamily="18" charset="0"/>
                                <a:ea typeface="Cambria Math" panose="02040503050406030204" pitchFamily="18" charset="0"/>
                              </a:rPr>
                              <m:t>) </m:t>
                            </m:r>
                          </m:e>
                        </m:nary>
                      </m:e>
                    </m:func>
                  </m:oMath>
                </a14:m>
                <a:endParaRPr lang="en-US" dirty="0"/>
              </a:p>
              <a:p>
                <a:pPr marL="457200" lvl="1" indent="0">
                  <a:buNone/>
                </a:pPr>
                <a:r>
                  <a:rPr lang="en-US" dirty="0"/>
                  <a:t>	=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rPr>
                              <m:t>𝑦𝑒𝑠</m:t>
                            </m:r>
                            <m:r>
                              <a:rPr lang="en-US" b="0" i="1" smtClean="0">
                                <a:latin typeface="Cambria Math" panose="02040503050406030204" pitchFamily="18" charset="0"/>
                              </a:rPr>
                              <m:t>,  </m:t>
                            </m:r>
                            <m:r>
                              <a:rPr lang="en-US" b="0" i="1" smtClean="0">
                                <a:latin typeface="Cambria Math" panose="02040503050406030204" pitchFamily="18" charset="0"/>
                              </a:rPr>
                              <m:t>𝑛𝑜</m:t>
                            </m:r>
                            <m:r>
                              <a:rPr lang="en-US" b="0" i="1" smtClean="0">
                                <a:latin typeface="Cambria Math" panose="02040503050406030204" pitchFamily="18" charset="0"/>
                                <a:ea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𝑜𝑢𝑡𝑙𝑜𝑜𝑘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𝑠𝑢𝑛𝑛𝑦</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𝑡𝑒𝑚𝑝</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𝑐𝑜𝑜𝑙</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h𝑢𝑚𝑖𝑑𝑖𝑡𝑦</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h𝑖𝑔h</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𝑤𝑖𝑛𝑑𝑦</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𝑡𝑟𝑢𝑒</m:t>
                            </m:r>
                            <m:r>
                              <a:rPr lang="en-US" i="1">
                                <a:latin typeface="Cambria Math" panose="02040503050406030204" pitchFamily="18" charset="0"/>
                                <a:ea typeface="Cambria Math" panose="02040503050406030204" pitchFamily="18" charset="0"/>
                              </a:rPr>
                              <m:t> </m:t>
                            </m:r>
                          </m:e>
                        </m:d>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e>
                    </m:func>
                  </m:oMath>
                </a14:m>
                <a:endParaRPr lang="en-US" dirty="0"/>
              </a:p>
            </p:txBody>
          </p:sp>
        </mc:Choice>
        <mc:Fallback xmlns="">
          <p:sp>
            <p:nvSpPr>
              <p:cNvPr id="3" name="Content Placeholder 2">
                <a:extLst>
                  <a:ext uri="{FF2B5EF4-FFF2-40B4-BE49-F238E27FC236}">
                    <a16:creationId xmlns:a16="http://schemas.microsoft.com/office/drawing/2014/main" id="{74C20D57-C92C-8A5C-F8E2-97C1CF6BBD57}"/>
                  </a:ext>
                </a:extLst>
              </p:cNvPr>
              <p:cNvSpPr>
                <a:spLocks noGrp="1" noRot="1" noChangeAspect="1" noMove="1" noResize="1" noEditPoints="1" noAdjustHandles="1" noChangeArrowheads="1" noChangeShapeType="1" noTextEdit="1"/>
              </p:cNvSpPr>
              <p:nvPr>
                <p:ph idx="1"/>
              </p:nvPr>
            </p:nvSpPr>
            <p:spPr>
              <a:blipFill>
                <a:blip r:embed="rId3"/>
                <a:stretch>
                  <a:fillRect l="-928" t="-3081" b="-13866"/>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2F1DA843-92EB-04E9-4A67-11E5169F2B95}"/>
              </a:ext>
            </a:extLst>
          </p:cNvPr>
          <p:cNvGraphicFramePr>
            <a:graphicFrameLocks noGrp="1"/>
          </p:cNvGraphicFramePr>
          <p:nvPr>
            <p:extLst>
              <p:ext uri="{D42A27DB-BD31-4B8C-83A1-F6EECF244321}">
                <p14:modId xmlns:p14="http://schemas.microsoft.com/office/powerpoint/2010/main" val="3199694838"/>
              </p:ext>
            </p:extLst>
          </p:nvPr>
        </p:nvGraphicFramePr>
        <p:xfrm>
          <a:off x="2032000" y="3259614"/>
          <a:ext cx="8128000" cy="741680"/>
        </p:xfrm>
        <a:graphic>
          <a:graphicData uri="http://schemas.openxmlformats.org/drawingml/2006/table">
            <a:tbl>
              <a:tblPr firstRow="1" bandRow="1">
                <a:tableStyleId>{9D7B26C5-4107-4FEC-AEDC-1716B250A1EF}</a:tableStyleId>
              </a:tblPr>
              <a:tblGrid>
                <a:gridCol w="1625600">
                  <a:extLst>
                    <a:ext uri="{9D8B030D-6E8A-4147-A177-3AD203B41FA5}">
                      <a16:colId xmlns:a16="http://schemas.microsoft.com/office/drawing/2014/main" val="2114690219"/>
                    </a:ext>
                  </a:extLst>
                </a:gridCol>
                <a:gridCol w="1625600">
                  <a:extLst>
                    <a:ext uri="{9D8B030D-6E8A-4147-A177-3AD203B41FA5}">
                      <a16:colId xmlns:a16="http://schemas.microsoft.com/office/drawing/2014/main" val="629192691"/>
                    </a:ext>
                  </a:extLst>
                </a:gridCol>
                <a:gridCol w="1625600">
                  <a:extLst>
                    <a:ext uri="{9D8B030D-6E8A-4147-A177-3AD203B41FA5}">
                      <a16:colId xmlns:a16="http://schemas.microsoft.com/office/drawing/2014/main" val="3736167988"/>
                    </a:ext>
                  </a:extLst>
                </a:gridCol>
                <a:gridCol w="1625600">
                  <a:extLst>
                    <a:ext uri="{9D8B030D-6E8A-4147-A177-3AD203B41FA5}">
                      <a16:colId xmlns:a16="http://schemas.microsoft.com/office/drawing/2014/main" val="3097256822"/>
                    </a:ext>
                  </a:extLst>
                </a:gridCol>
                <a:gridCol w="1625600">
                  <a:extLst>
                    <a:ext uri="{9D8B030D-6E8A-4147-A177-3AD203B41FA5}">
                      <a16:colId xmlns:a16="http://schemas.microsoft.com/office/drawing/2014/main" val="2906714216"/>
                    </a:ext>
                  </a:extLst>
                </a:gridCol>
              </a:tblGrid>
              <a:tr h="370840">
                <a:tc>
                  <a:txBody>
                    <a:bodyPr/>
                    <a:lstStyle/>
                    <a:p>
                      <a:r>
                        <a:rPr lang="en-US" dirty="0"/>
                        <a:t>Outlook</a:t>
                      </a:r>
                    </a:p>
                  </a:txBody>
                  <a:tcPr/>
                </a:tc>
                <a:tc>
                  <a:txBody>
                    <a:bodyPr/>
                    <a:lstStyle/>
                    <a:p>
                      <a:r>
                        <a:rPr lang="en-US" dirty="0"/>
                        <a:t>Temp.</a:t>
                      </a:r>
                    </a:p>
                  </a:txBody>
                  <a:tcPr/>
                </a:tc>
                <a:tc>
                  <a:txBody>
                    <a:bodyPr/>
                    <a:lstStyle/>
                    <a:p>
                      <a:r>
                        <a:rPr lang="en-US" dirty="0"/>
                        <a:t>Humidity</a:t>
                      </a:r>
                    </a:p>
                  </a:txBody>
                  <a:tcPr/>
                </a:tc>
                <a:tc>
                  <a:txBody>
                    <a:bodyPr/>
                    <a:lstStyle/>
                    <a:p>
                      <a:r>
                        <a:rPr lang="en-US" dirty="0"/>
                        <a:t>Windy</a:t>
                      </a:r>
                    </a:p>
                  </a:txBody>
                  <a:tcPr/>
                </a:tc>
                <a:tc>
                  <a:txBody>
                    <a:bodyPr/>
                    <a:lstStyle/>
                    <a:p>
                      <a:r>
                        <a:rPr lang="en-US" dirty="0"/>
                        <a:t>Play</a:t>
                      </a:r>
                    </a:p>
                  </a:txBody>
                  <a:tcPr/>
                </a:tc>
                <a:extLst>
                  <a:ext uri="{0D108BD9-81ED-4DB2-BD59-A6C34878D82A}">
                    <a16:rowId xmlns:a16="http://schemas.microsoft.com/office/drawing/2014/main" val="973286749"/>
                  </a:ext>
                </a:extLst>
              </a:tr>
              <a:tr h="370840">
                <a:tc>
                  <a:txBody>
                    <a:bodyPr/>
                    <a:lstStyle/>
                    <a:p>
                      <a:r>
                        <a:rPr lang="en-US" dirty="0"/>
                        <a:t>sunny</a:t>
                      </a:r>
                    </a:p>
                  </a:txBody>
                  <a:tcPr/>
                </a:tc>
                <a:tc>
                  <a:txBody>
                    <a:bodyPr/>
                    <a:lstStyle/>
                    <a:p>
                      <a:r>
                        <a:rPr lang="en-US" dirty="0"/>
                        <a:t>cool</a:t>
                      </a:r>
                    </a:p>
                  </a:txBody>
                  <a:tcPr/>
                </a:tc>
                <a:tc>
                  <a:txBody>
                    <a:bodyPr/>
                    <a:lstStyle/>
                    <a:p>
                      <a:r>
                        <a:rPr lang="en-US" dirty="0"/>
                        <a:t>high</a:t>
                      </a:r>
                    </a:p>
                  </a:txBody>
                  <a:tcPr/>
                </a:tc>
                <a:tc>
                  <a:txBody>
                    <a:bodyPr/>
                    <a:lstStyle/>
                    <a:p>
                      <a:r>
                        <a:rPr lang="en-US" dirty="0"/>
                        <a:t>true</a:t>
                      </a:r>
                    </a:p>
                  </a:txBody>
                  <a:tcPr/>
                </a:tc>
                <a:tc>
                  <a:txBody>
                    <a:bodyPr/>
                    <a:lstStyle/>
                    <a:p>
                      <a:r>
                        <a:rPr lang="en-US" dirty="0"/>
                        <a:t>?</a:t>
                      </a:r>
                    </a:p>
                  </a:txBody>
                  <a:tcPr/>
                </a:tc>
                <a:extLst>
                  <a:ext uri="{0D108BD9-81ED-4DB2-BD59-A6C34878D82A}">
                    <a16:rowId xmlns:a16="http://schemas.microsoft.com/office/drawing/2014/main" val="967671288"/>
                  </a:ext>
                </a:extLst>
              </a:tr>
            </a:tbl>
          </a:graphicData>
        </a:graphic>
      </p:graphicFrame>
    </p:spTree>
    <p:extLst>
      <p:ext uri="{BB962C8B-B14F-4D97-AF65-F5344CB8AC3E}">
        <p14:creationId xmlns:p14="http://schemas.microsoft.com/office/powerpoint/2010/main" val="1053771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CD8A4-BF46-8415-AAD9-300A298E998A}"/>
              </a:ext>
            </a:extLst>
          </p:cNvPr>
          <p:cNvSpPr>
            <a:spLocks noGrp="1"/>
          </p:cNvSpPr>
          <p:nvPr>
            <p:ph type="title"/>
          </p:nvPr>
        </p:nvSpPr>
        <p:spPr/>
        <p:txBody>
          <a:bodyPr/>
          <a:lstStyle/>
          <a:p>
            <a:r>
              <a:rPr lang="en-US" dirty="0"/>
              <a:t>Solving the problem using Naïve Bayes</a:t>
            </a:r>
          </a:p>
        </p:txBody>
      </p:sp>
      <p:sp>
        <p:nvSpPr>
          <p:cNvPr id="3" name="Content Placeholder 2">
            <a:extLst>
              <a:ext uri="{FF2B5EF4-FFF2-40B4-BE49-F238E27FC236}">
                <a16:creationId xmlns:a16="http://schemas.microsoft.com/office/drawing/2014/main" id="{BA4A4371-3EED-47E4-F231-DCCF5A1335B4}"/>
              </a:ext>
            </a:extLst>
          </p:cNvPr>
          <p:cNvSpPr>
            <a:spLocks noGrp="1"/>
          </p:cNvSpPr>
          <p:nvPr>
            <p:ph idx="1"/>
          </p:nvPr>
        </p:nvSpPr>
        <p:spPr/>
        <p:txBody>
          <a:bodyPr>
            <a:normAutofit fontScale="70000" lnSpcReduction="20000"/>
          </a:bodyPr>
          <a:lstStyle/>
          <a:p>
            <a:r>
              <a:rPr lang="en-US" dirty="0"/>
              <a:t>We can simply plug in the values and find the class for which the posterior is maximum. </a:t>
            </a:r>
          </a:p>
          <a:p>
            <a:r>
              <a:rPr lang="en-GB" dirty="0"/>
              <a:t>Compute priors:</a:t>
            </a:r>
          </a:p>
          <a:p>
            <a:pPr lvl="1"/>
            <a:r>
              <a:rPr lang="en-GB" dirty="0"/>
              <a:t>P(play = yes) = 9/14</a:t>
            </a:r>
          </a:p>
          <a:p>
            <a:pPr lvl="1"/>
            <a:r>
              <a:rPr lang="en-GB" dirty="0"/>
              <a:t>P(play = no) =  5/14</a:t>
            </a:r>
          </a:p>
          <a:p>
            <a:r>
              <a:rPr lang="en-US" dirty="0"/>
              <a:t> Compute conditionals (examples):</a:t>
            </a:r>
          </a:p>
          <a:p>
            <a:pPr lvl="1"/>
            <a:r>
              <a:rPr lang="en-US" dirty="0"/>
              <a:t> P(windy = true | play  = yes) =  3/9</a:t>
            </a:r>
          </a:p>
          <a:p>
            <a:pPr lvl="1"/>
            <a:r>
              <a:rPr lang="en-US" dirty="0"/>
              <a:t> P(windy = true | play  = no)  = 3/5</a:t>
            </a:r>
          </a:p>
          <a:p>
            <a:r>
              <a:rPr lang="en-US" dirty="0"/>
              <a:t> Then compute the best class:</a:t>
            </a:r>
          </a:p>
          <a:p>
            <a:pPr marL="0" indent="0">
              <a:buNone/>
            </a:pPr>
            <a:r>
              <a:rPr lang="en-US" dirty="0"/>
              <a:t>	P(yes) </a:t>
            </a:r>
            <a:r>
              <a:rPr lang="en-US" dirty="0">
                <a:sym typeface="Symbol" panose="05050102010706020507" pitchFamily="18" charset="2"/>
              </a:rPr>
              <a:t> </a:t>
            </a:r>
            <a:r>
              <a:rPr lang="en-US" dirty="0"/>
              <a:t>P(</a:t>
            </a:r>
            <a:r>
              <a:rPr lang="en-US" dirty="0" err="1"/>
              <a:t>sunny|yes</a:t>
            </a:r>
            <a:r>
              <a:rPr lang="en-US" dirty="0"/>
              <a:t>) </a:t>
            </a:r>
            <a:r>
              <a:rPr lang="en-US" dirty="0">
                <a:sym typeface="Symbol" panose="05050102010706020507" pitchFamily="18" charset="2"/>
              </a:rPr>
              <a:t> </a:t>
            </a:r>
            <a:r>
              <a:rPr lang="en-US" dirty="0"/>
              <a:t>P(</a:t>
            </a:r>
            <a:r>
              <a:rPr lang="en-US" dirty="0" err="1"/>
              <a:t>cool|yes</a:t>
            </a:r>
            <a:r>
              <a:rPr lang="en-US" dirty="0"/>
              <a:t>) </a:t>
            </a:r>
            <a:r>
              <a:rPr lang="en-US" dirty="0">
                <a:sym typeface="Symbol" panose="05050102010706020507" pitchFamily="18" charset="2"/>
              </a:rPr>
              <a:t> </a:t>
            </a:r>
            <a:r>
              <a:rPr lang="en-US" dirty="0"/>
              <a:t>P(</a:t>
            </a:r>
            <a:r>
              <a:rPr lang="en-US" dirty="0" err="1"/>
              <a:t>high|yes</a:t>
            </a:r>
            <a:r>
              <a:rPr lang="en-US" dirty="0"/>
              <a:t>) </a:t>
            </a:r>
            <a:r>
              <a:rPr lang="en-US" dirty="0">
                <a:sym typeface="Symbol" panose="05050102010706020507" pitchFamily="18" charset="2"/>
              </a:rPr>
              <a:t> </a:t>
            </a:r>
            <a:r>
              <a:rPr lang="en-US" dirty="0"/>
              <a:t>P(</a:t>
            </a:r>
            <a:r>
              <a:rPr lang="en-US" dirty="0" err="1"/>
              <a:t>true|yes</a:t>
            </a:r>
            <a:r>
              <a:rPr lang="en-US" dirty="0"/>
              <a:t>) </a:t>
            </a:r>
          </a:p>
          <a:p>
            <a:pPr marL="0" indent="0">
              <a:buNone/>
            </a:pPr>
            <a:r>
              <a:rPr lang="en-US" dirty="0"/>
              <a:t>	 = 9/14 </a:t>
            </a:r>
            <a:r>
              <a:rPr lang="en-US" dirty="0">
                <a:sym typeface="Symbol" panose="05050102010706020507" pitchFamily="18" charset="2"/>
              </a:rPr>
              <a:t> </a:t>
            </a:r>
            <a:r>
              <a:rPr lang="en-US" dirty="0"/>
              <a:t>2/9  </a:t>
            </a:r>
            <a:r>
              <a:rPr lang="en-US" dirty="0">
                <a:sym typeface="Symbol" panose="05050102010706020507" pitchFamily="18" charset="2"/>
              </a:rPr>
              <a:t> </a:t>
            </a:r>
            <a:r>
              <a:rPr lang="en-US" dirty="0"/>
              <a:t>3/9 </a:t>
            </a:r>
            <a:r>
              <a:rPr lang="en-US" dirty="0">
                <a:sym typeface="Symbol" panose="05050102010706020507" pitchFamily="18" charset="2"/>
              </a:rPr>
              <a:t> </a:t>
            </a:r>
            <a:r>
              <a:rPr lang="en-US" dirty="0"/>
              <a:t> 3/9 </a:t>
            </a:r>
            <a:r>
              <a:rPr lang="en-US" dirty="0">
                <a:sym typeface="Symbol" panose="05050102010706020507" pitchFamily="18" charset="2"/>
              </a:rPr>
              <a:t> </a:t>
            </a:r>
            <a:r>
              <a:rPr lang="en-US" dirty="0"/>
              <a:t> 3/9 =  00053</a:t>
            </a:r>
          </a:p>
          <a:p>
            <a:pPr marL="0" indent="0">
              <a:buNone/>
            </a:pPr>
            <a:r>
              <a:rPr lang="en-US" dirty="0"/>
              <a:t>	P(no) </a:t>
            </a:r>
            <a:r>
              <a:rPr lang="en-US" dirty="0">
                <a:sym typeface="Symbol" panose="05050102010706020507" pitchFamily="18" charset="2"/>
              </a:rPr>
              <a:t> </a:t>
            </a:r>
            <a:r>
              <a:rPr lang="en-US" dirty="0"/>
              <a:t>P(sunny| no) </a:t>
            </a:r>
            <a:r>
              <a:rPr lang="en-US" dirty="0">
                <a:sym typeface="Symbol" panose="05050102010706020507" pitchFamily="18" charset="2"/>
              </a:rPr>
              <a:t> </a:t>
            </a:r>
            <a:r>
              <a:rPr lang="en-US" dirty="0"/>
              <a:t>P(cool| no) </a:t>
            </a:r>
            <a:r>
              <a:rPr lang="en-US" dirty="0">
                <a:sym typeface="Symbol" panose="05050102010706020507" pitchFamily="18" charset="2"/>
              </a:rPr>
              <a:t> </a:t>
            </a:r>
            <a:r>
              <a:rPr lang="en-US" dirty="0"/>
              <a:t>P(high| no) </a:t>
            </a:r>
            <a:r>
              <a:rPr lang="en-US" dirty="0">
                <a:sym typeface="Symbol" panose="05050102010706020507" pitchFamily="18" charset="2"/>
              </a:rPr>
              <a:t> </a:t>
            </a:r>
            <a:r>
              <a:rPr lang="en-US" dirty="0"/>
              <a:t>P(true| no) </a:t>
            </a:r>
          </a:p>
          <a:p>
            <a:pPr marL="0" indent="0">
              <a:buNone/>
            </a:pPr>
            <a:r>
              <a:rPr lang="en-US" dirty="0"/>
              <a:t>	= 5/14 </a:t>
            </a:r>
            <a:r>
              <a:rPr lang="en-US" dirty="0">
                <a:sym typeface="Symbol" panose="05050102010706020507" pitchFamily="18" charset="2"/>
              </a:rPr>
              <a:t> </a:t>
            </a:r>
            <a:r>
              <a:rPr lang="en-US" dirty="0"/>
              <a:t>3/5 </a:t>
            </a:r>
            <a:r>
              <a:rPr lang="en-US" dirty="0">
                <a:sym typeface="Symbol" panose="05050102010706020507" pitchFamily="18" charset="2"/>
              </a:rPr>
              <a:t> </a:t>
            </a:r>
            <a:r>
              <a:rPr lang="en-US" dirty="0"/>
              <a:t>1/5 </a:t>
            </a:r>
            <a:r>
              <a:rPr lang="en-US" dirty="0">
                <a:sym typeface="Symbol" panose="05050102010706020507" pitchFamily="18" charset="2"/>
              </a:rPr>
              <a:t> </a:t>
            </a:r>
            <a:r>
              <a:rPr lang="en-US" dirty="0"/>
              <a:t>4/5 </a:t>
            </a:r>
            <a:r>
              <a:rPr lang="en-US" dirty="0">
                <a:sym typeface="Symbol" panose="05050102010706020507" pitchFamily="18" charset="2"/>
              </a:rPr>
              <a:t> </a:t>
            </a:r>
            <a:r>
              <a:rPr lang="en-US" dirty="0"/>
              <a:t>3/5 = 00206</a:t>
            </a:r>
          </a:p>
          <a:p>
            <a:r>
              <a:rPr lang="en-US" dirty="0"/>
              <a:t>Thus, we can see for play = no, the posterior is maximized.</a:t>
            </a:r>
          </a:p>
        </p:txBody>
      </p:sp>
    </p:spTree>
    <p:extLst>
      <p:ext uri="{BB962C8B-B14F-4D97-AF65-F5344CB8AC3E}">
        <p14:creationId xmlns:p14="http://schemas.microsoft.com/office/powerpoint/2010/main" val="3627817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72556-05CA-8B16-F2F7-0646E8A2D16C}"/>
              </a:ext>
            </a:extLst>
          </p:cNvPr>
          <p:cNvSpPr>
            <a:spLocks noGrp="1"/>
          </p:cNvSpPr>
          <p:nvPr>
            <p:ph type="title"/>
          </p:nvPr>
        </p:nvSpPr>
        <p:spPr/>
        <p:txBody>
          <a:bodyPr/>
          <a:lstStyle/>
          <a:p>
            <a:r>
              <a:rPr lang="en-US" dirty="0"/>
              <a:t>Naive Bayes: Problem with Sparse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BBB70A-420C-6471-EAAA-A69F6D3A18E9}"/>
                  </a:ext>
                </a:extLst>
              </p:cNvPr>
              <p:cNvSpPr>
                <a:spLocks noGrp="1"/>
              </p:cNvSpPr>
              <p:nvPr>
                <p:ph idx="1"/>
              </p:nvPr>
            </p:nvSpPr>
            <p:spPr/>
            <p:txBody>
              <a:bodyPr/>
              <a:lstStyle/>
              <a:p>
                <a:r>
                  <a:rPr lang="en-GB" dirty="0"/>
                  <a:t>Conditional probabilities can be estimated directly as relative  frequencies:</a:t>
                </a:r>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𝑐</m:t>
                              </m:r>
                            </m:sub>
                          </m:sSub>
                        </m:num>
                        <m:den>
                          <m:r>
                            <a:rPr lang="en-US" b="0" i="1" smtClean="0">
                              <a:latin typeface="Cambria Math" panose="02040503050406030204" pitchFamily="18" charset="0"/>
                            </a:rPr>
                            <m:t>𝑛</m:t>
                          </m:r>
                        </m:den>
                      </m:f>
                    </m:oMath>
                  </m:oMathPara>
                </a14:m>
                <a:endParaRPr lang="en-GB" dirty="0"/>
              </a:p>
              <a:p>
                <a:pPr marL="457200" lvl="1" indent="0">
                  <a:buNone/>
                </a:pPr>
                <a:r>
                  <a:rPr lang="en-GB" dirty="0"/>
                  <a:t>where </a:t>
                </a:r>
                <a:r>
                  <a:rPr lang="en-GB" i="1" dirty="0"/>
                  <a:t>n</a:t>
                </a:r>
                <a:r>
                  <a:rPr lang="en-GB" dirty="0"/>
                  <a:t> is the total number of training instances with class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GB"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𝑐</m:t>
                        </m:r>
                      </m:sub>
                    </m:sSub>
                  </m:oMath>
                </a14:m>
                <a:r>
                  <a:rPr lang="en-GB" dirty="0"/>
                  <a:t> is the number of instances with attribute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oMath>
                </a14:m>
                <a:r>
                  <a:rPr lang="en-GB" dirty="0"/>
                  <a:t> and class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oMath>
                </a14:m>
                <a:r>
                  <a:rPr lang="en-GB" dirty="0"/>
                  <a:t>. </a:t>
                </a:r>
              </a:p>
              <a:p>
                <a:r>
                  <a:rPr lang="en-GB" b="1" dirty="0"/>
                  <a:t>Problem</a:t>
                </a:r>
                <a:r>
                  <a:rPr lang="en-GB" dirty="0"/>
                  <a:t>: this provides a poor estimate if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𝑐</m:t>
                        </m:r>
                      </m:sub>
                    </m:sSub>
                  </m:oMath>
                </a14:m>
                <a:r>
                  <a:rPr lang="en-GB" dirty="0"/>
                  <a:t> is very small. Extreme case: 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𝑐</m:t>
                        </m:r>
                      </m:sub>
                    </m:sSub>
                    <m:r>
                      <a:rPr lang="en-US" b="0" i="1" smtClean="0">
                        <a:latin typeface="Cambria Math" panose="02040503050406030204" pitchFamily="18" charset="0"/>
                      </a:rPr>
                      <m:t>=0</m:t>
                    </m:r>
                  </m:oMath>
                </a14:m>
                <a:r>
                  <a:rPr lang="en-GB" dirty="0"/>
                  <a:t>, then the whole posterior will be zero.</a:t>
                </a:r>
                <a:endParaRPr lang="en-US" dirty="0"/>
              </a:p>
            </p:txBody>
          </p:sp>
        </mc:Choice>
        <mc:Fallback xmlns="">
          <p:sp>
            <p:nvSpPr>
              <p:cNvPr id="3" name="Content Placeholder 2">
                <a:extLst>
                  <a:ext uri="{FF2B5EF4-FFF2-40B4-BE49-F238E27FC236}">
                    <a16:creationId xmlns:a16="http://schemas.microsoft.com/office/drawing/2014/main" id="{E4BBB70A-420C-6471-EAAA-A69F6D3A18E9}"/>
                  </a:ext>
                </a:extLst>
              </p:cNvPr>
              <p:cNvSpPr>
                <a:spLocks noGrp="1" noRot="1" noChangeAspect="1" noMove="1" noResize="1" noEditPoints="1" noAdjustHandles="1" noChangeArrowheads="1" noChangeShapeType="1" noTextEdit="1"/>
              </p:cNvSpPr>
              <p:nvPr>
                <p:ph idx="1"/>
              </p:nvPr>
            </p:nvSpPr>
            <p:spPr>
              <a:blipFill>
                <a:blip r:embed="rId2"/>
                <a:stretch>
                  <a:fillRect l="-1043" t="-2381" r="-464"/>
                </a:stretch>
              </a:blipFill>
            </p:spPr>
            <p:txBody>
              <a:bodyPr/>
              <a:lstStyle/>
              <a:p>
                <a:r>
                  <a:rPr lang="en-US">
                    <a:noFill/>
                  </a:rPr>
                  <a:t> </a:t>
                </a:r>
              </a:p>
            </p:txBody>
          </p:sp>
        </mc:Fallback>
      </mc:AlternateContent>
    </p:spTree>
    <p:extLst>
      <p:ext uri="{BB962C8B-B14F-4D97-AF65-F5344CB8AC3E}">
        <p14:creationId xmlns:p14="http://schemas.microsoft.com/office/powerpoint/2010/main" val="1962835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C9A34-2C7A-4529-430A-D75321C92D05}"/>
              </a:ext>
            </a:extLst>
          </p:cNvPr>
          <p:cNvSpPr>
            <a:spLocks noGrp="1"/>
          </p:cNvSpPr>
          <p:nvPr>
            <p:ph type="title"/>
          </p:nvPr>
        </p:nvSpPr>
        <p:spPr/>
        <p:txBody>
          <a:bodyPr/>
          <a:lstStyle/>
          <a:p>
            <a:r>
              <a:rPr lang="en-US" dirty="0"/>
              <a:t>Naive Bayes: Problem with Sparse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C7755F-2B6F-E1B2-E177-C7D70036B7A6}"/>
                  </a:ext>
                </a:extLst>
              </p:cNvPr>
              <p:cNvSpPr>
                <a:spLocks noGrp="1"/>
              </p:cNvSpPr>
              <p:nvPr>
                <p:ph idx="1"/>
              </p:nvPr>
            </p:nvSpPr>
            <p:spPr/>
            <p:txBody>
              <a:bodyPr>
                <a:normAutofit fontScale="92500" lnSpcReduction="10000"/>
              </a:bodyPr>
              <a:lstStyle/>
              <a:p>
                <a:r>
                  <a:rPr lang="en-US" b="1" dirty="0"/>
                  <a:t>Solution</a:t>
                </a:r>
                <a:r>
                  <a:rPr lang="en-US" dirty="0"/>
                  <a:t>: </a:t>
                </a:r>
                <a:r>
                  <a:rPr lang="en-GB" dirty="0"/>
                  <a:t>use the </a:t>
                </a:r>
                <a:r>
                  <a:rPr lang="en-GB" b="1" dirty="0"/>
                  <a:t>m-estimate</a:t>
                </a:r>
                <a:r>
                  <a:rPr lang="en-GB" dirty="0"/>
                  <a:t> of probabilities - </a:t>
                </a:r>
                <a:endParaRPr lang="en-US" dirty="0"/>
              </a:p>
              <a:p>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 </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𝑐</m:t>
                            </m:r>
                          </m:sub>
                        </m:sSub>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m:t>
                        </m:r>
                      </m:den>
                    </m:f>
                  </m:oMath>
                </a14:m>
                <a:endParaRPr lang="en-GB" dirty="0"/>
              </a:p>
              <a:p>
                <a:pPr marL="0" indent="0">
                  <a:buNone/>
                </a:pPr>
                <a:r>
                  <a:rPr lang="en-GB" dirty="0"/>
                  <a:t>	Here, </a:t>
                </a:r>
              </a:p>
              <a:p>
                <a:pPr marL="1371600" lvl="3" indent="0">
                  <a:buNone/>
                </a:pPr>
                <a:r>
                  <a:rPr lang="en-GB" sz="2400" dirty="0"/>
                  <a:t>p: prior estimate of the probability</a:t>
                </a:r>
              </a:p>
              <a:p>
                <a:pPr marL="1371600" lvl="3" indent="0">
                  <a:buNone/>
                </a:pPr>
                <a:r>
                  <a:rPr lang="en-GB" sz="2400" dirty="0"/>
                  <a:t>m: equivalent sample size (constant)</a:t>
                </a:r>
              </a:p>
              <a:p>
                <a:r>
                  <a:rPr lang="en-GB" dirty="0"/>
                  <a:t> In the absence of other information, assume a uniform prior</a:t>
                </a:r>
              </a:p>
              <a:p>
                <a:pPr marL="0" indent="0">
                  <a:buNone/>
                </a:pPr>
                <a:r>
                  <a:rPr lang="en-US" b="0" dirty="0"/>
                  <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𝑘</m:t>
                        </m:r>
                      </m:den>
                    </m:f>
                  </m:oMath>
                </a14:m>
                <a:endParaRPr lang="en-US" dirty="0"/>
              </a:p>
              <a:p>
                <a:pPr marL="914400" indent="-914400">
                  <a:buNone/>
                </a:pPr>
                <a:r>
                  <a:rPr lang="en-GB" dirty="0"/>
                  <a:t> 	where, </a:t>
                </a:r>
                <a:r>
                  <a:rPr lang="en-GB" i="1" dirty="0"/>
                  <a:t>k</a:t>
                </a:r>
                <a:r>
                  <a:rPr lang="en-GB" dirty="0"/>
                  <a:t> is the number of values that the attribute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GB" dirty="0"/>
                  <a:t> can take.</a:t>
                </a:r>
                <a:endParaRPr lang="en-US" dirty="0"/>
              </a:p>
            </p:txBody>
          </p:sp>
        </mc:Choice>
        <mc:Fallback xmlns="">
          <p:sp>
            <p:nvSpPr>
              <p:cNvPr id="3" name="Content Placeholder 2">
                <a:extLst>
                  <a:ext uri="{FF2B5EF4-FFF2-40B4-BE49-F238E27FC236}">
                    <a16:creationId xmlns:a16="http://schemas.microsoft.com/office/drawing/2014/main" id="{12C7755F-2B6F-E1B2-E177-C7D70036B7A6}"/>
                  </a:ext>
                </a:extLst>
              </p:cNvPr>
              <p:cNvSpPr>
                <a:spLocks noGrp="1" noRot="1" noChangeAspect="1" noMove="1" noResize="1" noEditPoints="1" noAdjustHandles="1" noChangeArrowheads="1" noChangeShapeType="1" noTextEdit="1"/>
              </p:cNvSpPr>
              <p:nvPr>
                <p:ph idx="1"/>
              </p:nvPr>
            </p:nvSpPr>
            <p:spPr>
              <a:blipFill>
                <a:blip r:embed="rId3"/>
                <a:stretch>
                  <a:fillRect l="-928" t="-3081" b="-2661"/>
                </a:stretch>
              </a:blipFill>
            </p:spPr>
            <p:txBody>
              <a:bodyPr/>
              <a:lstStyle/>
              <a:p>
                <a:r>
                  <a:rPr lang="en-US">
                    <a:noFill/>
                  </a:rPr>
                  <a:t> </a:t>
                </a:r>
              </a:p>
            </p:txBody>
          </p:sp>
        </mc:Fallback>
      </mc:AlternateContent>
    </p:spTree>
    <p:extLst>
      <p:ext uri="{BB962C8B-B14F-4D97-AF65-F5344CB8AC3E}">
        <p14:creationId xmlns:p14="http://schemas.microsoft.com/office/powerpoint/2010/main" val="7233085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00F41-E32D-1CE5-FB33-02FC7B40A1E2}"/>
              </a:ext>
            </a:extLst>
          </p:cNvPr>
          <p:cNvSpPr>
            <a:spLocks noGrp="1"/>
          </p:cNvSpPr>
          <p:nvPr>
            <p:ph type="title"/>
          </p:nvPr>
        </p:nvSpPr>
        <p:spPr/>
        <p:txBody>
          <a:bodyPr/>
          <a:lstStyle/>
          <a:p>
            <a:r>
              <a:rPr lang="en-US" dirty="0"/>
              <a:t>Practical example: Spam detection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92E8CC-2CB0-8DD5-2210-B5BEF88CE896}"/>
                  </a:ext>
                </a:extLst>
              </p:cNvPr>
              <p:cNvSpPr>
                <a:spLocks noGrp="1"/>
              </p:cNvSpPr>
              <p:nvPr>
                <p:ph idx="1"/>
              </p:nvPr>
            </p:nvSpPr>
            <p:spPr/>
            <p:txBody>
              <a:bodyPr>
                <a:normAutofit fontScale="85000" lnSpcReduction="10000"/>
              </a:bodyPr>
              <a:lstStyle/>
              <a:p>
                <a:r>
                  <a:rPr lang="en-GB" dirty="0"/>
                  <a:t> </a:t>
                </a:r>
                <a:r>
                  <a:rPr lang="en-GB" b="1" dirty="0"/>
                  <a:t>Training data</a:t>
                </a:r>
                <a:r>
                  <a:rPr lang="en-GB" dirty="0"/>
                  <a:t>: a corpus of email messages, each message annotated as spam or no spam.</a:t>
                </a:r>
              </a:p>
              <a:p>
                <a:r>
                  <a:rPr lang="en-GB" dirty="0"/>
                  <a:t> </a:t>
                </a:r>
                <a:r>
                  <a:rPr lang="en-GB" b="1" dirty="0"/>
                  <a:t>Task</a:t>
                </a:r>
                <a:r>
                  <a:rPr lang="en-GB" dirty="0"/>
                  <a:t>: classify new email messages as spam / not spam.</a:t>
                </a:r>
              </a:p>
              <a:p>
                <a:r>
                  <a:rPr lang="en-GB" dirty="0"/>
                  <a:t> To use a naive Bayes classifier for this task, we have to first find an attribute representation of the data.</a:t>
                </a:r>
              </a:p>
              <a:p>
                <a:r>
                  <a:rPr lang="en-GB" dirty="0"/>
                  <a:t> Treat each text position as an attribute, and the word at this position as its value. Example: if an email starts with the phrase: ‘get rich’.</a:t>
                </a:r>
              </a:p>
              <a:p>
                <a:r>
                  <a:rPr lang="en-GB" dirty="0"/>
                  <a:t> The naive Bayes classifier is then:</a:t>
                </a:r>
              </a:p>
              <a:p>
                <a:pPr marL="457200" lvl="1" indent="0">
                  <a:buNone/>
                </a:pPr>
                <a:r>
                  <a:rPr lang="en-GB" dirty="0"/>
                  <a:t>	</a:t>
                </a:r>
                <a14:m>
                  <m:oMath xmlns:m="http://schemas.openxmlformats.org/officeDocument/2006/math">
                    <m:acc>
                      <m:accPr>
                        <m:chr m:val="̂"/>
                        <m:ctrlPr>
                          <a:rPr lang="en-GB"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rPr>
                              <m:t>𝑠𝑝𝑎𝑚</m:t>
                            </m:r>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 </m:t>
                            </m:r>
                            <m:r>
                              <a:rPr lang="en-US" b="0" i="1" smtClean="0">
                                <a:latin typeface="Cambria Math" panose="02040503050406030204" pitchFamily="18" charset="0"/>
                              </a:rPr>
                              <m:t>𝑠𝑝𝑎𝑚</m:t>
                            </m:r>
                            <m:r>
                              <a:rPr lang="en-US" b="0" i="1" smtClean="0">
                                <a:latin typeface="Cambria Math" panose="02040503050406030204" pitchFamily="18" charset="0"/>
                                <a:ea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ea typeface="Cambria Math" panose="02040503050406030204" pitchFamily="18" charset="0"/>
                          </a:rPr>
                          <m:t>∙</m:t>
                        </m:r>
                        <m:nary>
                          <m:naryPr>
                            <m:chr m:val="∏"/>
                            <m:grow m:val="on"/>
                            <m:ctrlPr>
                              <a:rPr lang="en-US" i="1" smtClean="0">
                                <a:latin typeface="Cambria Math" panose="02040503050406030204" pitchFamily="18" charset="0"/>
                                <a:ea typeface="Cambria Math" panose="02040503050406030204" pitchFamily="18" charset="0"/>
                              </a:rPr>
                            </m:ctrlPr>
                          </m:naryPr>
                          <m:sub>
                            <m:r>
                              <m:rPr>
                                <m:brk m:alnAt="23"/>
                              </m:rPr>
                              <a:rPr lang="en-US" i="1" smtClean="0">
                                <a:latin typeface="Cambria Math" panose="02040503050406030204" pitchFamily="18" charset="0"/>
                                <a:ea typeface="Cambria Math" panose="02040503050406030204" pitchFamily="18" charset="0"/>
                              </a:rPr>
                              <m:t>𝑖</m:t>
                            </m:r>
                            <m:r>
                              <a:rPr lang="en-US" i="1" smtClean="0">
                                <a:latin typeface="Cambria Math" panose="02040503050406030204" pitchFamily="18" charset="0"/>
                                <a:ea typeface="Cambria Math" panose="02040503050406030204" pitchFamily="18" charset="0"/>
                              </a:rPr>
                              <m:t>=1</m:t>
                            </m:r>
                          </m:sub>
                          <m:sup>
                            <m:r>
                              <a:rPr lang="en-US" i="1" smtClean="0">
                                <a:latin typeface="Cambria Math" panose="02040503050406030204" pitchFamily="18" charset="0"/>
                                <a:ea typeface="Cambria Math" panose="02040503050406030204" pitchFamily="18" charset="0"/>
                              </a:rPr>
                              <m:t>𝑛</m:t>
                            </m:r>
                          </m:sup>
                          <m:e>
                            <m:r>
                              <a:rPr lang="en-US" b="0" i="1" smtClean="0">
                                <a:latin typeface="Cambria Math" panose="02040503050406030204" pitchFamily="18" charset="0"/>
                                <a:ea typeface="Cambria Math" panose="02040503050406030204" pitchFamily="18" charset="0"/>
                              </a:rPr>
                              <m:t>𝑃</m:t>
                            </m:r>
                            <m:d>
                              <m:dPr>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i="1" smtClean="0">
                                        <a:latin typeface="Cambria Math" panose="02040503050406030204" pitchFamily="18" charset="0"/>
                                        <a:ea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 </m:t>
                                </m:r>
                              </m:e>
                            </m:d>
                            <m:r>
                              <a:rPr lang="en-US" i="1" smtClean="0">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𝐶</m:t>
                                </m:r>
                              </m:e>
                              <m:sub>
                                <m:r>
                                  <a:rPr lang="en-US" i="1" smtClean="0">
                                    <a:latin typeface="Cambria Math" panose="02040503050406030204" pitchFamily="18" charset="0"/>
                                    <a:ea typeface="Cambria Math" panose="02040503050406030204" pitchFamily="18" charset="0"/>
                                  </a:rPr>
                                  <m:t>𝑘</m:t>
                                </m:r>
                              </m:sub>
                            </m:sSub>
                            <m:r>
                              <a:rPr lang="en-US" i="1" smtClean="0">
                                <a:latin typeface="Cambria Math" panose="02040503050406030204" pitchFamily="18" charset="0"/>
                                <a:ea typeface="Cambria Math" panose="02040503050406030204" pitchFamily="18" charset="0"/>
                              </a:rPr>
                              <m:t>) </m:t>
                            </m:r>
                          </m:e>
                        </m:nary>
                      </m:e>
                    </m:func>
                  </m:oMath>
                </a14:m>
                <a:r>
                  <a:rPr lang="en-US" dirty="0"/>
                  <a:t>  [Here, </a:t>
                </a:r>
                <a:r>
                  <a:rPr lang="en-US" dirty="0" err="1"/>
                  <a:t>w</a:t>
                </a:r>
                <a:r>
                  <a:rPr lang="en-US" baseline="-25000" dirty="0" err="1"/>
                  <a:t>i</a:t>
                </a:r>
                <a:r>
                  <a:rPr lang="en-US" dirty="0"/>
                  <a:t> = </a:t>
                </a:r>
                <a:r>
                  <a:rPr lang="en-US" dirty="0" err="1"/>
                  <a:t>i</a:t>
                </a:r>
                <a:r>
                  <a:rPr lang="en-US" baseline="30000" dirty="0" err="1"/>
                  <a:t>th</a:t>
                </a:r>
                <a:r>
                  <a:rPr lang="en-US" dirty="0"/>
                  <a:t> word]</a:t>
                </a:r>
              </a:p>
              <a:p>
                <a:pPr marL="457200" lvl="1" indent="0">
                  <a:buNone/>
                </a:pPr>
                <a:endParaRPr lang="en-US" dirty="0"/>
              </a:p>
              <a:p>
                <a:pPr marL="457200" lvl="1" indent="0">
                  <a:buNone/>
                </a:pPr>
                <a:r>
                  <a:rPr lang="en-US" dirty="0"/>
                  <a:t>	=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argmax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r>
                              <a:rPr lang="en-US" b="0" i="1" smtClean="0">
                                <a:latin typeface="Cambria Math" panose="02040503050406030204" pitchFamily="18" charset="0"/>
                              </a:rPr>
                              <m:t>𝑠𝑝𝑎𝑚</m:t>
                            </m:r>
                            <m:r>
                              <a:rPr lang="en-US" b="0" i="1" smtClean="0">
                                <a:latin typeface="Cambria Math" panose="02040503050406030204" pitchFamily="18" charset="0"/>
                              </a:rPr>
                              <m:t>, </m:t>
                            </m:r>
                            <m:r>
                              <a:rPr lang="en-US" b="0" i="1" smtClean="0">
                                <a:latin typeface="Cambria Math" panose="02040503050406030204" pitchFamily="18" charset="0"/>
                              </a:rPr>
                              <m:t>𝑛𝑜𝑡</m:t>
                            </m:r>
                            <m:r>
                              <a:rPr lang="en-US" b="0" i="1" smtClean="0">
                                <a:latin typeface="Cambria Math" panose="02040503050406030204" pitchFamily="18" charset="0"/>
                              </a:rPr>
                              <m:t> </m:t>
                            </m:r>
                            <m:r>
                              <a:rPr lang="en-US" b="0" i="1" smtClean="0">
                                <a:latin typeface="Cambria Math" panose="02040503050406030204" pitchFamily="18" charset="0"/>
                              </a:rPr>
                              <m:t>𝑠𝑝𝑎𝑚</m:t>
                            </m:r>
                            <m:r>
                              <a:rPr lang="en-US" b="0" i="1" smtClean="0">
                                <a:latin typeface="Cambria Math" panose="02040503050406030204" pitchFamily="18" charset="0"/>
                                <a:ea typeface="Cambria Math" panose="02040503050406030204" pitchFamily="18" charset="0"/>
                              </a:rPr>
                              <m:t>}</m:t>
                            </m:r>
                          </m:lim>
                        </m:limLow>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𝑔𝑒𝑡</m:t>
                            </m:r>
                            <m:r>
                              <a:rPr lang="en-US" i="1">
                                <a:latin typeface="Cambria Math" panose="02040503050406030204" pitchFamily="18" charset="0"/>
                                <a:ea typeface="Cambria Math" panose="02040503050406030204" pitchFamily="18" charset="0"/>
                              </a:rPr>
                              <m:t> </m:t>
                            </m:r>
                          </m:e>
                        </m:d>
                        <m:r>
                          <a:rPr lang="en-US" i="1" smtClean="0">
                            <a:latin typeface="Cambria Math" panose="02040503050406030204" pitchFamily="18" charset="0"/>
                            <a:ea typeface="Cambria Math" panose="02040503050406030204" pitchFamily="18" charset="0"/>
                          </a:rPr>
                          <m:t> </m:t>
                        </m:r>
                        <m:sSub>
                          <m:sSubPr>
                            <m:ctrlPr>
                              <a:rPr lang="en-US"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i="1" smtClean="0">
                                <a:latin typeface="Cambria Math" panose="02040503050406030204" pitchFamily="18" charset="0"/>
                                <a:ea typeface="Cambria Math" panose="02040503050406030204" pitchFamily="18" charset="0"/>
                              </a:rPr>
                            </m:ctrlPr>
                          </m:dPr>
                          <m:e>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𝑟𝑖𝑐h</m:t>
                            </m:r>
                            <m:r>
                              <a:rPr lang="en-US" i="1">
                                <a:latin typeface="Cambria Math" panose="02040503050406030204" pitchFamily="18" charset="0"/>
                                <a:ea typeface="Cambria Math" panose="02040503050406030204" pitchFamily="18" charset="0"/>
                              </a:rPr>
                              <m:t> </m:t>
                            </m:r>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m:t>
                            </m:r>
                          </m:e>
                          <m:sub>
                            <m:r>
                              <a:rPr lang="en-US" i="1">
                                <a:latin typeface="Cambria Math" panose="02040503050406030204" pitchFamily="18" charset="0"/>
                                <a:ea typeface="Cambria Math" panose="02040503050406030204" pitchFamily="18" charset="0"/>
                              </a:rPr>
                              <m:t>𝑘</m:t>
                            </m:r>
                          </m:sub>
                        </m:sSub>
                        <m:r>
                          <a:rPr lang="en-US" i="1">
                            <a:latin typeface="Cambria Math" panose="02040503050406030204" pitchFamily="18" charset="0"/>
                            <a:ea typeface="Cambria Math" panose="02040503050406030204" pitchFamily="18" charset="0"/>
                          </a:rPr>
                          <m:t>)</m:t>
                        </m:r>
                      </m:e>
                    </m:func>
                  </m:oMath>
                </a14:m>
                <a:endParaRPr lang="en-US" dirty="0"/>
              </a:p>
            </p:txBody>
          </p:sp>
        </mc:Choice>
        <mc:Fallback xmlns="">
          <p:sp>
            <p:nvSpPr>
              <p:cNvPr id="3" name="Content Placeholder 2">
                <a:extLst>
                  <a:ext uri="{FF2B5EF4-FFF2-40B4-BE49-F238E27FC236}">
                    <a16:creationId xmlns:a16="http://schemas.microsoft.com/office/drawing/2014/main" id="{FF92E8CC-2CB0-8DD5-2210-B5BEF88CE896}"/>
                  </a:ext>
                </a:extLst>
              </p:cNvPr>
              <p:cNvSpPr>
                <a:spLocks noGrp="1" noRot="1" noChangeAspect="1" noMove="1" noResize="1" noEditPoints="1" noAdjustHandles="1" noChangeArrowheads="1" noChangeShapeType="1" noTextEdit="1"/>
              </p:cNvSpPr>
              <p:nvPr>
                <p:ph idx="1"/>
              </p:nvPr>
            </p:nvSpPr>
            <p:spPr>
              <a:blipFill>
                <a:blip r:embed="rId2"/>
                <a:stretch>
                  <a:fillRect l="-812" t="-2801"/>
                </a:stretch>
              </a:blipFill>
            </p:spPr>
            <p:txBody>
              <a:bodyPr/>
              <a:lstStyle/>
              <a:p>
                <a:r>
                  <a:rPr lang="en-US">
                    <a:noFill/>
                  </a:rPr>
                  <a:t> </a:t>
                </a:r>
              </a:p>
            </p:txBody>
          </p:sp>
        </mc:Fallback>
      </mc:AlternateContent>
    </p:spTree>
    <p:extLst>
      <p:ext uri="{BB962C8B-B14F-4D97-AF65-F5344CB8AC3E}">
        <p14:creationId xmlns:p14="http://schemas.microsoft.com/office/powerpoint/2010/main" val="2911117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00F41-E32D-1CE5-FB33-02FC7B40A1E2}"/>
              </a:ext>
            </a:extLst>
          </p:cNvPr>
          <p:cNvSpPr>
            <a:spLocks noGrp="1"/>
          </p:cNvSpPr>
          <p:nvPr>
            <p:ph type="title"/>
          </p:nvPr>
        </p:nvSpPr>
        <p:spPr/>
        <p:txBody>
          <a:bodyPr/>
          <a:lstStyle/>
          <a:p>
            <a:r>
              <a:rPr lang="en-US" dirty="0"/>
              <a:t>Practical example: Spam detection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92E8CC-2CB0-8DD5-2210-B5BEF88CE896}"/>
                  </a:ext>
                </a:extLst>
              </p:cNvPr>
              <p:cNvSpPr>
                <a:spLocks noGrp="1"/>
              </p:cNvSpPr>
              <p:nvPr>
                <p:ph idx="1"/>
              </p:nvPr>
            </p:nvSpPr>
            <p:spPr/>
            <p:txBody>
              <a:bodyPr>
                <a:normAutofit fontScale="92500" lnSpcReduction="10000"/>
              </a:bodyPr>
              <a:lstStyle/>
              <a:p>
                <a:r>
                  <a:rPr lang="en-GB" dirty="0"/>
                  <a:t> Using naive Bayes means we assume that words are independent of each other. This assumption is clearly incorrect, but it doesn’t hurt a lot for our task.</a:t>
                </a:r>
              </a:p>
              <a:p>
                <a:r>
                  <a:rPr lang="en-GB" dirty="0"/>
                  <a:t>The classifier uses </a:t>
                </a:r>
                <a14:m>
                  <m:oMath xmlns:m="http://schemas.openxmlformats.org/officeDocument/2006/math">
                    <m:r>
                      <a:rPr lang="en-US" b="0" i="1" dirty="0" smtClean="0">
                        <a:latin typeface="Cambria Math" panose="02040503050406030204" pitchFamily="18" charset="0"/>
                      </a:rPr>
                      <m:t>𝑃</m:t>
                    </m:r>
                    <m:d>
                      <m:dPr>
                        <m:endChr m:val="|"/>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𝑤</m:t>
                            </m:r>
                          </m:e>
                          <m:sub>
                            <m:r>
                              <a:rPr lang="en-US" b="0" i="1" dirty="0" smtClean="0">
                                <a:latin typeface="Cambria Math" panose="02040503050406030204" pitchFamily="18" charset="0"/>
                              </a:rPr>
                              <m:t>𝑗</m:t>
                            </m:r>
                          </m:sub>
                        </m:sSub>
                        <m:r>
                          <a:rPr lang="en-US" b="0" i="1" dirty="0" smtClean="0">
                            <a:latin typeface="Cambria Math" panose="02040503050406030204" pitchFamily="18" charset="0"/>
                          </a:rPr>
                          <m:t> </m:t>
                        </m:r>
                      </m:e>
                    </m:d>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 </m:t>
                        </m:r>
                        <m:r>
                          <a:rPr lang="en-US" b="0" i="1" dirty="0" smtClean="0">
                            <a:latin typeface="Cambria Math" panose="02040503050406030204" pitchFamily="18" charset="0"/>
                          </a:rPr>
                          <m:t>𝐶</m:t>
                        </m:r>
                      </m:e>
                      <m:sub>
                        <m:r>
                          <a:rPr lang="en-US" b="0" i="1" dirty="0" smtClean="0">
                            <a:latin typeface="Cambria Math" panose="02040503050406030204" pitchFamily="18" charset="0"/>
                          </a:rPr>
                          <m:t>𝑘</m:t>
                        </m:r>
                      </m:sub>
                    </m:sSub>
                    <m:r>
                      <a:rPr lang="en-US" b="0" i="1" dirty="0" smtClean="0">
                        <a:latin typeface="Cambria Math" panose="02040503050406030204" pitchFamily="18" charset="0"/>
                      </a:rPr>
                      <m:t>)</m:t>
                    </m:r>
                  </m:oMath>
                </a14:m>
                <a:r>
                  <a:rPr lang="en-GB" dirty="0"/>
                  <a:t>, i.e., the probability that the </a:t>
                </a:r>
                <a:r>
                  <a:rPr lang="en-GB" dirty="0" err="1"/>
                  <a:t>i-th</a:t>
                </a:r>
                <a:r>
                  <a:rPr lang="en-GB" dirty="0"/>
                  <a:t> word in the email is the j-word in our vocabulary, given the email has been classified as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𝐶</m:t>
                        </m:r>
                      </m:e>
                      <m:sub>
                        <m:r>
                          <a:rPr lang="en-US" i="1" dirty="0">
                            <a:latin typeface="Cambria Math" panose="02040503050406030204" pitchFamily="18" charset="0"/>
                          </a:rPr>
                          <m:t>𝑘</m:t>
                        </m:r>
                      </m:sub>
                    </m:sSub>
                  </m:oMath>
                </a14:m>
                <a:r>
                  <a:rPr lang="en-GB" dirty="0"/>
                  <a:t>. </a:t>
                </a:r>
              </a:p>
              <a:p>
                <a:r>
                  <a:rPr lang="en-GB" dirty="0"/>
                  <a:t>Simplify by assuming that position is irrelevant: estimate </a:t>
                </a:r>
                <a14:m>
                  <m:oMath xmlns:m="http://schemas.openxmlformats.org/officeDocument/2006/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GB" dirty="0"/>
                  <a:t>) , i.e., the probability that word </a:t>
                </a:r>
                <a:r>
                  <a:rPr lang="en-GB" i="1" dirty="0" err="1"/>
                  <a:t>w</a:t>
                </a:r>
                <a:r>
                  <a:rPr lang="en-GB" i="1" baseline="-25000" dirty="0" err="1"/>
                  <a:t>j</a:t>
                </a:r>
                <a:r>
                  <a:rPr lang="en-GB" dirty="0"/>
                  <a:t> occurs in the email, given class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panose="02040503050406030204" pitchFamily="18" charset="0"/>
                          </a:rPr>
                          <m:t>𝐶</m:t>
                        </m:r>
                      </m:e>
                      <m:sub>
                        <m:r>
                          <a:rPr lang="en-US" i="1" dirty="0">
                            <a:latin typeface="Cambria Math" panose="02040503050406030204" pitchFamily="18" charset="0"/>
                          </a:rPr>
                          <m:t>𝑘</m:t>
                        </m:r>
                      </m:sub>
                    </m:sSub>
                  </m:oMath>
                </a14:m>
                <a:r>
                  <a:rPr lang="en-GB" dirty="0"/>
                  <a:t>. </a:t>
                </a:r>
              </a:p>
              <a:p>
                <a:r>
                  <a:rPr lang="en-GB" b="1" dirty="0"/>
                  <a:t>Create a vocabulary</a:t>
                </a:r>
                <a:r>
                  <a:rPr lang="en-GB" dirty="0"/>
                  <a:t>: make a list of all words in the training corpus, discard words with very high or very low frequency.</a:t>
                </a:r>
                <a:endParaRPr lang="en-US" dirty="0"/>
              </a:p>
            </p:txBody>
          </p:sp>
        </mc:Choice>
        <mc:Fallback xmlns="">
          <p:sp>
            <p:nvSpPr>
              <p:cNvPr id="3" name="Content Placeholder 2">
                <a:extLst>
                  <a:ext uri="{FF2B5EF4-FFF2-40B4-BE49-F238E27FC236}">
                    <a16:creationId xmlns:a16="http://schemas.microsoft.com/office/drawing/2014/main" id="{FF92E8CC-2CB0-8DD5-2210-B5BEF88CE896}"/>
                  </a:ext>
                </a:extLst>
              </p:cNvPr>
              <p:cNvSpPr>
                <a:spLocks noGrp="1" noRot="1" noChangeAspect="1" noMove="1" noResize="1" noEditPoints="1" noAdjustHandles="1" noChangeArrowheads="1" noChangeShapeType="1" noTextEdit="1"/>
              </p:cNvSpPr>
              <p:nvPr>
                <p:ph idx="1"/>
              </p:nvPr>
            </p:nvSpPr>
            <p:spPr>
              <a:blipFill>
                <a:blip r:embed="rId2"/>
                <a:stretch>
                  <a:fillRect l="-928" t="-3081" r="-1797"/>
                </a:stretch>
              </a:blipFill>
            </p:spPr>
            <p:txBody>
              <a:bodyPr/>
              <a:lstStyle/>
              <a:p>
                <a:r>
                  <a:rPr lang="en-US">
                    <a:noFill/>
                  </a:rPr>
                  <a:t> </a:t>
                </a:r>
              </a:p>
            </p:txBody>
          </p:sp>
        </mc:Fallback>
      </mc:AlternateContent>
    </p:spTree>
    <p:extLst>
      <p:ext uri="{BB962C8B-B14F-4D97-AF65-F5344CB8AC3E}">
        <p14:creationId xmlns:p14="http://schemas.microsoft.com/office/powerpoint/2010/main" val="27003532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3396A-5B65-3CF6-7967-908AD31C7B75}"/>
              </a:ext>
            </a:extLst>
          </p:cNvPr>
          <p:cNvSpPr>
            <a:spLocks noGrp="1"/>
          </p:cNvSpPr>
          <p:nvPr>
            <p:ph type="title"/>
          </p:nvPr>
        </p:nvSpPr>
        <p:spPr>
          <a:xfrm>
            <a:off x="838200" y="365125"/>
            <a:ext cx="10515600" cy="1325563"/>
          </a:xfrm>
        </p:spPr>
        <p:txBody>
          <a:bodyPr/>
          <a:lstStyle/>
          <a:p>
            <a:r>
              <a:rPr lang="en-US" dirty="0"/>
              <a:t>Practical example: Spam detection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FF0664-7A60-048F-E42B-1EB1790D56B8}"/>
                  </a:ext>
                </a:extLst>
              </p:cNvPr>
              <p:cNvSpPr>
                <a:spLocks noGrp="1"/>
              </p:cNvSpPr>
              <p:nvPr>
                <p:ph idx="1"/>
              </p:nvPr>
            </p:nvSpPr>
            <p:spPr>
              <a:xfrm>
                <a:off x="838200" y="1825625"/>
                <a:ext cx="10515600" cy="4351338"/>
              </a:xfrm>
            </p:spPr>
            <p:txBody>
              <a:bodyPr>
                <a:normAutofit fontScale="85000" lnSpcReduction="20000"/>
              </a:bodyPr>
              <a:lstStyle/>
              <a:p>
                <a:r>
                  <a:rPr lang="en-US" dirty="0"/>
                  <a:t>Training: estimate priors:</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𝑁</m:t>
                          </m:r>
                        </m:den>
                      </m:f>
                    </m:oMath>
                  </m:oMathPara>
                </a14:m>
                <a:endParaRPr lang="en-US" dirty="0"/>
              </a:p>
              <a:p>
                <a:r>
                  <a:rPr lang="en-GB" dirty="0"/>
                  <a:t>Estimate likelihoods using the m-estimate:</a:t>
                </a:r>
                <a:endParaRPr lang="en-US"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𝑗</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𝑘</m:t>
                              </m:r>
                            </m:sub>
                          </m:sSub>
                          <m:r>
                            <a:rPr lang="en-US" b="0" i="1" smtClean="0">
                              <a:latin typeface="Cambria Math" panose="02040503050406030204" pitchFamily="18" charset="0"/>
                            </a:rPr>
                            <m:t>+1</m:t>
                          </m:r>
                        </m:num>
                        <m:den>
                          <m:r>
                            <a:rPr lang="en-US" b="0" i="1" smtClean="0">
                              <a:latin typeface="Cambria Math" panose="02040503050406030204" pitchFamily="18" charset="0"/>
                            </a:rPr>
                            <m:t>𝑛</m:t>
                          </m:r>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𝑣𝑜𝑐𝑎𝑏𝑢𝑙𝑎𝑟𝑦</m:t>
                              </m:r>
                            </m:e>
                          </m:d>
                        </m:den>
                      </m:f>
                    </m:oMath>
                  </m:oMathPara>
                </a14:m>
                <a:endParaRPr lang="en-US" dirty="0"/>
              </a:p>
              <a:p>
                <a:pPr marL="457200" lvl="1" indent="0">
                  <a:buNone/>
                </a:pPr>
                <a:r>
                  <a:rPr lang="en-US" dirty="0"/>
                  <a:t>Where,</a:t>
                </a:r>
              </a:p>
              <a:p>
                <a:pPr lvl="1"/>
                <a:r>
                  <a:rPr lang="en-GB" dirty="0"/>
                  <a:t> </a:t>
                </a:r>
                <a:r>
                  <a:rPr lang="en-GB" i="1" dirty="0"/>
                  <a:t>N</a:t>
                </a:r>
                <a:r>
                  <a:rPr lang="en-GB" dirty="0"/>
                  <a:t>: total number of words in all emails</a:t>
                </a:r>
              </a:p>
              <a:p>
                <a:pPr lvl="1"/>
                <a:r>
                  <a:rPr lang="en-GB" dirty="0"/>
                  <a:t> </a:t>
                </a:r>
                <a:r>
                  <a:rPr lang="en-GB" i="1" dirty="0"/>
                  <a:t>n</a:t>
                </a:r>
                <a:r>
                  <a:rPr lang="en-GB" dirty="0"/>
                  <a:t>: number of words in emails with class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endParaRPr lang="en-GB" dirty="0"/>
              </a:p>
              <a:p>
                <a:pPr lvl="1"/>
                <a:r>
                  <a:rPr lang="en-GB" dirty="0"/>
                  <a:t> </a:t>
                </a:r>
                <a:r>
                  <a:rPr lang="en-GB" i="1" dirty="0" err="1"/>
                  <a:t>n</a:t>
                </a:r>
                <a:r>
                  <a:rPr lang="en-GB" i="1" baseline="-25000" dirty="0" err="1"/>
                  <a:t>k</a:t>
                </a:r>
                <a:r>
                  <a:rPr lang="en-GB" dirty="0"/>
                  <a:t>: number of times word </a:t>
                </a:r>
                <a:r>
                  <a:rPr lang="en-GB" dirty="0" err="1"/>
                  <a:t>w</a:t>
                </a:r>
                <a:r>
                  <a:rPr lang="en-GB" baseline="-25000" dirty="0" err="1"/>
                  <a:t>j</a:t>
                </a:r>
                <a:r>
                  <a:rPr lang="en-GB" dirty="0"/>
                  <a:t> occurs in emails with class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endParaRPr lang="en-GB" dirty="0"/>
              </a:p>
              <a:p>
                <a:pPr lvl="1"/>
                <a:r>
                  <a:rPr lang="en-GB" dirty="0"/>
                  <a:t>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𝑣𝑜𝑐𝑎𝑏𝑢𝑙𝑎𝑟𝑦</m:t>
                        </m:r>
                      </m:e>
                    </m:d>
                    <m:r>
                      <a:rPr lang="en-US" b="0" i="1" smtClean="0">
                        <a:latin typeface="Cambria Math" panose="02040503050406030204" pitchFamily="18" charset="0"/>
                      </a:rPr>
                      <m:t> </m:t>
                    </m:r>
                  </m:oMath>
                </a14:m>
                <a:r>
                  <a:rPr lang="en-GB" dirty="0"/>
                  <a:t>: size of the vocabulary</a:t>
                </a:r>
              </a:p>
              <a:p>
                <a:pPr lvl="1"/>
                <a:endParaRPr lang="en-GB" dirty="0"/>
              </a:p>
              <a:p>
                <a:r>
                  <a:rPr lang="en-GB" b="1" dirty="0"/>
                  <a:t>Testing</a:t>
                </a:r>
                <a:r>
                  <a:rPr lang="en-GB" dirty="0"/>
                  <a:t>: to classify a new email, assign it the class with the highest posterior probability. Ignore unknown words.</a:t>
                </a:r>
                <a:endParaRPr lang="en-US" dirty="0"/>
              </a:p>
            </p:txBody>
          </p:sp>
        </mc:Choice>
        <mc:Fallback xmlns="">
          <p:sp>
            <p:nvSpPr>
              <p:cNvPr id="3" name="Content Placeholder 2">
                <a:extLst>
                  <a:ext uri="{FF2B5EF4-FFF2-40B4-BE49-F238E27FC236}">
                    <a16:creationId xmlns:a16="http://schemas.microsoft.com/office/drawing/2014/main" id="{DCFF0664-7A60-048F-E42B-1EB1790D56B8}"/>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812" t="-3501"/>
                </a:stretch>
              </a:blipFill>
            </p:spPr>
            <p:txBody>
              <a:bodyPr/>
              <a:lstStyle/>
              <a:p>
                <a:r>
                  <a:rPr lang="en-US">
                    <a:noFill/>
                  </a:rPr>
                  <a:t> </a:t>
                </a:r>
              </a:p>
            </p:txBody>
          </p:sp>
        </mc:Fallback>
      </mc:AlternateContent>
    </p:spTree>
    <p:extLst>
      <p:ext uri="{BB962C8B-B14F-4D97-AF65-F5344CB8AC3E}">
        <p14:creationId xmlns:p14="http://schemas.microsoft.com/office/powerpoint/2010/main" val="31465677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AA044-9155-D595-F279-620193278985}"/>
              </a:ext>
            </a:extLst>
          </p:cNvPr>
          <p:cNvSpPr>
            <a:spLocks noGrp="1"/>
          </p:cNvSpPr>
          <p:nvPr>
            <p:ph type="title"/>
          </p:nvPr>
        </p:nvSpPr>
        <p:spPr/>
        <p:txBody>
          <a:bodyPr/>
          <a:lstStyle/>
          <a:p>
            <a:r>
              <a:rPr lang="en-US" dirty="0"/>
              <a:t>Gaussian Naïve Bayes</a:t>
            </a:r>
          </a:p>
        </p:txBody>
      </p:sp>
      <p:sp>
        <p:nvSpPr>
          <p:cNvPr id="3" name="Content Placeholder 2">
            <a:extLst>
              <a:ext uri="{FF2B5EF4-FFF2-40B4-BE49-F238E27FC236}">
                <a16:creationId xmlns:a16="http://schemas.microsoft.com/office/drawing/2014/main" id="{75993400-AF1E-3049-3F4E-AABCA1EBA692}"/>
              </a:ext>
            </a:extLst>
          </p:cNvPr>
          <p:cNvSpPr>
            <a:spLocks noGrp="1"/>
          </p:cNvSpPr>
          <p:nvPr>
            <p:ph idx="1"/>
          </p:nvPr>
        </p:nvSpPr>
        <p:spPr>
          <a:xfrm>
            <a:off x="838200" y="1825625"/>
            <a:ext cx="5257800" cy="4250690"/>
          </a:xfrm>
        </p:spPr>
        <p:txBody>
          <a:bodyPr>
            <a:normAutofit fontScale="92500" lnSpcReduction="20000"/>
          </a:bodyPr>
          <a:lstStyle/>
          <a:p>
            <a:r>
              <a:rPr lang="en-GB" dirty="0"/>
              <a:t>When dealing with continuous data, a typical assumption is that the continuous values associated with each class are distributed according to a normal (or Gaussian) distribution. </a:t>
            </a:r>
          </a:p>
          <a:p>
            <a:r>
              <a:rPr lang="en-GB" dirty="0"/>
              <a:t>A Gaussian distribution is also called </a:t>
            </a:r>
            <a:r>
              <a:rPr lang="en-GB" dirty="0">
                <a:hlinkClick r:id="rId2"/>
              </a:rPr>
              <a:t>Normal distribution</a:t>
            </a:r>
            <a:r>
              <a:rPr lang="en-GB" dirty="0"/>
              <a:t>. When plotted, it gives a bell-shaped curve, which is symmetric about the mean of the feature values as shown here:</a:t>
            </a:r>
            <a:endParaRPr lang="en-US" dirty="0"/>
          </a:p>
        </p:txBody>
      </p:sp>
      <p:pic>
        <p:nvPicPr>
          <p:cNvPr id="4" name="Picture 3">
            <a:extLst>
              <a:ext uri="{FF2B5EF4-FFF2-40B4-BE49-F238E27FC236}">
                <a16:creationId xmlns:a16="http://schemas.microsoft.com/office/drawing/2014/main" id="{74D748DA-EDF0-7B84-FD49-5B2FB775343C}"/>
              </a:ext>
            </a:extLst>
          </p:cNvPr>
          <p:cNvPicPr>
            <a:picLocks noChangeAspect="1"/>
          </p:cNvPicPr>
          <p:nvPr/>
        </p:nvPicPr>
        <p:blipFill>
          <a:blip r:embed="rId3"/>
          <a:stretch>
            <a:fillRect/>
          </a:stretch>
        </p:blipFill>
        <p:spPr>
          <a:xfrm>
            <a:off x="6268720" y="2089785"/>
            <a:ext cx="5238750" cy="3905250"/>
          </a:xfrm>
          <a:prstGeom prst="rect">
            <a:avLst/>
          </a:prstGeom>
        </p:spPr>
      </p:pic>
    </p:spTree>
    <p:extLst>
      <p:ext uri="{BB962C8B-B14F-4D97-AF65-F5344CB8AC3E}">
        <p14:creationId xmlns:p14="http://schemas.microsoft.com/office/powerpoint/2010/main" val="2283117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FCA4C-3C0F-2F58-A84D-308D9481DED2}"/>
              </a:ext>
            </a:extLst>
          </p:cNvPr>
          <p:cNvSpPr>
            <a:spLocks noGrp="1"/>
          </p:cNvSpPr>
          <p:nvPr>
            <p:ph type="title"/>
          </p:nvPr>
        </p:nvSpPr>
        <p:spPr/>
        <p:txBody>
          <a:bodyPr/>
          <a:lstStyle/>
          <a:p>
            <a:r>
              <a:rPr lang="en-US" dirty="0"/>
              <a:t>Gaussian Naïve Bayes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DDD919-6334-E60C-C7DB-311A2166BBEE}"/>
                  </a:ext>
                </a:extLst>
              </p:cNvPr>
              <p:cNvSpPr>
                <a:spLocks noGrp="1"/>
              </p:cNvSpPr>
              <p:nvPr>
                <p:ph idx="1"/>
              </p:nvPr>
            </p:nvSpPr>
            <p:spPr/>
            <p:txBody>
              <a:bodyPr>
                <a:normAutofit fontScale="85000" lnSpcReduction="20000"/>
              </a:bodyPr>
              <a:lstStyle/>
              <a:p>
                <a:r>
                  <a:rPr lang="en-GB" dirty="0"/>
                  <a:t>For example, suppose the training data contains a continuous attribute, </a:t>
                </a:r>
                <a:r>
                  <a:rPr lang="en-GB" i="1" dirty="0"/>
                  <a:t>x</a:t>
                </a:r>
                <a:r>
                  <a:rPr lang="en-GB" dirty="0"/>
                  <a:t>. The data is first segmented by the class, and then the mean and variance of </a:t>
                </a:r>
                <a:r>
                  <a:rPr lang="en-GB" i="1" dirty="0"/>
                  <a:t>x</a:t>
                </a:r>
                <a:r>
                  <a:rPr lang="en-GB" dirty="0"/>
                  <a:t> is computed in each class.</a:t>
                </a:r>
              </a:p>
              <a:p>
                <a:r>
                  <a:rPr lang="en-US" dirty="0"/>
                  <a:t>Let be the mean of the values in </a:t>
                </a:r>
                <a:r>
                  <a:rPr lang="en-US" i="1" dirty="0"/>
                  <a:t>x</a:t>
                </a:r>
                <a:r>
                  <a:rPr lang="en-US" dirty="0"/>
                  <a:t> associated with class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US" dirty="0"/>
                  <a:t> and let be the (</a:t>
                </a:r>
                <a:r>
                  <a:rPr lang="en-US" dirty="0">
                    <a:hlinkClick r:id="rId2"/>
                  </a:rPr>
                  <a:t>Bessel corrected</a:t>
                </a:r>
                <a:r>
                  <a:rPr lang="en-US" dirty="0"/>
                  <a:t>) variance of the values in </a:t>
                </a:r>
                <a:r>
                  <a:rPr lang="en-US" i="1" dirty="0"/>
                  <a:t>x</a:t>
                </a:r>
                <a:r>
                  <a:rPr lang="en-US" dirty="0"/>
                  <a:t> associated with class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r>
                      <a:rPr lang="en-US" b="0" i="0" smtClean="0">
                        <a:latin typeface="Cambria Math" panose="02040503050406030204" pitchFamily="18" charset="0"/>
                      </a:rPr>
                      <m:t>.</m:t>
                    </m:r>
                  </m:oMath>
                </a14:m>
                <a:r>
                  <a:rPr lang="en-US" dirty="0"/>
                  <a:t> </a:t>
                </a:r>
              </a:p>
              <a:p>
                <a:r>
                  <a:rPr lang="en-GB" dirty="0"/>
                  <a:t>Suppose one has collected some observation value </a:t>
                </a:r>
                <a:r>
                  <a:rPr lang="en-GB" i="1" dirty="0"/>
                  <a:t>v,</a:t>
                </a:r>
                <a:r>
                  <a:rPr lang="en-GB" dirty="0"/>
                  <a:t> Then, the probability density of </a:t>
                </a:r>
                <a:r>
                  <a:rPr lang="en-GB" i="1" dirty="0"/>
                  <a:t>v</a:t>
                </a:r>
                <a:r>
                  <a:rPr lang="en-GB" dirty="0"/>
                  <a:t> given a class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oMath>
                </a14:m>
                <a:r>
                  <a:rPr lang="en-US" dirty="0"/>
                  <a:t>, i.e., </a:t>
                </a:r>
                <a14:m>
                  <m:oMath xmlns:m="http://schemas.openxmlformats.org/officeDocument/2006/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oMath>
                </a14:m>
                <a:r>
                  <a:rPr lang="en-US" dirty="0"/>
                  <a:t> </a:t>
                </a:r>
                <a:r>
                  <a:rPr lang="en-GB" dirty="0"/>
                  <a:t>can be computed by plugging </a:t>
                </a:r>
                <a:r>
                  <a:rPr lang="en-GB" i="1" dirty="0"/>
                  <a:t>v</a:t>
                </a:r>
                <a:r>
                  <a:rPr lang="en-GB" dirty="0"/>
                  <a:t> into the equation for a normal distribution parameterized by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𝑘</m:t>
                        </m:r>
                      </m:sub>
                    </m:sSub>
                  </m:oMath>
                </a14:m>
                <a:r>
                  <a:rPr lang="en-US" dirty="0"/>
                  <a:t> and </a:t>
                </a: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𝑘</m:t>
                        </m:r>
                      </m:sub>
                      <m:sup>
                        <m:r>
                          <a:rPr lang="en-US" b="0" i="1" smtClean="0">
                            <a:latin typeface="Cambria Math" panose="02040503050406030204" pitchFamily="18" charset="0"/>
                          </a:rPr>
                          <m:t>2</m:t>
                        </m:r>
                      </m:sup>
                    </m:sSubSup>
                    <m:r>
                      <a:rPr lang="en-US" b="0" i="1" smtClean="0">
                        <a:latin typeface="Cambria Math" panose="02040503050406030204" pitchFamily="18" charset="0"/>
                      </a:rPr>
                      <m:t>. </m:t>
                    </m:r>
                  </m:oMath>
                </a14:m>
                <a:endParaRPr lang="en-US" b="0" dirty="0"/>
              </a:p>
              <a:p>
                <a:r>
                  <a:rPr lang="en-US" dirty="0"/>
                  <a:t>Formally, </a:t>
                </a:r>
              </a:p>
              <a:p>
                <a:pPr marL="457200" lvl="1" indent="0">
                  <a:buNone/>
                </a:pPr>
                <a:r>
                  <a:rPr lang="en-US" dirty="0"/>
                  <a:t>	</a:t>
                </a:r>
                <a14:m>
                  <m:oMath xmlns:m="http://schemas.openxmlformats.org/officeDocument/2006/math">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𝑘</m:t>
                                </m:r>
                              </m:sub>
                              <m:sup>
                                <m:r>
                                  <a:rPr lang="en-US" i="1">
                                    <a:latin typeface="Cambria Math" panose="02040503050406030204" pitchFamily="18" charset="0"/>
                                  </a:rPr>
                                  <m:t>2</m:t>
                                </m:r>
                              </m:sup>
                            </m:sSubSup>
                          </m:e>
                        </m:rad>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𝑘</m:t>
                                    </m:r>
                                  </m:sub>
                                </m:sSub>
                                <m:r>
                                  <a:rPr lang="en-US" b="0" i="1" smtClean="0">
                                    <a:latin typeface="Cambria Math" panose="02040503050406030204" pitchFamily="18" charset="0"/>
                                  </a:rPr>
                                  <m:t>)</m:t>
                                </m:r>
                              </m:e>
                              <m:sup>
                                <m:r>
                                  <a:rPr lang="en-US" b="0" i="1" smtClean="0">
                                    <a:latin typeface="Cambria Math" panose="02040503050406030204" pitchFamily="18" charset="0"/>
                                  </a:rPr>
                                  <m:t>2</m:t>
                                </m:r>
                              </m:sup>
                            </m:sSup>
                          </m:num>
                          <m:den>
                            <m:r>
                              <a:rPr lang="en-US" b="0" i="1" smtClean="0">
                                <a:latin typeface="Cambria Math" panose="02040503050406030204" pitchFamily="18" charset="0"/>
                              </a:rPr>
                              <m:t>2</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rPr>
                                  <m:t>𝑘</m:t>
                                </m:r>
                              </m:sub>
                              <m:sup>
                                <m:r>
                                  <a:rPr lang="en-US" i="1">
                                    <a:latin typeface="Cambria Math" panose="02040503050406030204" pitchFamily="18" charset="0"/>
                                  </a:rPr>
                                  <m:t>2</m:t>
                                </m:r>
                              </m:sup>
                            </m:sSubSup>
                          </m:den>
                        </m:f>
                      </m:sup>
                    </m:sSup>
                  </m:oMath>
                </a14:m>
                <a:r>
                  <a:rPr lang="en-US" dirty="0"/>
                  <a:t> </a:t>
                </a:r>
              </a:p>
            </p:txBody>
          </p:sp>
        </mc:Choice>
        <mc:Fallback xmlns="">
          <p:sp>
            <p:nvSpPr>
              <p:cNvPr id="3" name="Content Placeholder 2">
                <a:extLst>
                  <a:ext uri="{FF2B5EF4-FFF2-40B4-BE49-F238E27FC236}">
                    <a16:creationId xmlns:a16="http://schemas.microsoft.com/office/drawing/2014/main" id="{8BDDD919-6334-E60C-C7DB-311A2166BBEE}"/>
                  </a:ext>
                </a:extLst>
              </p:cNvPr>
              <p:cNvSpPr>
                <a:spLocks noGrp="1" noRot="1" noChangeAspect="1" noMove="1" noResize="1" noEditPoints="1" noAdjustHandles="1" noChangeArrowheads="1" noChangeShapeType="1" noTextEdit="1"/>
              </p:cNvSpPr>
              <p:nvPr>
                <p:ph idx="1"/>
              </p:nvPr>
            </p:nvSpPr>
            <p:spPr>
              <a:blipFill>
                <a:blip r:embed="rId3"/>
                <a:stretch>
                  <a:fillRect l="-812" t="-3501"/>
                </a:stretch>
              </a:blipFill>
            </p:spPr>
            <p:txBody>
              <a:bodyPr/>
              <a:lstStyle/>
              <a:p>
                <a:r>
                  <a:rPr lang="en-US">
                    <a:noFill/>
                  </a:rPr>
                  <a:t> </a:t>
                </a:r>
              </a:p>
            </p:txBody>
          </p:sp>
        </mc:Fallback>
      </mc:AlternateContent>
      <p:sp>
        <p:nvSpPr>
          <p:cNvPr id="5" name="AutoShape 3" descr="{\displaystyle v}">
            <a:extLst>
              <a:ext uri="{FF2B5EF4-FFF2-40B4-BE49-F238E27FC236}">
                <a16:creationId xmlns:a16="http://schemas.microsoft.com/office/drawing/2014/main" id="{32D60B52-BE6D-CF60-2186-83CAA32E39EB}"/>
              </a:ext>
            </a:extLst>
          </p:cNvPr>
          <p:cNvSpPr>
            <a:spLocks noChangeAspect="1" noChangeArrowheads="1"/>
          </p:cNvSpPr>
          <p:nvPr/>
        </p:nvSpPr>
        <p:spPr bwMode="auto">
          <a:xfrm>
            <a:off x="21113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92176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64507-5ECC-9EB8-9DAE-A0DB9A870A8B}"/>
              </a:ext>
            </a:extLst>
          </p:cNvPr>
          <p:cNvSpPr>
            <a:spLocks noGrp="1"/>
          </p:cNvSpPr>
          <p:nvPr>
            <p:ph type="title"/>
          </p:nvPr>
        </p:nvSpPr>
        <p:spPr/>
        <p:txBody>
          <a:bodyPr/>
          <a:lstStyle/>
          <a:p>
            <a:r>
              <a:rPr lang="en-US" dirty="0"/>
              <a:t>Naïve Bayes with continuous data</a:t>
            </a:r>
          </a:p>
        </p:txBody>
      </p:sp>
      <p:sp>
        <p:nvSpPr>
          <p:cNvPr id="3" name="Content Placeholder 2">
            <a:extLst>
              <a:ext uri="{FF2B5EF4-FFF2-40B4-BE49-F238E27FC236}">
                <a16:creationId xmlns:a16="http://schemas.microsoft.com/office/drawing/2014/main" id="{C671D7EF-5BB6-472E-A400-58CB2556AF25}"/>
              </a:ext>
            </a:extLst>
          </p:cNvPr>
          <p:cNvSpPr>
            <a:spLocks noGrp="1"/>
          </p:cNvSpPr>
          <p:nvPr>
            <p:ph idx="1"/>
          </p:nvPr>
        </p:nvSpPr>
        <p:spPr/>
        <p:txBody>
          <a:bodyPr/>
          <a:lstStyle/>
          <a:p>
            <a:r>
              <a:rPr lang="en-GB" dirty="0"/>
              <a:t>Another common technique for handling continuous values is to use binning to </a:t>
            </a:r>
            <a:r>
              <a:rPr lang="en-GB" dirty="0">
                <a:hlinkClick r:id="rId2"/>
              </a:rPr>
              <a:t>discretize</a:t>
            </a:r>
            <a:r>
              <a:rPr lang="en-GB" dirty="0"/>
              <a:t> the feature values and obtain a new set of Bernoulli-distributed features. Some literature suggests that this is required in order to use naive Bayes, but it is not true, as the discretization may throw away discriminative information.</a:t>
            </a:r>
            <a:endParaRPr lang="en-US" dirty="0"/>
          </a:p>
        </p:txBody>
      </p:sp>
    </p:spTree>
    <p:extLst>
      <p:ext uri="{BB962C8B-B14F-4D97-AF65-F5344CB8AC3E}">
        <p14:creationId xmlns:p14="http://schemas.microsoft.com/office/powerpoint/2010/main" val="3434924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F7E6E-0A0B-12A1-3F16-41EB63E08A62}"/>
              </a:ext>
            </a:extLst>
          </p:cNvPr>
          <p:cNvSpPr>
            <a:spLocks noGrp="1"/>
          </p:cNvSpPr>
          <p:nvPr>
            <p:ph type="title"/>
          </p:nvPr>
        </p:nvSpPr>
        <p:spPr/>
        <p:txBody>
          <a:bodyPr/>
          <a:lstStyle/>
          <a:p>
            <a:r>
              <a:rPr lang="en-US" dirty="0"/>
              <a:t>Gaussian Naïve Bayes Example</a:t>
            </a:r>
          </a:p>
        </p:txBody>
      </p:sp>
      <p:sp>
        <p:nvSpPr>
          <p:cNvPr id="3" name="Content Placeholder 2">
            <a:extLst>
              <a:ext uri="{FF2B5EF4-FFF2-40B4-BE49-F238E27FC236}">
                <a16:creationId xmlns:a16="http://schemas.microsoft.com/office/drawing/2014/main" id="{EBF47A1C-BD07-0DB5-151F-25DB2A21C525}"/>
              </a:ext>
            </a:extLst>
          </p:cNvPr>
          <p:cNvSpPr>
            <a:spLocks noGrp="1"/>
          </p:cNvSpPr>
          <p:nvPr>
            <p:ph idx="1"/>
          </p:nvPr>
        </p:nvSpPr>
        <p:spPr/>
        <p:txBody>
          <a:bodyPr/>
          <a:lstStyle/>
          <a:p>
            <a:r>
              <a:rPr lang="en-US" b="1" dirty="0"/>
              <a:t>Example problem: </a:t>
            </a:r>
            <a:r>
              <a:rPr lang="en-GB" b="1" dirty="0"/>
              <a:t>Person classification</a:t>
            </a:r>
          </a:p>
          <a:p>
            <a:pPr marL="457200" lvl="1" indent="0">
              <a:buNone/>
            </a:pPr>
            <a:r>
              <a:rPr lang="en-GB" b="1" i="1" dirty="0"/>
              <a:t>Problem</a:t>
            </a:r>
            <a:r>
              <a:rPr lang="en-GB" i="1" dirty="0"/>
              <a:t>: Classify whether a given person is a male or a female based on the measured features. The features include height, weight, and foot size. Although with NB classifier we treat them as independent, they are not in reality.</a:t>
            </a:r>
          </a:p>
          <a:p>
            <a:pPr marL="457200" lvl="1" indent="0">
              <a:buNone/>
            </a:pPr>
            <a:endParaRPr lang="en-US" i="1" dirty="0"/>
          </a:p>
        </p:txBody>
      </p:sp>
    </p:spTree>
    <p:extLst>
      <p:ext uri="{BB962C8B-B14F-4D97-AF65-F5344CB8AC3E}">
        <p14:creationId xmlns:p14="http://schemas.microsoft.com/office/powerpoint/2010/main" val="2362154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F7E6E-0A0B-12A1-3F16-41EB63E08A62}"/>
              </a:ext>
            </a:extLst>
          </p:cNvPr>
          <p:cNvSpPr>
            <a:spLocks noGrp="1"/>
          </p:cNvSpPr>
          <p:nvPr>
            <p:ph type="title"/>
          </p:nvPr>
        </p:nvSpPr>
        <p:spPr/>
        <p:txBody>
          <a:bodyPr/>
          <a:lstStyle/>
          <a:p>
            <a:r>
              <a:rPr lang="en-US" dirty="0"/>
              <a:t>Gaussian Naïve Bayes Example</a:t>
            </a:r>
          </a:p>
        </p:txBody>
      </p:sp>
      <p:sp>
        <p:nvSpPr>
          <p:cNvPr id="3" name="Content Placeholder 2">
            <a:extLst>
              <a:ext uri="{FF2B5EF4-FFF2-40B4-BE49-F238E27FC236}">
                <a16:creationId xmlns:a16="http://schemas.microsoft.com/office/drawing/2014/main" id="{EBF47A1C-BD07-0DB5-151F-25DB2A21C525}"/>
              </a:ext>
            </a:extLst>
          </p:cNvPr>
          <p:cNvSpPr>
            <a:spLocks noGrp="1"/>
          </p:cNvSpPr>
          <p:nvPr>
            <p:ph idx="1"/>
          </p:nvPr>
        </p:nvSpPr>
        <p:spPr/>
        <p:txBody>
          <a:bodyPr/>
          <a:lstStyle/>
          <a:p>
            <a:r>
              <a:rPr lang="en-US" b="1" dirty="0"/>
              <a:t>Example problem: </a:t>
            </a:r>
            <a:r>
              <a:rPr lang="en-GB" b="1" dirty="0"/>
              <a:t>Person classification</a:t>
            </a:r>
          </a:p>
          <a:p>
            <a:pPr marL="457200" lvl="1" indent="0">
              <a:buNone/>
            </a:pPr>
            <a:r>
              <a:rPr lang="en-GB" b="1" i="1" dirty="0"/>
              <a:t>Training: </a:t>
            </a:r>
            <a:r>
              <a:rPr lang="en-GB" i="1" dirty="0"/>
              <a:t>Example training set below:</a:t>
            </a:r>
          </a:p>
          <a:p>
            <a:pPr marL="457200" lvl="1" indent="0">
              <a:buNone/>
            </a:pPr>
            <a:endParaRPr lang="en-GB" i="1" dirty="0"/>
          </a:p>
          <a:p>
            <a:pPr marL="457200" lvl="1" indent="0">
              <a:buNone/>
            </a:pPr>
            <a:endParaRPr lang="en-US" i="1" dirty="0"/>
          </a:p>
        </p:txBody>
      </p:sp>
      <p:graphicFrame>
        <p:nvGraphicFramePr>
          <p:cNvPr id="4" name="Table 3">
            <a:extLst>
              <a:ext uri="{FF2B5EF4-FFF2-40B4-BE49-F238E27FC236}">
                <a16:creationId xmlns:a16="http://schemas.microsoft.com/office/drawing/2014/main" id="{75DD4A6B-A126-C3D0-4011-00477BC2E6EE}"/>
              </a:ext>
            </a:extLst>
          </p:cNvPr>
          <p:cNvGraphicFramePr>
            <a:graphicFrameLocks noGrp="1"/>
          </p:cNvGraphicFramePr>
          <p:nvPr>
            <p:extLst>
              <p:ext uri="{D42A27DB-BD31-4B8C-83A1-F6EECF244321}">
                <p14:modId xmlns:p14="http://schemas.microsoft.com/office/powerpoint/2010/main" val="575596028"/>
              </p:ext>
            </p:extLst>
          </p:nvPr>
        </p:nvGraphicFramePr>
        <p:xfrm>
          <a:off x="1402080" y="2825432"/>
          <a:ext cx="8128000" cy="3606800"/>
        </p:xfrm>
        <a:graphic>
          <a:graphicData uri="http://schemas.openxmlformats.org/drawingml/2006/table">
            <a:tbl>
              <a:tblPr firstRow="1" bandRow="1">
                <a:tableStyleId>{9D7B26C5-4107-4FEC-AEDC-1716B250A1EF}</a:tableStyleId>
              </a:tblPr>
              <a:tblGrid>
                <a:gridCol w="2032000">
                  <a:extLst>
                    <a:ext uri="{9D8B030D-6E8A-4147-A177-3AD203B41FA5}">
                      <a16:colId xmlns:a16="http://schemas.microsoft.com/office/drawing/2014/main" val="2540012543"/>
                    </a:ext>
                  </a:extLst>
                </a:gridCol>
                <a:gridCol w="2032000">
                  <a:extLst>
                    <a:ext uri="{9D8B030D-6E8A-4147-A177-3AD203B41FA5}">
                      <a16:colId xmlns:a16="http://schemas.microsoft.com/office/drawing/2014/main" val="4165232956"/>
                    </a:ext>
                  </a:extLst>
                </a:gridCol>
                <a:gridCol w="2032000">
                  <a:extLst>
                    <a:ext uri="{9D8B030D-6E8A-4147-A177-3AD203B41FA5}">
                      <a16:colId xmlns:a16="http://schemas.microsoft.com/office/drawing/2014/main" val="2753254855"/>
                    </a:ext>
                  </a:extLst>
                </a:gridCol>
                <a:gridCol w="2032000">
                  <a:extLst>
                    <a:ext uri="{9D8B030D-6E8A-4147-A177-3AD203B41FA5}">
                      <a16:colId xmlns:a16="http://schemas.microsoft.com/office/drawing/2014/main" val="1246970476"/>
                    </a:ext>
                  </a:extLst>
                </a:gridCol>
              </a:tblGrid>
              <a:tr h="370840">
                <a:tc>
                  <a:txBody>
                    <a:bodyPr/>
                    <a:lstStyle/>
                    <a:p>
                      <a:pPr algn="ctr"/>
                      <a:r>
                        <a:rPr lang="en-US" dirty="0">
                          <a:effectLst/>
                        </a:rPr>
                        <a:t>Person</a:t>
                      </a:r>
                    </a:p>
                  </a:txBody>
                  <a:tcPr anchor="ctr"/>
                </a:tc>
                <a:tc>
                  <a:txBody>
                    <a:bodyPr/>
                    <a:lstStyle/>
                    <a:p>
                      <a:pPr algn="ctr"/>
                      <a:r>
                        <a:rPr lang="en-US">
                          <a:effectLst/>
                        </a:rPr>
                        <a:t>height (feet)</a:t>
                      </a:r>
                    </a:p>
                  </a:txBody>
                  <a:tcPr anchor="ctr"/>
                </a:tc>
                <a:tc>
                  <a:txBody>
                    <a:bodyPr/>
                    <a:lstStyle/>
                    <a:p>
                      <a:pPr algn="ctr"/>
                      <a:r>
                        <a:rPr lang="en-US">
                          <a:effectLst/>
                        </a:rPr>
                        <a:t>weight (lbs)</a:t>
                      </a:r>
                    </a:p>
                  </a:txBody>
                  <a:tcPr anchor="ctr"/>
                </a:tc>
                <a:tc>
                  <a:txBody>
                    <a:bodyPr/>
                    <a:lstStyle/>
                    <a:p>
                      <a:pPr algn="ctr"/>
                      <a:r>
                        <a:rPr lang="en-US">
                          <a:effectLst/>
                        </a:rPr>
                        <a:t>foot size (inches)</a:t>
                      </a:r>
                    </a:p>
                  </a:txBody>
                  <a:tcPr anchor="ctr"/>
                </a:tc>
                <a:extLst>
                  <a:ext uri="{0D108BD9-81ED-4DB2-BD59-A6C34878D82A}">
                    <a16:rowId xmlns:a16="http://schemas.microsoft.com/office/drawing/2014/main" val="1700144700"/>
                  </a:ext>
                </a:extLst>
              </a:tr>
              <a:tr h="370840">
                <a:tc>
                  <a:txBody>
                    <a:bodyPr/>
                    <a:lstStyle/>
                    <a:p>
                      <a:pPr algn="ctr"/>
                      <a:r>
                        <a:rPr lang="en-US">
                          <a:effectLst/>
                        </a:rPr>
                        <a:t>male</a:t>
                      </a:r>
                    </a:p>
                  </a:txBody>
                  <a:tcPr anchor="ctr"/>
                </a:tc>
                <a:tc>
                  <a:txBody>
                    <a:bodyPr/>
                    <a:lstStyle/>
                    <a:p>
                      <a:pPr algn="ctr"/>
                      <a:r>
                        <a:rPr lang="en-US">
                          <a:effectLst/>
                        </a:rPr>
                        <a:t>6</a:t>
                      </a:r>
                    </a:p>
                  </a:txBody>
                  <a:tcPr anchor="ctr"/>
                </a:tc>
                <a:tc>
                  <a:txBody>
                    <a:bodyPr/>
                    <a:lstStyle/>
                    <a:p>
                      <a:pPr algn="ctr"/>
                      <a:r>
                        <a:rPr lang="en-US">
                          <a:effectLst/>
                        </a:rPr>
                        <a:t>180</a:t>
                      </a:r>
                    </a:p>
                  </a:txBody>
                  <a:tcPr anchor="ctr"/>
                </a:tc>
                <a:tc>
                  <a:txBody>
                    <a:bodyPr/>
                    <a:lstStyle/>
                    <a:p>
                      <a:pPr algn="ctr"/>
                      <a:r>
                        <a:rPr lang="en-US">
                          <a:effectLst/>
                        </a:rPr>
                        <a:t>12</a:t>
                      </a:r>
                    </a:p>
                  </a:txBody>
                  <a:tcPr anchor="ctr"/>
                </a:tc>
                <a:extLst>
                  <a:ext uri="{0D108BD9-81ED-4DB2-BD59-A6C34878D82A}">
                    <a16:rowId xmlns:a16="http://schemas.microsoft.com/office/drawing/2014/main" val="1506590685"/>
                  </a:ext>
                </a:extLst>
              </a:tr>
              <a:tr h="370840">
                <a:tc>
                  <a:txBody>
                    <a:bodyPr/>
                    <a:lstStyle/>
                    <a:p>
                      <a:pPr algn="ctr"/>
                      <a:r>
                        <a:rPr lang="en-US">
                          <a:effectLst/>
                        </a:rPr>
                        <a:t>male</a:t>
                      </a:r>
                    </a:p>
                  </a:txBody>
                  <a:tcPr anchor="ctr"/>
                </a:tc>
                <a:tc>
                  <a:txBody>
                    <a:bodyPr/>
                    <a:lstStyle/>
                    <a:p>
                      <a:pPr algn="ctr"/>
                      <a:r>
                        <a:rPr lang="en-US">
                          <a:effectLst/>
                        </a:rPr>
                        <a:t>5.92 (5'11")</a:t>
                      </a:r>
                    </a:p>
                  </a:txBody>
                  <a:tcPr anchor="ctr"/>
                </a:tc>
                <a:tc>
                  <a:txBody>
                    <a:bodyPr/>
                    <a:lstStyle/>
                    <a:p>
                      <a:pPr algn="ctr"/>
                      <a:r>
                        <a:rPr lang="en-US">
                          <a:effectLst/>
                        </a:rPr>
                        <a:t>190</a:t>
                      </a:r>
                    </a:p>
                  </a:txBody>
                  <a:tcPr anchor="ctr"/>
                </a:tc>
                <a:tc>
                  <a:txBody>
                    <a:bodyPr/>
                    <a:lstStyle/>
                    <a:p>
                      <a:pPr algn="ctr"/>
                      <a:r>
                        <a:rPr lang="en-US">
                          <a:effectLst/>
                        </a:rPr>
                        <a:t>11</a:t>
                      </a:r>
                    </a:p>
                  </a:txBody>
                  <a:tcPr anchor="ctr"/>
                </a:tc>
                <a:extLst>
                  <a:ext uri="{0D108BD9-81ED-4DB2-BD59-A6C34878D82A}">
                    <a16:rowId xmlns:a16="http://schemas.microsoft.com/office/drawing/2014/main" val="841589978"/>
                  </a:ext>
                </a:extLst>
              </a:tr>
              <a:tr h="370840">
                <a:tc>
                  <a:txBody>
                    <a:bodyPr/>
                    <a:lstStyle/>
                    <a:p>
                      <a:pPr algn="ctr"/>
                      <a:r>
                        <a:rPr lang="en-US">
                          <a:effectLst/>
                        </a:rPr>
                        <a:t>male</a:t>
                      </a:r>
                    </a:p>
                  </a:txBody>
                  <a:tcPr anchor="ctr"/>
                </a:tc>
                <a:tc>
                  <a:txBody>
                    <a:bodyPr/>
                    <a:lstStyle/>
                    <a:p>
                      <a:pPr algn="ctr"/>
                      <a:r>
                        <a:rPr lang="en-US">
                          <a:effectLst/>
                        </a:rPr>
                        <a:t>5.58 (5'7")</a:t>
                      </a:r>
                    </a:p>
                  </a:txBody>
                  <a:tcPr anchor="ctr"/>
                </a:tc>
                <a:tc>
                  <a:txBody>
                    <a:bodyPr/>
                    <a:lstStyle/>
                    <a:p>
                      <a:pPr algn="ctr"/>
                      <a:r>
                        <a:rPr lang="en-US">
                          <a:effectLst/>
                        </a:rPr>
                        <a:t>170</a:t>
                      </a:r>
                    </a:p>
                  </a:txBody>
                  <a:tcPr anchor="ctr"/>
                </a:tc>
                <a:tc>
                  <a:txBody>
                    <a:bodyPr/>
                    <a:lstStyle/>
                    <a:p>
                      <a:pPr algn="ctr"/>
                      <a:r>
                        <a:rPr lang="en-US">
                          <a:effectLst/>
                        </a:rPr>
                        <a:t>12</a:t>
                      </a:r>
                    </a:p>
                  </a:txBody>
                  <a:tcPr anchor="ctr"/>
                </a:tc>
                <a:extLst>
                  <a:ext uri="{0D108BD9-81ED-4DB2-BD59-A6C34878D82A}">
                    <a16:rowId xmlns:a16="http://schemas.microsoft.com/office/drawing/2014/main" val="1416214831"/>
                  </a:ext>
                </a:extLst>
              </a:tr>
              <a:tr h="370840">
                <a:tc>
                  <a:txBody>
                    <a:bodyPr/>
                    <a:lstStyle/>
                    <a:p>
                      <a:pPr algn="ctr"/>
                      <a:r>
                        <a:rPr lang="en-US">
                          <a:effectLst/>
                        </a:rPr>
                        <a:t>male</a:t>
                      </a:r>
                    </a:p>
                  </a:txBody>
                  <a:tcPr anchor="ctr"/>
                </a:tc>
                <a:tc>
                  <a:txBody>
                    <a:bodyPr/>
                    <a:lstStyle/>
                    <a:p>
                      <a:pPr algn="ctr"/>
                      <a:r>
                        <a:rPr lang="en-US">
                          <a:effectLst/>
                        </a:rPr>
                        <a:t>5.92 (5'11")</a:t>
                      </a:r>
                    </a:p>
                  </a:txBody>
                  <a:tcPr anchor="ctr"/>
                </a:tc>
                <a:tc>
                  <a:txBody>
                    <a:bodyPr/>
                    <a:lstStyle/>
                    <a:p>
                      <a:pPr algn="ctr"/>
                      <a:r>
                        <a:rPr lang="en-US">
                          <a:effectLst/>
                        </a:rPr>
                        <a:t>165</a:t>
                      </a:r>
                    </a:p>
                  </a:txBody>
                  <a:tcPr anchor="ctr"/>
                </a:tc>
                <a:tc>
                  <a:txBody>
                    <a:bodyPr/>
                    <a:lstStyle/>
                    <a:p>
                      <a:pPr algn="ctr"/>
                      <a:r>
                        <a:rPr lang="en-US">
                          <a:effectLst/>
                        </a:rPr>
                        <a:t>10</a:t>
                      </a:r>
                    </a:p>
                  </a:txBody>
                  <a:tcPr anchor="ctr"/>
                </a:tc>
                <a:extLst>
                  <a:ext uri="{0D108BD9-81ED-4DB2-BD59-A6C34878D82A}">
                    <a16:rowId xmlns:a16="http://schemas.microsoft.com/office/drawing/2014/main" val="4114436287"/>
                  </a:ext>
                </a:extLst>
              </a:tr>
              <a:tr h="370840">
                <a:tc>
                  <a:txBody>
                    <a:bodyPr/>
                    <a:lstStyle/>
                    <a:p>
                      <a:pPr algn="ctr"/>
                      <a:r>
                        <a:rPr lang="en-US">
                          <a:effectLst/>
                        </a:rPr>
                        <a:t>female</a:t>
                      </a:r>
                    </a:p>
                  </a:txBody>
                  <a:tcPr anchor="ctr"/>
                </a:tc>
                <a:tc>
                  <a:txBody>
                    <a:bodyPr/>
                    <a:lstStyle/>
                    <a:p>
                      <a:pPr algn="ctr"/>
                      <a:r>
                        <a:rPr lang="en-US">
                          <a:effectLst/>
                        </a:rPr>
                        <a:t>5</a:t>
                      </a:r>
                    </a:p>
                  </a:txBody>
                  <a:tcPr anchor="ctr"/>
                </a:tc>
                <a:tc>
                  <a:txBody>
                    <a:bodyPr/>
                    <a:lstStyle/>
                    <a:p>
                      <a:pPr algn="ctr"/>
                      <a:r>
                        <a:rPr lang="en-US">
                          <a:effectLst/>
                        </a:rPr>
                        <a:t>100</a:t>
                      </a:r>
                    </a:p>
                  </a:txBody>
                  <a:tcPr anchor="ctr"/>
                </a:tc>
                <a:tc>
                  <a:txBody>
                    <a:bodyPr/>
                    <a:lstStyle/>
                    <a:p>
                      <a:pPr algn="ctr"/>
                      <a:r>
                        <a:rPr lang="en-US">
                          <a:effectLst/>
                        </a:rPr>
                        <a:t>6</a:t>
                      </a:r>
                    </a:p>
                  </a:txBody>
                  <a:tcPr anchor="ctr"/>
                </a:tc>
                <a:extLst>
                  <a:ext uri="{0D108BD9-81ED-4DB2-BD59-A6C34878D82A}">
                    <a16:rowId xmlns:a16="http://schemas.microsoft.com/office/drawing/2014/main" val="765603432"/>
                  </a:ext>
                </a:extLst>
              </a:tr>
              <a:tr h="370840">
                <a:tc>
                  <a:txBody>
                    <a:bodyPr/>
                    <a:lstStyle/>
                    <a:p>
                      <a:pPr algn="ctr"/>
                      <a:r>
                        <a:rPr lang="en-US">
                          <a:effectLst/>
                        </a:rPr>
                        <a:t>female</a:t>
                      </a:r>
                    </a:p>
                  </a:txBody>
                  <a:tcPr anchor="ctr"/>
                </a:tc>
                <a:tc>
                  <a:txBody>
                    <a:bodyPr/>
                    <a:lstStyle/>
                    <a:p>
                      <a:pPr algn="ctr"/>
                      <a:r>
                        <a:rPr lang="en-US">
                          <a:effectLst/>
                        </a:rPr>
                        <a:t>5.5 (5'6")</a:t>
                      </a:r>
                    </a:p>
                  </a:txBody>
                  <a:tcPr anchor="ctr"/>
                </a:tc>
                <a:tc>
                  <a:txBody>
                    <a:bodyPr/>
                    <a:lstStyle/>
                    <a:p>
                      <a:pPr algn="ctr"/>
                      <a:r>
                        <a:rPr lang="en-US">
                          <a:effectLst/>
                        </a:rPr>
                        <a:t>150</a:t>
                      </a:r>
                    </a:p>
                  </a:txBody>
                  <a:tcPr anchor="ctr"/>
                </a:tc>
                <a:tc>
                  <a:txBody>
                    <a:bodyPr/>
                    <a:lstStyle/>
                    <a:p>
                      <a:pPr algn="ctr"/>
                      <a:r>
                        <a:rPr lang="en-US">
                          <a:effectLst/>
                        </a:rPr>
                        <a:t>8</a:t>
                      </a:r>
                    </a:p>
                  </a:txBody>
                  <a:tcPr anchor="ctr"/>
                </a:tc>
                <a:extLst>
                  <a:ext uri="{0D108BD9-81ED-4DB2-BD59-A6C34878D82A}">
                    <a16:rowId xmlns:a16="http://schemas.microsoft.com/office/drawing/2014/main" val="2066828953"/>
                  </a:ext>
                </a:extLst>
              </a:tr>
              <a:tr h="370840">
                <a:tc>
                  <a:txBody>
                    <a:bodyPr/>
                    <a:lstStyle/>
                    <a:p>
                      <a:pPr algn="ctr"/>
                      <a:r>
                        <a:rPr lang="en-US">
                          <a:effectLst/>
                        </a:rPr>
                        <a:t>female</a:t>
                      </a:r>
                    </a:p>
                  </a:txBody>
                  <a:tcPr anchor="ctr"/>
                </a:tc>
                <a:tc>
                  <a:txBody>
                    <a:bodyPr/>
                    <a:lstStyle/>
                    <a:p>
                      <a:pPr algn="ctr"/>
                      <a:r>
                        <a:rPr lang="en-US">
                          <a:effectLst/>
                        </a:rPr>
                        <a:t>5.42 (5'5")</a:t>
                      </a:r>
                    </a:p>
                  </a:txBody>
                  <a:tcPr anchor="ctr"/>
                </a:tc>
                <a:tc>
                  <a:txBody>
                    <a:bodyPr/>
                    <a:lstStyle/>
                    <a:p>
                      <a:pPr algn="ctr"/>
                      <a:r>
                        <a:rPr lang="en-US">
                          <a:effectLst/>
                        </a:rPr>
                        <a:t>130</a:t>
                      </a:r>
                    </a:p>
                  </a:txBody>
                  <a:tcPr anchor="ctr"/>
                </a:tc>
                <a:tc>
                  <a:txBody>
                    <a:bodyPr/>
                    <a:lstStyle/>
                    <a:p>
                      <a:pPr algn="ctr"/>
                      <a:r>
                        <a:rPr lang="en-US">
                          <a:effectLst/>
                        </a:rPr>
                        <a:t>7</a:t>
                      </a:r>
                    </a:p>
                  </a:txBody>
                  <a:tcPr anchor="ctr"/>
                </a:tc>
                <a:extLst>
                  <a:ext uri="{0D108BD9-81ED-4DB2-BD59-A6C34878D82A}">
                    <a16:rowId xmlns:a16="http://schemas.microsoft.com/office/drawing/2014/main" val="1053082048"/>
                  </a:ext>
                </a:extLst>
              </a:tr>
              <a:tr h="370840">
                <a:tc>
                  <a:txBody>
                    <a:bodyPr/>
                    <a:lstStyle/>
                    <a:p>
                      <a:pPr algn="ctr"/>
                      <a:r>
                        <a:rPr lang="en-US" dirty="0">
                          <a:effectLst/>
                        </a:rPr>
                        <a:t>female</a:t>
                      </a:r>
                    </a:p>
                  </a:txBody>
                  <a:tcPr anchor="ctr"/>
                </a:tc>
                <a:tc>
                  <a:txBody>
                    <a:bodyPr/>
                    <a:lstStyle/>
                    <a:p>
                      <a:pPr algn="ctr"/>
                      <a:r>
                        <a:rPr lang="en-US">
                          <a:effectLst/>
                        </a:rPr>
                        <a:t>5.75 (5'9")</a:t>
                      </a:r>
                    </a:p>
                  </a:txBody>
                  <a:tcPr anchor="ctr"/>
                </a:tc>
                <a:tc>
                  <a:txBody>
                    <a:bodyPr/>
                    <a:lstStyle/>
                    <a:p>
                      <a:pPr algn="ctr"/>
                      <a:r>
                        <a:rPr lang="en-US">
                          <a:effectLst/>
                        </a:rPr>
                        <a:t>150</a:t>
                      </a:r>
                    </a:p>
                  </a:txBody>
                  <a:tcPr anchor="ctr"/>
                </a:tc>
                <a:tc>
                  <a:txBody>
                    <a:bodyPr/>
                    <a:lstStyle/>
                    <a:p>
                      <a:pPr algn="ctr"/>
                      <a:r>
                        <a:rPr lang="en-US" dirty="0">
                          <a:effectLst/>
                        </a:rPr>
                        <a:t>9</a:t>
                      </a:r>
                    </a:p>
                  </a:txBody>
                  <a:tcPr anchor="ctr"/>
                </a:tc>
                <a:extLst>
                  <a:ext uri="{0D108BD9-81ED-4DB2-BD59-A6C34878D82A}">
                    <a16:rowId xmlns:a16="http://schemas.microsoft.com/office/drawing/2014/main" val="3614319597"/>
                  </a:ext>
                </a:extLst>
              </a:tr>
            </a:tbl>
          </a:graphicData>
        </a:graphic>
      </p:graphicFrame>
    </p:spTree>
    <p:extLst>
      <p:ext uri="{BB962C8B-B14F-4D97-AF65-F5344CB8AC3E}">
        <p14:creationId xmlns:p14="http://schemas.microsoft.com/office/powerpoint/2010/main" val="24018936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DB4A-0F3F-E796-8B46-88083B5C34E0}"/>
              </a:ext>
            </a:extLst>
          </p:cNvPr>
          <p:cNvSpPr>
            <a:spLocks noGrp="1"/>
          </p:cNvSpPr>
          <p:nvPr>
            <p:ph type="title"/>
          </p:nvPr>
        </p:nvSpPr>
        <p:spPr/>
        <p:txBody>
          <a:bodyPr/>
          <a:lstStyle/>
          <a:p>
            <a:r>
              <a:rPr lang="en-US" dirty="0"/>
              <a:t>Gaussian Naïve Bayes Example (cont.)</a:t>
            </a:r>
          </a:p>
        </p:txBody>
      </p:sp>
      <p:sp>
        <p:nvSpPr>
          <p:cNvPr id="3" name="Content Placeholder 2">
            <a:extLst>
              <a:ext uri="{FF2B5EF4-FFF2-40B4-BE49-F238E27FC236}">
                <a16:creationId xmlns:a16="http://schemas.microsoft.com/office/drawing/2014/main" id="{4F6AFAA1-2E1D-67E1-229A-89CE585D3871}"/>
              </a:ext>
            </a:extLst>
          </p:cNvPr>
          <p:cNvSpPr>
            <a:spLocks noGrp="1"/>
          </p:cNvSpPr>
          <p:nvPr>
            <p:ph idx="1"/>
          </p:nvPr>
        </p:nvSpPr>
        <p:spPr/>
        <p:txBody>
          <a:bodyPr>
            <a:normAutofit/>
          </a:bodyPr>
          <a:lstStyle/>
          <a:p>
            <a:r>
              <a:rPr lang="en-GB" sz="2000" dirty="0"/>
              <a:t>The classifier created from the training set using a Gaussian distribution assumption would be (given variances are unbiased </a:t>
            </a:r>
            <a:r>
              <a:rPr lang="en-GB" sz="2000" dirty="0">
                <a:hlinkClick r:id="rId2"/>
              </a:rPr>
              <a:t>sample variances</a:t>
            </a:r>
            <a:r>
              <a:rPr lang="en-GB" sz="2000" dirty="0"/>
              <a:t>):</a:t>
            </a:r>
          </a:p>
          <a:p>
            <a:endParaRPr lang="en-GB" sz="2000" dirty="0"/>
          </a:p>
          <a:p>
            <a:endParaRPr lang="en-GB" sz="2000" dirty="0"/>
          </a:p>
          <a:p>
            <a:endParaRPr lang="en-GB" sz="2000" dirty="0"/>
          </a:p>
          <a:p>
            <a:endParaRPr lang="en-GB" sz="2000" dirty="0"/>
          </a:p>
          <a:p>
            <a:endParaRPr lang="en-GB" sz="2000" dirty="0"/>
          </a:p>
          <a:p>
            <a:r>
              <a:rPr lang="en-GB" sz="2000" dirty="0"/>
              <a:t>To create the classifier model, we assume equiprobable classes so that </a:t>
            </a:r>
            <a:r>
              <a:rPr lang="en-GB" sz="2000" i="1" dirty="0"/>
              <a:t>P(male) </a:t>
            </a:r>
            <a:r>
              <a:rPr lang="en-GB" sz="2000" dirty="0"/>
              <a:t>= </a:t>
            </a:r>
            <a:r>
              <a:rPr lang="en-GB" sz="2000" i="1" dirty="0"/>
              <a:t>P(female)</a:t>
            </a:r>
            <a:r>
              <a:rPr lang="en-GB" sz="2000" dirty="0"/>
              <a:t> = </a:t>
            </a:r>
            <a:r>
              <a:rPr lang="en-GB" sz="2000" i="1" dirty="0"/>
              <a:t>0.5</a:t>
            </a:r>
            <a:r>
              <a:rPr lang="en-GB" sz="2000" dirty="0"/>
              <a:t>. This prior probability distribution might be based on prior knowledge of frequencies in the larger population or in the training set.</a:t>
            </a:r>
          </a:p>
          <a:p>
            <a:pPr marL="457200" lvl="1" indent="0">
              <a:buNone/>
            </a:pPr>
            <a:endParaRPr lang="en-US" sz="1800" dirty="0"/>
          </a:p>
        </p:txBody>
      </p:sp>
      <p:graphicFrame>
        <p:nvGraphicFramePr>
          <p:cNvPr id="4" name="Table 3">
            <a:extLst>
              <a:ext uri="{FF2B5EF4-FFF2-40B4-BE49-F238E27FC236}">
                <a16:creationId xmlns:a16="http://schemas.microsoft.com/office/drawing/2014/main" id="{0CA88B46-B5CC-57EE-DC47-DEF1E417AA48}"/>
              </a:ext>
            </a:extLst>
          </p:cNvPr>
          <p:cNvGraphicFramePr>
            <a:graphicFrameLocks noGrp="1"/>
          </p:cNvGraphicFramePr>
          <p:nvPr>
            <p:extLst>
              <p:ext uri="{D42A27DB-BD31-4B8C-83A1-F6EECF244321}">
                <p14:modId xmlns:p14="http://schemas.microsoft.com/office/powerpoint/2010/main" val="771029174"/>
              </p:ext>
            </p:extLst>
          </p:nvPr>
        </p:nvGraphicFramePr>
        <p:xfrm>
          <a:off x="1137921" y="2738120"/>
          <a:ext cx="9916158" cy="1381760"/>
        </p:xfrm>
        <a:graphic>
          <a:graphicData uri="http://schemas.openxmlformats.org/drawingml/2006/table">
            <a:tbl>
              <a:tblPr firstRow="1" bandRow="1">
                <a:tableStyleId>{9D7B26C5-4107-4FEC-AEDC-1716B250A1EF}</a:tableStyleId>
              </a:tblPr>
              <a:tblGrid>
                <a:gridCol w="1046480">
                  <a:extLst>
                    <a:ext uri="{9D8B030D-6E8A-4147-A177-3AD203B41FA5}">
                      <a16:colId xmlns:a16="http://schemas.microsoft.com/office/drawing/2014/main" val="1493158415"/>
                    </a:ext>
                  </a:extLst>
                </a:gridCol>
                <a:gridCol w="1422400">
                  <a:extLst>
                    <a:ext uri="{9D8B030D-6E8A-4147-A177-3AD203B41FA5}">
                      <a16:colId xmlns:a16="http://schemas.microsoft.com/office/drawing/2014/main" val="270204063"/>
                    </a:ext>
                  </a:extLst>
                </a:gridCol>
                <a:gridCol w="1780902">
                  <a:extLst>
                    <a:ext uri="{9D8B030D-6E8A-4147-A177-3AD203B41FA5}">
                      <a16:colId xmlns:a16="http://schemas.microsoft.com/office/drawing/2014/main" val="4042190723"/>
                    </a:ext>
                  </a:extLst>
                </a:gridCol>
                <a:gridCol w="1195978">
                  <a:extLst>
                    <a:ext uri="{9D8B030D-6E8A-4147-A177-3AD203B41FA5}">
                      <a16:colId xmlns:a16="http://schemas.microsoft.com/office/drawing/2014/main" val="1847676540"/>
                    </a:ext>
                  </a:extLst>
                </a:gridCol>
                <a:gridCol w="1524000">
                  <a:extLst>
                    <a:ext uri="{9D8B030D-6E8A-4147-A177-3AD203B41FA5}">
                      <a16:colId xmlns:a16="http://schemas.microsoft.com/office/drawing/2014/main" val="1490037301"/>
                    </a:ext>
                  </a:extLst>
                </a:gridCol>
                <a:gridCol w="1351280">
                  <a:extLst>
                    <a:ext uri="{9D8B030D-6E8A-4147-A177-3AD203B41FA5}">
                      <a16:colId xmlns:a16="http://schemas.microsoft.com/office/drawing/2014/main" val="1845026849"/>
                    </a:ext>
                  </a:extLst>
                </a:gridCol>
                <a:gridCol w="1595118">
                  <a:extLst>
                    <a:ext uri="{9D8B030D-6E8A-4147-A177-3AD203B41FA5}">
                      <a16:colId xmlns:a16="http://schemas.microsoft.com/office/drawing/2014/main" val="2258110555"/>
                    </a:ext>
                  </a:extLst>
                </a:gridCol>
              </a:tblGrid>
              <a:tr h="370840">
                <a:tc>
                  <a:txBody>
                    <a:bodyPr/>
                    <a:lstStyle/>
                    <a:p>
                      <a:pPr algn="l"/>
                      <a:r>
                        <a:rPr lang="en-US" dirty="0">
                          <a:effectLst/>
                        </a:rPr>
                        <a:t>Person</a:t>
                      </a:r>
                    </a:p>
                  </a:txBody>
                  <a:tcPr anchor="ctr"/>
                </a:tc>
                <a:tc>
                  <a:txBody>
                    <a:bodyPr/>
                    <a:lstStyle/>
                    <a:p>
                      <a:pPr algn="l"/>
                      <a:r>
                        <a:rPr lang="en-US">
                          <a:effectLst/>
                        </a:rPr>
                        <a:t>mean (height)</a:t>
                      </a:r>
                    </a:p>
                  </a:txBody>
                  <a:tcPr anchor="ctr"/>
                </a:tc>
                <a:tc>
                  <a:txBody>
                    <a:bodyPr/>
                    <a:lstStyle/>
                    <a:p>
                      <a:pPr algn="l"/>
                      <a:r>
                        <a:rPr lang="en-US" dirty="0">
                          <a:effectLst/>
                        </a:rPr>
                        <a:t>variance (height)</a:t>
                      </a:r>
                    </a:p>
                  </a:txBody>
                  <a:tcPr anchor="ctr"/>
                </a:tc>
                <a:tc>
                  <a:txBody>
                    <a:bodyPr/>
                    <a:lstStyle/>
                    <a:p>
                      <a:pPr algn="l"/>
                      <a:r>
                        <a:rPr lang="en-US">
                          <a:effectLst/>
                        </a:rPr>
                        <a:t>mean (weight)</a:t>
                      </a:r>
                    </a:p>
                  </a:txBody>
                  <a:tcPr anchor="ctr"/>
                </a:tc>
                <a:tc>
                  <a:txBody>
                    <a:bodyPr/>
                    <a:lstStyle/>
                    <a:p>
                      <a:pPr algn="l"/>
                      <a:r>
                        <a:rPr lang="en-US">
                          <a:effectLst/>
                        </a:rPr>
                        <a:t>variance (weight)</a:t>
                      </a:r>
                    </a:p>
                  </a:txBody>
                  <a:tcPr anchor="ctr"/>
                </a:tc>
                <a:tc>
                  <a:txBody>
                    <a:bodyPr/>
                    <a:lstStyle/>
                    <a:p>
                      <a:pPr algn="l"/>
                      <a:r>
                        <a:rPr lang="en-US">
                          <a:effectLst/>
                        </a:rPr>
                        <a:t>mean (foot size)</a:t>
                      </a:r>
                    </a:p>
                  </a:txBody>
                  <a:tcPr anchor="ctr"/>
                </a:tc>
                <a:tc>
                  <a:txBody>
                    <a:bodyPr/>
                    <a:lstStyle/>
                    <a:p>
                      <a:pPr algn="l"/>
                      <a:r>
                        <a:rPr lang="en-US">
                          <a:effectLst/>
                        </a:rPr>
                        <a:t>variance (foot size)</a:t>
                      </a:r>
                    </a:p>
                  </a:txBody>
                  <a:tcPr anchor="ctr"/>
                </a:tc>
                <a:extLst>
                  <a:ext uri="{0D108BD9-81ED-4DB2-BD59-A6C34878D82A}">
                    <a16:rowId xmlns:a16="http://schemas.microsoft.com/office/drawing/2014/main" val="822797305"/>
                  </a:ext>
                </a:extLst>
              </a:tr>
              <a:tr h="370840">
                <a:tc>
                  <a:txBody>
                    <a:bodyPr/>
                    <a:lstStyle/>
                    <a:p>
                      <a:pPr algn="l"/>
                      <a:r>
                        <a:rPr lang="en-US">
                          <a:effectLst/>
                        </a:rPr>
                        <a:t>male</a:t>
                      </a:r>
                    </a:p>
                  </a:txBody>
                  <a:tcPr anchor="ctr"/>
                </a:tc>
                <a:tc>
                  <a:txBody>
                    <a:bodyPr/>
                    <a:lstStyle/>
                    <a:p>
                      <a:pPr algn="l"/>
                      <a:r>
                        <a:rPr lang="en-US">
                          <a:effectLst/>
                        </a:rPr>
                        <a:t>5.855</a:t>
                      </a:r>
                    </a:p>
                  </a:txBody>
                  <a:tcPr anchor="ctr"/>
                </a:tc>
                <a:tc>
                  <a:txBody>
                    <a:bodyPr/>
                    <a:lstStyle/>
                    <a:p>
                      <a:pPr algn="l"/>
                      <a:r>
                        <a:rPr lang="en-US">
                          <a:effectLst/>
                        </a:rPr>
                        <a:t>3.5033 × 10</a:t>
                      </a:r>
                      <a:r>
                        <a:rPr lang="en-US" baseline="30000">
                          <a:effectLst/>
                        </a:rPr>
                        <a:t>−2</a:t>
                      </a:r>
                      <a:endParaRPr lang="en-US">
                        <a:effectLst/>
                      </a:endParaRPr>
                    </a:p>
                  </a:txBody>
                  <a:tcPr anchor="ctr"/>
                </a:tc>
                <a:tc>
                  <a:txBody>
                    <a:bodyPr/>
                    <a:lstStyle/>
                    <a:p>
                      <a:pPr algn="l"/>
                      <a:r>
                        <a:rPr lang="en-US">
                          <a:effectLst/>
                        </a:rPr>
                        <a:t>176.25</a:t>
                      </a:r>
                    </a:p>
                  </a:txBody>
                  <a:tcPr anchor="ctr"/>
                </a:tc>
                <a:tc>
                  <a:txBody>
                    <a:bodyPr/>
                    <a:lstStyle/>
                    <a:p>
                      <a:pPr algn="l"/>
                      <a:r>
                        <a:rPr lang="en-US">
                          <a:effectLst/>
                        </a:rPr>
                        <a:t>1.2292 × 10</a:t>
                      </a:r>
                      <a:r>
                        <a:rPr lang="en-US" baseline="30000">
                          <a:effectLst/>
                        </a:rPr>
                        <a:t>2</a:t>
                      </a:r>
                      <a:endParaRPr lang="en-US">
                        <a:effectLst/>
                      </a:endParaRPr>
                    </a:p>
                  </a:txBody>
                  <a:tcPr anchor="ctr"/>
                </a:tc>
                <a:tc>
                  <a:txBody>
                    <a:bodyPr/>
                    <a:lstStyle/>
                    <a:p>
                      <a:pPr algn="l"/>
                      <a:r>
                        <a:rPr lang="en-US" dirty="0">
                          <a:effectLst/>
                        </a:rPr>
                        <a:t>11.25</a:t>
                      </a:r>
                    </a:p>
                  </a:txBody>
                  <a:tcPr anchor="ctr"/>
                </a:tc>
                <a:tc>
                  <a:txBody>
                    <a:bodyPr/>
                    <a:lstStyle/>
                    <a:p>
                      <a:pPr algn="l"/>
                      <a:r>
                        <a:rPr lang="en-US" dirty="0">
                          <a:effectLst/>
                        </a:rPr>
                        <a:t>9.1667 × 10</a:t>
                      </a:r>
                      <a:r>
                        <a:rPr lang="en-US" baseline="30000" dirty="0">
                          <a:effectLst/>
                        </a:rPr>
                        <a:t>−1</a:t>
                      </a:r>
                      <a:endParaRPr lang="en-US" dirty="0">
                        <a:effectLst/>
                      </a:endParaRPr>
                    </a:p>
                  </a:txBody>
                  <a:tcPr anchor="ctr"/>
                </a:tc>
                <a:extLst>
                  <a:ext uri="{0D108BD9-81ED-4DB2-BD59-A6C34878D82A}">
                    <a16:rowId xmlns:a16="http://schemas.microsoft.com/office/drawing/2014/main" val="993522033"/>
                  </a:ext>
                </a:extLst>
              </a:tr>
              <a:tr h="370840">
                <a:tc>
                  <a:txBody>
                    <a:bodyPr/>
                    <a:lstStyle/>
                    <a:p>
                      <a:pPr algn="l"/>
                      <a:r>
                        <a:rPr lang="en-US" dirty="0">
                          <a:effectLst/>
                        </a:rPr>
                        <a:t>female</a:t>
                      </a:r>
                    </a:p>
                  </a:txBody>
                  <a:tcPr anchor="ctr"/>
                </a:tc>
                <a:tc>
                  <a:txBody>
                    <a:bodyPr/>
                    <a:lstStyle/>
                    <a:p>
                      <a:pPr algn="l"/>
                      <a:r>
                        <a:rPr lang="en-US" dirty="0">
                          <a:effectLst/>
                        </a:rPr>
                        <a:t>5.4175</a:t>
                      </a:r>
                    </a:p>
                  </a:txBody>
                  <a:tcPr anchor="ctr"/>
                </a:tc>
                <a:tc>
                  <a:txBody>
                    <a:bodyPr/>
                    <a:lstStyle/>
                    <a:p>
                      <a:pPr algn="l"/>
                      <a:r>
                        <a:rPr lang="en-US">
                          <a:effectLst/>
                        </a:rPr>
                        <a:t>9.7225 × 10</a:t>
                      </a:r>
                      <a:r>
                        <a:rPr lang="en-US" baseline="30000">
                          <a:effectLst/>
                        </a:rPr>
                        <a:t>−2</a:t>
                      </a:r>
                      <a:endParaRPr lang="en-US">
                        <a:effectLst/>
                      </a:endParaRPr>
                    </a:p>
                  </a:txBody>
                  <a:tcPr anchor="ctr"/>
                </a:tc>
                <a:tc>
                  <a:txBody>
                    <a:bodyPr/>
                    <a:lstStyle/>
                    <a:p>
                      <a:pPr algn="l"/>
                      <a:r>
                        <a:rPr lang="en-US">
                          <a:effectLst/>
                        </a:rPr>
                        <a:t>132.5</a:t>
                      </a:r>
                    </a:p>
                  </a:txBody>
                  <a:tcPr anchor="ctr"/>
                </a:tc>
                <a:tc>
                  <a:txBody>
                    <a:bodyPr/>
                    <a:lstStyle/>
                    <a:p>
                      <a:pPr algn="l"/>
                      <a:r>
                        <a:rPr lang="en-US" dirty="0">
                          <a:effectLst/>
                        </a:rPr>
                        <a:t>5.5833 × 10</a:t>
                      </a:r>
                      <a:r>
                        <a:rPr lang="en-US" baseline="30000" dirty="0">
                          <a:effectLst/>
                        </a:rPr>
                        <a:t>2</a:t>
                      </a:r>
                      <a:endParaRPr lang="en-US" dirty="0">
                        <a:effectLst/>
                      </a:endParaRPr>
                    </a:p>
                  </a:txBody>
                  <a:tcPr anchor="ctr"/>
                </a:tc>
                <a:tc>
                  <a:txBody>
                    <a:bodyPr/>
                    <a:lstStyle/>
                    <a:p>
                      <a:pPr algn="l"/>
                      <a:r>
                        <a:rPr lang="en-US">
                          <a:effectLst/>
                        </a:rPr>
                        <a:t>7.5</a:t>
                      </a:r>
                    </a:p>
                  </a:txBody>
                  <a:tcPr anchor="ctr"/>
                </a:tc>
                <a:tc>
                  <a:txBody>
                    <a:bodyPr/>
                    <a:lstStyle/>
                    <a:p>
                      <a:pPr algn="l"/>
                      <a:r>
                        <a:rPr lang="en-US" dirty="0">
                          <a:effectLst/>
                        </a:rPr>
                        <a:t>1.6667</a:t>
                      </a:r>
                    </a:p>
                  </a:txBody>
                  <a:tcPr anchor="ctr"/>
                </a:tc>
                <a:extLst>
                  <a:ext uri="{0D108BD9-81ED-4DB2-BD59-A6C34878D82A}">
                    <a16:rowId xmlns:a16="http://schemas.microsoft.com/office/drawing/2014/main" val="2687789427"/>
                  </a:ext>
                </a:extLst>
              </a:tr>
            </a:tbl>
          </a:graphicData>
        </a:graphic>
      </p:graphicFrame>
    </p:spTree>
    <p:extLst>
      <p:ext uri="{BB962C8B-B14F-4D97-AF65-F5344CB8AC3E}">
        <p14:creationId xmlns:p14="http://schemas.microsoft.com/office/powerpoint/2010/main" val="2673980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DAB7E-60D6-BCC9-4D09-7AD94AD8B624}"/>
              </a:ext>
            </a:extLst>
          </p:cNvPr>
          <p:cNvSpPr>
            <a:spLocks noGrp="1"/>
          </p:cNvSpPr>
          <p:nvPr>
            <p:ph type="title"/>
          </p:nvPr>
        </p:nvSpPr>
        <p:spPr/>
        <p:txBody>
          <a:bodyPr/>
          <a:lstStyle/>
          <a:p>
            <a:r>
              <a:rPr lang="en-US" dirty="0"/>
              <a:t>Gaussian Naïve Bayes Example (cont.)</a:t>
            </a:r>
          </a:p>
        </p:txBody>
      </p:sp>
      <p:sp>
        <p:nvSpPr>
          <p:cNvPr id="3" name="Content Placeholder 2">
            <a:extLst>
              <a:ext uri="{FF2B5EF4-FFF2-40B4-BE49-F238E27FC236}">
                <a16:creationId xmlns:a16="http://schemas.microsoft.com/office/drawing/2014/main" id="{DEDBD34E-2F65-CBAF-4FF2-39C641E6D390}"/>
              </a:ext>
            </a:extLst>
          </p:cNvPr>
          <p:cNvSpPr>
            <a:spLocks noGrp="1"/>
          </p:cNvSpPr>
          <p:nvPr>
            <p:ph idx="1"/>
          </p:nvPr>
        </p:nvSpPr>
        <p:spPr/>
        <p:txBody>
          <a:bodyPr/>
          <a:lstStyle/>
          <a:p>
            <a:r>
              <a:rPr lang="en-US" b="1" dirty="0"/>
              <a:t>Testing</a:t>
            </a:r>
          </a:p>
          <a:p>
            <a:pPr marL="457200" lvl="1" indent="0">
              <a:buNone/>
            </a:pPr>
            <a:r>
              <a:rPr lang="en-GB" dirty="0"/>
              <a:t>Below is a sample to be classified as male or female:</a:t>
            </a:r>
          </a:p>
          <a:p>
            <a:pPr marL="457200" lvl="1" indent="0">
              <a:buNone/>
            </a:pPr>
            <a:endParaRPr lang="en-US" dirty="0"/>
          </a:p>
        </p:txBody>
      </p:sp>
      <p:graphicFrame>
        <p:nvGraphicFramePr>
          <p:cNvPr id="4" name="Table 3">
            <a:extLst>
              <a:ext uri="{FF2B5EF4-FFF2-40B4-BE49-F238E27FC236}">
                <a16:creationId xmlns:a16="http://schemas.microsoft.com/office/drawing/2014/main" id="{47C862FB-E0F5-ADB6-97A4-3E415543326C}"/>
              </a:ext>
            </a:extLst>
          </p:cNvPr>
          <p:cNvGraphicFramePr>
            <a:graphicFrameLocks noGrp="1"/>
          </p:cNvGraphicFramePr>
          <p:nvPr>
            <p:extLst>
              <p:ext uri="{D42A27DB-BD31-4B8C-83A1-F6EECF244321}">
                <p14:modId xmlns:p14="http://schemas.microsoft.com/office/powerpoint/2010/main" val="4230879668"/>
              </p:ext>
            </p:extLst>
          </p:nvPr>
        </p:nvGraphicFramePr>
        <p:xfrm>
          <a:off x="1432560" y="2923540"/>
          <a:ext cx="9306560" cy="741680"/>
        </p:xfrm>
        <a:graphic>
          <a:graphicData uri="http://schemas.openxmlformats.org/drawingml/2006/table">
            <a:tbl>
              <a:tblPr firstRow="1" bandRow="1">
                <a:tableStyleId>{9D7B26C5-4107-4FEC-AEDC-1716B250A1EF}</a:tableStyleId>
              </a:tblPr>
              <a:tblGrid>
                <a:gridCol w="2326640">
                  <a:extLst>
                    <a:ext uri="{9D8B030D-6E8A-4147-A177-3AD203B41FA5}">
                      <a16:colId xmlns:a16="http://schemas.microsoft.com/office/drawing/2014/main" val="4046122690"/>
                    </a:ext>
                  </a:extLst>
                </a:gridCol>
                <a:gridCol w="2326640">
                  <a:extLst>
                    <a:ext uri="{9D8B030D-6E8A-4147-A177-3AD203B41FA5}">
                      <a16:colId xmlns:a16="http://schemas.microsoft.com/office/drawing/2014/main" val="2840672662"/>
                    </a:ext>
                  </a:extLst>
                </a:gridCol>
                <a:gridCol w="2326640">
                  <a:extLst>
                    <a:ext uri="{9D8B030D-6E8A-4147-A177-3AD203B41FA5}">
                      <a16:colId xmlns:a16="http://schemas.microsoft.com/office/drawing/2014/main" val="3427494414"/>
                    </a:ext>
                  </a:extLst>
                </a:gridCol>
                <a:gridCol w="2326640">
                  <a:extLst>
                    <a:ext uri="{9D8B030D-6E8A-4147-A177-3AD203B41FA5}">
                      <a16:colId xmlns:a16="http://schemas.microsoft.com/office/drawing/2014/main" val="707568927"/>
                    </a:ext>
                  </a:extLst>
                </a:gridCol>
              </a:tblGrid>
              <a:tr h="370840">
                <a:tc>
                  <a:txBody>
                    <a:bodyPr/>
                    <a:lstStyle/>
                    <a:p>
                      <a:pPr algn="ctr"/>
                      <a:r>
                        <a:rPr lang="en-US" dirty="0">
                          <a:effectLst/>
                        </a:rPr>
                        <a:t>Person</a:t>
                      </a:r>
                    </a:p>
                  </a:txBody>
                  <a:tcPr anchor="ctr"/>
                </a:tc>
                <a:tc>
                  <a:txBody>
                    <a:bodyPr/>
                    <a:lstStyle/>
                    <a:p>
                      <a:pPr algn="ctr"/>
                      <a:r>
                        <a:rPr lang="en-US">
                          <a:effectLst/>
                        </a:rPr>
                        <a:t>height (feet)</a:t>
                      </a:r>
                    </a:p>
                  </a:txBody>
                  <a:tcPr anchor="ctr"/>
                </a:tc>
                <a:tc>
                  <a:txBody>
                    <a:bodyPr/>
                    <a:lstStyle/>
                    <a:p>
                      <a:pPr algn="ctr"/>
                      <a:r>
                        <a:rPr lang="en-US">
                          <a:effectLst/>
                        </a:rPr>
                        <a:t>weight (lbs)</a:t>
                      </a:r>
                    </a:p>
                  </a:txBody>
                  <a:tcPr anchor="ctr"/>
                </a:tc>
                <a:tc>
                  <a:txBody>
                    <a:bodyPr/>
                    <a:lstStyle/>
                    <a:p>
                      <a:pPr algn="ctr"/>
                      <a:r>
                        <a:rPr lang="en-US">
                          <a:effectLst/>
                        </a:rPr>
                        <a:t>foot size (inches)</a:t>
                      </a:r>
                    </a:p>
                  </a:txBody>
                  <a:tcPr anchor="ctr"/>
                </a:tc>
                <a:extLst>
                  <a:ext uri="{0D108BD9-81ED-4DB2-BD59-A6C34878D82A}">
                    <a16:rowId xmlns:a16="http://schemas.microsoft.com/office/drawing/2014/main" val="1723365025"/>
                  </a:ext>
                </a:extLst>
              </a:tr>
              <a:tr h="370840">
                <a:tc>
                  <a:txBody>
                    <a:bodyPr/>
                    <a:lstStyle/>
                    <a:p>
                      <a:pPr algn="ctr"/>
                      <a:r>
                        <a:rPr lang="en-US" dirty="0">
                          <a:effectLst/>
                        </a:rPr>
                        <a:t>Sample (?)</a:t>
                      </a:r>
                    </a:p>
                  </a:txBody>
                  <a:tcPr anchor="ctr"/>
                </a:tc>
                <a:tc>
                  <a:txBody>
                    <a:bodyPr/>
                    <a:lstStyle/>
                    <a:p>
                      <a:pPr algn="ctr"/>
                      <a:r>
                        <a:rPr lang="en-US">
                          <a:effectLst/>
                        </a:rPr>
                        <a:t>6</a:t>
                      </a:r>
                    </a:p>
                  </a:txBody>
                  <a:tcPr anchor="ctr"/>
                </a:tc>
                <a:tc>
                  <a:txBody>
                    <a:bodyPr/>
                    <a:lstStyle/>
                    <a:p>
                      <a:pPr algn="ctr"/>
                      <a:r>
                        <a:rPr lang="en-US">
                          <a:effectLst/>
                        </a:rPr>
                        <a:t>130</a:t>
                      </a:r>
                    </a:p>
                  </a:txBody>
                  <a:tcPr anchor="ctr"/>
                </a:tc>
                <a:tc>
                  <a:txBody>
                    <a:bodyPr/>
                    <a:lstStyle/>
                    <a:p>
                      <a:pPr algn="ctr"/>
                      <a:r>
                        <a:rPr lang="en-US" dirty="0">
                          <a:effectLst/>
                        </a:rPr>
                        <a:t>8</a:t>
                      </a:r>
                    </a:p>
                  </a:txBody>
                  <a:tcPr anchor="ctr"/>
                </a:tc>
                <a:extLst>
                  <a:ext uri="{0D108BD9-81ED-4DB2-BD59-A6C34878D82A}">
                    <a16:rowId xmlns:a16="http://schemas.microsoft.com/office/drawing/2014/main" val="434353798"/>
                  </a:ext>
                </a:extLst>
              </a:tr>
            </a:tbl>
          </a:graphicData>
        </a:graphic>
      </p:graphicFrame>
    </p:spTree>
    <p:extLst>
      <p:ext uri="{BB962C8B-B14F-4D97-AF65-F5344CB8AC3E}">
        <p14:creationId xmlns:p14="http://schemas.microsoft.com/office/powerpoint/2010/main" val="39131379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2368E-9D0A-A2E7-0A2C-E120B5747435}"/>
              </a:ext>
            </a:extLst>
          </p:cNvPr>
          <p:cNvSpPr>
            <a:spLocks noGrp="1"/>
          </p:cNvSpPr>
          <p:nvPr>
            <p:ph type="title"/>
          </p:nvPr>
        </p:nvSpPr>
        <p:spPr/>
        <p:txBody>
          <a:bodyPr/>
          <a:lstStyle/>
          <a:p>
            <a:r>
              <a:rPr lang="en-US" dirty="0"/>
              <a:t>Gaussian Naïve Bayes 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737218-8EAD-DFD1-F448-AC3957784504}"/>
                  </a:ext>
                </a:extLst>
              </p:cNvPr>
              <p:cNvSpPr>
                <a:spLocks noGrp="1"/>
              </p:cNvSpPr>
              <p:nvPr>
                <p:ph idx="1"/>
              </p:nvPr>
            </p:nvSpPr>
            <p:spPr/>
            <p:txBody>
              <a:bodyPr>
                <a:normAutofit fontScale="85000" lnSpcReduction="10000"/>
              </a:bodyPr>
              <a:lstStyle/>
              <a:p>
                <a:r>
                  <a:rPr lang="en-GB" dirty="0"/>
                  <a:t>In order to classify the sample, one has to determine which posterior is greater, male or female. For the classification as male the posterior is given by:</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𝑝𝑜𝑠𝑡𝑒𝑟𝑖𝑜𝑟</m:t>
                      </m:r>
                      <m:d>
                        <m:dPr>
                          <m:ctrlPr>
                            <a:rPr lang="en-US" b="0" i="1" smtClean="0">
                              <a:latin typeface="Cambria Math" panose="02040503050406030204" pitchFamily="18" charset="0"/>
                            </a:rPr>
                          </m:ctrlPr>
                        </m:dPr>
                        <m:e>
                          <m:r>
                            <a:rPr lang="en-US" b="0" i="1" smtClean="0">
                              <a:latin typeface="Cambria Math" panose="02040503050406030204" pitchFamily="18" charset="0"/>
                            </a:rPr>
                            <m:t>𝑚𝑎𝑙𝑒</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𝑚𝑎𝑙𝑒</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h𝑒𝑖𝑔h𝑡</m:t>
                              </m:r>
                            </m:e>
                            <m:e>
                              <m:r>
                                <a:rPr lang="en-US" b="0" i="1" smtClean="0">
                                  <a:latin typeface="Cambria Math" panose="02040503050406030204" pitchFamily="18" charset="0"/>
                                </a:rPr>
                                <m:t>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𝑤𝑒𝑖𝑔h𝑡</m:t>
                              </m:r>
                            </m:e>
                            <m:e>
                              <m:r>
                                <a:rPr lang="en-US" b="0" i="1" smtClean="0">
                                  <a:latin typeface="Cambria Math" panose="02040503050406030204" pitchFamily="18" charset="0"/>
                                </a:rPr>
                                <m:t>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𝑓𝑜𝑜𝑡</m:t>
                          </m:r>
                          <m:r>
                            <a:rPr lang="en-US" b="0" i="1" smtClean="0">
                              <a:latin typeface="Cambria Math" panose="02040503050406030204" pitchFamily="18" charset="0"/>
                            </a:rPr>
                            <m:t> </m:t>
                          </m:r>
                          <m:r>
                            <a:rPr lang="en-US" b="0" i="1" smtClean="0">
                              <a:latin typeface="Cambria Math" panose="02040503050406030204" pitchFamily="18" charset="0"/>
                            </a:rPr>
                            <m:t>𝑠𝑖𝑧𝑒</m:t>
                          </m:r>
                          <m:r>
                            <a:rPr lang="en-US" b="0" i="1" smtClean="0">
                              <a:latin typeface="Cambria Math" panose="02040503050406030204" pitchFamily="18" charset="0"/>
                            </a:rPr>
                            <m:t>|</m:t>
                          </m:r>
                          <m:r>
                            <a:rPr lang="en-US" b="0" i="1" smtClean="0">
                              <a:latin typeface="Cambria Math" panose="02040503050406030204" pitchFamily="18" charset="0"/>
                            </a:rPr>
                            <m:t>𝑚𝑎𝑙𝑒</m:t>
                          </m:r>
                          <m:r>
                            <a:rPr lang="en-US" b="0" i="1" smtClean="0">
                              <a:latin typeface="Cambria Math" panose="02040503050406030204" pitchFamily="18" charset="0"/>
                            </a:rPr>
                            <m:t>)</m:t>
                          </m:r>
                        </m:num>
                        <m:den>
                          <m:r>
                            <a:rPr lang="en-US" b="0" i="1" smtClean="0">
                              <a:latin typeface="Cambria Math" panose="02040503050406030204" pitchFamily="18" charset="0"/>
                            </a:rPr>
                            <m:t>𝑒𝑣𝑖𝑑𝑒𝑛𝑐𝑒</m:t>
                          </m:r>
                        </m:den>
                      </m:f>
                    </m:oMath>
                  </m:oMathPara>
                </a14:m>
                <a:endParaRPr lang="en-US" dirty="0"/>
              </a:p>
              <a:p>
                <a:r>
                  <a:rPr lang="en-GB" dirty="0"/>
                  <a:t>For the classification as female the posterior is given by:</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𝑝𝑜𝑠𝑡𝑒𝑟𝑖𝑜𝑟</m:t>
                      </m:r>
                      <m:d>
                        <m:dPr>
                          <m:ctrlPr>
                            <a:rPr lang="en-US" b="0" i="1" smtClean="0">
                              <a:latin typeface="Cambria Math" panose="02040503050406030204" pitchFamily="18" charset="0"/>
                            </a:rPr>
                          </m:ctrlPr>
                        </m:dPr>
                        <m:e>
                          <m:r>
                            <a:rPr lang="en-US" b="0" i="1" smtClean="0">
                              <a:latin typeface="Cambria Math" panose="02040503050406030204" pitchFamily="18" charset="0"/>
                            </a:rPr>
                            <m:t>𝑓𝑒𝑚𝑎𝑙𝑒</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𝑓𝑒𝑚𝑎𝑙𝑒</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h𝑒𝑖𝑔h𝑡</m:t>
                              </m:r>
                            </m:e>
                            <m:e>
                              <m:r>
                                <a:rPr lang="en-US" b="0" i="1" smtClean="0">
                                  <a:latin typeface="Cambria Math" panose="02040503050406030204" pitchFamily="18" charset="0"/>
                                </a:rPr>
                                <m:t>𝑓𝑒𝑚𝑎𝑙𝑒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𝑤𝑒𝑖𝑔h𝑡</m:t>
                              </m:r>
                            </m:e>
                            <m:e>
                              <m:r>
                                <a:rPr lang="en-US" b="0" i="1" smtClean="0">
                                  <a:latin typeface="Cambria Math" panose="02040503050406030204" pitchFamily="18" charset="0"/>
                                </a:rPr>
                                <m:t>𝑓𝑒𝑚𝑎𝑙𝑒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𝑓𝑜𝑜𝑡</m:t>
                          </m:r>
                          <m:r>
                            <a:rPr lang="en-US" b="0" i="1" smtClean="0">
                              <a:latin typeface="Cambria Math" panose="02040503050406030204" pitchFamily="18" charset="0"/>
                            </a:rPr>
                            <m:t> </m:t>
                          </m:r>
                          <m:r>
                            <a:rPr lang="en-US" b="0" i="1" smtClean="0">
                              <a:latin typeface="Cambria Math" panose="02040503050406030204" pitchFamily="18" charset="0"/>
                            </a:rPr>
                            <m:t>𝑠𝑖𝑧𝑒</m:t>
                          </m:r>
                          <m:r>
                            <a:rPr lang="en-US" b="0" i="1" smtClean="0">
                              <a:latin typeface="Cambria Math" panose="02040503050406030204" pitchFamily="18" charset="0"/>
                            </a:rPr>
                            <m:t>|</m:t>
                          </m:r>
                          <m:r>
                            <a:rPr lang="en-US" b="0" i="1" smtClean="0">
                              <a:latin typeface="Cambria Math" panose="02040503050406030204" pitchFamily="18" charset="0"/>
                            </a:rPr>
                            <m:t>𝑓𝑒𝑚𝑎𝑙𝑒</m:t>
                          </m:r>
                          <m:r>
                            <a:rPr lang="en-US" b="0" i="1" smtClean="0">
                              <a:latin typeface="Cambria Math" panose="02040503050406030204" pitchFamily="18" charset="0"/>
                            </a:rPr>
                            <m:t>)</m:t>
                          </m:r>
                        </m:num>
                        <m:den>
                          <m:r>
                            <a:rPr lang="en-US" b="0" i="1" smtClean="0">
                              <a:latin typeface="Cambria Math" panose="02040503050406030204" pitchFamily="18" charset="0"/>
                            </a:rPr>
                            <m:t>𝑒𝑣𝑖𝑑𝑒𝑛𝑐𝑒</m:t>
                          </m:r>
                        </m:den>
                      </m:f>
                    </m:oMath>
                  </m:oMathPara>
                </a14:m>
                <a:endParaRPr lang="en-US" dirty="0"/>
              </a:p>
              <a:p>
                <a:r>
                  <a:rPr lang="en-GB" dirty="0"/>
                  <a:t>The evidence (also termed normalizing constant) may be calculated:</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𝑒𝑣𝑖𝑑𝑒𝑛𝑐𝑒</m:t>
                      </m:r>
                      <m:r>
                        <a:rPr lang="en-US" b="0" i="1" smtClean="0">
                          <a:latin typeface="Cambria Math" panose="02040503050406030204" pitchFamily="18" charset="0"/>
                        </a:rPr>
                        <m:t>=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𝑚𝑎𝑙𝑒</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h𝑒𝑖𝑔h𝑡</m:t>
                          </m:r>
                        </m:e>
                        <m:e>
                          <m:r>
                            <a:rPr lang="en-US" b="0" i="1" smtClean="0">
                              <a:latin typeface="Cambria Math" panose="02040503050406030204" pitchFamily="18" charset="0"/>
                            </a:rPr>
                            <m:t>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𝑤𝑒𝑖𝑔h𝑡</m:t>
                          </m:r>
                        </m:e>
                        <m:e>
                          <m:r>
                            <a:rPr lang="en-US" b="0" i="1" smtClean="0">
                              <a:latin typeface="Cambria Math" panose="02040503050406030204" pitchFamily="18" charset="0"/>
                            </a:rPr>
                            <m:t>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𝑓𝑜𝑜𝑡</m:t>
                          </m:r>
                          <m:r>
                            <a:rPr lang="en-US" b="0" i="1" smtClean="0">
                              <a:latin typeface="Cambria Math" panose="02040503050406030204" pitchFamily="18" charset="0"/>
                            </a:rPr>
                            <m:t> </m:t>
                          </m:r>
                          <m:r>
                            <a:rPr lang="en-US" b="0" i="1" smtClean="0">
                              <a:latin typeface="Cambria Math" panose="02040503050406030204" pitchFamily="18" charset="0"/>
                            </a:rPr>
                            <m:t>𝑠𝑖𝑧𝑒</m:t>
                          </m:r>
                        </m:e>
                        <m:e>
                          <m:r>
                            <a:rPr lang="en-US" b="0" i="1" smtClean="0">
                              <a:latin typeface="Cambria Math" panose="02040503050406030204" pitchFamily="18" charset="0"/>
                            </a:rPr>
                            <m:t>𝑚𝑎𝑙𝑒</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𝑓𝑒𝑚𝑎𝑙𝑒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h𝑒𝑖𝑔h𝑡</m:t>
                          </m:r>
                        </m:e>
                        <m:e>
                          <m:r>
                            <a:rPr lang="en-US" i="1">
                              <a:latin typeface="Cambria Math" panose="02040503050406030204" pitchFamily="18" charset="0"/>
                            </a:rPr>
                            <m:t>𝑓𝑒𝑚𝑎𝑙𝑒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𝑤𝑒𝑖𝑔h𝑡</m:t>
                          </m:r>
                        </m:e>
                        <m:e>
                          <m:r>
                            <a:rPr lang="en-US" i="1">
                              <a:latin typeface="Cambria Math" panose="02040503050406030204" pitchFamily="18" charset="0"/>
                            </a:rPr>
                            <m:t>𝑓𝑒𝑚𝑎𝑙𝑒</m:t>
                          </m:r>
                        </m:e>
                      </m:d>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𝑓𝑜𝑜𝑡</m:t>
                      </m:r>
                      <m:r>
                        <a:rPr lang="en-US" i="1">
                          <a:latin typeface="Cambria Math" panose="02040503050406030204" pitchFamily="18" charset="0"/>
                        </a:rPr>
                        <m:t> </m:t>
                      </m:r>
                      <m:r>
                        <a:rPr lang="en-US" i="1">
                          <a:latin typeface="Cambria Math" panose="02040503050406030204" pitchFamily="18" charset="0"/>
                        </a:rPr>
                        <m:t>𝑠𝑖𝑧𝑒</m:t>
                      </m:r>
                      <m:r>
                        <a:rPr lang="en-US" i="1">
                          <a:latin typeface="Cambria Math" panose="02040503050406030204" pitchFamily="18" charset="0"/>
                        </a:rPr>
                        <m:t>|</m:t>
                      </m:r>
                      <m:r>
                        <a:rPr lang="en-US" i="1">
                          <a:latin typeface="Cambria Math" panose="02040503050406030204" pitchFamily="18" charset="0"/>
                        </a:rPr>
                        <m:t>𝑓𝑒𝑚𝑎𝑙𝑒</m:t>
                      </m:r>
                      <m:r>
                        <a:rPr lang="en-US" i="1">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6D737218-8EAD-DFD1-F448-AC3957784504}"/>
                  </a:ext>
                </a:extLst>
              </p:cNvPr>
              <p:cNvSpPr>
                <a:spLocks noGrp="1" noRot="1" noChangeAspect="1" noMove="1" noResize="1" noEditPoints="1" noAdjustHandles="1" noChangeArrowheads="1" noChangeShapeType="1" noTextEdit="1"/>
              </p:cNvSpPr>
              <p:nvPr>
                <p:ph idx="1"/>
              </p:nvPr>
            </p:nvSpPr>
            <p:spPr>
              <a:blipFill>
                <a:blip r:embed="rId3"/>
                <a:stretch>
                  <a:fillRect l="-812" t="-2801" r="-290"/>
                </a:stretch>
              </a:blipFill>
            </p:spPr>
            <p:txBody>
              <a:bodyPr/>
              <a:lstStyle/>
              <a:p>
                <a:r>
                  <a:rPr lang="en-US">
                    <a:noFill/>
                  </a:rPr>
                  <a:t> </a:t>
                </a:r>
              </a:p>
            </p:txBody>
          </p:sp>
        </mc:Fallback>
      </mc:AlternateContent>
    </p:spTree>
    <p:extLst>
      <p:ext uri="{BB962C8B-B14F-4D97-AF65-F5344CB8AC3E}">
        <p14:creationId xmlns:p14="http://schemas.microsoft.com/office/powerpoint/2010/main" val="2600907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26A3-ADB9-0045-9962-A0F619A25C8F}"/>
              </a:ext>
            </a:extLst>
          </p:cNvPr>
          <p:cNvSpPr>
            <a:spLocks noGrp="1"/>
          </p:cNvSpPr>
          <p:nvPr>
            <p:ph type="title"/>
          </p:nvPr>
        </p:nvSpPr>
        <p:spPr/>
        <p:txBody>
          <a:bodyPr/>
          <a:lstStyle/>
          <a:p>
            <a:r>
              <a:rPr lang="en-US"/>
              <a:t>Gaussian Naïve Bayes 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7A145A-1C48-645F-36F7-46A928C0CEFD}"/>
                  </a:ext>
                </a:extLst>
              </p:cNvPr>
              <p:cNvSpPr>
                <a:spLocks noGrp="1"/>
              </p:cNvSpPr>
              <p:nvPr>
                <p:ph idx="1"/>
              </p:nvPr>
            </p:nvSpPr>
            <p:spPr>
              <a:xfrm>
                <a:off x="828368" y="1825625"/>
                <a:ext cx="10515600" cy="4351338"/>
              </a:xfrm>
            </p:spPr>
            <p:txBody>
              <a:bodyPr>
                <a:normAutofit lnSpcReduction="10000"/>
              </a:bodyPr>
              <a:lstStyle/>
              <a:p>
                <a:r>
                  <a:rPr lang="en-GB" dirty="0"/>
                  <a:t>However, given the sample, the evidence is a constant and thus scales both posteriors equally. It therefore does not affect classification and can be ignored. The probability distribution for the sex of the sample can now be determined:</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𝑚𝑎𝑙𝑒</m:t>
                          </m:r>
                        </m:e>
                      </m:d>
                      <m:r>
                        <a:rPr lang="en-US" b="0" i="1" smtClean="0">
                          <a:latin typeface="Cambria Math" panose="02040503050406030204" pitchFamily="18" charset="0"/>
                        </a:rPr>
                        <m:t>=0.5</m:t>
                      </m:r>
                    </m:oMath>
                  </m:oMathPara>
                </a14:m>
                <a:endParaRPr lang="en-US" b="0" dirty="0"/>
              </a:p>
              <a:p>
                <a:pPr marL="457200" lvl="1" indent="0">
                  <a:buNone/>
                </a:pP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h𝑒𝑖𝑔h𝑡</m:t>
                        </m:r>
                        <m:r>
                          <a:rPr lang="en-US" b="0" i="1" smtClean="0">
                            <a:latin typeface="Cambria Math" panose="02040503050406030204" pitchFamily="18" charset="0"/>
                          </a:rPr>
                          <m:t>|</m:t>
                        </m:r>
                        <m:r>
                          <a:rPr lang="en-US" b="0" i="1" smtClean="0">
                            <a:latin typeface="Cambria Math" panose="02040503050406030204" pitchFamily="18" charset="0"/>
                          </a:rPr>
                          <m:t>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6</m:t>
                                </m:r>
                                <m:r>
                                  <a:rPr lang="en-US" i="1">
                                    <a:latin typeface="Cambria Math" panose="02040503050406030204" pitchFamily="18" charset="0"/>
                                  </a:rPr>
                                  <m:t> −</m:t>
                                </m:r>
                                <m:r>
                                  <a:rPr lang="en-GB" i="1">
                                    <a:latin typeface="Cambria Math" panose="02040503050406030204" pitchFamily="18" charset="0"/>
                                    <a:ea typeface="Cambria Math" panose="02040503050406030204" pitchFamily="18" charset="0"/>
                                  </a:rPr>
                                  <m:t>𝜇</m:t>
                                </m:r>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≈1.5789</m:t>
                    </m:r>
                  </m:oMath>
                </a14:m>
                <a:r>
                  <a:rPr lang="en-GB" dirty="0"/>
                  <a:t> </a:t>
                </a:r>
              </a:p>
              <a:p>
                <a:pPr marL="457200" lvl="1" indent="0">
                  <a:buNone/>
                </a:pPr>
                <a:r>
                  <a:rPr lang="en-GB" dirty="0"/>
                  <a:t>Where, </a:t>
                </a:r>
                <a14:m>
                  <m:oMath xmlns:m="http://schemas.openxmlformats.org/officeDocument/2006/math">
                    <m:r>
                      <a:rPr lang="en-GB"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=5.855 </m:t>
                    </m:r>
                  </m:oMath>
                </a14:m>
                <a:r>
                  <a:rPr lang="en-GB" dirty="0"/>
                  <a:t>and </a:t>
                </a:r>
                <a14:m>
                  <m:oMath xmlns:m="http://schemas.openxmlformats.org/officeDocument/2006/math">
                    <m:sSup>
                      <m:sSupPr>
                        <m:ctrlPr>
                          <a:rPr lang="en-GB" i="1" smtClean="0">
                            <a:latin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=3.5033</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−2</m:t>
                        </m:r>
                      </m:sup>
                    </m:sSup>
                  </m:oMath>
                </a14:m>
                <a:r>
                  <a:rPr lang="en-GB" dirty="0"/>
                  <a:t> are the parameters of normal distribution which have been previously determined from the training set. Note that a value greater than 1 is OK here – it is a probability density rather than a probability, because </a:t>
                </a:r>
                <a:r>
                  <a:rPr lang="en-GB" i="1" dirty="0"/>
                  <a:t>height</a:t>
                </a:r>
                <a:r>
                  <a:rPr lang="en-GB" dirty="0"/>
                  <a:t> is a continuous variable. </a:t>
                </a:r>
                <a:r>
                  <a:rPr lang="en-GB" i="1" dirty="0"/>
                  <a:t>[That’s why we use p(x) rather than P(x) here to distinguish between </a:t>
                </a:r>
                <a:r>
                  <a:rPr lang="en-GB" i="1" dirty="0" err="1"/>
                  <a:t>probabilty</a:t>
                </a:r>
                <a:r>
                  <a:rPr lang="en-GB" i="1" dirty="0"/>
                  <a:t> and probability density]</a:t>
                </a:r>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4E7A145A-1C48-645F-36F7-46A928C0CEFD}"/>
                  </a:ext>
                </a:extLst>
              </p:cNvPr>
              <p:cNvSpPr>
                <a:spLocks noGrp="1" noRot="1" noChangeAspect="1" noMove="1" noResize="1" noEditPoints="1" noAdjustHandles="1" noChangeArrowheads="1" noChangeShapeType="1" noTextEdit="1"/>
              </p:cNvSpPr>
              <p:nvPr>
                <p:ph idx="1"/>
              </p:nvPr>
            </p:nvSpPr>
            <p:spPr>
              <a:xfrm>
                <a:off x="828368" y="1825625"/>
                <a:ext cx="10515600" cy="4351338"/>
              </a:xfrm>
              <a:blipFill>
                <a:blip r:embed="rId2"/>
                <a:stretch>
                  <a:fillRect l="-1043" t="-3361" r="-696" b="-140"/>
                </a:stretch>
              </a:blipFill>
            </p:spPr>
            <p:txBody>
              <a:bodyPr/>
              <a:lstStyle/>
              <a:p>
                <a:r>
                  <a:rPr lang="en-US">
                    <a:noFill/>
                  </a:rPr>
                  <a:t> </a:t>
                </a:r>
              </a:p>
            </p:txBody>
          </p:sp>
        </mc:Fallback>
      </mc:AlternateContent>
    </p:spTree>
    <p:extLst>
      <p:ext uri="{BB962C8B-B14F-4D97-AF65-F5344CB8AC3E}">
        <p14:creationId xmlns:p14="http://schemas.microsoft.com/office/powerpoint/2010/main" val="3111802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326A3-ADB9-0045-9962-A0F619A25C8F}"/>
              </a:ext>
            </a:extLst>
          </p:cNvPr>
          <p:cNvSpPr>
            <a:spLocks noGrp="1"/>
          </p:cNvSpPr>
          <p:nvPr>
            <p:ph type="title"/>
          </p:nvPr>
        </p:nvSpPr>
        <p:spPr/>
        <p:txBody>
          <a:bodyPr/>
          <a:lstStyle/>
          <a:p>
            <a:r>
              <a:rPr lang="en-US" dirty="0"/>
              <a:t>Gaussian Naïve Bayes Example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7A145A-1C48-645F-36F7-46A928C0CEFD}"/>
                  </a:ext>
                </a:extLst>
              </p:cNvPr>
              <p:cNvSpPr>
                <a:spLocks noGrp="1"/>
              </p:cNvSpPr>
              <p:nvPr>
                <p:ph idx="1"/>
              </p:nvPr>
            </p:nvSpPr>
            <p:spPr>
              <a:xfrm>
                <a:off x="828368" y="1825626"/>
                <a:ext cx="10515600" cy="4667250"/>
              </a:xfrm>
            </p:spPr>
            <p:txBody>
              <a:bodyPr>
                <a:normAutofit fontScale="85000" lnSpcReduction="10000"/>
              </a:bodyPr>
              <a:lstStyle/>
              <a:p>
                <a:r>
                  <a:rPr lang="en-GB" dirty="0"/>
                  <a:t>Similarly:</a:t>
                </a: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𝑤𝑒𝑖𝑔h𝑡</m:t>
                          </m:r>
                          <m:r>
                            <a:rPr lang="en-US" b="0" i="1" smtClean="0">
                              <a:latin typeface="Cambria Math" panose="02040503050406030204" pitchFamily="18" charset="0"/>
                            </a:rPr>
                            <m:t>|</m:t>
                          </m:r>
                          <m:r>
                            <a:rPr lang="en-US" b="0" i="1" smtClean="0">
                              <a:latin typeface="Cambria Math" panose="02040503050406030204" pitchFamily="18" charset="0"/>
                            </a:rPr>
                            <m:t>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130</m:t>
                                  </m:r>
                                  <m:r>
                                    <a:rPr lang="en-US" i="1">
                                      <a:latin typeface="Cambria Math" panose="02040503050406030204" pitchFamily="18" charset="0"/>
                                    </a:rPr>
                                    <m:t> −176.25)</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≈5.9881×</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6</m:t>
                          </m:r>
                        </m:sup>
                      </m:sSup>
                    </m:oMath>
                  </m:oMathPara>
                </a14:m>
                <a:endParaRPr lang="en-GB"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𝑓𝑜𝑜𝑡</m:t>
                          </m:r>
                          <m:r>
                            <a:rPr lang="en-US" b="0" i="1" smtClean="0">
                              <a:latin typeface="Cambria Math" panose="02040503050406030204" pitchFamily="18" charset="0"/>
                            </a:rPr>
                            <m:t> </m:t>
                          </m:r>
                          <m:r>
                            <a:rPr lang="en-US" b="0" i="1" smtClean="0">
                              <a:latin typeface="Cambria Math" panose="02040503050406030204" pitchFamily="18" charset="0"/>
                            </a:rPr>
                            <m:t>𝑠𝑖𝑧𝑒</m:t>
                          </m:r>
                          <m:r>
                            <a:rPr lang="en-US" b="0" i="1" smtClean="0">
                              <a:latin typeface="Cambria Math" panose="02040503050406030204" pitchFamily="18" charset="0"/>
                            </a:rPr>
                            <m:t>|</m:t>
                          </m:r>
                          <m:r>
                            <a:rPr lang="en-US" b="0" i="1" smtClean="0">
                              <a:latin typeface="Cambria Math" panose="02040503050406030204" pitchFamily="18" charset="0"/>
                            </a:rPr>
                            <m:t>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8</m:t>
                                  </m:r>
                                  <m:r>
                                    <a:rPr lang="en-US" i="1">
                                      <a:latin typeface="Cambria Math" panose="02040503050406030204" pitchFamily="18" charset="0"/>
                                    </a:rPr>
                                    <m:t> −</m:t>
                                  </m:r>
                                  <m:r>
                                    <a:rPr lang="en-US" b="0" i="1" smtClean="0">
                                      <a:latin typeface="Cambria Math" panose="02040503050406030204" pitchFamily="18" charset="0"/>
                                    </a:rPr>
                                    <m:t>11</m:t>
                                  </m:r>
                                  <m:r>
                                    <a:rPr lang="en-US" i="1">
                                      <a:latin typeface="Cambria Math" panose="02040503050406030204" pitchFamily="18" charset="0"/>
                                    </a:rPr>
                                    <m:t>.25)</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≈1.3112×</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sup>
                      </m:sSup>
                    </m:oMath>
                  </m:oMathPara>
                </a14:m>
                <a:endParaRPr lang="en-US" b="0" dirty="0">
                  <a:ea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𝑝𝑜𝑠𝑡𝑒𝑟𝑖𝑜𝑟</m:t>
                      </m:r>
                      <m:r>
                        <a:rPr lang="en-US" b="0" i="1" smtClean="0">
                          <a:latin typeface="Cambria Math" panose="02040503050406030204" pitchFamily="18" charset="0"/>
                        </a:rPr>
                        <m:t> </m:t>
                      </m:r>
                      <m:r>
                        <a:rPr lang="en-US" b="0" i="1" smtClean="0">
                          <a:latin typeface="Cambria Math" panose="02040503050406030204" pitchFamily="18" charset="0"/>
                        </a:rPr>
                        <m:t>𝑛𝑢𝑚𝑒𝑟𝑎𝑡𝑜𝑟</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𝑚𝑎𝑙𝑒</m:t>
                          </m:r>
                        </m:e>
                      </m:d>
                      <m:r>
                        <a:rPr lang="en-US" i="1">
                          <a:latin typeface="Cambria Math" panose="02040503050406030204" pitchFamily="18" charset="0"/>
                        </a:rPr>
                        <m:t>=</m:t>
                      </m:r>
                      <m:r>
                        <a:rPr lang="en-US" i="1">
                          <a:latin typeface="Cambria Math" panose="02040503050406030204" pitchFamily="18" charset="0"/>
                        </a:rPr>
                        <m:t>𝑡h𝑒𝑖𝑟</m:t>
                      </m:r>
                      <m:r>
                        <a:rPr lang="en-US" i="1">
                          <a:latin typeface="Cambria Math" panose="02040503050406030204" pitchFamily="18" charset="0"/>
                        </a:rPr>
                        <m:t> </m:t>
                      </m:r>
                      <m:r>
                        <a:rPr lang="en-US" i="1">
                          <a:latin typeface="Cambria Math" panose="02040503050406030204" pitchFamily="18" charset="0"/>
                        </a:rPr>
                        <m:t>𝑝𝑟𝑜𝑑𝑢𝑐𝑡</m:t>
                      </m:r>
                      <m:r>
                        <a:rPr lang="en-US" i="1">
                          <a:latin typeface="Cambria Math" panose="02040503050406030204" pitchFamily="18" charset="0"/>
                        </a:rPr>
                        <m:t>=6.1984×</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9</m:t>
                          </m:r>
                        </m:sup>
                      </m:sSup>
                    </m:oMath>
                  </m:oMathPara>
                </a14:m>
                <a:endParaRPr lang="en-GB" dirty="0"/>
              </a:p>
              <a:p>
                <a:pPr marL="457200" lvl="1" indent="0">
                  <a:buNone/>
                </a:pPr>
                <a:endParaRPr lang="en-GB"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𝑓𝑒𝑚𝑎𝑙𝑒</m:t>
                          </m:r>
                        </m:e>
                      </m:d>
                      <m:r>
                        <a:rPr lang="en-US" b="0" i="1" smtClean="0">
                          <a:latin typeface="Cambria Math" panose="02040503050406030204" pitchFamily="18" charset="0"/>
                        </a:rPr>
                        <m:t>=0.5</m:t>
                      </m:r>
                    </m:oMath>
                  </m:oMathPara>
                </a14:m>
                <a:endParaRPr lang="en-US" b="0"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h𝑒𝑖𝑔h𝑡</m:t>
                          </m:r>
                          <m:r>
                            <a:rPr lang="en-US" b="0" i="1" smtClean="0">
                              <a:latin typeface="Cambria Math" panose="02040503050406030204" pitchFamily="18" charset="0"/>
                            </a:rPr>
                            <m:t>|</m:t>
                          </m:r>
                          <m:r>
                            <a:rPr lang="en-US" b="0" i="1" smtClean="0">
                              <a:latin typeface="Cambria Math" panose="02040503050406030204" pitchFamily="18" charset="0"/>
                            </a:rPr>
                            <m:t>𝑓𝑒𝑚𝑎𝑙𝑒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6</m:t>
                                  </m:r>
                                  <m:r>
                                    <a:rPr lang="en-US" i="1">
                                      <a:latin typeface="Cambria Math" panose="02040503050406030204" pitchFamily="18" charset="0"/>
                                    </a:rPr>
                                    <m:t> −</m:t>
                                  </m:r>
                                  <m:r>
                                    <a:rPr lang="en-GB" i="1">
                                      <a:latin typeface="Cambria Math" panose="02040503050406030204" pitchFamily="18" charset="0"/>
                                      <a:ea typeface="Cambria Math" panose="02040503050406030204" pitchFamily="18" charset="0"/>
                                    </a:rPr>
                                    <m:t>5.4175</m:t>
                                  </m:r>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2.23×</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p>
                      </m:sSup>
                    </m:oMath>
                  </m:oMathPara>
                </a14:m>
                <a:endParaRPr lang="en-GB"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𝑤𝑒𝑖𝑔h𝑡</m:t>
                          </m:r>
                          <m:r>
                            <a:rPr lang="en-US" b="0" i="1" smtClean="0">
                              <a:latin typeface="Cambria Math" panose="02040503050406030204" pitchFamily="18" charset="0"/>
                            </a:rPr>
                            <m:t>|</m:t>
                          </m:r>
                          <m:r>
                            <a:rPr lang="en-US" b="0" i="1" smtClean="0">
                              <a:latin typeface="Cambria Math" panose="02040503050406030204" pitchFamily="18" charset="0"/>
                            </a:rPr>
                            <m:t>𝑓𝑒𝑚𝑎𝑙𝑒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130</m:t>
                                  </m:r>
                                  <m:r>
                                    <a:rPr lang="en-US" i="1">
                                      <a:latin typeface="Cambria Math" panose="02040503050406030204" pitchFamily="18" charset="0"/>
                                    </a:rPr>
                                    <m:t> −132.5)</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≈1.6789×</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sup>
                      </m:sSup>
                    </m:oMath>
                  </m:oMathPara>
                </a14:m>
                <a:endParaRPr lang="en-GB" dirty="0"/>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𝑓𝑜𝑜𝑡</m:t>
                          </m:r>
                          <m:r>
                            <a:rPr lang="en-US" b="0" i="1" smtClean="0">
                              <a:latin typeface="Cambria Math" panose="02040503050406030204" pitchFamily="18" charset="0"/>
                            </a:rPr>
                            <m:t> </m:t>
                          </m:r>
                          <m:r>
                            <a:rPr lang="en-US" b="0" i="1" smtClean="0">
                              <a:latin typeface="Cambria Math" panose="02040503050406030204" pitchFamily="18" charset="0"/>
                            </a:rPr>
                            <m:t>𝑠𝑖𝑧𝑒</m:t>
                          </m:r>
                          <m:r>
                            <a:rPr lang="en-US" b="0" i="1" smtClean="0">
                              <a:latin typeface="Cambria Math" panose="02040503050406030204" pitchFamily="18" charset="0"/>
                            </a:rPr>
                            <m:t>|</m:t>
                          </m:r>
                          <m:r>
                            <a:rPr lang="en-US" b="0" i="1" smtClean="0">
                              <a:latin typeface="Cambria Math" panose="02040503050406030204" pitchFamily="18" charset="0"/>
                            </a:rPr>
                            <m:t>𝑓𝑒𝑚𝑎𝑙𝑒</m:t>
                          </m:r>
                        </m:e>
                      </m:d>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2</m:t>
                              </m:r>
                              <m:r>
                                <a:rPr lang="en-US" i="1">
                                  <a:latin typeface="Cambria Math" panose="02040503050406030204" pitchFamily="18" charset="0"/>
                                  <a:ea typeface="Cambria Math" panose="02040503050406030204" pitchFamily="18" charset="0"/>
                                </a:rPr>
                                <m:t>𝜋</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den>
                      </m:f>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8</m:t>
                                  </m:r>
                                  <m:r>
                                    <a:rPr lang="en-US" i="1">
                                      <a:latin typeface="Cambria Math" panose="02040503050406030204" pitchFamily="18" charset="0"/>
                                    </a:rPr>
                                    <m:t> −7.5)</m:t>
                                  </m:r>
                                </m:e>
                                <m:sup>
                                  <m:r>
                                    <a:rPr lang="en-US" i="1">
                                      <a:latin typeface="Cambria Math" panose="02040503050406030204" pitchFamily="18" charset="0"/>
                                    </a:rPr>
                                    <m:t>2</m:t>
                                  </m:r>
                                </m:sup>
                              </m:sSup>
                            </m:num>
                            <m:den>
                              <m:r>
                                <a:rPr lang="en-US" i="1">
                                  <a:latin typeface="Cambria Math" panose="02040503050406030204" pitchFamily="18" charset="0"/>
                                </a:rPr>
                                <m:t>2</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r>
                                    <a:rPr lang="en-US" i="1">
                                      <a:latin typeface="Cambria Math" panose="02040503050406030204" pitchFamily="18" charset="0"/>
                                      <a:ea typeface="Cambria Math" panose="02040503050406030204" pitchFamily="18" charset="0"/>
                                    </a:rPr>
                                    <m:t>2</m:t>
                                  </m:r>
                                </m:sup>
                              </m:sSup>
                            </m:den>
                          </m:f>
                        </m:sup>
                      </m:sSup>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≈2.8669×</m:t>
                      </m:r>
                      <m:sSup>
                        <m:sSupPr>
                          <m:ctrlPr>
                            <a:rPr lang="en-US" i="1" smtClean="0">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up>
                      </m:sSup>
                    </m:oMath>
                  </m:oMathPara>
                </a14:m>
                <a:endParaRPr lang="en-US" b="0" dirty="0">
                  <a:ea typeface="Cambria Math" panose="02040503050406030204" pitchFamily="18" charset="0"/>
                </a:endParaRPr>
              </a:p>
              <a:p>
                <a:pPr marL="457200" lvl="1" indent="0">
                  <a:buNone/>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𝑝𝑜𝑠𝑡𝑒𝑟𝑖𝑜𝑟</m:t>
                      </m:r>
                      <m:r>
                        <a:rPr lang="en-US" b="0" i="1" smtClean="0">
                          <a:latin typeface="Cambria Math" panose="02040503050406030204" pitchFamily="18" charset="0"/>
                        </a:rPr>
                        <m:t> </m:t>
                      </m:r>
                      <m:r>
                        <a:rPr lang="en-US" b="0" i="1" smtClean="0">
                          <a:latin typeface="Cambria Math" panose="02040503050406030204" pitchFamily="18" charset="0"/>
                        </a:rPr>
                        <m:t>𝑛𝑢𝑚𝑒𝑟𝑎𝑡𝑜𝑟</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𝑓𝑒𝑚𝑎𝑙𝑒</m:t>
                          </m:r>
                        </m:e>
                      </m:d>
                      <m:r>
                        <a:rPr lang="en-US" i="1">
                          <a:latin typeface="Cambria Math" panose="02040503050406030204" pitchFamily="18" charset="0"/>
                        </a:rPr>
                        <m:t>=</m:t>
                      </m:r>
                      <m:r>
                        <a:rPr lang="en-US" i="1">
                          <a:latin typeface="Cambria Math" panose="02040503050406030204" pitchFamily="18" charset="0"/>
                        </a:rPr>
                        <m:t>𝑡h𝑒𝑖𝑟</m:t>
                      </m:r>
                      <m:r>
                        <a:rPr lang="en-US" i="1">
                          <a:latin typeface="Cambria Math" panose="02040503050406030204" pitchFamily="18" charset="0"/>
                        </a:rPr>
                        <m:t> </m:t>
                      </m:r>
                      <m:r>
                        <a:rPr lang="en-US" i="1">
                          <a:latin typeface="Cambria Math" panose="02040503050406030204" pitchFamily="18" charset="0"/>
                        </a:rPr>
                        <m:t>𝑝𝑟𝑜𝑑𝑢𝑐𝑡</m:t>
                      </m:r>
                      <m:r>
                        <a:rPr lang="en-US" i="1">
                          <a:latin typeface="Cambria Math" panose="02040503050406030204" pitchFamily="18" charset="0"/>
                        </a:rPr>
                        <m:t>=5.3778×</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m:t>
                          </m:r>
                        </m:sup>
                      </m:sSup>
                    </m:oMath>
                  </m:oMathPara>
                </a14:m>
                <a:endParaRPr lang="en-GB" dirty="0"/>
              </a:p>
              <a:p>
                <a:pPr marL="457200" lvl="1" indent="0">
                  <a:buNone/>
                </a:pPr>
                <a:endParaRPr lang="en-GB" dirty="0"/>
              </a:p>
              <a:p>
                <a:pPr marL="457200" lvl="1" indent="0">
                  <a:buNone/>
                </a:pPr>
                <a:endParaRPr lang="en-US" b="0"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4E7A145A-1C48-645F-36F7-46A928C0CEFD}"/>
                  </a:ext>
                </a:extLst>
              </p:cNvPr>
              <p:cNvSpPr>
                <a:spLocks noGrp="1" noRot="1" noChangeAspect="1" noMove="1" noResize="1" noEditPoints="1" noAdjustHandles="1" noChangeArrowheads="1" noChangeShapeType="1" noTextEdit="1"/>
              </p:cNvSpPr>
              <p:nvPr>
                <p:ph idx="1"/>
              </p:nvPr>
            </p:nvSpPr>
            <p:spPr>
              <a:xfrm>
                <a:off x="828368" y="1825626"/>
                <a:ext cx="10515600" cy="4667250"/>
              </a:xfrm>
              <a:blipFill>
                <a:blip r:embed="rId2"/>
                <a:stretch>
                  <a:fillRect l="-812" t="-2611" b="-131"/>
                </a:stretch>
              </a:blipFill>
            </p:spPr>
            <p:txBody>
              <a:bodyPr/>
              <a:lstStyle/>
              <a:p>
                <a:r>
                  <a:rPr lang="en-US">
                    <a:noFill/>
                  </a:rPr>
                  <a:t> </a:t>
                </a:r>
              </a:p>
            </p:txBody>
          </p:sp>
        </mc:Fallback>
      </mc:AlternateContent>
    </p:spTree>
    <p:extLst>
      <p:ext uri="{BB962C8B-B14F-4D97-AF65-F5344CB8AC3E}">
        <p14:creationId xmlns:p14="http://schemas.microsoft.com/office/powerpoint/2010/main" val="2985773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81271-ECDB-04C8-CFDC-DED2D772736E}"/>
              </a:ext>
            </a:extLst>
          </p:cNvPr>
          <p:cNvSpPr>
            <a:spLocks noGrp="1"/>
          </p:cNvSpPr>
          <p:nvPr>
            <p:ph type="title"/>
          </p:nvPr>
        </p:nvSpPr>
        <p:spPr/>
        <p:txBody>
          <a:bodyPr/>
          <a:lstStyle/>
          <a:p>
            <a:r>
              <a:rPr lang="en-US" dirty="0"/>
              <a:t>Gaussian Naïve Bayes Example (cont.)</a:t>
            </a:r>
          </a:p>
        </p:txBody>
      </p:sp>
      <p:sp>
        <p:nvSpPr>
          <p:cNvPr id="3" name="Content Placeholder 2">
            <a:extLst>
              <a:ext uri="{FF2B5EF4-FFF2-40B4-BE49-F238E27FC236}">
                <a16:creationId xmlns:a16="http://schemas.microsoft.com/office/drawing/2014/main" id="{D52215EE-C6D1-B5CF-9C67-702AF2A8D7B4}"/>
              </a:ext>
            </a:extLst>
          </p:cNvPr>
          <p:cNvSpPr>
            <a:spLocks noGrp="1"/>
          </p:cNvSpPr>
          <p:nvPr>
            <p:ph idx="1"/>
          </p:nvPr>
        </p:nvSpPr>
        <p:spPr/>
        <p:txBody>
          <a:bodyPr/>
          <a:lstStyle/>
          <a:p>
            <a:r>
              <a:rPr lang="en-US" b="1" dirty="0"/>
              <a:t>Result</a:t>
            </a:r>
            <a:r>
              <a:rPr lang="en-US" dirty="0"/>
              <a:t>:</a:t>
            </a:r>
          </a:p>
          <a:p>
            <a:pPr lvl="1"/>
            <a:r>
              <a:rPr lang="en-GB" dirty="0"/>
              <a:t>Since posterior numerator is greater in the female case, the prediction is that the sample is </a:t>
            </a:r>
            <a:r>
              <a:rPr lang="en-GB" b="1" dirty="0"/>
              <a:t>female</a:t>
            </a:r>
            <a:r>
              <a:rPr lang="en-GB" dirty="0"/>
              <a:t>.</a:t>
            </a:r>
            <a:endParaRPr lang="en-US" dirty="0"/>
          </a:p>
        </p:txBody>
      </p:sp>
    </p:spTree>
    <p:extLst>
      <p:ext uri="{BB962C8B-B14F-4D97-AF65-F5344CB8AC3E}">
        <p14:creationId xmlns:p14="http://schemas.microsoft.com/office/powerpoint/2010/main" val="35578377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5233-72A4-AC9A-ABEF-5AC11A309713}"/>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8BCA203A-C827-5410-E54E-0C731B5D4B48}"/>
              </a:ext>
            </a:extLst>
          </p:cNvPr>
          <p:cNvSpPr>
            <a:spLocks noGrp="1"/>
          </p:cNvSpPr>
          <p:nvPr>
            <p:ph idx="1"/>
          </p:nvPr>
        </p:nvSpPr>
        <p:spPr/>
        <p:txBody>
          <a:bodyPr/>
          <a:lstStyle/>
          <a:p>
            <a:r>
              <a:rPr lang="en-US" dirty="0"/>
              <a:t>Apply Naïve Bayes classifier for document classification, i.e. Spam or not spam.</a:t>
            </a:r>
          </a:p>
        </p:txBody>
      </p:sp>
    </p:spTree>
    <p:extLst>
      <p:ext uri="{BB962C8B-B14F-4D97-AF65-F5344CB8AC3E}">
        <p14:creationId xmlns:p14="http://schemas.microsoft.com/office/powerpoint/2010/main" val="38478404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E1FA7C-7411-D389-6289-74B5C396E642}"/>
              </a:ext>
            </a:extLst>
          </p:cNvPr>
          <p:cNvSpPr>
            <a:spLocks noGrp="1"/>
          </p:cNvSpPr>
          <p:nvPr>
            <p:ph idx="1"/>
          </p:nvPr>
        </p:nvSpPr>
        <p:spPr/>
        <p:txBody>
          <a:bodyPr/>
          <a:lstStyle/>
          <a:p>
            <a:r>
              <a:rPr lang="en-US" dirty="0"/>
              <a:t>Thanks</a:t>
            </a:r>
          </a:p>
        </p:txBody>
      </p:sp>
    </p:spTree>
    <p:extLst>
      <p:ext uri="{BB962C8B-B14F-4D97-AF65-F5344CB8AC3E}">
        <p14:creationId xmlns:p14="http://schemas.microsoft.com/office/powerpoint/2010/main" val="909936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869</TotalTime>
  <Words>3768</Words>
  <Application>Microsoft Office PowerPoint</Application>
  <PresentationFormat>Widescreen</PresentationFormat>
  <Paragraphs>492</Paragraphs>
  <Slides>38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Cambria Math</vt:lpstr>
      <vt:lpstr>Century Schoolbook</vt:lpstr>
      <vt:lpstr>Symbol</vt:lpstr>
      <vt:lpstr>Office Theme</vt:lpstr>
      <vt:lpstr>Naïve Bayes Classifier</vt:lpstr>
      <vt:lpstr>Naïve Bayes Classifier</vt:lpstr>
      <vt:lpstr>Why is it called Naïve Bayes?</vt:lpstr>
      <vt:lpstr>Bayes' Theorem</vt:lpstr>
      <vt:lpstr>Parameter estimation and event models</vt:lpstr>
      <vt:lpstr>Assumption of Naive Bayes</vt:lpstr>
      <vt:lpstr>Assumption of Naive Bayes</vt:lpstr>
      <vt:lpstr>Types of Naïve Bayes Model</vt:lpstr>
      <vt:lpstr>Naïve Bayes Classifier using an Example</vt:lpstr>
      <vt:lpstr>Frequencies and Probabilities</vt:lpstr>
      <vt:lpstr>Classifying an Unseen Example</vt:lpstr>
      <vt:lpstr>Simple approach</vt:lpstr>
      <vt:lpstr>Bayesian approach</vt:lpstr>
      <vt:lpstr>Cont.</vt:lpstr>
      <vt:lpstr>Formulating the classifier</vt:lpstr>
      <vt:lpstr>Formulating the classifier (cont.)</vt:lpstr>
      <vt:lpstr>Formulating the classifier (cont.)</vt:lpstr>
      <vt:lpstr>Constructing a classifier from the probability model</vt:lpstr>
      <vt:lpstr>Solving the problem using Naïve Bayes</vt:lpstr>
      <vt:lpstr>Solving the problem using Naïve Bayes</vt:lpstr>
      <vt:lpstr>Naive Bayes: Problem with Sparse Data</vt:lpstr>
      <vt:lpstr>Naive Bayes: Problem with Sparse Data</vt:lpstr>
      <vt:lpstr>Practical example: Spam detection</vt:lpstr>
      <vt:lpstr>Practical example: Spam detection</vt:lpstr>
      <vt:lpstr>Practical example: Spam detection</vt:lpstr>
      <vt:lpstr>Gaussian Naïve Bayes</vt:lpstr>
      <vt:lpstr>Gaussian Naïve Bayes</vt:lpstr>
      <vt:lpstr>Naïve Bayes with continuous data</vt:lpstr>
      <vt:lpstr>Gaussian Naïve Bayes Example</vt:lpstr>
      <vt:lpstr>Gaussian Naïve Bayes Example</vt:lpstr>
      <vt:lpstr>Gaussian Naïve Bayes Example (cont.)</vt:lpstr>
      <vt:lpstr>Gaussian Naïve Bayes Example (cont.)</vt:lpstr>
      <vt:lpstr>Gaussian Naïve Bayes Example (cont.)</vt:lpstr>
      <vt:lpstr>Gaussian Naïve Bayes Example (cont.)</vt:lpstr>
      <vt:lpstr>Gaussian Naïve Bayes Example (cont.)</vt:lpstr>
      <vt:lpstr>Gaussian Naïve Bayes Example (cont.)</vt:lpstr>
      <vt:lpstr>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296</cp:revision>
  <dcterms:created xsi:type="dcterms:W3CDTF">2024-10-14T15:11:17Z</dcterms:created>
  <dcterms:modified xsi:type="dcterms:W3CDTF">2024-11-24T17:20:50Z</dcterms:modified>
</cp:coreProperties>
</file>