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9" r:id="rId14"/>
    <p:sldId id="268" r:id="rId15"/>
    <p:sldId id="282" r:id="rId16"/>
    <p:sldId id="270" r:id="rId17"/>
    <p:sldId id="271" r:id="rId18"/>
    <p:sldId id="280" r:id="rId19"/>
    <p:sldId id="272" r:id="rId20"/>
    <p:sldId id="283" r:id="rId21"/>
    <p:sldId id="273" r:id="rId22"/>
    <p:sldId id="275" r:id="rId23"/>
    <p:sldId id="276" r:id="rId24"/>
    <p:sldId id="281" r:id="rId25"/>
    <p:sldId id="278" r:id="rId26"/>
    <p:sldId id="27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A2B1F-F558-C26D-8D2A-EE503CD709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E13239-1C14-F270-0892-890D5D1618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F0A06D-6EDA-2213-D2BE-79F9C1D9CE7E}"/>
              </a:ext>
            </a:extLst>
          </p:cNvPr>
          <p:cNvSpPr>
            <a:spLocks noGrp="1"/>
          </p:cNvSpPr>
          <p:nvPr>
            <p:ph type="dt" sz="half" idx="10"/>
          </p:nvPr>
        </p:nvSpPr>
        <p:spPr/>
        <p:txBody>
          <a:bodyPr/>
          <a:lstStyle/>
          <a:p>
            <a:fld id="{ECF3554E-FC12-46AC-A24D-A841DFFB3B6A}" type="datetimeFigureOut">
              <a:rPr lang="en-US" smtClean="0"/>
              <a:t>10/15/2024</a:t>
            </a:fld>
            <a:endParaRPr lang="en-US"/>
          </a:p>
        </p:txBody>
      </p:sp>
      <p:sp>
        <p:nvSpPr>
          <p:cNvPr id="5" name="Footer Placeholder 4">
            <a:extLst>
              <a:ext uri="{FF2B5EF4-FFF2-40B4-BE49-F238E27FC236}">
                <a16:creationId xmlns:a16="http://schemas.microsoft.com/office/drawing/2014/main" id="{BA77F801-654E-03F9-071D-31F915B010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85BB2B-E3A0-204C-C6EB-70B2749525E8}"/>
              </a:ext>
            </a:extLst>
          </p:cNvPr>
          <p:cNvSpPr>
            <a:spLocks noGrp="1"/>
          </p:cNvSpPr>
          <p:nvPr>
            <p:ph type="sldNum" sz="quarter" idx="12"/>
          </p:nvPr>
        </p:nvSpPr>
        <p:spPr/>
        <p:txBody>
          <a:bodyPr/>
          <a:lstStyle/>
          <a:p>
            <a:fld id="{0D3FD706-A9B9-428A-B994-9F3AFAC63BED}" type="slidenum">
              <a:rPr lang="en-US" smtClean="0"/>
              <a:t>‹#›</a:t>
            </a:fld>
            <a:endParaRPr lang="en-US"/>
          </a:p>
        </p:txBody>
      </p:sp>
    </p:spTree>
    <p:extLst>
      <p:ext uri="{BB962C8B-B14F-4D97-AF65-F5344CB8AC3E}">
        <p14:creationId xmlns:p14="http://schemas.microsoft.com/office/powerpoint/2010/main" val="300829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0651E-C676-E403-5C96-EA4CE005AE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757685-FE7B-F574-A1C7-17BB6BDC72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CA2A46-FCA9-CB48-6DC5-FC377E9C278B}"/>
              </a:ext>
            </a:extLst>
          </p:cNvPr>
          <p:cNvSpPr>
            <a:spLocks noGrp="1"/>
          </p:cNvSpPr>
          <p:nvPr>
            <p:ph type="dt" sz="half" idx="10"/>
          </p:nvPr>
        </p:nvSpPr>
        <p:spPr/>
        <p:txBody>
          <a:bodyPr/>
          <a:lstStyle/>
          <a:p>
            <a:fld id="{ECF3554E-FC12-46AC-A24D-A841DFFB3B6A}" type="datetimeFigureOut">
              <a:rPr lang="en-US" smtClean="0"/>
              <a:t>10/15/2024</a:t>
            </a:fld>
            <a:endParaRPr lang="en-US"/>
          </a:p>
        </p:txBody>
      </p:sp>
      <p:sp>
        <p:nvSpPr>
          <p:cNvPr id="5" name="Footer Placeholder 4">
            <a:extLst>
              <a:ext uri="{FF2B5EF4-FFF2-40B4-BE49-F238E27FC236}">
                <a16:creationId xmlns:a16="http://schemas.microsoft.com/office/drawing/2014/main" id="{7989CD4A-1FCD-D11D-488F-CCDF55C88E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CAA11-4500-15E6-82A8-66CF5400D647}"/>
              </a:ext>
            </a:extLst>
          </p:cNvPr>
          <p:cNvSpPr>
            <a:spLocks noGrp="1"/>
          </p:cNvSpPr>
          <p:nvPr>
            <p:ph type="sldNum" sz="quarter" idx="12"/>
          </p:nvPr>
        </p:nvSpPr>
        <p:spPr/>
        <p:txBody>
          <a:bodyPr/>
          <a:lstStyle/>
          <a:p>
            <a:fld id="{0D3FD706-A9B9-428A-B994-9F3AFAC63BED}" type="slidenum">
              <a:rPr lang="en-US" smtClean="0"/>
              <a:t>‹#›</a:t>
            </a:fld>
            <a:endParaRPr lang="en-US"/>
          </a:p>
        </p:txBody>
      </p:sp>
    </p:spTree>
    <p:extLst>
      <p:ext uri="{BB962C8B-B14F-4D97-AF65-F5344CB8AC3E}">
        <p14:creationId xmlns:p14="http://schemas.microsoft.com/office/powerpoint/2010/main" val="1670657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D9AFF-32D4-9064-7FBD-08B7ECF4CA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E6E5B3-5DEA-EF8A-A19D-E1D0D24365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952A7-BBB4-4FB4-9DB0-3EC6C2EB301E}"/>
              </a:ext>
            </a:extLst>
          </p:cNvPr>
          <p:cNvSpPr>
            <a:spLocks noGrp="1"/>
          </p:cNvSpPr>
          <p:nvPr>
            <p:ph type="dt" sz="half" idx="10"/>
          </p:nvPr>
        </p:nvSpPr>
        <p:spPr/>
        <p:txBody>
          <a:bodyPr/>
          <a:lstStyle/>
          <a:p>
            <a:fld id="{ECF3554E-FC12-46AC-A24D-A841DFFB3B6A}" type="datetimeFigureOut">
              <a:rPr lang="en-US" smtClean="0"/>
              <a:t>10/15/2024</a:t>
            </a:fld>
            <a:endParaRPr lang="en-US"/>
          </a:p>
        </p:txBody>
      </p:sp>
      <p:sp>
        <p:nvSpPr>
          <p:cNvPr id="5" name="Footer Placeholder 4">
            <a:extLst>
              <a:ext uri="{FF2B5EF4-FFF2-40B4-BE49-F238E27FC236}">
                <a16:creationId xmlns:a16="http://schemas.microsoft.com/office/drawing/2014/main" id="{3BA809DB-E829-3665-A8B8-AED68284C6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E517C2-E2AE-9F89-917D-631B7BF26B82}"/>
              </a:ext>
            </a:extLst>
          </p:cNvPr>
          <p:cNvSpPr>
            <a:spLocks noGrp="1"/>
          </p:cNvSpPr>
          <p:nvPr>
            <p:ph type="sldNum" sz="quarter" idx="12"/>
          </p:nvPr>
        </p:nvSpPr>
        <p:spPr/>
        <p:txBody>
          <a:bodyPr/>
          <a:lstStyle/>
          <a:p>
            <a:fld id="{0D3FD706-A9B9-428A-B994-9F3AFAC63BED}" type="slidenum">
              <a:rPr lang="en-US" smtClean="0"/>
              <a:t>‹#›</a:t>
            </a:fld>
            <a:endParaRPr lang="en-US"/>
          </a:p>
        </p:txBody>
      </p:sp>
    </p:spTree>
    <p:extLst>
      <p:ext uri="{BB962C8B-B14F-4D97-AF65-F5344CB8AC3E}">
        <p14:creationId xmlns:p14="http://schemas.microsoft.com/office/powerpoint/2010/main" val="2395213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B430-E869-DCAE-B5BB-0AFCAB2708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464894-50E8-7466-F38B-DAEB17A015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7678EE-B44B-EEE9-0BC5-86A869D5BB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119A9C-DA2E-4F68-7AC3-3F591E8E260B}"/>
              </a:ext>
            </a:extLst>
          </p:cNvPr>
          <p:cNvSpPr>
            <a:spLocks noGrp="1"/>
          </p:cNvSpPr>
          <p:nvPr>
            <p:ph type="dt" sz="half" idx="10"/>
          </p:nvPr>
        </p:nvSpPr>
        <p:spPr/>
        <p:txBody>
          <a:bodyPr/>
          <a:lstStyle/>
          <a:p>
            <a:fld id="{ECF3554E-FC12-46AC-A24D-A841DFFB3B6A}" type="datetimeFigureOut">
              <a:rPr lang="en-US" smtClean="0"/>
              <a:t>10/15/2024</a:t>
            </a:fld>
            <a:endParaRPr lang="en-US"/>
          </a:p>
        </p:txBody>
      </p:sp>
      <p:sp>
        <p:nvSpPr>
          <p:cNvPr id="6" name="Footer Placeholder 5">
            <a:extLst>
              <a:ext uri="{FF2B5EF4-FFF2-40B4-BE49-F238E27FC236}">
                <a16:creationId xmlns:a16="http://schemas.microsoft.com/office/drawing/2014/main" id="{7AACFBE0-D720-CD6D-A234-C231E2DE6F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3284F4-EC52-6649-9D4E-1FB434EAFC3A}"/>
              </a:ext>
            </a:extLst>
          </p:cNvPr>
          <p:cNvSpPr>
            <a:spLocks noGrp="1"/>
          </p:cNvSpPr>
          <p:nvPr>
            <p:ph type="sldNum" sz="quarter" idx="12"/>
          </p:nvPr>
        </p:nvSpPr>
        <p:spPr/>
        <p:txBody>
          <a:bodyPr/>
          <a:lstStyle/>
          <a:p>
            <a:fld id="{0D3FD706-A9B9-428A-B994-9F3AFAC63BED}" type="slidenum">
              <a:rPr lang="en-US" smtClean="0"/>
              <a:t>‹#›</a:t>
            </a:fld>
            <a:endParaRPr lang="en-US"/>
          </a:p>
        </p:txBody>
      </p:sp>
    </p:spTree>
    <p:extLst>
      <p:ext uri="{BB962C8B-B14F-4D97-AF65-F5344CB8AC3E}">
        <p14:creationId xmlns:p14="http://schemas.microsoft.com/office/powerpoint/2010/main" val="3340777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705F0-2E00-4631-3D31-B91A919344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7076EA-E8DF-13F5-786A-722A27AF47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B23D11-3531-8AF3-ED61-0AA506F6B0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063A35-50A7-9377-FC15-14B71B99F3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19D216F-0A6D-98C0-9969-CB591F63F7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DCBF4B-FF9F-4EB8-1467-79F9E7CC750B}"/>
              </a:ext>
            </a:extLst>
          </p:cNvPr>
          <p:cNvSpPr>
            <a:spLocks noGrp="1"/>
          </p:cNvSpPr>
          <p:nvPr>
            <p:ph type="dt" sz="half" idx="10"/>
          </p:nvPr>
        </p:nvSpPr>
        <p:spPr/>
        <p:txBody>
          <a:bodyPr/>
          <a:lstStyle/>
          <a:p>
            <a:fld id="{ECF3554E-FC12-46AC-A24D-A841DFFB3B6A}" type="datetimeFigureOut">
              <a:rPr lang="en-US" smtClean="0"/>
              <a:t>10/15/2024</a:t>
            </a:fld>
            <a:endParaRPr lang="en-US"/>
          </a:p>
        </p:txBody>
      </p:sp>
      <p:sp>
        <p:nvSpPr>
          <p:cNvPr id="8" name="Footer Placeholder 7">
            <a:extLst>
              <a:ext uri="{FF2B5EF4-FFF2-40B4-BE49-F238E27FC236}">
                <a16:creationId xmlns:a16="http://schemas.microsoft.com/office/drawing/2014/main" id="{2DF0AEDC-75B6-46D2-02B4-2AB5D6F297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BC4506-A1C3-22B3-4850-8AD25155504D}"/>
              </a:ext>
            </a:extLst>
          </p:cNvPr>
          <p:cNvSpPr>
            <a:spLocks noGrp="1"/>
          </p:cNvSpPr>
          <p:nvPr>
            <p:ph type="sldNum" sz="quarter" idx="12"/>
          </p:nvPr>
        </p:nvSpPr>
        <p:spPr/>
        <p:txBody>
          <a:bodyPr/>
          <a:lstStyle/>
          <a:p>
            <a:fld id="{0D3FD706-A9B9-428A-B994-9F3AFAC63BED}" type="slidenum">
              <a:rPr lang="en-US" smtClean="0"/>
              <a:t>‹#›</a:t>
            </a:fld>
            <a:endParaRPr lang="en-US"/>
          </a:p>
        </p:txBody>
      </p:sp>
    </p:spTree>
    <p:extLst>
      <p:ext uri="{BB962C8B-B14F-4D97-AF65-F5344CB8AC3E}">
        <p14:creationId xmlns:p14="http://schemas.microsoft.com/office/powerpoint/2010/main" val="371128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156DA-5160-E39B-1B13-A4F28C5B99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936BE3-88A3-60C0-1B9A-415BB13B59E9}"/>
              </a:ext>
            </a:extLst>
          </p:cNvPr>
          <p:cNvSpPr>
            <a:spLocks noGrp="1"/>
          </p:cNvSpPr>
          <p:nvPr>
            <p:ph type="dt" sz="half" idx="10"/>
          </p:nvPr>
        </p:nvSpPr>
        <p:spPr/>
        <p:txBody>
          <a:bodyPr/>
          <a:lstStyle/>
          <a:p>
            <a:fld id="{ECF3554E-FC12-46AC-A24D-A841DFFB3B6A}" type="datetimeFigureOut">
              <a:rPr lang="en-US" smtClean="0"/>
              <a:t>10/15/2024</a:t>
            </a:fld>
            <a:endParaRPr lang="en-US"/>
          </a:p>
        </p:txBody>
      </p:sp>
      <p:sp>
        <p:nvSpPr>
          <p:cNvPr id="4" name="Footer Placeholder 3">
            <a:extLst>
              <a:ext uri="{FF2B5EF4-FFF2-40B4-BE49-F238E27FC236}">
                <a16:creationId xmlns:a16="http://schemas.microsoft.com/office/drawing/2014/main" id="{58E8F56B-C5FE-5614-81FC-44D6462975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F16CA6-9E27-08B9-332D-A319E0B35026}"/>
              </a:ext>
            </a:extLst>
          </p:cNvPr>
          <p:cNvSpPr>
            <a:spLocks noGrp="1"/>
          </p:cNvSpPr>
          <p:nvPr>
            <p:ph type="sldNum" sz="quarter" idx="12"/>
          </p:nvPr>
        </p:nvSpPr>
        <p:spPr/>
        <p:txBody>
          <a:bodyPr/>
          <a:lstStyle/>
          <a:p>
            <a:fld id="{0D3FD706-A9B9-428A-B994-9F3AFAC63BED}" type="slidenum">
              <a:rPr lang="en-US" smtClean="0"/>
              <a:t>‹#›</a:t>
            </a:fld>
            <a:endParaRPr lang="en-US"/>
          </a:p>
        </p:txBody>
      </p:sp>
    </p:spTree>
    <p:extLst>
      <p:ext uri="{BB962C8B-B14F-4D97-AF65-F5344CB8AC3E}">
        <p14:creationId xmlns:p14="http://schemas.microsoft.com/office/powerpoint/2010/main" val="4081566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B5A7D9-ADAF-55CC-19B0-625E57ABE381}"/>
              </a:ext>
            </a:extLst>
          </p:cNvPr>
          <p:cNvSpPr>
            <a:spLocks noGrp="1"/>
          </p:cNvSpPr>
          <p:nvPr>
            <p:ph type="dt" sz="half" idx="10"/>
          </p:nvPr>
        </p:nvSpPr>
        <p:spPr/>
        <p:txBody>
          <a:bodyPr/>
          <a:lstStyle/>
          <a:p>
            <a:fld id="{ECF3554E-FC12-46AC-A24D-A841DFFB3B6A}" type="datetimeFigureOut">
              <a:rPr lang="en-US" smtClean="0"/>
              <a:t>10/15/2024</a:t>
            </a:fld>
            <a:endParaRPr lang="en-US"/>
          </a:p>
        </p:txBody>
      </p:sp>
      <p:sp>
        <p:nvSpPr>
          <p:cNvPr id="3" name="Footer Placeholder 2">
            <a:extLst>
              <a:ext uri="{FF2B5EF4-FFF2-40B4-BE49-F238E27FC236}">
                <a16:creationId xmlns:a16="http://schemas.microsoft.com/office/drawing/2014/main" id="{9D24B916-DFAC-3583-27F7-028F6CE68B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0695D7-29FF-BE89-C1B4-6991FCAA8408}"/>
              </a:ext>
            </a:extLst>
          </p:cNvPr>
          <p:cNvSpPr>
            <a:spLocks noGrp="1"/>
          </p:cNvSpPr>
          <p:nvPr>
            <p:ph type="sldNum" sz="quarter" idx="12"/>
          </p:nvPr>
        </p:nvSpPr>
        <p:spPr/>
        <p:txBody>
          <a:bodyPr/>
          <a:lstStyle/>
          <a:p>
            <a:fld id="{0D3FD706-A9B9-428A-B994-9F3AFAC63BED}" type="slidenum">
              <a:rPr lang="en-US" smtClean="0"/>
              <a:t>‹#›</a:t>
            </a:fld>
            <a:endParaRPr lang="en-US"/>
          </a:p>
        </p:txBody>
      </p:sp>
    </p:spTree>
    <p:extLst>
      <p:ext uri="{BB962C8B-B14F-4D97-AF65-F5344CB8AC3E}">
        <p14:creationId xmlns:p14="http://schemas.microsoft.com/office/powerpoint/2010/main" val="1032208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CAFD4-A632-83C6-CB0E-732654539D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8BEBAD-0393-4506-37B2-C46E8ED09D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0BCD09-E674-71A7-D08B-B544BD354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7078BD-B395-0F3D-2FB3-18C3D2B75C0B}"/>
              </a:ext>
            </a:extLst>
          </p:cNvPr>
          <p:cNvSpPr>
            <a:spLocks noGrp="1"/>
          </p:cNvSpPr>
          <p:nvPr>
            <p:ph type="dt" sz="half" idx="10"/>
          </p:nvPr>
        </p:nvSpPr>
        <p:spPr/>
        <p:txBody>
          <a:bodyPr/>
          <a:lstStyle/>
          <a:p>
            <a:fld id="{ECF3554E-FC12-46AC-A24D-A841DFFB3B6A}" type="datetimeFigureOut">
              <a:rPr lang="en-US" smtClean="0"/>
              <a:t>10/15/2024</a:t>
            </a:fld>
            <a:endParaRPr lang="en-US"/>
          </a:p>
        </p:txBody>
      </p:sp>
      <p:sp>
        <p:nvSpPr>
          <p:cNvPr id="6" name="Footer Placeholder 5">
            <a:extLst>
              <a:ext uri="{FF2B5EF4-FFF2-40B4-BE49-F238E27FC236}">
                <a16:creationId xmlns:a16="http://schemas.microsoft.com/office/drawing/2014/main" id="{A2D7A6B0-8D8B-EEDF-B7D9-EF67DF1241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97C7F6-1379-7C00-937A-EB8F04F3E739}"/>
              </a:ext>
            </a:extLst>
          </p:cNvPr>
          <p:cNvSpPr>
            <a:spLocks noGrp="1"/>
          </p:cNvSpPr>
          <p:nvPr>
            <p:ph type="sldNum" sz="quarter" idx="12"/>
          </p:nvPr>
        </p:nvSpPr>
        <p:spPr/>
        <p:txBody>
          <a:bodyPr/>
          <a:lstStyle/>
          <a:p>
            <a:fld id="{0D3FD706-A9B9-428A-B994-9F3AFAC63BED}" type="slidenum">
              <a:rPr lang="en-US" smtClean="0"/>
              <a:t>‹#›</a:t>
            </a:fld>
            <a:endParaRPr lang="en-US"/>
          </a:p>
        </p:txBody>
      </p:sp>
    </p:spTree>
    <p:extLst>
      <p:ext uri="{BB962C8B-B14F-4D97-AF65-F5344CB8AC3E}">
        <p14:creationId xmlns:p14="http://schemas.microsoft.com/office/powerpoint/2010/main" val="1702214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DF4F-A18E-F1DC-59CF-551A2651AF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92C996-6CD7-AAD9-30D6-505126670C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81C542-F9D9-2EE8-9C0D-1B78F56F08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9EA2F5-A43E-99FF-75D5-020A4136112D}"/>
              </a:ext>
            </a:extLst>
          </p:cNvPr>
          <p:cNvSpPr>
            <a:spLocks noGrp="1"/>
          </p:cNvSpPr>
          <p:nvPr>
            <p:ph type="dt" sz="half" idx="10"/>
          </p:nvPr>
        </p:nvSpPr>
        <p:spPr/>
        <p:txBody>
          <a:bodyPr/>
          <a:lstStyle/>
          <a:p>
            <a:fld id="{ECF3554E-FC12-46AC-A24D-A841DFFB3B6A}" type="datetimeFigureOut">
              <a:rPr lang="en-US" smtClean="0"/>
              <a:t>10/15/2024</a:t>
            </a:fld>
            <a:endParaRPr lang="en-US"/>
          </a:p>
        </p:txBody>
      </p:sp>
      <p:sp>
        <p:nvSpPr>
          <p:cNvPr id="6" name="Footer Placeholder 5">
            <a:extLst>
              <a:ext uri="{FF2B5EF4-FFF2-40B4-BE49-F238E27FC236}">
                <a16:creationId xmlns:a16="http://schemas.microsoft.com/office/drawing/2014/main" id="{29473F23-BD37-62F3-E707-3B7642885E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F15AF0-4C0A-8727-3847-D583F5E29BDB}"/>
              </a:ext>
            </a:extLst>
          </p:cNvPr>
          <p:cNvSpPr>
            <a:spLocks noGrp="1"/>
          </p:cNvSpPr>
          <p:nvPr>
            <p:ph type="sldNum" sz="quarter" idx="12"/>
          </p:nvPr>
        </p:nvSpPr>
        <p:spPr/>
        <p:txBody>
          <a:bodyPr/>
          <a:lstStyle/>
          <a:p>
            <a:fld id="{0D3FD706-A9B9-428A-B994-9F3AFAC63BED}" type="slidenum">
              <a:rPr lang="en-US" smtClean="0"/>
              <a:t>‹#›</a:t>
            </a:fld>
            <a:endParaRPr lang="en-US"/>
          </a:p>
        </p:txBody>
      </p:sp>
    </p:spTree>
    <p:extLst>
      <p:ext uri="{BB962C8B-B14F-4D97-AF65-F5344CB8AC3E}">
        <p14:creationId xmlns:p14="http://schemas.microsoft.com/office/powerpoint/2010/main" val="195392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B6237-64BF-F6D3-F4E1-6EDD03E382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175656-233D-8E82-C295-1A38E232D0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64CA04-2D42-23A5-31F3-65C3E448D481}"/>
              </a:ext>
            </a:extLst>
          </p:cNvPr>
          <p:cNvSpPr>
            <a:spLocks noGrp="1"/>
          </p:cNvSpPr>
          <p:nvPr>
            <p:ph type="dt" sz="half" idx="10"/>
          </p:nvPr>
        </p:nvSpPr>
        <p:spPr/>
        <p:txBody>
          <a:bodyPr/>
          <a:lstStyle/>
          <a:p>
            <a:fld id="{ECF3554E-FC12-46AC-A24D-A841DFFB3B6A}" type="datetimeFigureOut">
              <a:rPr lang="en-US" smtClean="0"/>
              <a:t>10/15/2024</a:t>
            </a:fld>
            <a:endParaRPr lang="en-US"/>
          </a:p>
        </p:txBody>
      </p:sp>
      <p:sp>
        <p:nvSpPr>
          <p:cNvPr id="5" name="Footer Placeholder 4">
            <a:extLst>
              <a:ext uri="{FF2B5EF4-FFF2-40B4-BE49-F238E27FC236}">
                <a16:creationId xmlns:a16="http://schemas.microsoft.com/office/drawing/2014/main" id="{F07FBA4E-E3AC-CE0B-8E51-17732D4AD2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1EE93E-6B79-6DCF-2A39-A0A4965DC28D}"/>
              </a:ext>
            </a:extLst>
          </p:cNvPr>
          <p:cNvSpPr>
            <a:spLocks noGrp="1"/>
          </p:cNvSpPr>
          <p:nvPr>
            <p:ph type="sldNum" sz="quarter" idx="12"/>
          </p:nvPr>
        </p:nvSpPr>
        <p:spPr/>
        <p:txBody>
          <a:bodyPr/>
          <a:lstStyle/>
          <a:p>
            <a:fld id="{0D3FD706-A9B9-428A-B994-9F3AFAC63BED}" type="slidenum">
              <a:rPr lang="en-US" smtClean="0"/>
              <a:t>‹#›</a:t>
            </a:fld>
            <a:endParaRPr lang="en-US"/>
          </a:p>
        </p:txBody>
      </p:sp>
    </p:spTree>
    <p:extLst>
      <p:ext uri="{BB962C8B-B14F-4D97-AF65-F5344CB8AC3E}">
        <p14:creationId xmlns:p14="http://schemas.microsoft.com/office/powerpoint/2010/main" val="3765889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D71018-34A5-D3DE-EBCC-4EA50862C6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EDF2F8-612E-1B04-A394-C290D9B9B8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11A56F-223F-F535-E81A-D0C8EFEB6457}"/>
              </a:ext>
            </a:extLst>
          </p:cNvPr>
          <p:cNvSpPr>
            <a:spLocks noGrp="1"/>
          </p:cNvSpPr>
          <p:nvPr>
            <p:ph type="dt" sz="half" idx="10"/>
          </p:nvPr>
        </p:nvSpPr>
        <p:spPr/>
        <p:txBody>
          <a:bodyPr/>
          <a:lstStyle/>
          <a:p>
            <a:fld id="{ECF3554E-FC12-46AC-A24D-A841DFFB3B6A}" type="datetimeFigureOut">
              <a:rPr lang="en-US" smtClean="0"/>
              <a:t>10/15/2024</a:t>
            </a:fld>
            <a:endParaRPr lang="en-US"/>
          </a:p>
        </p:txBody>
      </p:sp>
      <p:sp>
        <p:nvSpPr>
          <p:cNvPr id="5" name="Footer Placeholder 4">
            <a:extLst>
              <a:ext uri="{FF2B5EF4-FFF2-40B4-BE49-F238E27FC236}">
                <a16:creationId xmlns:a16="http://schemas.microsoft.com/office/drawing/2014/main" id="{D2947212-2E9E-A85F-1C89-64AA300037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85B7BE-BE1C-84C7-3FA2-A498914C28BD}"/>
              </a:ext>
            </a:extLst>
          </p:cNvPr>
          <p:cNvSpPr>
            <a:spLocks noGrp="1"/>
          </p:cNvSpPr>
          <p:nvPr>
            <p:ph type="sldNum" sz="quarter" idx="12"/>
          </p:nvPr>
        </p:nvSpPr>
        <p:spPr/>
        <p:txBody>
          <a:bodyPr/>
          <a:lstStyle/>
          <a:p>
            <a:fld id="{0D3FD706-A9B9-428A-B994-9F3AFAC63BED}" type="slidenum">
              <a:rPr lang="en-US" smtClean="0"/>
              <a:t>‹#›</a:t>
            </a:fld>
            <a:endParaRPr lang="en-US"/>
          </a:p>
        </p:txBody>
      </p:sp>
    </p:spTree>
    <p:extLst>
      <p:ext uri="{BB962C8B-B14F-4D97-AF65-F5344CB8AC3E}">
        <p14:creationId xmlns:p14="http://schemas.microsoft.com/office/powerpoint/2010/main" val="77753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9B7036-2D3A-B93A-E98C-5B89555525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979257-7E05-F55C-2D02-7AC7D2A786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DD5E50-8EF1-EF87-E21A-0D9A264C32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F3554E-FC12-46AC-A24D-A841DFFB3B6A}" type="datetimeFigureOut">
              <a:rPr lang="en-US" smtClean="0"/>
              <a:t>10/15/2024</a:t>
            </a:fld>
            <a:endParaRPr lang="en-US"/>
          </a:p>
        </p:txBody>
      </p:sp>
      <p:sp>
        <p:nvSpPr>
          <p:cNvPr id="5" name="Footer Placeholder 4">
            <a:extLst>
              <a:ext uri="{FF2B5EF4-FFF2-40B4-BE49-F238E27FC236}">
                <a16:creationId xmlns:a16="http://schemas.microsoft.com/office/drawing/2014/main" id="{B8AA7F1B-4A58-613E-D287-84BD1A3C1E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7CD4216-19BA-AC02-1DA3-B7F4AD9FA7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3FD706-A9B9-428A-B994-9F3AFAC63BED}" type="slidenum">
              <a:rPr lang="en-US" smtClean="0"/>
              <a:t>‹#›</a:t>
            </a:fld>
            <a:endParaRPr lang="en-US"/>
          </a:p>
        </p:txBody>
      </p:sp>
    </p:spTree>
    <p:extLst>
      <p:ext uri="{BB962C8B-B14F-4D97-AF65-F5344CB8AC3E}">
        <p14:creationId xmlns:p14="http://schemas.microsoft.com/office/powerpoint/2010/main" val="25454422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en.wikipedia.org/wiki/Type_I_and_type_II_error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3CACE-6593-59B4-3FD3-F1B476ADB49D}"/>
              </a:ext>
            </a:extLst>
          </p:cNvPr>
          <p:cNvSpPr>
            <a:spLocks noGrp="1"/>
          </p:cNvSpPr>
          <p:nvPr>
            <p:ph type="ctrTitle"/>
          </p:nvPr>
        </p:nvSpPr>
        <p:spPr/>
        <p:txBody>
          <a:bodyPr/>
          <a:lstStyle/>
          <a:p>
            <a:r>
              <a:rPr lang="en-US" dirty="0"/>
              <a:t>Classic approaches to Classification Problem</a:t>
            </a:r>
          </a:p>
        </p:txBody>
      </p:sp>
      <p:sp>
        <p:nvSpPr>
          <p:cNvPr id="3" name="Subtitle 2">
            <a:extLst>
              <a:ext uri="{FF2B5EF4-FFF2-40B4-BE49-F238E27FC236}">
                <a16:creationId xmlns:a16="http://schemas.microsoft.com/office/drawing/2014/main" id="{7BFC593D-58BA-63FE-7F4F-A50C17104935}"/>
              </a:ext>
            </a:extLst>
          </p:cNvPr>
          <p:cNvSpPr>
            <a:spLocks noGrp="1"/>
          </p:cNvSpPr>
          <p:nvPr>
            <p:ph type="subTitle" idx="1"/>
          </p:nvPr>
        </p:nvSpPr>
        <p:spPr/>
        <p:txBody>
          <a:bodyPr/>
          <a:lstStyle/>
          <a:p>
            <a:r>
              <a:rPr lang="en-US" dirty="0"/>
              <a:t>Iftekhar Mahmud Towhid</a:t>
            </a:r>
          </a:p>
        </p:txBody>
      </p:sp>
    </p:spTree>
    <p:extLst>
      <p:ext uri="{BB962C8B-B14F-4D97-AF65-F5344CB8AC3E}">
        <p14:creationId xmlns:p14="http://schemas.microsoft.com/office/powerpoint/2010/main" val="3692654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9AE34-DB53-A5D6-AD59-E2FD59E9AE81}"/>
              </a:ext>
            </a:extLst>
          </p:cNvPr>
          <p:cNvSpPr>
            <a:spLocks noGrp="1"/>
          </p:cNvSpPr>
          <p:nvPr>
            <p:ph type="title"/>
          </p:nvPr>
        </p:nvSpPr>
        <p:spPr/>
        <p:txBody>
          <a:bodyPr/>
          <a:lstStyle/>
          <a:p>
            <a:r>
              <a:rPr lang="en-US" dirty="0"/>
              <a:t>Classification Problem</a:t>
            </a:r>
          </a:p>
        </p:txBody>
      </p:sp>
      <p:sp>
        <p:nvSpPr>
          <p:cNvPr id="3" name="Content Placeholder 2">
            <a:extLst>
              <a:ext uri="{FF2B5EF4-FFF2-40B4-BE49-F238E27FC236}">
                <a16:creationId xmlns:a16="http://schemas.microsoft.com/office/drawing/2014/main" id="{4F389723-D28A-B81A-81F9-FD8B9550C766}"/>
              </a:ext>
            </a:extLst>
          </p:cNvPr>
          <p:cNvSpPr>
            <a:spLocks noGrp="1"/>
          </p:cNvSpPr>
          <p:nvPr>
            <p:ph idx="1"/>
          </p:nvPr>
        </p:nvSpPr>
        <p:spPr>
          <a:xfrm>
            <a:off x="838200" y="1825625"/>
            <a:ext cx="4028440" cy="4351338"/>
          </a:xfrm>
        </p:spPr>
        <p:txBody>
          <a:bodyPr>
            <a:normAutofit fontScale="70000" lnSpcReduction="20000"/>
          </a:bodyPr>
          <a:lstStyle/>
          <a:p>
            <a:r>
              <a:rPr lang="en-GB" dirty="0"/>
              <a:t>Classification is a supervised machine learning method where the model tries to predict the correct label of a given input data. In classification, the model is fully trained using the training data, and then it is evaluated on test data before being used to perform prediction on new unseen data.</a:t>
            </a:r>
          </a:p>
          <a:p>
            <a:endParaRPr lang="en-GB" dirty="0"/>
          </a:p>
          <a:p>
            <a:r>
              <a:rPr lang="en-GB" dirty="0"/>
              <a:t>For instance, an algorithm can learn to predict whether a given email is spam or ham (no spam), as illustrated below. </a:t>
            </a:r>
            <a:endParaRPr lang="en-US" dirty="0"/>
          </a:p>
        </p:txBody>
      </p:sp>
      <p:pic>
        <p:nvPicPr>
          <p:cNvPr id="4" name="Picture 3">
            <a:extLst>
              <a:ext uri="{FF2B5EF4-FFF2-40B4-BE49-F238E27FC236}">
                <a16:creationId xmlns:a16="http://schemas.microsoft.com/office/drawing/2014/main" id="{0ABF5CFF-CDE6-31CD-F418-CD3723BB2118}"/>
              </a:ext>
            </a:extLst>
          </p:cNvPr>
          <p:cNvPicPr>
            <a:picLocks noChangeAspect="1"/>
          </p:cNvPicPr>
          <p:nvPr/>
        </p:nvPicPr>
        <p:blipFill>
          <a:blip r:embed="rId2"/>
          <a:stretch>
            <a:fillRect/>
          </a:stretch>
        </p:blipFill>
        <p:spPr>
          <a:xfrm>
            <a:off x="5236587" y="1825625"/>
            <a:ext cx="6538854" cy="4215129"/>
          </a:xfrm>
          <a:prstGeom prst="rect">
            <a:avLst/>
          </a:prstGeom>
        </p:spPr>
      </p:pic>
    </p:spTree>
    <p:extLst>
      <p:ext uri="{BB962C8B-B14F-4D97-AF65-F5344CB8AC3E}">
        <p14:creationId xmlns:p14="http://schemas.microsoft.com/office/powerpoint/2010/main" val="967446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B85FB-4E7B-ABDE-C866-16A4062BF244}"/>
              </a:ext>
            </a:extLst>
          </p:cNvPr>
          <p:cNvSpPr>
            <a:spLocks noGrp="1"/>
          </p:cNvSpPr>
          <p:nvPr>
            <p:ph type="title"/>
          </p:nvPr>
        </p:nvSpPr>
        <p:spPr/>
        <p:txBody>
          <a:bodyPr/>
          <a:lstStyle/>
          <a:p>
            <a:r>
              <a:rPr lang="en-GB" dirty="0"/>
              <a:t>Lazy Learners Vs. Eager Learners</a:t>
            </a:r>
            <a:endParaRPr lang="en-US" dirty="0"/>
          </a:p>
        </p:txBody>
      </p:sp>
      <p:sp>
        <p:nvSpPr>
          <p:cNvPr id="3" name="Content Placeholder 2">
            <a:extLst>
              <a:ext uri="{FF2B5EF4-FFF2-40B4-BE49-F238E27FC236}">
                <a16:creationId xmlns:a16="http://schemas.microsoft.com/office/drawing/2014/main" id="{12B161F1-BF33-81B4-96B6-6FFA6596348D}"/>
              </a:ext>
            </a:extLst>
          </p:cNvPr>
          <p:cNvSpPr>
            <a:spLocks noGrp="1"/>
          </p:cNvSpPr>
          <p:nvPr>
            <p:ph idx="1"/>
          </p:nvPr>
        </p:nvSpPr>
        <p:spPr>
          <a:xfrm>
            <a:off x="838200" y="1825625"/>
            <a:ext cx="10515600" cy="4667250"/>
          </a:xfrm>
        </p:spPr>
        <p:txBody>
          <a:bodyPr>
            <a:normAutofit fontScale="92500" lnSpcReduction="20000"/>
          </a:bodyPr>
          <a:lstStyle/>
          <a:p>
            <a:r>
              <a:rPr lang="en-GB" sz="2000" dirty="0"/>
              <a:t>There are two types of learners in machine learning classification: lazy and eager learners. </a:t>
            </a:r>
          </a:p>
          <a:p>
            <a:r>
              <a:rPr lang="en-GB" sz="2000" dirty="0"/>
              <a:t>Eager learners are machine learning algorithms that first build a model from the training dataset before making any prediction on future datasets. They spend more time during the training process because of their eagerness to have a better generalization during the training from learning the weights, but they require less time to make predictions. </a:t>
            </a:r>
          </a:p>
          <a:p>
            <a:r>
              <a:rPr lang="en-GB" sz="2000" dirty="0"/>
              <a:t>Most machine learning algorithms are eager learners, and below are some examples: </a:t>
            </a:r>
          </a:p>
          <a:p>
            <a:pPr lvl="1"/>
            <a:r>
              <a:rPr lang="en-GB" sz="1600" dirty="0"/>
              <a:t>Logistic Regression. </a:t>
            </a:r>
          </a:p>
          <a:p>
            <a:pPr lvl="1"/>
            <a:r>
              <a:rPr lang="en-GB" sz="1600" dirty="0"/>
              <a:t>Support Vector Machine. </a:t>
            </a:r>
          </a:p>
          <a:p>
            <a:pPr lvl="1"/>
            <a:r>
              <a:rPr lang="en-GB" sz="1600" dirty="0"/>
              <a:t>Decision Trees. </a:t>
            </a:r>
          </a:p>
          <a:p>
            <a:pPr lvl="1"/>
            <a:r>
              <a:rPr lang="en-GB" sz="1600" dirty="0"/>
              <a:t>Artificial Neural Networks. </a:t>
            </a:r>
          </a:p>
          <a:p>
            <a:r>
              <a:rPr lang="en-GB" sz="2000" dirty="0"/>
              <a:t>Lazy learners or instance-based learners, on the other hand, do not create any model immediately from the training data, and this is where the lazy aspect comes from. They just memorize the training data, and each time there is a need to make a prediction, they search for the nearest </a:t>
            </a:r>
            <a:r>
              <a:rPr lang="en-GB" sz="2000" dirty="0" err="1"/>
              <a:t>neighbor</a:t>
            </a:r>
            <a:r>
              <a:rPr lang="en-GB" sz="2000" dirty="0"/>
              <a:t> from the whole training data, which makes them very slow during prediction. Some examples of this kind are: </a:t>
            </a:r>
          </a:p>
          <a:p>
            <a:pPr lvl="1"/>
            <a:r>
              <a:rPr lang="en-GB" sz="1600" dirty="0"/>
              <a:t>K-Nearest </a:t>
            </a:r>
            <a:r>
              <a:rPr lang="en-GB" sz="1600" dirty="0" err="1"/>
              <a:t>Neighbor</a:t>
            </a:r>
            <a:r>
              <a:rPr lang="en-GB" sz="1600" dirty="0"/>
              <a:t>. </a:t>
            </a:r>
          </a:p>
          <a:p>
            <a:pPr lvl="1"/>
            <a:r>
              <a:rPr lang="en-GB" sz="1600" dirty="0"/>
              <a:t>Case-based reasoning. </a:t>
            </a:r>
            <a:endParaRPr lang="en-US" sz="1600" dirty="0"/>
          </a:p>
        </p:txBody>
      </p:sp>
    </p:spTree>
    <p:extLst>
      <p:ext uri="{BB962C8B-B14F-4D97-AF65-F5344CB8AC3E}">
        <p14:creationId xmlns:p14="http://schemas.microsoft.com/office/powerpoint/2010/main" val="1779690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BC2DF-245B-6184-E91C-04B715B2BF53}"/>
              </a:ext>
            </a:extLst>
          </p:cNvPr>
          <p:cNvSpPr>
            <a:spLocks noGrp="1"/>
          </p:cNvSpPr>
          <p:nvPr>
            <p:ph type="title"/>
          </p:nvPr>
        </p:nvSpPr>
        <p:spPr/>
        <p:txBody>
          <a:bodyPr/>
          <a:lstStyle/>
          <a:p>
            <a:r>
              <a:rPr lang="en-GB" dirty="0"/>
              <a:t>Classification Vs. Regression</a:t>
            </a:r>
            <a:endParaRPr lang="en-US" dirty="0"/>
          </a:p>
        </p:txBody>
      </p:sp>
      <p:sp>
        <p:nvSpPr>
          <p:cNvPr id="3" name="Content Placeholder 2">
            <a:extLst>
              <a:ext uri="{FF2B5EF4-FFF2-40B4-BE49-F238E27FC236}">
                <a16:creationId xmlns:a16="http://schemas.microsoft.com/office/drawing/2014/main" id="{4C3040FF-71D5-ABEE-41B2-0D62FFEB6AE7}"/>
              </a:ext>
            </a:extLst>
          </p:cNvPr>
          <p:cNvSpPr>
            <a:spLocks noGrp="1"/>
          </p:cNvSpPr>
          <p:nvPr>
            <p:ph idx="1"/>
          </p:nvPr>
        </p:nvSpPr>
        <p:spPr/>
        <p:txBody>
          <a:bodyPr>
            <a:normAutofit fontScale="92500" lnSpcReduction="10000"/>
          </a:bodyPr>
          <a:lstStyle/>
          <a:p>
            <a:r>
              <a:rPr lang="en-GB" dirty="0"/>
              <a:t>Machine Learning There are four main categories of Machine Learning algorithms: supervised, unsupervised, semi-supervised, and reinforcement learning. </a:t>
            </a:r>
          </a:p>
          <a:p>
            <a:r>
              <a:rPr lang="en-GB" dirty="0"/>
              <a:t>Even though classification and regression are both from the category of supervised learning, they are not the same. </a:t>
            </a:r>
          </a:p>
          <a:p>
            <a:r>
              <a:rPr lang="en-GB" dirty="0"/>
              <a:t>The prediction task is a classification when the target variable is discrete. An application is the identification of handwritten characters.</a:t>
            </a:r>
          </a:p>
          <a:p>
            <a:r>
              <a:rPr lang="en-GB" dirty="0"/>
              <a:t>The prediction task is a regression when the target variable is continuous. An example can be the prediction of the salary of a person given their education degree, previous work experience, geographical location, and level of seniority.</a:t>
            </a:r>
            <a:endParaRPr lang="en-US" dirty="0"/>
          </a:p>
        </p:txBody>
      </p:sp>
    </p:spTree>
    <p:extLst>
      <p:ext uri="{BB962C8B-B14F-4D97-AF65-F5344CB8AC3E}">
        <p14:creationId xmlns:p14="http://schemas.microsoft.com/office/powerpoint/2010/main" val="139325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322C0-D625-211C-7CBB-1D1FF5B51F02}"/>
              </a:ext>
            </a:extLst>
          </p:cNvPr>
          <p:cNvSpPr>
            <a:spLocks noGrp="1"/>
          </p:cNvSpPr>
          <p:nvPr>
            <p:ph type="title"/>
          </p:nvPr>
        </p:nvSpPr>
        <p:spPr/>
        <p:txBody>
          <a:bodyPr/>
          <a:lstStyle/>
          <a:p>
            <a:r>
              <a:rPr lang="en-GB" dirty="0"/>
              <a:t>Different Types of Classification</a:t>
            </a:r>
            <a:endParaRPr lang="en-US" dirty="0"/>
          </a:p>
        </p:txBody>
      </p:sp>
      <p:sp>
        <p:nvSpPr>
          <p:cNvPr id="3" name="Content Placeholder 2">
            <a:extLst>
              <a:ext uri="{FF2B5EF4-FFF2-40B4-BE49-F238E27FC236}">
                <a16:creationId xmlns:a16="http://schemas.microsoft.com/office/drawing/2014/main" id="{A6719412-DE6A-B1E6-0D0A-8A54DECB6301}"/>
              </a:ext>
            </a:extLst>
          </p:cNvPr>
          <p:cNvSpPr>
            <a:spLocks noGrp="1"/>
          </p:cNvSpPr>
          <p:nvPr>
            <p:ph idx="1"/>
          </p:nvPr>
        </p:nvSpPr>
        <p:spPr/>
        <p:txBody>
          <a:bodyPr/>
          <a:lstStyle/>
          <a:p>
            <a:r>
              <a:rPr lang="en-GB" dirty="0"/>
              <a:t>There are four main classification tasks in Machine learning: </a:t>
            </a:r>
          </a:p>
          <a:p>
            <a:pPr lvl="1"/>
            <a:r>
              <a:rPr lang="en-GB" dirty="0"/>
              <a:t>Binary classification, </a:t>
            </a:r>
          </a:p>
          <a:p>
            <a:pPr lvl="1"/>
            <a:r>
              <a:rPr lang="en-GB" dirty="0"/>
              <a:t>Multi-class classification, </a:t>
            </a:r>
          </a:p>
          <a:p>
            <a:pPr lvl="1"/>
            <a:r>
              <a:rPr lang="en-GB" dirty="0"/>
              <a:t>Multi-label classification, and </a:t>
            </a:r>
          </a:p>
          <a:p>
            <a:pPr lvl="1"/>
            <a:r>
              <a:rPr lang="en-GB" dirty="0"/>
              <a:t>Imbalanced classifications. </a:t>
            </a:r>
            <a:endParaRPr lang="en-US" dirty="0"/>
          </a:p>
        </p:txBody>
      </p:sp>
    </p:spTree>
    <p:extLst>
      <p:ext uri="{BB962C8B-B14F-4D97-AF65-F5344CB8AC3E}">
        <p14:creationId xmlns:p14="http://schemas.microsoft.com/office/powerpoint/2010/main" val="30854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68EB3-9BD1-FFD8-07CA-B1C742DB690E}"/>
              </a:ext>
            </a:extLst>
          </p:cNvPr>
          <p:cNvSpPr>
            <a:spLocks noGrp="1"/>
          </p:cNvSpPr>
          <p:nvPr>
            <p:ph type="title"/>
          </p:nvPr>
        </p:nvSpPr>
        <p:spPr/>
        <p:txBody>
          <a:bodyPr/>
          <a:lstStyle/>
          <a:p>
            <a:r>
              <a:rPr lang="en-US" dirty="0"/>
              <a:t>Binary Classification</a:t>
            </a:r>
          </a:p>
        </p:txBody>
      </p:sp>
      <p:sp>
        <p:nvSpPr>
          <p:cNvPr id="3" name="Content Placeholder 2">
            <a:extLst>
              <a:ext uri="{FF2B5EF4-FFF2-40B4-BE49-F238E27FC236}">
                <a16:creationId xmlns:a16="http://schemas.microsoft.com/office/drawing/2014/main" id="{6033AB35-9892-8F0C-CA17-C4B6D6D7558A}"/>
              </a:ext>
            </a:extLst>
          </p:cNvPr>
          <p:cNvSpPr>
            <a:spLocks noGrp="1"/>
          </p:cNvSpPr>
          <p:nvPr>
            <p:ph idx="1"/>
          </p:nvPr>
        </p:nvSpPr>
        <p:spPr>
          <a:xfrm>
            <a:off x="838200" y="1825625"/>
            <a:ext cx="10515600" cy="2106294"/>
          </a:xfrm>
        </p:spPr>
        <p:txBody>
          <a:bodyPr>
            <a:normAutofit fontScale="70000" lnSpcReduction="20000"/>
          </a:bodyPr>
          <a:lstStyle/>
          <a:p>
            <a:r>
              <a:rPr lang="en-GB" dirty="0"/>
              <a:t>In a binary classification task, the goal is to classify the input data into two mutually exclusive categories. The training data in such a situation is </a:t>
            </a:r>
            <a:r>
              <a:rPr lang="en-GB" dirty="0" err="1"/>
              <a:t>labeled</a:t>
            </a:r>
            <a:r>
              <a:rPr lang="en-GB" dirty="0"/>
              <a:t> in a binary format: true and false; positive and negative; O and 1; spam and not spam, etc. depending on the problem being tackled. For instance, we might want to detect whether a given image is a truck or a boat. </a:t>
            </a:r>
          </a:p>
          <a:p>
            <a:r>
              <a:rPr lang="en-GB" dirty="0"/>
              <a:t>Logistic Regression and Support Vector Machines algorithms are natively designed for binary classifications. However, other algorithms such as K-Nearest </a:t>
            </a:r>
            <a:r>
              <a:rPr lang="en-GB" dirty="0" err="1"/>
              <a:t>Neighbors</a:t>
            </a:r>
            <a:r>
              <a:rPr lang="en-GB" dirty="0"/>
              <a:t> and Decision Trees can also be used for binary classification. </a:t>
            </a:r>
          </a:p>
          <a:p>
            <a:endParaRPr lang="en-US" dirty="0"/>
          </a:p>
        </p:txBody>
      </p:sp>
      <p:pic>
        <p:nvPicPr>
          <p:cNvPr id="4" name="Picture 3">
            <a:extLst>
              <a:ext uri="{FF2B5EF4-FFF2-40B4-BE49-F238E27FC236}">
                <a16:creationId xmlns:a16="http://schemas.microsoft.com/office/drawing/2014/main" id="{16AF9A27-A1B3-732E-C0B0-EF71F05EAAA0}"/>
              </a:ext>
            </a:extLst>
          </p:cNvPr>
          <p:cNvPicPr>
            <a:picLocks noChangeAspect="1"/>
          </p:cNvPicPr>
          <p:nvPr/>
        </p:nvPicPr>
        <p:blipFill>
          <a:blip r:embed="rId2"/>
          <a:stretch>
            <a:fillRect/>
          </a:stretch>
        </p:blipFill>
        <p:spPr>
          <a:xfrm>
            <a:off x="3177336" y="3931919"/>
            <a:ext cx="5261813" cy="2766695"/>
          </a:xfrm>
          <a:prstGeom prst="rect">
            <a:avLst/>
          </a:prstGeom>
        </p:spPr>
      </p:pic>
    </p:spTree>
    <p:extLst>
      <p:ext uri="{BB962C8B-B14F-4D97-AF65-F5344CB8AC3E}">
        <p14:creationId xmlns:p14="http://schemas.microsoft.com/office/powerpoint/2010/main" val="249337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09586-3D35-9666-B6B8-317AF13C1C45}"/>
              </a:ext>
            </a:extLst>
          </p:cNvPr>
          <p:cNvSpPr>
            <a:spLocks noGrp="1"/>
          </p:cNvSpPr>
          <p:nvPr>
            <p:ph type="title"/>
          </p:nvPr>
        </p:nvSpPr>
        <p:spPr/>
        <p:txBody>
          <a:bodyPr/>
          <a:lstStyle/>
          <a:p>
            <a:r>
              <a:rPr lang="en-US" dirty="0"/>
              <a:t>Multi-Class Classification</a:t>
            </a:r>
          </a:p>
        </p:txBody>
      </p:sp>
      <p:sp>
        <p:nvSpPr>
          <p:cNvPr id="3" name="Content Placeholder 2">
            <a:extLst>
              <a:ext uri="{FF2B5EF4-FFF2-40B4-BE49-F238E27FC236}">
                <a16:creationId xmlns:a16="http://schemas.microsoft.com/office/drawing/2014/main" id="{8EA0BDBF-8516-8C7D-0454-BE3E3B6C045B}"/>
              </a:ext>
            </a:extLst>
          </p:cNvPr>
          <p:cNvSpPr>
            <a:spLocks noGrp="1"/>
          </p:cNvSpPr>
          <p:nvPr>
            <p:ph idx="1"/>
          </p:nvPr>
        </p:nvSpPr>
        <p:spPr/>
        <p:txBody>
          <a:bodyPr>
            <a:normAutofit fontScale="77500" lnSpcReduction="20000"/>
          </a:bodyPr>
          <a:lstStyle/>
          <a:p>
            <a:r>
              <a:rPr lang="en-GB" dirty="0"/>
              <a:t>The multi-class classification, on the other hand, has at least two mutually exclusive class labels, where the goal is to predict to which class a given input example belongs to. In the following case, the model correctly classified the image to be a plane. </a:t>
            </a:r>
          </a:p>
          <a:p>
            <a:r>
              <a:rPr lang="en-GB" dirty="0"/>
              <a:t>Most of the binary classification algorithms can be also used for multi-class classification. These algorithms include but are not limited to:</a:t>
            </a:r>
          </a:p>
          <a:p>
            <a:endParaRPr lang="en-GB" dirty="0"/>
          </a:p>
          <a:p>
            <a:r>
              <a:rPr lang="en-GB" dirty="0"/>
              <a:t>Random Forest</a:t>
            </a:r>
          </a:p>
          <a:p>
            <a:r>
              <a:rPr lang="en-GB" dirty="0"/>
              <a:t>Naive Bayes </a:t>
            </a:r>
          </a:p>
          <a:p>
            <a:r>
              <a:rPr lang="en-GB" dirty="0"/>
              <a:t>K-Nearest </a:t>
            </a:r>
            <a:r>
              <a:rPr lang="en-GB" dirty="0" err="1"/>
              <a:t>Neighbors</a:t>
            </a:r>
            <a:r>
              <a:rPr lang="en-GB" dirty="0"/>
              <a:t> </a:t>
            </a:r>
          </a:p>
          <a:p>
            <a:r>
              <a:rPr lang="en-GB" dirty="0"/>
              <a:t>Gradient Boosting </a:t>
            </a:r>
          </a:p>
          <a:p>
            <a:r>
              <a:rPr lang="en-GB" dirty="0"/>
              <a:t>SVM, by applying some trick</a:t>
            </a:r>
          </a:p>
          <a:p>
            <a:r>
              <a:rPr lang="en-GB" dirty="0"/>
              <a:t>Logistic Regression, by applying some trick</a:t>
            </a:r>
            <a:endParaRPr lang="en-US" dirty="0"/>
          </a:p>
        </p:txBody>
      </p:sp>
      <p:pic>
        <p:nvPicPr>
          <p:cNvPr id="4" name="Picture 3">
            <a:extLst>
              <a:ext uri="{FF2B5EF4-FFF2-40B4-BE49-F238E27FC236}">
                <a16:creationId xmlns:a16="http://schemas.microsoft.com/office/drawing/2014/main" id="{EC1B7C32-0820-5451-6BE7-3FAAAA69E081}"/>
              </a:ext>
            </a:extLst>
          </p:cNvPr>
          <p:cNvPicPr>
            <a:picLocks noChangeAspect="1"/>
          </p:cNvPicPr>
          <p:nvPr/>
        </p:nvPicPr>
        <p:blipFill>
          <a:blip r:embed="rId2"/>
          <a:stretch>
            <a:fillRect/>
          </a:stretch>
        </p:blipFill>
        <p:spPr>
          <a:xfrm>
            <a:off x="7020560" y="3545303"/>
            <a:ext cx="4033520" cy="2947572"/>
          </a:xfrm>
          <a:prstGeom prst="rect">
            <a:avLst/>
          </a:prstGeom>
        </p:spPr>
      </p:pic>
    </p:spTree>
    <p:extLst>
      <p:ext uri="{BB962C8B-B14F-4D97-AF65-F5344CB8AC3E}">
        <p14:creationId xmlns:p14="http://schemas.microsoft.com/office/powerpoint/2010/main" val="3614886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5226-DBF3-0FB7-D7FC-83C4EB9B3810}"/>
              </a:ext>
            </a:extLst>
          </p:cNvPr>
          <p:cNvSpPr>
            <a:spLocks noGrp="1"/>
          </p:cNvSpPr>
          <p:nvPr>
            <p:ph type="title"/>
          </p:nvPr>
        </p:nvSpPr>
        <p:spPr/>
        <p:txBody>
          <a:bodyPr/>
          <a:lstStyle/>
          <a:p>
            <a:r>
              <a:rPr lang="en-US" dirty="0"/>
              <a:t>Multi-Label Classification</a:t>
            </a:r>
          </a:p>
        </p:txBody>
      </p:sp>
      <p:sp>
        <p:nvSpPr>
          <p:cNvPr id="3" name="Content Placeholder 2">
            <a:extLst>
              <a:ext uri="{FF2B5EF4-FFF2-40B4-BE49-F238E27FC236}">
                <a16:creationId xmlns:a16="http://schemas.microsoft.com/office/drawing/2014/main" id="{B5132FBE-74CD-585C-A87F-98FBA11E9A25}"/>
              </a:ext>
            </a:extLst>
          </p:cNvPr>
          <p:cNvSpPr>
            <a:spLocks noGrp="1"/>
          </p:cNvSpPr>
          <p:nvPr>
            <p:ph idx="1"/>
          </p:nvPr>
        </p:nvSpPr>
        <p:spPr>
          <a:xfrm>
            <a:off x="838200" y="1825625"/>
            <a:ext cx="10515600" cy="2295525"/>
          </a:xfrm>
        </p:spPr>
        <p:txBody>
          <a:bodyPr>
            <a:normAutofit fontScale="70000" lnSpcReduction="20000"/>
          </a:bodyPr>
          <a:lstStyle/>
          <a:p>
            <a:r>
              <a:rPr lang="en-GB" dirty="0"/>
              <a:t>In multi-label classification tasks, we try to predict 0 or more classes for each input example. In this case, there is no mutual exclusion because the input example can have more than one label. </a:t>
            </a:r>
          </a:p>
          <a:p>
            <a:endParaRPr lang="en-GB" dirty="0"/>
          </a:p>
          <a:p>
            <a:r>
              <a:rPr lang="en-GB" dirty="0"/>
              <a:t>Such a scenario can be observed in different domains, such as auto-tagging in Natural Language Processing, where a given text can contain multiple topics. Similarly to computer vision, an image can contain multiple objects, as illustrated below: the model predicted that the image contains: a plane, a boat, a truck, and a dog.</a:t>
            </a:r>
            <a:endParaRPr lang="en-US" dirty="0"/>
          </a:p>
        </p:txBody>
      </p:sp>
      <p:pic>
        <p:nvPicPr>
          <p:cNvPr id="4" name="Picture 3">
            <a:extLst>
              <a:ext uri="{FF2B5EF4-FFF2-40B4-BE49-F238E27FC236}">
                <a16:creationId xmlns:a16="http://schemas.microsoft.com/office/drawing/2014/main" id="{54480CCB-D980-2CFF-CAFF-DDCB8037CEB4}"/>
              </a:ext>
            </a:extLst>
          </p:cNvPr>
          <p:cNvPicPr>
            <a:picLocks noChangeAspect="1"/>
          </p:cNvPicPr>
          <p:nvPr/>
        </p:nvPicPr>
        <p:blipFill>
          <a:blip r:embed="rId2"/>
          <a:stretch>
            <a:fillRect/>
          </a:stretch>
        </p:blipFill>
        <p:spPr>
          <a:xfrm>
            <a:off x="2887027" y="4197350"/>
            <a:ext cx="5991225" cy="2295525"/>
          </a:xfrm>
          <a:prstGeom prst="rect">
            <a:avLst/>
          </a:prstGeom>
        </p:spPr>
      </p:pic>
    </p:spTree>
    <p:extLst>
      <p:ext uri="{BB962C8B-B14F-4D97-AF65-F5344CB8AC3E}">
        <p14:creationId xmlns:p14="http://schemas.microsoft.com/office/powerpoint/2010/main" val="1074158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C7117-48C8-DD41-4642-58732ABCABCA}"/>
              </a:ext>
            </a:extLst>
          </p:cNvPr>
          <p:cNvSpPr>
            <a:spLocks noGrp="1"/>
          </p:cNvSpPr>
          <p:nvPr>
            <p:ph type="title"/>
          </p:nvPr>
        </p:nvSpPr>
        <p:spPr/>
        <p:txBody>
          <a:bodyPr/>
          <a:lstStyle/>
          <a:p>
            <a:r>
              <a:rPr lang="en-US" dirty="0"/>
              <a:t>Imbalanced Classification</a:t>
            </a:r>
          </a:p>
        </p:txBody>
      </p:sp>
      <p:sp>
        <p:nvSpPr>
          <p:cNvPr id="3" name="Content Placeholder 2">
            <a:extLst>
              <a:ext uri="{FF2B5EF4-FFF2-40B4-BE49-F238E27FC236}">
                <a16:creationId xmlns:a16="http://schemas.microsoft.com/office/drawing/2014/main" id="{8BC3F134-BEA5-64BF-B786-7719BBD9AE0F}"/>
              </a:ext>
            </a:extLst>
          </p:cNvPr>
          <p:cNvSpPr>
            <a:spLocks noGrp="1"/>
          </p:cNvSpPr>
          <p:nvPr>
            <p:ph idx="1"/>
          </p:nvPr>
        </p:nvSpPr>
        <p:spPr>
          <a:xfrm>
            <a:off x="838200" y="1825625"/>
            <a:ext cx="6223000" cy="4351338"/>
          </a:xfrm>
        </p:spPr>
        <p:txBody>
          <a:bodyPr>
            <a:normAutofit fontScale="70000" lnSpcReduction="20000"/>
          </a:bodyPr>
          <a:lstStyle/>
          <a:p>
            <a:r>
              <a:rPr lang="en-GB" dirty="0"/>
              <a:t>For the imbalanced classification, the number of examples is unevenly distributed in each class, meaning that we can have more of one class than the others in the training data. Let’s consider the following 3-class classification scenario where the training data contains: 60% of trucks, 25% of planes, and 15% of boats. </a:t>
            </a:r>
          </a:p>
          <a:p>
            <a:r>
              <a:rPr lang="en-GB" dirty="0"/>
              <a:t>The imbalanced classification problem could occur in the following scenario:</a:t>
            </a:r>
          </a:p>
          <a:p>
            <a:pPr lvl="1"/>
            <a:r>
              <a:rPr lang="en-GB" dirty="0"/>
              <a:t>Fraudulent transaction detections in financial industries</a:t>
            </a:r>
          </a:p>
          <a:p>
            <a:pPr lvl="1"/>
            <a:r>
              <a:rPr lang="en-GB" dirty="0"/>
              <a:t>Rare disease diagnosis </a:t>
            </a:r>
          </a:p>
          <a:p>
            <a:pPr lvl="1"/>
            <a:r>
              <a:rPr lang="en-GB" dirty="0"/>
              <a:t>Customer churn analysis</a:t>
            </a:r>
          </a:p>
          <a:p>
            <a:r>
              <a:rPr lang="en-GB" sz="2300" i="1" dirty="0"/>
              <a:t>Using conventional predictive models such as Decision Trees, Logistic Regression, etc. could not be effective when dealing with an imbalanced dataset, because they might be biased toward predicting the class with the highest number of observations, and considering those with fewer numbers as noise. </a:t>
            </a:r>
            <a:endParaRPr lang="en-US" sz="2300" i="1" dirty="0"/>
          </a:p>
        </p:txBody>
      </p:sp>
      <p:pic>
        <p:nvPicPr>
          <p:cNvPr id="4" name="Picture 3">
            <a:extLst>
              <a:ext uri="{FF2B5EF4-FFF2-40B4-BE49-F238E27FC236}">
                <a16:creationId xmlns:a16="http://schemas.microsoft.com/office/drawing/2014/main" id="{EA15BF91-5A93-E2E2-0303-74FA03F6A18F}"/>
              </a:ext>
            </a:extLst>
          </p:cNvPr>
          <p:cNvPicPr>
            <a:picLocks noChangeAspect="1"/>
          </p:cNvPicPr>
          <p:nvPr/>
        </p:nvPicPr>
        <p:blipFill>
          <a:blip r:embed="rId2"/>
          <a:srcRect r="25957"/>
          <a:stretch/>
        </p:blipFill>
        <p:spPr>
          <a:xfrm>
            <a:off x="8026401" y="2326640"/>
            <a:ext cx="3495040" cy="3149600"/>
          </a:xfrm>
          <a:prstGeom prst="rect">
            <a:avLst/>
          </a:prstGeom>
        </p:spPr>
      </p:pic>
    </p:spTree>
    <p:extLst>
      <p:ext uri="{BB962C8B-B14F-4D97-AF65-F5344CB8AC3E}">
        <p14:creationId xmlns:p14="http://schemas.microsoft.com/office/powerpoint/2010/main" val="36854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B494-B27B-23DF-164A-1762FB30BECB}"/>
              </a:ext>
            </a:extLst>
          </p:cNvPr>
          <p:cNvSpPr>
            <a:spLocks noGrp="1"/>
          </p:cNvSpPr>
          <p:nvPr>
            <p:ph type="title"/>
          </p:nvPr>
        </p:nvSpPr>
        <p:spPr/>
        <p:txBody>
          <a:bodyPr/>
          <a:lstStyle/>
          <a:p>
            <a:r>
              <a:rPr lang="en-GB" dirty="0"/>
              <a:t>Metrics to Evaluate Machine Learning Classification Algorithms</a:t>
            </a:r>
            <a:endParaRPr lang="en-US" dirty="0"/>
          </a:p>
        </p:txBody>
      </p:sp>
      <p:sp>
        <p:nvSpPr>
          <p:cNvPr id="3" name="Content Placeholder 2">
            <a:extLst>
              <a:ext uri="{FF2B5EF4-FFF2-40B4-BE49-F238E27FC236}">
                <a16:creationId xmlns:a16="http://schemas.microsoft.com/office/drawing/2014/main" id="{971F6251-A263-4892-D7ED-3E067A6EA70F}"/>
              </a:ext>
            </a:extLst>
          </p:cNvPr>
          <p:cNvSpPr>
            <a:spLocks noGrp="1"/>
          </p:cNvSpPr>
          <p:nvPr>
            <p:ph idx="1"/>
          </p:nvPr>
        </p:nvSpPr>
        <p:spPr/>
        <p:txBody>
          <a:bodyPr>
            <a:normAutofit/>
          </a:bodyPr>
          <a:lstStyle/>
          <a:p>
            <a:r>
              <a:rPr lang="en-GB" dirty="0"/>
              <a:t>Now that we have an idea of the different types of classification models, it is crucial to choose the right evaluation metrics for those models. In this section, we will cover the most commonly used metrics: </a:t>
            </a:r>
          </a:p>
          <a:p>
            <a:pPr lvl="1"/>
            <a:r>
              <a:rPr lang="en-GB" dirty="0"/>
              <a:t>Accuracy, </a:t>
            </a:r>
          </a:p>
          <a:p>
            <a:pPr lvl="1"/>
            <a:r>
              <a:rPr lang="en-GB" dirty="0"/>
              <a:t>Precision, </a:t>
            </a:r>
          </a:p>
          <a:p>
            <a:pPr lvl="1"/>
            <a:r>
              <a:rPr lang="en-GB" dirty="0"/>
              <a:t>Recall, </a:t>
            </a:r>
          </a:p>
          <a:p>
            <a:pPr lvl="1"/>
            <a:r>
              <a:rPr lang="en-GB" dirty="0"/>
              <a:t>F1 score, and </a:t>
            </a:r>
          </a:p>
          <a:p>
            <a:pPr lvl="1"/>
            <a:r>
              <a:rPr lang="en-GB" dirty="0"/>
              <a:t>Area under the ROC (Receiver Operating Characteristic) curve and AUC (Area Under the Curve). </a:t>
            </a:r>
            <a:endParaRPr lang="en-US" dirty="0"/>
          </a:p>
        </p:txBody>
      </p:sp>
    </p:spTree>
    <p:extLst>
      <p:ext uri="{BB962C8B-B14F-4D97-AF65-F5344CB8AC3E}">
        <p14:creationId xmlns:p14="http://schemas.microsoft.com/office/powerpoint/2010/main" val="2854668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F06A0-AF7F-1E7D-324C-FF6E517C6954}"/>
              </a:ext>
            </a:extLst>
          </p:cNvPr>
          <p:cNvSpPr>
            <a:spLocks noGrp="1"/>
          </p:cNvSpPr>
          <p:nvPr>
            <p:ph type="title"/>
          </p:nvPr>
        </p:nvSpPr>
        <p:spPr/>
        <p:txBody>
          <a:bodyPr/>
          <a:lstStyle/>
          <a:p>
            <a:r>
              <a:rPr lang="en-US" dirty="0"/>
              <a:t>Context for understanding metrics</a:t>
            </a:r>
          </a:p>
        </p:txBody>
      </p:sp>
      <p:sp>
        <p:nvSpPr>
          <p:cNvPr id="3" name="Content Placeholder 2">
            <a:extLst>
              <a:ext uri="{FF2B5EF4-FFF2-40B4-BE49-F238E27FC236}">
                <a16:creationId xmlns:a16="http://schemas.microsoft.com/office/drawing/2014/main" id="{8D8BD45F-A958-E07B-C648-FC283A26D3E2}"/>
              </a:ext>
            </a:extLst>
          </p:cNvPr>
          <p:cNvSpPr>
            <a:spLocks noGrp="1"/>
          </p:cNvSpPr>
          <p:nvPr>
            <p:ph idx="1"/>
          </p:nvPr>
        </p:nvSpPr>
        <p:spPr/>
        <p:txBody>
          <a:bodyPr/>
          <a:lstStyle/>
          <a:p>
            <a:r>
              <a:rPr lang="en-GB" dirty="0"/>
              <a:t>Imagine you are a healthcare startup and want an Al assistant able to predict whether a given patient has a heart disease or not based on its health record. This is a binary classification problem where the model will predict</a:t>
            </a:r>
          </a:p>
          <a:p>
            <a:pPr lvl="1"/>
            <a:r>
              <a:rPr lang="en-GB" dirty="0"/>
              <a:t>1, True or Yes if the patient has heart disease</a:t>
            </a:r>
          </a:p>
          <a:p>
            <a:pPr lvl="1"/>
            <a:r>
              <a:rPr lang="en-GB" dirty="0"/>
              <a:t>0, False or No otherwise</a:t>
            </a:r>
            <a:endParaRPr lang="en-US" dirty="0"/>
          </a:p>
        </p:txBody>
      </p:sp>
    </p:spTree>
    <p:extLst>
      <p:ext uri="{BB962C8B-B14F-4D97-AF65-F5344CB8AC3E}">
        <p14:creationId xmlns:p14="http://schemas.microsoft.com/office/powerpoint/2010/main" val="3322187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DBFD9-76DD-486B-3827-19C41C53AE3F}"/>
              </a:ext>
            </a:extLst>
          </p:cNvPr>
          <p:cNvSpPr>
            <a:spLocks noGrp="1"/>
          </p:cNvSpPr>
          <p:nvPr>
            <p:ph type="title"/>
          </p:nvPr>
        </p:nvSpPr>
        <p:spPr/>
        <p:txBody>
          <a:bodyPr/>
          <a:lstStyle/>
          <a:p>
            <a:r>
              <a:rPr lang="en-US" dirty="0"/>
              <a:t>Confusion Matrix</a:t>
            </a:r>
          </a:p>
        </p:txBody>
      </p:sp>
      <p:sp>
        <p:nvSpPr>
          <p:cNvPr id="3" name="Content Placeholder 2">
            <a:extLst>
              <a:ext uri="{FF2B5EF4-FFF2-40B4-BE49-F238E27FC236}">
                <a16:creationId xmlns:a16="http://schemas.microsoft.com/office/drawing/2014/main" id="{B21497B4-61E1-9093-59AC-8C9C6E6183DC}"/>
              </a:ext>
            </a:extLst>
          </p:cNvPr>
          <p:cNvSpPr>
            <a:spLocks noGrp="1"/>
          </p:cNvSpPr>
          <p:nvPr>
            <p:ph idx="1"/>
          </p:nvPr>
        </p:nvSpPr>
        <p:spPr/>
        <p:txBody>
          <a:bodyPr/>
          <a:lstStyle/>
          <a:p>
            <a:r>
              <a:rPr lang="en-GB" dirty="0"/>
              <a:t>A 2X2 matrix that nicely summarizes the number of correct predictions of the model. It also helps in computing different other performance metrics.</a:t>
            </a:r>
            <a:endParaRPr lang="en-US" dirty="0"/>
          </a:p>
        </p:txBody>
      </p:sp>
      <p:pic>
        <p:nvPicPr>
          <p:cNvPr id="5" name="Picture 4">
            <a:extLst>
              <a:ext uri="{FF2B5EF4-FFF2-40B4-BE49-F238E27FC236}">
                <a16:creationId xmlns:a16="http://schemas.microsoft.com/office/drawing/2014/main" id="{4F019CD1-17B4-CD0A-22DF-8D967B628C2F}"/>
              </a:ext>
            </a:extLst>
          </p:cNvPr>
          <p:cNvPicPr>
            <a:picLocks noChangeAspect="1"/>
          </p:cNvPicPr>
          <p:nvPr/>
        </p:nvPicPr>
        <p:blipFill>
          <a:blip r:embed="rId2"/>
          <a:stretch>
            <a:fillRect/>
          </a:stretch>
        </p:blipFill>
        <p:spPr>
          <a:xfrm>
            <a:off x="1402080" y="3197302"/>
            <a:ext cx="9387840" cy="3114598"/>
          </a:xfrm>
          <a:prstGeom prst="rect">
            <a:avLst/>
          </a:prstGeom>
        </p:spPr>
      </p:pic>
    </p:spTree>
    <p:extLst>
      <p:ext uri="{BB962C8B-B14F-4D97-AF65-F5344CB8AC3E}">
        <p14:creationId xmlns:p14="http://schemas.microsoft.com/office/powerpoint/2010/main" val="998172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1A95E-0676-DD87-34F5-401C7CC7891B}"/>
              </a:ext>
            </a:extLst>
          </p:cNvPr>
          <p:cNvSpPr>
            <a:spLocks noGrp="1"/>
          </p:cNvSpPr>
          <p:nvPr>
            <p:ph type="title"/>
          </p:nvPr>
        </p:nvSpPr>
        <p:spPr/>
        <p:txBody>
          <a:bodyPr/>
          <a:lstStyle/>
          <a:p>
            <a:r>
              <a:rPr lang="en-US" dirty="0"/>
              <a:t>Confusion Matrix</a:t>
            </a:r>
          </a:p>
        </p:txBody>
      </p:sp>
      <p:sp>
        <p:nvSpPr>
          <p:cNvPr id="3" name="Content Placeholder 2">
            <a:extLst>
              <a:ext uri="{FF2B5EF4-FFF2-40B4-BE49-F238E27FC236}">
                <a16:creationId xmlns:a16="http://schemas.microsoft.com/office/drawing/2014/main" id="{EF125DC9-28E0-EEE7-7CA5-012EDCB29026}"/>
              </a:ext>
            </a:extLst>
          </p:cNvPr>
          <p:cNvSpPr>
            <a:spLocks noGrp="1"/>
          </p:cNvSpPr>
          <p:nvPr>
            <p:ph idx="1"/>
          </p:nvPr>
        </p:nvSpPr>
        <p:spPr/>
        <p:txBody>
          <a:bodyPr>
            <a:normAutofit fontScale="92500" lnSpcReduction="10000"/>
          </a:bodyPr>
          <a:lstStyle/>
          <a:p>
            <a:r>
              <a:rPr lang="en-GB" dirty="0"/>
              <a:t>Each cell in the confusion matrix represents an evaluation factor. Let’s understand these factors one by one:</a:t>
            </a:r>
          </a:p>
          <a:p>
            <a:pPr lvl="1"/>
            <a:r>
              <a:rPr lang="en-GB" dirty="0"/>
              <a:t>True Positive(TP) signifies how many positive class samples your model predicted correctly.</a:t>
            </a:r>
          </a:p>
          <a:p>
            <a:pPr lvl="1"/>
            <a:r>
              <a:rPr lang="en-GB" dirty="0"/>
              <a:t>True Negative(TN) signifies how many negative class samples your model predicted correctly.</a:t>
            </a:r>
          </a:p>
          <a:p>
            <a:pPr lvl="1"/>
            <a:r>
              <a:rPr lang="en-GB" dirty="0"/>
              <a:t>False Positive(FP) signifies how many negative class samples your model predicted incorrectly. This factor represents </a:t>
            </a:r>
            <a:r>
              <a:rPr lang="en-GB" dirty="0">
                <a:hlinkClick r:id="rId2"/>
              </a:rPr>
              <a:t>Type-I error </a:t>
            </a:r>
            <a:r>
              <a:rPr lang="en-GB" dirty="0"/>
              <a:t>in statistical nomenclature. This error positioning in the confusion matrix depends on the choice of the null hypothesis.</a:t>
            </a:r>
          </a:p>
          <a:p>
            <a:pPr lvl="1"/>
            <a:r>
              <a:rPr lang="en-GB" dirty="0"/>
              <a:t>False Negative(FN) signifies how many positive class samples your model predicted incorrectly. This factor represents </a:t>
            </a:r>
            <a:r>
              <a:rPr lang="en-GB" dirty="0">
                <a:hlinkClick r:id="rId2"/>
              </a:rPr>
              <a:t>Type-II error</a:t>
            </a:r>
            <a:r>
              <a:rPr lang="en-GB" dirty="0"/>
              <a:t> in statistical nomenclature. This error positioning in the confusion matrix also depends on the choice of the null hypothesis.</a:t>
            </a:r>
            <a:endParaRPr lang="en-US" dirty="0"/>
          </a:p>
        </p:txBody>
      </p:sp>
    </p:spTree>
    <p:extLst>
      <p:ext uri="{BB962C8B-B14F-4D97-AF65-F5344CB8AC3E}">
        <p14:creationId xmlns:p14="http://schemas.microsoft.com/office/powerpoint/2010/main" val="2308543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3F924-3A2F-193C-CA90-CA7DE06DB88D}"/>
              </a:ext>
            </a:extLst>
          </p:cNvPr>
          <p:cNvSpPr>
            <a:spLocks noGrp="1"/>
          </p:cNvSpPr>
          <p:nvPr>
            <p:ph type="title"/>
          </p:nvPr>
        </p:nvSpPr>
        <p:spPr/>
        <p:txBody>
          <a:bodyPr/>
          <a:lstStyle/>
          <a:p>
            <a:r>
              <a:rPr lang="en-US" dirty="0"/>
              <a:t>Accuracy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20E64A-4DF2-A691-40A5-91A68FE4682C}"/>
                  </a:ext>
                </a:extLst>
              </p:cNvPr>
              <p:cNvSpPr>
                <a:spLocks noGrp="1"/>
              </p:cNvSpPr>
              <p:nvPr>
                <p:ph idx="1"/>
              </p:nvPr>
            </p:nvSpPr>
            <p:spPr/>
            <p:txBody>
              <a:bodyPr/>
              <a:lstStyle/>
              <a:p>
                <a:r>
                  <a:rPr lang="en-GB" dirty="0"/>
                  <a:t>We get accuracy by answering this question:</a:t>
                </a:r>
              </a:p>
              <a:p>
                <a:pPr lvl="1"/>
                <a:r>
                  <a:rPr lang="en-GB" dirty="0"/>
                  <a:t>“out of the predictions made by the model, what percentage is correct?”</a:t>
                </a:r>
              </a:p>
              <a:p>
                <a:pPr lvl="1"/>
                <a:endParaRPr lang="en-GB" dirty="0"/>
              </a:p>
              <a:p>
                <a:pPr marL="0" indent="0">
                  <a:buNone/>
                </a:pPr>
                <a:r>
                  <a:rPr lang="en-GB" dirty="0"/>
                  <a:t>	Accuracy = </a:t>
                </a:r>
                <a14:m>
                  <m:oMath xmlns:m="http://schemas.openxmlformats.org/officeDocument/2006/math">
                    <m:f>
                      <m:fPr>
                        <m:ctrlPr>
                          <a:rPr lang="en-GB" i="1" smtClean="0">
                            <a:latin typeface="Cambria Math" panose="02040503050406030204" pitchFamily="18" charset="0"/>
                          </a:rPr>
                        </m:ctrlPr>
                      </m:fPr>
                      <m:num>
                        <m:r>
                          <m:rPr>
                            <m:nor/>
                          </m:rPr>
                          <a:rPr lang="en-GB" dirty="0"/>
                          <m:t>TP</m:t>
                        </m:r>
                        <m:r>
                          <m:rPr>
                            <m:nor/>
                          </m:rPr>
                          <a:rPr lang="en-GB" dirty="0"/>
                          <m:t> + </m:t>
                        </m:r>
                        <m:r>
                          <m:rPr>
                            <m:nor/>
                          </m:rPr>
                          <a:rPr lang="en-GB" dirty="0"/>
                          <m:t>TN</m:t>
                        </m:r>
                        <m:r>
                          <m:rPr>
                            <m:nor/>
                          </m:rPr>
                          <a:rPr lang="en-GB" dirty="0"/>
                          <m:t> </m:t>
                        </m:r>
                      </m:num>
                      <m:den>
                        <m:r>
                          <m:rPr>
                            <m:nor/>
                          </m:rPr>
                          <a:rPr lang="en-GB" dirty="0"/>
                          <m:t>Total</m:t>
                        </m:r>
                        <m:r>
                          <m:rPr>
                            <m:nor/>
                          </m:rPr>
                          <a:rPr lang="en-GB" dirty="0"/>
                          <m:t> </m:t>
                        </m:r>
                        <m:r>
                          <m:rPr>
                            <m:nor/>
                          </m:rPr>
                          <a:rPr lang="en-GB" dirty="0"/>
                          <m:t>number</m:t>
                        </m:r>
                        <m:r>
                          <m:rPr>
                            <m:nor/>
                          </m:rPr>
                          <a:rPr lang="en-GB" dirty="0"/>
                          <m:t> </m:t>
                        </m:r>
                        <m:r>
                          <m:rPr>
                            <m:nor/>
                          </m:rPr>
                          <a:rPr lang="en-GB" dirty="0"/>
                          <m:t>observation</m:t>
                        </m:r>
                        <m:r>
                          <m:rPr>
                            <m:nor/>
                          </m:rPr>
                          <a:rPr lang="en-GB" dirty="0"/>
                          <m:t> </m:t>
                        </m:r>
                      </m:den>
                    </m:f>
                  </m:oMath>
                </a14:m>
                <a:endParaRPr lang="en-GB" dirty="0"/>
              </a:p>
            </p:txBody>
          </p:sp>
        </mc:Choice>
        <mc:Fallback xmlns="">
          <p:sp>
            <p:nvSpPr>
              <p:cNvPr id="3" name="Content Placeholder 2">
                <a:extLst>
                  <a:ext uri="{FF2B5EF4-FFF2-40B4-BE49-F238E27FC236}">
                    <a16:creationId xmlns:a16="http://schemas.microsoft.com/office/drawing/2014/main" id="{9B20E64A-4DF2-A691-40A5-91A68FE4682C}"/>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2199939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BE052-C386-08A8-2ED3-49BCAB1D6A73}"/>
              </a:ext>
            </a:extLst>
          </p:cNvPr>
          <p:cNvSpPr>
            <a:spLocks noGrp="1"/>
          </p:cNvSpPr>
          <p:nvPr>
            <p:ph type="title"/>
          </p:nvPr>
        </p:nvSpPr>
        <p:spPr/>
        <p:txBody>
          <a:bodyPr/>
          <a:lstStyle/>
          <a:p>
            <a:r>
              <a:rPr lang="en-US" dirty="0"/>
              <a:t>Precision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9F8217-B031-D14A-B479-EF1C601778E0}"/>
                  </a:ext>
                </a:extLst>
              </p:cNvPr>
              <p:cNvSpPr>
                <a:spLocks noGrp="1"/>
              </p:cNvSpPr>
              <p:nvPr>
                <p:ph idx="1"/>
              </p:nvPr>
            </p:nvSpPr>
            <p:spPr/>
            <p:txBody>
              <a:bodyPr>
                <a:normAutofit fontScale="92500" lnSpcReduction="20000"/>
              </a:bodyPr>
              <a:lstStyle/>
              <a:p>
                <a:r>
                  <a:rPr lang="en-GB" dirty="0"/>
                  <a:t>We get precision by answering this question: “out of all the YES predictions, how many of them were correct?”</a:t>
                </a:r>
              </a:p>
              <a:p>
                <a:endParaRPr lang="en-GB" dirty="0"/>
              </a:p>
              <a:p>
                <a:pPr marL="457200" lvl="1" indent="0">
                  <a:buNone/>
                </a:pPr>
                <a:r>
                  <a:rPr lang="en-GB" dirty="0"/>
                  <a:t>	Precision = </a:t>
                </a:r>
                <a14:m>
                  <m:oMath xmlns:m="http://schemas.openxmlformats.org/officeDocument/2006/math">
                    <m:f>
                      <m:fPr>
                        <m:ctrlPr>
                          <a:rPr lang="en-GB" i="1" smtClean="0">
                            <a:latin typeface="Cambria Math" panose="02040503050406030204" pitchFamily="18" charset="0"/>
                          </a:rPr>
                        </m:ctrlPr>
                      </m:fPr>
                      <m:num>
                        <m:r>
                          <a:rPr lang="en-US" b="0" i="1" smtClean="0">
                            <a:latin typeface="Cambria Math" panose="02040503050406030204" pitchFamily="18" charset="0"/>
                          </a:rPr>
                          <m:t>𝑇𝑃</m:t>
                        </m:r>
                      </m:num>
                      <m:den>
                        <m:r>
                          <a:rPr lang="en-US" b="0" i="1" smtClean="0">
                            <a:latin typeface="Cambria Math" panose="02040503050406030204" pitchFamily="18" charset="0"/>
                          </a:rPr>
                          <m:t>𝑇𝑃</m:t>
                        </m:r>
                        <m:r>
                          <a:rPr lang="en-US" b="0" i="1" smtClean="0">
                            <a:latin typeface="Cambria Math" panose="02040503050406030204" pitchFamily="18" charset="0"/>
                          </a:rPr>
                          <m:t>+</m:t>
                        </m:r>
                        <m:r>
                          <a:rPr lang="en-US" b="0" i="1" smtClean="0">
                            <a:latin typeface="Cambria Math" panose="02040503050406030204" pitchFamily="18" charset="0"/>
                          </a:rPr>
                          <m:t>𝐹𝑃</m:t>
                        </m:r>
                      </m:den>
                    </m:f>
                  </m:oMath>
                </a14:m>
                <a:endParaRPr lang="en-US" dirty="0"/>
              </a:p>
              <a:p>
                <a:pPr marL="0" indent="0">
                  <a:buNone/>
                </a:pPr>
                <a:endParaRPr lang="en-US" dirty="0"/>
              </a:p>
              <a:p>
                <a:pPr lvl="1"/>
                <a:r>
                  <a:rPr lang="en-GB" dirty="0"/>
                  <a:t>A precision score towards 1 will signify that your model didn’t miss any true positives and is able to classify well between correct and incorrect labelling. What it cannot measure is the existence of Type-II error, which is false negatives – cases when, for example, a cancerous patient is identified as non-cancerous.</a:t>
                </a:r>
              </a:p>
              <a:p>
                <a:pPr lvl="1"/>
                <a:r>
                  <a:rPr lang="en-GB" dirty="0"/>
                  <a:t>A low precision score (&lt;0.5) means your classifier has a high number of false positives which can be an outcome of imbalanced class or untuned model hyperparameters. In an imbalanced class problem, you have to prepare your data beforehand with over/under-sampling or focal loss to curb FP/FN.</a:t>
                </a:r>
                <a:endParaRPr lang="en-US" dirty="0"/>
              </a:p>
            </p:txBody>
          </p:sp>
        </mc:Choice>
        <mc:Fallback xmlns="">
          <p:sp>
            <p:nvSpPr>
              <p:cNvPr id="3" name="Content Placeholder 2">
                <a:extLst>
                  <a:ext uri="{FF2B5EF4-FFF2-40B4-BE49-F238E27FC236}">
                    <a16:creationId xmlns:a16="http://schemas.microsoft.com/office/drawing/2014/main" id="{FF9F8217-B031-D14A-B479-EF1C601778E0}"/>
                  </a:ext>
                </a:extLst>
              </p:cNvPr>
              <p:cNvSpPr>
                <a:spLocks noGrp="1" noRot="1" noChangeAspect="1" noMove="1" noResize="1" noEditPoints="1" noAdjustHandles="1" noChangeArrowheads="1" noChangeShapeType="1" noTextEdit="1"/>
              </p:cNvSpPr>
              <p:nvPr>
                <p:ph idx="1"/>
              </p:nvPr>
            </p:nvSpPr>
            <p:spPr>
              <a:blipFill>
                <a:blip r:embed="rId2"/>
                <a:stretch>
                  <a:fillRect l="-928" t="-3922" b="-2381"/>
                </a:stretch>
              </a:blipFill>
            </p:spPr>
            <p:txBody>
              <a:bodyPr/>
              <a:lstStyle/>
              <a:p>
                <a:r>
                  <a:rPr lang="en-US">
                    <a:noFill/>
                  </a:rPr>
                  <a:t> </a:t>
                </a:r>
              </a:p>
            </p:txBody>
          </p:sp>
        </mc:Fallback>
      </mc:AlternateContent>
    </p:spTree>
    <p:extLst>
      <p:ext uri="{BB962C8B-B14F-4D97-AF65-F5344CB8AC3E}">
        <p14:creationId xmlns:p14="http://schemas.microsoft.com/office/powerpoint/2010/main" val="3125051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47A05-D3CE-4B26-EDCE-C70A792A24C1}"/>
              </a:ext>
            </a:extLst>
          </p:cNvPr>
          <p:cNvSpPr>
            <a:spLocks noGrp="1"/>
          </p:cNvSpPr>
          <p:nvPr>
            <p:ph type="title"/>
          </p:nvPr>
        </p:nvSpPr>
        <p:spPr/>
        <p:txBody>
          <a:bodyPr/>
          <a:lstStyle/>
          <a:p>
            <a:r>
              <a:rPr lang="en-US" dirty="0"/>
              <a:t>Recall / Sensitivity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50D4D6-2508-F64B-561E-D153EB624827}"/>
                  </a:ext>
                </a:extLst>
              </p:cNvPr>
              <p:cNvSpPr>
                <a:spLocks noGrp="1"/>
              </p:cNvSpPr>
              <p:nvPr>
                <p:ph idx="1"/>
              </p:nvPr>
            </p:nvSpPr>
            <p:spPr/>
            <p:txBody>
              <a:bodyPr>
                <a:normAutofit fontScale="85000" lnSpcReduction="10000"/>
              </a:bodyPr>
              <a:lstStyle/>
              <a:p>
                <a:r>
                  <a:rPr lang="en-GB" dirty="0"/>
                  <a:t>It aims to answer this question: “how good was the model at predicting real Yes events?” , which can be considered as the flip of the precision.</a:t>
                </a:r>
              </a:p>
              <a:p>
                <a:endParaRPr lang="en-GB" dirty="0"/>
              </a:p>
              <a:p>
                <a:pPr marL="457200" lvl="1" indent="0">
                  <a:buNone/>
                </a:pPr>
                <a:r>
                  <a:rPr lang="en-GB" dirty="0"/>
                  <a:t>	Sensitivity = </a:t>
                </a:r>
                <a14:m>
                  <m:oMath xmlns:m="http://schemas.openxmlformats.org/officeDocument/2006/math">
                    <m:f>
                      <m:fPr>
                        <m:ctrlPr>
                          <a:rPr lang="en-GB" i="1" smtClean="0">
                            <a:latin typeface="Cambria Math" panose="02040503050406030204" pitchFamily="18" charset="0"/>
                          </a:rPr>
                        </m:ctrlPr>
                      </m:fPr>
                      <m:num>
                        <m:r>
                          <a:rPr lang="en-US" b="0" i="1" smtClean="0">
                            <a:latin typeface="Cambria Math" panose="02040503050406030204" pitchFamily="18" charset="0"/>
                          </a:rPr>
                          <m:t>𝑇𝑃</m:t>
                        </m:r>
                      </m:num>
                      <m:den>
                        <m:r>
                          <a:rPr lang="en-US" b="0" i="1" smtClean="0">
                            <a:latin typeface="Cambria Math" panose="02040503050406030204" pitchFamily="18" charset="0"/>
                          </a:rPr>
                          <m:t>𝑇𝑃</m:t>
                        </m:r>
                        <m:r>
                          <a:rPr lang="en-US" b="0" i="1" smtClean="0">
                            <a:latin typeface="Cambria Math" panose="02040503050406030204" pitchFamily="18" charset="0"/>
                          </a:rPr>
                          <m:t>+</m:t>
                        </m:r>
                        <m:r>
                          <a:rPr lang="en-US" b="0" i="1" smtClean="0">
                            <a:latin typeface="Cambria Math" panose="02040503050406030204" pitchFamily="18" charset="0"/>
                          </a:rPr>
                          <m:t>𝐹𝑁</m:t>
                        </m:r>
                      </m:den>
                    </m:f>
                  </m:oMath>
                </a14:m>
                <a:endParaRPr lang="en-US" dirty="0"/>
              </a:p>
              <a:p>
                <a:pPr marL="457200" lvl="1" indent="0">
                  <a:buNone/>
                </a:pPr>
                <a:endParaRPr lang="en-GB" dirty="0"/>
              </a:p>
              <a:p>
                <a:pPr lvl="1"/>
                <a:r>
                  <a:rPr lang="en-GB" dirty="0"/>
                  <a:t>Recall towards 1 will signify that your model didn’t miss any true positives and is able to classify well between correctly and incorrectly labelling of cancer patients.</a:t>
                </a:r>
              </a:p>
              <a:p>
                <a:pPr lvl="1"/>
                <a:r>
                  <a:rPr lang="en-GB" dirty="0"/>
                  <a:t>What it cannot measure is the existence of type-I error which is false positives i.e. the cases when a cancerous patient is identified as non-cancerous.</a:t>
                </a:r>
              </a:p>
              <a:p>
                <a:pPr lvl="1"/>
                <a:r>
                  <a:rPr lang="en-GB" dirty="0"/>
                  <a:t>A low recall score (&lt;0.5) means your classifier has a high number of false negatives which can be an outcome of imbalanced class or untuned model hyperparameters. In an imbalanced class problem, you have to prepare your data beforehand with over/under-sampling or focal loss to curb FP/FN.</a:t>
                </a:r>
                <a:endParaRPr lang="en-US" dirty="0"/>
              </a:p>
            </p:txBody>
          </p:sp>
        </mc:Choice>
        <mc:Fallback xmlns="">
          <p:sp>
            <p:nvSpPr>
              <p:cNvPr id="3" name="Content Placeholder 2">
                <a:extLst>
                  <a:ext uri="{FF2B5EF4-FFF2-40B4-BE49-F238E27FC236}">
                    <a16:creationId xmlns:a16="http://schemas.microsoft.com/office/drawing/2014/main" id="{F450D4D6-2508-F64B-561E-D153EB624827}"/>
                  </a:ext>
                </a:extLst>
              </p:cNvPr>
              <p:cNvSpPr>
                <a:spLocks noGrp="1" noRot="1" noChangeAspect="1" noMove="1" noResize="1" noEditPoints="1" noAdjustHandles="1" noChangeArrowheads="1" noChangeShapeType="1" noTextEdit="1"/>
              </p:cNvSpPr>
              <p:nvPr>
                <p:ph idx="1"/>
              </p:nvPr>
            </p:nvSpPr>
            <p:spPr>
              <a:blipFill>
                <a:blip r:embed="rId2"/>
                <a:stretch>
                  <a:fillRect l="-812" t="-2801" r="-580"/>
                </a:stretch>
              </a:blipFill>
            </p:spPr>
            <p:txBody>
              <a:bodyPr/>
              <a:lstStyle/>
              <a:p>
                <a:r>
                  <a:rPr lang="en-US">
                    <a:noFill/>
                  </a:rPr>
                  <a:t> </a:t>
                </a:r>
              </a:p>
            </p:txBody>
          </p:sp>
        </mc:Fallback>
      </mc:AlternateContent>
    </p:spTree>
    <p:extLst>
      <p:ext uri="{BB962C8B-B14F-4D97-AF65-F5344CB8AC3E}">
        <p14:creationId xmlns:p14="http://schemas.microsoft.com/office/powerpoint/2010/main" val="3744868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DE0BE-C669-9C93-DD9A-A858B937CEC2}"/>
              </a:ext>
            </a:extLst>
          </p:cNvPr>
          <p:cNvSpPr>
            <a:spLocks noGrp="1"/>
          </p:cNvSpPr>
          <p:nvPr>
            <p:ph type="title"/>
          </p:nvPr>
        </p:nvSpPr>
        <p:spPr/>
        <p:txBody>
          <a:bodyPr/>
          <a:lstStyle/>
          <a:p>
            <a:r>
              <a:rPr lang="en-US" dirty="0"/>
              <a:t>Recall / Specificity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046CB5-12B4-90AA-A350-8C5718EFF7FA}"/>
                  </a:ext>
                </a:extLst>
              </p:cNvPr>
              <p:cNvSpPr>
                <a:spLocks noGrp="1"/>
              </p:cNvSpPr>
              <p:nvPr>
                <p:ph idx="1"/>
              </p:nvPr>
            </p:nvSpPr>
            <p:spPr/>
            <p:txBody>
              <a:bodyPr/>
              <a:lstStyle/>
              <a:p>
                <a:r>
                  <a:rPr lang="en-GB" dirty="0"/>
                  <a:t>It aims to answer this question: “how good was the model at predicting real No events”?</a:t>
                </a:r>
              </a:p>
              <a:p>
                <a:endParaRPr lang="en-GB" dirty="0"/>
              </a:p>
              <a:p>
                <a:pPr marL="914400" lvl="2" indent="0">
                  <a:buNone/>
                </a:pPr>
                <a:r>
                  <a:rPr lang="en-US" sz="2400" dirty="0"/>
                  <a:t>Specificity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𝑇𝑁</m:t>
                        </m:r>
                      </m:num>
                      <m:den>
                        <m:r>
                          <a:rPr lang="en-US" sz="2400" b="0" i="1" smtClean="0">
                            <a:latin typeface="Cambria Math" panose="02040503050406030204" pitchFamily="18" charset="0"/>
                          </a:rPr>
                          <m:t>𝑇𝑁</m:t>
                        </m:r>
                        <m:r>
                          <a:rPr lang="en-US" sz="2400" b="0" i="1" smtClean="0">
                            <a:latin typeface="Cambria Math" panose="02040503050406030204" pitchFamily="18" charset="0"/>
                          </a:rPr>
                          <m:t>+</m:t>
                        </m:r>
                        <m:r>
                          <a:rPr lang="en-US" sz="2400" b="0" i="1" smtClean="0">
                            <a:latin typeface="Cambria Math" panose="02040503050406030204" pitchFamily="18" charset="0"/>
                          </a:rPr>
                          <m:t>𝐹𝑃</m:t>
                        </m:r>
                      </m:den>
                    </m:f>
                  </m:oMath>
                </a14:m>
                <a:endParaRPr lang="en-US" sz="2400" dirty="0"/>
              </a:p>
            </p:txBody>
          </p:sp>
        </mc:Choice>
        <mc:Fallback xmlns="">
          <p:sp>
            <p:nvSpPr>
              <p:cNvPr id="3" name="Content Placeholder 2">
                <a:extLst>
                  <a:ext uri="{FF2B5EF4-FFF2-40B4-BE49-F238E27FC236}">
                    <a16:creationId xmlns:a16="http://schemas.microsoft.com/office/drawing/2014/main" id="{D6046CB5-12B4-90AA-A350-8C5718EFF7FA}"/>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1538952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69929-F9E9-8D55-52F2-562C7FE28897}"/>
              </a:ext>
            </a:extLst>
          </p:cNvPr>
          <p:cNvSpPr>
            <a:spLocks noGrp="1"/>
          </p:cNvSpPr>
          <p:nvPr>
            <p:ph type="title"/>
          </p:nvPr>
        </p:nvSpPr>
        <p:spPr/>
        <p:txBody>
          <a:bodyPr/>
          <a:lstStyle/>
          <a:p>
            <a:r>
              <a:rPr lang="en-US" dirty="0"/>
              <a:t>Precision-Recall tradeoff</a:t>
            </a:r>
          </a:p>
        </p:txBody>
      </p:sp>
      <p:sp>
        <p:nvSpPr>
          <p:cNvPr id="3" name="Content Placeholder 2">
            <a:extLst>
              <a:ext uri="{FF2B5EF4-FFF2-40B4-BE49-F238E27FC236}">
                <a16:creationId xmlns:a16="http://schemas.microsoft.com/office/drawing/2014/main" id="{577652DB-6E29-9D6F-20CD-3014E1ABF827}"/>
              </a:ext>
            </a:extLst>
          </p:cNvPr>
          <p:cNvSpPr>
            <a:spLocks noGrp="1"/>
          </p:cNvSpPr>
          <p:nvPr>
            <p:ph idx="1"/>
          </p:nvPr>
        </p:nvSpPr>
        <p:spPr>
          <a:xfrm>
            <a:off x="838200" y="1825625"/>
            <a:ext cx="4577080" cy="4351338"/>
          </a:xfrm>
        </p:spPr>
        <p:txBody>
          <a:bodyPr>
            <a:normAutofit fontScale="70000" lnSpcReduction="20000"/>
          </a:bodyPr>
          <a:lstStyle/>
          <a:p>
            <a:r>
              <a:rPr lang="en-GB" dirty="0"/>
              <a:t>To improve your model, you can either improve precision or recall – but not both! If you try to reduce cases of cancerous patients being labelled as non-cancerous (FN/type-II), no direct effect will take place on non-cancerous patients being labelled as cancerous (FP/type-I).</a:t>
            </a:r>
          </a:p>
          <a:p>
            <a:r>
              <a:rPr lang="en-GB" dirty="0"/>
              <a:t>This trade-off highly impacts real-world scenarios, so we can deduce that precision and recall alone aren’t very good metrics to rely on and work with. That’s the reason you see many corporate reports and online competitions urge the submission metric to be a combination of precision and recall.</a:t>
            </a:r>
            <a:endParaRPr lang="en-US" dirty="0"/>
          </a:p>
        </p:txBody>
      </p:sp>
      <p:pic>
        <p:nvPicPr>
          <p:cNvPr id="4" name="Picture 3">
            <a:extLst>
              <a:ext uri="{FF2B5EF4-FFF2-40B4-BE49-F238E27FC236}">
                <a16:creationId xmlns:a16="http://schemas.microsoft.com/office/drawing/2014/main" id="{5F75A047-D724-A154-3542-7B4A9A4430EF}"/>
              </a:ext>
            </a:extLst>
          </p:cNvPr>
          <p:cNvPicPr>
            <a:picLocks noChangeAspect="1"/>
          </p:cNvPicPr>
          <p:nvPr/>
        </p:nvPicPr>
        <p:blipFill>
          <a:blip r:embed="rId2"/>
          <a:stretch>
            <a:fillRect/>
          </a:stretch>
        </p:blipFill>
        <p:spPr>
          <a:xfrm>
            <a:off x="5492750" y="1538922"/>
            <a:ext cx="6286500" cy="4714875"/>
          </a:xfrm>
          <a:prstGeom prst="rect">
            <a:avLst/>
          </a:prstGeom>
        </p:spPr>
      </p:pic>
    </p:spTree>
    <p:extLst>
      <p:ext uri="{BB962C8B-B14F-4D97-AF65-F5344CB8AC3E}">
        <p14:creationId xmlns:p14="http://schemas.microsoft.com/office/powerpoint/2010/main" val="2523589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B6507-6790-73C4-86E3-50F3B9318FC6}"/>
              </a:ext>
            </a:extLst>
          </p:cNvPr>
          <p:cNvSpPr>
            <a:spLocks noGrp="1"/>
          </p:cNvSpPr>
          <p:nvPr>
            <p:ph type="title"/>
          </p:nvPr>
        </p:nvSpPr>
        <p:spPr/>
        <p:txBody>
          <a:bodyPr/>
          <a:lstStyle/>
          <a:p>
            <a:r>
              <a:rPr lang="en-US" dirty="0"/>
              <a:t>Fl Score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1799BB-6F8E-85DD-8814-7DB8A03644EA}"/>
                  </a:ext>
                </a:extLst>
              </p:cNvPr>
              <p:cNvSpPr>
                <a:spLocks noGrp="1"/>
              </p:cNvSpPr>
              <p:nvPr>
                <p:ph idx="1"/>
              </p:nvPr>
            </p:nvSpPr>
            <p:spPr/>
            <p:txBody>
              <a:bodyPr/>
              <a:lstStyle/>
              <a:p>
                <a:r>
                  <a:rPr lang="en-GB" dirty="0"/>
                  <a:t>Sometimes used when dealing with imbalanced data set, meaning that there are more of one class/label than there are of the other. It corresponds to the harmonic mean of the precision and recall.</a:t>
                </a:r>
                <a:endParaRPr lang="en-US" dirty="0"/>
              </a:p>
              <a:p>
                <a:endParaRPr lang="en-US" dirty="0"/>
              </a:p>
              <a:p>
                <a:pPr marL="914400" lvl="2" indent="0">
                  <a:buNone/>
                </a:pPr>
                <a:r>
                  <a:rPr lang="en-US" sz="2400" dirty="0"/>
                  <a:t>F1 Score = 2 </a:t>
                </a:r>
                <a:r>
                  <a:rPr lang="en-US" sz="2400" dirty="0">
                    <a:sym typeface="Symbol" panose="05050102010706020507" pitchFamily="18" charset="2"/>
                  </a:rPr>
                  <a:t> </a:t>
                </a:r>
                <a14:m>
                  <m:oMath xmlns:m="http://schemas.openxmlformats.org/officeDocument/2006/math">
                    <m:f>
                      <m:fPr>
                        <m:ctrlPr>
                          <a:rPr lang="en-US" sz="2400" i="1" smtClean="0">
                            <a:latin typeface="Cambria Math" panose="02040503050406030204" pitchFamily="18" charset="0"/>
                            <a:sym typeface="Symbol" panose="05050102010706020507" pitchFamily="18" charset="2"/>
                          </a:rPr>
                        </m:ctrlPr>
                      </m:fPr>
                      <m:num>
                        <m:r>
                          <a:rPr lang="en-US" sz="2400" b="0" i="1" smtClean="0">
                            <a:latin typeface="Cambria Math" panose="02040503050406030204" pitchFamily="18" charset="0"/>
                            <a:sym typeface="Symbol" panose="05050102010706020507" pitchFamily="18" charset="2"/>
                          </a:rPr>
                          <m:t>𝑃𝑟𝑒𝑐𝑖𝑠𝑖𝑜𝑛</m:t>
                        </m:r>
                        <m:r>
                          <a:rPr lang="en-US" sz="2400" b="0" i="1" smtClean="0">
                            <a:latin typeface="Cambria Math" panose="02040503050406030204" pitchFamily="18" charset="0"/>
                            <a:sym typeface="Symbol" panose="05050102010706020507" pitchFamily="18" charset="2"/>
                          </a:rPr>
                          <m:t>  </m:t>
                        </m:r>
                        <m:r>
                          <a:rPr lang="en-US" sz="2400" b="0" i="1" smtClean="0">
                            <a:latin typeface="Cambria Math" panose="02040503050406030204" pitchFamily="18" charset="0"/>
                            <a:sym typeface="Symbol" panose="05050102010706020507" pitchFamily="18" charset="2"/>
                          </a:rPr>
                          <m:t>𝑅𝑒𝑐𝑎𝑙𝑙</m:t>
                        </m:r>
                      </m:num>
                      <m:den>
                        <m:r>
                          <a:rPr lang="en-US" sz="2400" b="0" i="1" smtClean="0">
                            <a:latin typeface="Cambria Math" panose="02040503050406030204" pitchFamily="18" charset="0"/>
                            <a:sym typeface="Symbol" panose="05050102010706020507" pitchFamily="18" charset="2"/>
                          </a:rPr>
                          <m:t>𝑃𝑟𝑒𝑐𝑖𝑠𝑖𝑜𝑛</m:t>
                        </m:r>
                        <m:r>
                          <a:rPr lang="en-US" sz="2400" b="0" i="1" smtClean="0">
                            <a:latin typeface="Cambria Math" panose="02040503050406030204" pitchFamily="18" charset="0"/>
                            <a:sym typeface="Symbol" panose="05050102010706020507" pitchFamily="18" charset="2"/>
                          </a:rPr>
                          <m:t>+</m:t>
                        </m:r>
                        <m:r>
                          <a:rPr lang="en-US" sz="2400" b="0" i="1" smtClean="0">
                            <a:latin typeface="Cambria Math" panose="02040503050406030204" pitchFamily="18" charset="0"/>
                            <a:sym typeface="Symbol" panose="05050102010706020507" pitchFamily="18" charset="2"/>
                          </a:rPr>
                          <m:t>𝑅𝑒𝑐𝑎𝑙𝑙</m:t>
                        </m:r>
                      </m:den>
                    </m:f>
                  </m:oMath>
                </a14:m>
                <a:endParaRPr lang="en-GB" sz="2400" dirty="0"/>
              </a:p>
            </p:txBody>
          </p:sp>
        </mc:Choice>
        <mc:Fallback xmlns="">
          <p:sp>
            <p:nvSpPr>
              <p:cNvPr id="3" name="Content Placeholder 2">
                <a:extLst>
                  <a:ext uri="{FF2B5EF4-FFF2-40B4-BE49-F238E27FC236}">
                    <a16:creationId xmlns:a16="http://schemas.microsoft.com/office/drawing/2014/main" id="{F51799BB-6F8E-85DD-8814-7DB8A03644EA}"/>
                  </a:ext>
                </a:extLst>
              </p:cNvPr>
              <p:cNvSpPr>
                <a:spLocks noGrp="1" noRot="1" noChangeAspect="1" noMove="1" noResize="1" noEditPoints="1" noAdjustHandles="1" noChangeArrowheads="1" noChangeShapeType="1" noTextEdit="1"/>
              </p:cNvSpPr>
              <p:nvPr>
                <p:ph idx="1"/>
              </p:nvPr>
            </p:nvSpPr>
            <p:spPr>
              <a:blipFill>
                <a:blip r:embed="rId2"/>
                <a:stretch>
                  <a:fillRect l="-1043" t="-2381" r="-1855"/>
                </a:stretch>
              </a:blipFill>
            </p:spPr>
            <p:txBody>
              <a:bodyPr/>
              <a:lstStyle/>
              <a:p>
                <a:r>
                  <a:rPr lang="en-US">
                    <a:noFill/>
                  </a:rPr>
                  <a:t> </a:t>
                </a:r>
              </a:p>
            </p:txBody>
          </p:sp>
        </mc:Fallback>
      </mc:AlternateContent>
    </p:spTree>
    <p:extLst>
      <p:ext uri="{BB962C8B-B14F-4D97-AF65-F5344CB8AC3E}">
        <p14:creationId xmlns:p14="http://schemas.microsoft.com/office/powerpoint/2010/main" val="27086854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65969-156F-E348-120B-36ED9F133989}"/>
              </a:ext>
            </a:extLst>
          </p:cNvPr>
          <p:cNvSpPr>
            <a:spLocks noGrp="1"/>
          </p:cNvSpPr>
          <p:nvPr>
            <p:ph type="title"/>
          </p:nvPr>
        </p:nvSpPr>
        <p:spPr/>
        <p:txBody>
          <a:bodyPr>
            <a:normAutofit/>
          </a:bodyPr>
          <a:lstStyle/>
          <a:p>
            <a:r>
              <a:rPr lang="en-US" dirty="0"/>
              <a:t>Receiver-operating characteristic curve (ROC)</a:t>
            </a:r>
          </a:p>
        </p:txBody>
      </p:sp>
      <p:sp>
        <p:nvSpPr>
          <p:cNvPr id="3" name="Content Placeholder 2">
            <a:extLst>
              <a:ext uri="{FF2B5EF4-FFF2-40B4-BE49-F238E27FC236}">
                <a16:creationId xmlns:a16="http://schemas.microsoft.com/office/drawing/2014/main" id="{4387F5CD-EECE-C97C-25F2-E72B7FB3D024}"/>
              </a:ext>
            </a:extLst>
          </p:cNvPr>
          <p:cNvSpPr>
            <a:spLocks noGrp="1"/>
          </p:cNvSpPr>
          <p:nvPr>
            <p:ph idx="1"/>
          </p:nvPr>
        </p:nvSpPr>
        <p:spPr>
          <a:xfrm>
            <a:off x="838200" y="1825625"/>
            <a:ext cx="6680200" cy="3764947"/>
          </a:xfrm>
        </p:spPr>
        <p:txBody>
          <a:bodyPr>
            <a:normAutofit fontScale="85000" lnSpcReduction="10000"/>
          </a:bodyPr>
          <a:lstStyle/>
          <a:p>
            <a:r>
              <a:rPr lang="en-GB" dirty="0"/>
              <a:t>The ROC curve is a visual representation of model performance across all thresholds.</a:t>
            </a:r>
          </a:p>
          <a:p>
            <a:r>
              <a:rPr lang="en-GB" dirty="0"/>
              <a:t>The ROC curve is drawn by calculating the true positive rate (TPR) and false positive rate (FPR) at every possible threshold (in practice, at selected intervals), then graphing TPR over FPR. A perfect model, which at some threshold has a TPR of 1.0 and a FPR of 0.0, can be represented by either a point at (0, 1) if all other thresholds are ignored, or by the following (right image):</a:t>
            </a:r>
            <a:endParaRPr lang="en-US" dirty="0"/>
          </a:p>
        </p:txBody>
      </p:sp>
      <p:pic>
        <p:nvPicPr>
          <p:cNvPr id="4" name="Picture 3">
            <a:extLst>
              <a:ext uri="{FF2B5EF4-FFF2-40B4-BE49-F238E27FC236}">
                <a16:creationId xmlns:a16="http://schemas.microsoft.com/office/drawing/2014/main" id="{8E31C067-C3DA-A017-48D2-4D0BB4B36D81}"/>
              </a:ext>
            </a:extLst>
          </p:cNvPr>
          <p:cNvPicPr>
            <a:picLocks noChangeAspect="1"/>
          </p:cNvPicPr>
          <p:nvPr/>
        </p:nvPicPr>
        <p:blipFill>
          <a:blip r:embed="rId2"/>
          <a:srcRect l="13250" r="13768"/>
          <a:stretch/>
        </p:blipFill>
        <p:spPr>
          <a:xfrm>
            <a:off x="8070850" y="1482344"/>
            <a:ext cx="3581400" cy="3680460"/>
          </a:xfrm>
          <a:prstGeom prst="rect">
            <a:avLst/>
          </a:prstGeom>
        </p:spPr>
      </p:pic>
      <p:sp>
        <p:nvSpPr>
          <p:cNvPr id="5" name="TextBox 4">
            <a:extLst>
              <a:ext uri="{FF2B5EF4-FFF2-40B4-BE49-F238E27FC236}">
                <a16:creationId xmlns:a16="http://schemas.microsoft.com/office/drawing/2014/main" id="{CD991851-7D0C-B650-E10E-691E73666C6F}"/>
              </a:ext>
            </a:extLst>
          </p:cNvPr>
          <p:cNvSpPr txBox="1"/>
          <p:nvPr/>
        </p:nvSpPr>
        <p:spPr>
          <a:xfrm>
            <a:off x="8369300" y="5253633"/>
            <a:ext cx="2984500" cy="923330"/>
          </a:xfrm>
          <a:prstGeom prst="rect">
            <a:avLst/>
          </a:prstGeom>
          <a:noFill/>
        </p:spPr>
        <p:txBody>
          <a:bodyPr wrap="square" rtlCol="0">
            <a:spAutoFit/>
          </a:bodyPr>
          <a:lstStyle/>
          <a:p>
            <a:pPr algn="ctr"/>
            <a:r>
              <a:rPr lang="en-GB" i="1" dirty="0"/>
              <a:t>ROC and AUC of a hypothetical perfect model.</a:t>
            </a:r>
            <a:endParaRPr lang="en-US" i="1" dirty="0"/>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8921C46-37D9-9536-4E6B-57B024474DC1}"/>
                  </a:ext>
                </a:extLst>
              </p:cNvPr>
              <p:cNvSpPr txBox="1"/>
              <p:nvPr/>
            </p:nvSpPr>
            <p:spPr>
              <a:xfrm>
                <a:off x="1861133" y="5590572"/>
                <a:ext cx="4149726" cy="58137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𝑇𝑃𝑅</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𝑇𝑃</m:t>
                          </m:r>
                        </m:num>
                        <m:den>
                          <m:r>
                            <a:rPr lang="en-US" sz="2000" b="0" i="1" smtClean="0">
                              <a:latin typeface="Cambria Math" panose="02040503050406030204" pitchFamily="18" charset="0"/>
                            </a:rPr>
                            <m:t>𝑇𝑃</m:t>
                          </m:r>
                          <m:r>
                            <a:rPr lang="en-US" sz="2000" b="0" i="1" smtClean="0">
                              <a:latin typeface="Cambria Math" panose="02040503050406030204" pitchFamily="18" charset="0"/>
                            </a:rPr>
                            <m:t>+</m:t>
                          </m:r>
                          <m:r>
                            <a:rPr lang="en-US" sz="2000" b="0" i="1" smtClean="0">
                              <a:latin typeface="Cambria Math" panose="02040503050406030204" pitchFamily="18" charset="0"/>
                            </a:rPr>
                            <m:t>𝐹𝑁</m:t>
                          </m:r>
                        </m:den>
                      </m:f>
                      <m:r>
                        <a:rPr lang="en-US" sz="2000" b="0" i="1" smtClean="0">
                          <a:latin typeface="Cambria Math" panose="02040503050406030204" pitchFamily="18" charset="0"/>
                        </a:rPr>
                        <m:t>      </m:t>
                      </m:r>
                      <m:r>
                        <a:rPr lang="en-US" sz="2000" b="0" i="1" smtClean="0">
                          <a:latin typeface="Cambria Math" panose="02040503050406030204" pitchFamily="18" charset="0"/>
                        </a:rPr>
                        <m:t>𝐹𝑃𝑅</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𝐹𝑃</m:t>
                          </m:r>
                        </m:num>
                        <m:den>
                          <m:r>
                            <a:rPr lang="en-US" sz="2000" b="0" i="1" smtClean="0">
                              <a:latin typeface="Cambria Math" panose="02040503050406030204" pitchFamily="18" charset="0"/>
                            </a:rPr>
                            <m:t>𝐹𝑃</m:t>
                          </m:r>
                          <m:r>
                            <a:rPr lang="en-US" sz="2000" b="0" i="1" smtClean="0">
                              <a:latin typeface="Cambria Math" panose="02040503050406030204" pitchFamily="18" charset="0"/>
                            </a:rPr>
                            <m:t>+</m:t>
                          </m:r>
                          <m:r>
                            <a:rPr lang="en-US" sz="2000" b="0" i="1" smtClean="0">
                              <a:latin typeface="Cambria Math" panose="02040503050406030204" pitchFamily="18" charset="0"/>
                            </a:rPr>
                            <m:t>𝑇𝑁</m:t>
                          </m:r>
                        </m:den>
                      </m:f>
                    </m:oMath>
                  </m:oMathPara>
                </a14:m>
                <a:endParaRPr lang="en-US" sz="2400" dirty="0"/>
              </a:p>
            </p:txBody>
          </p:sp>
        </mc:Choice>
        <mc:Fallback>
          <p:sp>
            <p:nvSpPr>
              <p:cNvPr id="7" name="TextBox 6">
                <a:extLst>
                  <a:ext uri="{FF2B5EF4-FFF2-40B4-BE49-F238E27FC236}">
                    <a16:creationId xmlns:a16="http://schemas.microsoft.com/office/drawing/2014/main" id="{18921C46-37D9-9536-4E6B-57B024474DC1}"/>
                  </a:ext>
                </a:extLst>
              </p:cNvPr>
              <p:cNvSpPr txBox="1">
                <a:spLocks noRot="1" noChangeAspect="1" noMove="1" noResize="1" noEditPoints="1" noAdjustHandles="1" noChangeArrowheads="1" noChangeShapeType="1" noTextEdit="1"/>
              </p:cNvSpPr>
              <p:nvPr/>
            </p:nvSpPr>
            <p:spPr>
              <a:xfrm>
                <a:off x="1861133" y="5590572"/>
                <a:ext cx="4149726" cy="581378"/>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87677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D6E74-7599-C41E-6DB5-10CDA67E8C7F}"/>
              </a:ext>
            </a:extLst>
          </p:cNvPr>
          <p:cNvSpPr>
            <a:spLocks noGrp="1"/>
          </p:cNvSpPr>
          <p:nvPr>
            <p:ph type="title"/>
          </p:nvPr>
        </p:nvSpPr>
        <p:spPr/>
        <p:txBody>
          <a:bodyPr/>
          <a:lstStyle/>
          <a:p>
            <a:r>
              <a:rPr lang="en-US" dirty="0"/>
              <a:t>AUC - ROC Curve</a:t>
            </a:r>
          </a:p>
        </p:txBody>
      </p:sp>
      <p:sp>
        <p:nvSpPr>
          <p:cNvPr id="3" name="Content Placeholder 2">
            <a:extLst>
              <a:ext uri="{FF2B5EF4-FFF2-40B4-BE49-F238E27FC236}">
                <a16:creationId xmlns:a16="http://schemas.microsoft.com/office/drawing/2014/main" id="{7CD7C06B-EE1D-002B-777C-785E9D5B9518}"/>
              </a:ext>
            </a:extLst>
          </p:cNvPr>
          <p:cNvSpPr>
            <a:spLocks noGrp="1"/>
          </p:cNvSpPr>
          <p:nvPr>
            <p:ph idx="1"/>
          </p:nvPr>
        </p:nvSpPr>
        <p:spPr/>
        <p:txBody>
          <a:bodyPr>
            <a:normAutofit fontScale="85000" lnSpcReduction="10000"/>
          </a:bodyPr>
          <a:lstStyle/>
          <a:p>
            <a:r>
              <a:rPr lang="en-GB" dirty="0"/>
              <a:t>The area under the ROC curve (AUC) represents the probability that the model, if given a randomly chosen positive and negative example, will rank the positive higher than the negative.</a:t>
            </a:r>
          </a:p>
          <a:p>
            <a:r>
              <a:rPr lang="en-GB" dirty="0"/>
              <a:t>AUC— ROC generates probability values instead of binary 0/1 values. It should be used when your data set is roughly balanced.</a:t>
            </a:r>
          </a:p>
          <a:p>
            <a:r>
              <a:rPr lang="en-GB" dirty="0"/>
              <a:t>Using ROC for imbalanced data sets lead to incorrect interpretation.</a:t>
            </a:r>
          </a:p>
          <a:p>
            <a:r>
              <a:rPr lang="en-GB" dirty="0"/>
              <a:t>ROC curves provide good overview of trade-off between the TP rate and FP rate for binary classifier using different probability thresholds.</a:t>
            </a:r>
          </a:p>
          <a:p>
            <a:pPr lvl="1"/>
            <a:r>
              <a:rPr lang="en-GB" dirty="0"/>
              <a:t>A value below 0.5 indicates a poor classifier</a:t>
            </a:r>
          </a:p>
          <a:p>
            <a:pPr lvl="1"/>
            <a:r>
              <a:rPr lang="en-GB" dirty="0"/>
              <a:t>A value of 0.5 means random classifier</a:t>
            </a:r>
          </a:p>
          <a:p>
            <a:pPr lvl="1"/>
            <a:r>
              <a:rPr lang="en-GB" dirty="0"/>
              <a:t>Value over 0.7 corresponds to a good classifier</a:t>
            </a:r>
          </a:p>
          <a:p>
            <a:pPr lvl="1"/>
            <a:r>
              <a:rPr lang="en-GB" dirty="0"/>
              <a:t>0.8 indicates a strong classifier</a:t>
            </a:r>
          </a:p>
          <a:p>
            <a:pPr lvl="1"/>
            <a:r>
              <a:rPr lang="en-GB" dirty="0"/>
              <a:t>We have 1 when the classifier perfectly predicts everything.</a:t>
            </a:r>
            <a:endParaRPr lang="en-US" dirty="0"/>
          </a:p>
        </p:txBody>
      </p:sp>
    </p:spTree>
    <p:extLst>
      <p:ext uri="{BB962C8B-B14F-4D97-AF65-F5344CB8AC3E}">
        <p14:creationId xmlns:p14="http://schemas.microsoft.com/office/powerpoint/2010/main" val="623357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B3C3E-6D42-1232-E91A-F5680E33E115}"/>
              </a:ext>
            </a:extLst>
          </p:cNvPr>
          <p:cNvSpPr>
            <a:spLocks noGrp="1"/>
          </p:cNvSpPr>
          <p:nvPr>
            <p:ph type="title"/>
          </p:nvPr>
        </p:nvSpPr>
        <p:spPr/>
        <p:txBody>
          <a:bodyPr/>
          <a:lstStyle/>
          <a:p>
            <a:r>
              <a:rPr lang="en-US" dirty="0"/>
              <a:t>AUC - ROC Curve</a:t>
            </a:r>
          </a:p>
        </p:txBody>
      </p:sp>
      <p:pic>
        <p:nvPicPr>
          <p:cNvPr id="4" name="Picture 3">
            <a:extLst>
              <a:ext uri="{FF2B5EF4-FFF2-40B4-BE49-F238E27FC236}">
                <a16:creationId xmlns:a16="http://schemas.microsoft.com/office/drawing/2014/main" id="{EB5A0E8E-6225-2BCD-D4BB-A6D166DC49F6}"/>
              </a:ext>
            </a:extLst>
          </p:cNvPr>
          <p:cNvPicPr>
            <a:picLocks noChangeAspect="1"/>
          </p:cNvPicPr>
          <p:nvPr/>
        </p:nvPicPr>
        <p:blipFill>
          <a:blip r:embed="rId2"/>
          <a:stretch>
            <a:fillRect/>
          </a:stretch>
        </p:blipFill>
        <p:spPr>
          <a:xfrm>
            <a:off x="497841" y="2278439"/>
            <a:ext cx="3788834" cy="2841625"/>
          </a:xfrm>
          <a:prstGeom prst="rect">
            <a:avLst/>
          </a:prstGeom>
        </p:spPr>
      </p:pic>
      <p:sp>
        <p:nvSpPr>
          <p:cNvPr id="5" name="TextBox 4">
            <a:extLst>
              <a:ext uri="{FF2B5EF4-FFF2-40B4-BE49-F238E27FC236}">
                <a16:creationId xmlns:a16="http://schemas.microsoft.com/office/drawing/2014/main" id="{B39EBB0D-6CA0-F061-FA5C-DF0742EE86C3}"/>
              </a:ext>
            </a:extLst>
          </p:cNvPr>
          <p:cNvSpPr txBox="1"/>
          <p:nvPr/>
        </p:nvSpPr>
        <p:spPr>
          <a:xfrm>
            <a:off x="838200" y="5403016"/>
            <a:ext cx="2709593" cy="923330"/>
          </a:xfrm>
          <a:prstGeom prst="rect">
            <a:avLst/>
          </a:prstGeom>
          <a:noFill/>
        </p:spPr>
        <p:txBody>
          <a:bodyPr wrap="square" rtlCol="0">
            <a:spAutoFit/>
          </a:bodyPr>
          <a:lstStyle/>
          <a:p>
            <a:pPr algn="ctr"/>
            <a:r>
              <a:rPr lang="en-GB" i="1" dirty="0"/>
              <a:t>ROC and AUC of completely random guesses.</a:t>
            </a:r>
            <a:endParaRPr lang="en-US" i="1" dirty="0"/>
          </a:p>
        </p:txBody>
      </p:sp>
      <p:pic>
        <p:nvPicPr>
          <p:cNvPr id="6" name="Picture 5">
            <a:extLst>
              <a:ext uri="{FF2B5EF4-FFF2-40B4-BE49-F238E27FC236}">
                <a16:creationId xmlns:a16="http://schemas.microsoft.com/office/drawing/2014/main" id="{C0772E94-691C-1098-93F1-E21EBDF132AA}"/>
              </a:ext>
            </a:extLst>
          </p:cNvPr>
          <p:cNvPicPr>
            <a:picLocks noChangeAspect="1"/>
          </p:cNvPicPr>
          <p:nvPr/>
        </p:nvPicPr>
        <p:blipFill>
          <a:blip r:embed="rId3"/>
          <a:srcRect l="11794" r="18656"/>
          <a:stretch/>
        </p:blipFill>
        <p:spPr>
          <a:xfrm>
            <a:off x="4124960" y="1690688"/>
            <a:ext cx="3403600" cy="3670301"/>
          </a:xfrm>
          <a:prstGeom prst="rect">
            <a:avLst/>
          </a:prstGeom>
        </p:spPr>
      </p:pic>
      <p:pic>
        <p:nvPicPr>
          <p:cNvPr id="7" name="Picture 6">
            <a:extLst>
              <a:ext uri="{FF2B5EF4-FFF2-40B4-BE49-F238E27FC236}">
                <a16:creationId xmlns:a16="http://schemas.microsoft.com/office/drawing/2014/main" id="{038A00AE-86E3-F18D-BCF4-8232E8D80BAA}"/>
              </a:ext>
            </a:extLst>
          </p:cNvPr>
          <p:cNvPicPr>
            <a:picLocks noChangeAspect="1"/>
          </p:cNvPicPr>
          <p:nvPr/>
        </p:nvPicPr>
        <p:blipFill>
          <a:blip r:embed="rId4"/>
          <a:srcRect l="13430" r="19421"/>
          <a:stretch/>
        </p:blipFill>
        <p:spPr>
          <a:xfrm>
            <a:off x="7790180" y="1672909"/>
            <a:ext cx="3302000" cy="3688080"/>
          </a:xfrm>
          <a:prstGeom prst="rect">
            <a:avLst/>
          </a:prstGeom>
        </p:spPr>
      </p:pic>
      <p:sp>
        <p:nvSpPr>
          <p:cNvPr id="8" name="TextBox 7">
            <a:extLst>
              <a:ext uri="{FF2B5EF4-FFF2-40B4-BE49-F238E27FC236}">
                <a16:creationId xmlns:a16="http://schemas.microsoft.com/office/drawing/2014/main" id="{EE01CFDC-064E-34CE-9488-9C63F0EB0399}"/>
              </a:ext>
            </a:extLst>
          </p:cNvPr>
          <p:cNvSpPr txBox="1"/>
          <p:nvPr/>
        </p:nvSpPr>
        <p:spPr>
          <a:xfrm>
            <a:off x="5217160" y="5360989"/>
            <a:ext cx="5146040" cy="923330"/>
          </a:xfrm>
          <a:prstGeom prst="rect">
            <a:avLst/>
          </a:prstGeom>
          <a:noFill/>
        </p:spPr>
        <p:txBody>
          <a:bodyPr wrap="square" rtlCol="0">
            <a:spAutoFit/>
          </a:bodyPr>
          <a:lstStyle/>
          <a:p>
            <a:pPr algn="ctr"/>
            <a:r>
              <a:rPr lang="en-GB" i="1" dirty="0"/>
              <a:t>ROC and AUC of two hypothetical models. The curve on the right, with a greater AUC, represents the better of the two models.</a:t>
            </a:r>
            <a:endParaRPr lang="en-US" i="1" dirty="0"/>
          </a:p>
        </p:txBody>
      </p:sp>
    </p:spTree>
    <p:extLst>
      <p:ext uri="{BB962C8B-B14F-4D97-AF65-F5344CB8AC3E}">
        <p14:creationId xmlns:p14="http://schemas.microsoft.com/office/powerpoint/2010/main" val="4013637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4ADD-9324-B060-C61A-4C043554BF8E}"/>
              </a:ext>
            </a:extLst>
          </p:cNvPr>
          <p:cNvSpPr>
            <a:spLocks noGrp="1"/>
          </p:cNvSpPr>
          <p:nvPr>
            <p:ph type="title"/>
          </p:nvPr>
        </p:nvSpPr>
        <p:spPr/>
        <p:txBody>
          <a:bodyPr/>
          <a:lstStyle/>
          <a:p>
            <a:r>
              <a:rPr lang="en-GB" dirty="0"/>
              <a:t>Strategies to choose the right metric</a:t>
            </a:r>
            <a:endParaRPr lang="en-US" dirty="0"/>
          </a:p>
        </p:txBody>
      </p:sp>
      <p:sp>
        <p:nvSpPr>
          <p:cNvPr id="3" name="Content Placeholder 2">
            <a:extLst>
              <a:ext uri="{FF2B5EF4-FFF2-40B4-BE49-F238E27FC236}">
                <a16:creationId xmlns:a16="http://schemas.microsoft.com/office/drawing/2014/main" id="{CDF5E93C-B1C9-B72C-0DD3-D71B10B00729}"/>
              </a:ext>
            </a:extLst>
          </p:cNvPr>
          <p:cNvSpPr>
            <a:spLocks noGrp="1"/>
          </p:cNvSpPr>
          <p:nvPr>
            <p:ph idx="1"/>
          </p:nvPr>
        </p:nvSpPr>
        <p:spPr/>
        <p:txBody>
          <a:bodyPr>
            <a:normAutofit fontScale="92500" lnSpcReduction="20000"/>
          </a:bodyPr>
          <a:lstStyle/>
          <a:p>
            <a:r>
              <a:rPr lang="en-GB" dirty="0"/>
              <a:t>Choose accuracy</a:t>
            </a:r>
          </a:p>
          <a:p>
            <a:pPr lvl="1"/>
            <a:r>
              <a:rPr lang="en-GB" dirty="0"/>
              <a:t>The cost of FP and FN are roughly equal.</a:t>
            </a:r>
          </a:p>
          <a:p>
            <a:pPr lvl="1"/>
            <a:r>
              <a:rPr lang="en-GB" dirty="0"/>
              <a:t>The benefit of TP and TN are roughly equal.</a:t>
            </a:r>
          </a:p>
          <a:p>
            <a:r>
              <a:rPr lang="en-GB" dirty="0"/>
              <a:t>Choose Precision</a:t>
            </a:r>
          </a:p>
          <a:p>
            <a:pPr lvl="1"/>
            <a:r>
              <a:rPr lang="en-GB" dirty="0"/>
              <a:t>The cost of FP is much higher than a FN.</a:t>
            </a:r>
          </a:p>
          <a:p>
            <a:pPr lvl="1"/>
            <a:r>
              <a:rPr lang="en-GB" dirty="0"/>
              <a:t>The benefit of a TP is much higher than a TN.</a:t>
            </a:r>
          </a:p>
          <a:p>
            <a:r>
              <a:rPr lang="en-GB" dirty="0"/>
              <a:t>Choose recall</a:t>
            </a:r>
          </a:p>
          <a:p>
            <a:pPr lvl="1"/>
            <a:r>
              <a:rPr lang="en-GB" dirty="0"/>
              <a:t>The cost of FN is much higher than a FP.</a:t>
            </a:r>
          </a:p>
          <a:p>
            <a:pPr lvl="1"/>
            <a:r>
              <a:rPr lang="en-GB" dirty="0"/>
              <a:t>The cost of a TN is much higher than a TP.</a:t>
            </a:r>
          </a:p>
          <a:p>
            <a:r>
              <a:rPr lang="en-GB" dirty="0"/>
              <a:t>ROC AUC &amp; Precision — Recall curves</a:t>
            </a:r>
          </a:p>
          <a:p>
            <a:pPr lvl="1"/>
            <a:r>
              <a:rPr lang="en-GB" dirty="0"/>
              <a:t>Use ROC when the dealing with balanced data sets.</a:t>
            </a:r>
          </a:p>
          <a:p>
            <a:pPr lvl="1"/>
            <a:r>
              <a:rPr lang="en-GB" dirty="0"/>
              <a:t>Use precision-recall for imbalanced data sets.</a:t>
            </a:r>
          </a:p>
        </p:txBody>
      </p:sp>
    </p:spTree>
    <p:extLst>
      <p:ext uri="{BB962C8B-B14F-4D97-AF65-F5344CB8AC3E}">
        <p14:creationId xmlns:p14="http://schemas.microsoft.com/office/powerpoint/2010/main" val="842896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8B8FB-54F4-CAD8-1214-FC14FE769856}"/>
              </a:ext>
            </a:extLst>
          </p:cNvPr>
          <p:cNvSpPr>
            <a:spLocks noGrp="1"/>
          </p:cNvSpPr>
          <p:nvPr>
            <p:ph type="title"/>
          </p:nvPr>
        </p:nvSpPr>
        <p:spPr/>
        <p:txBody>
          <a:bodyPr/>
          <a:lstStyle/>
          <a:p>
            <a:r>
              <a:rPr lang="en-GB" dirty="0"/>
              <a:t>ROC AUC &amp; Precision — Recall curves</a:t>
            </a:r>
            <a:endParaRPr lang="en-US" dirty="0"/>
          </a:p>
        </p:txBody>
      </p:sp>
      <p:pic>
        <p:nvPicPr>
          <p:cNvPr id="4" name="Content Placeholder 3">
            <a:extLst>
              <a:ext uri="{FF2B5EF4-FFF2-40B4-BE49-F238E27FC236}">
                <a16:creationId xmlns:a16="http://schemas.microsoft.com/office/drawing/2014/main" id="{8E81170E-0204-DFA9-7B05-196B9B6BF37A}"/>
              </a:ext>
            </a:extLst>
          </p:cNvPr>
          <p:cNvPicPr>
            <a:picLocks noGrp="1" noChangeAspect="1"/>
          </p:cNvPicPr>
          <p:nvPr>
            <p:ph idx="1"/>
          </p:nvPr>
        </p:nvPicPr>
        <p:blipFill>
          <a:blip r:embed="rId2"/>
          <a:stretch>
            <a:fillRect/>
          </a:stretch>
        </p:blipFill>
        <p:spPr>
          <a:xfrm>
            <a:off x="883338" y="1402080"/>
            <a:ext cx="10425324" cy="5455920"/>
          </a:xfrm>
          <a:prstGeom prst="rect">
            <a:avLst/>
          </a:prstGeom>
        </p:spPr>
      </p:pic>
    </p:spTree>
    <p:extLst>
      <p:ext uri="{BB962C8B-B14F-4D97-AF65-F5344CB8AC3E}">
        <p14:creationId xmlns:p14="http://schemas.microsoft.com/office/powerpoint/2010/main" val="1729093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1B279-8711-78CA-F06F-0A9E431C5BD4}"/>
              </a:ext>
            </a:extLst>
          </p:cNvPr>
          <p:cNvSpPr>
            <a:spLocks noGrp="1"/>
          </p:cNvSpPr>
          <p:nvPr>
            <p:ph type="title"/>
          </p:nvPr>
        </p:nvSpPr>
        <p:spPr/>
        <p:txBody>
          <a:bodyPr/>
          <a:lstStyle/>
          <a:p>
            <a:r>
              <a:rPr lang="en-US" dirty="0"/>
              <a:t>Classifiers we will cover</a:t>
            </a:r>
          </a:p>
        </p:txBody>
      </p:sp>
      <p:sp>
        <p:nvSpPr>
          <p:cNvPr id="3" name="Content Placeholder 2">
            <a:extLst>
              <a:ext uri="{FF2B5EF4-FFF2-40B4-BE49-F238E27FC236}">
                <a16:creationId xmlns:a16="http://schemas.microsoft.com/office/drawing/2014/main" id="{CB27A2ED-6A58-32DA-4D6B-AD73BC3E69E2}"/>
              </a:ext>
            </a:extLst>
          </p:cNvPr>
          <p:cNvSpPr>
            <a:spLocks noGrp="1"/>
          </p:cNvSpPr>
          <p:nvPr>
            <p:ph idx="1"/>
          </p:nvPr>
        </p:nvSpPr>
        <p:spPr/>
        <p:txBody>
          <a:bodyPr/>
          <a:lstStyle/>
          <a:p>
            <a:r>
              <a:rPr lang="en-US" dirty="0"/>
              <a:t>In the next lectures we will cover Naïve Bayes classifier and Decision Tree classifier.</a:t>
            </a:r>
          </a:p>
        </p:txBody>
      </p:sp>
    </p:spTree>
    <p:extLst>
      <p:ext uri="{BB962C8B-B14F-4D97-AF65-F5344CB8AC3E}">
        <p14:creationId xmlns:p14="http://schemas.microsoft.com/office/powerpoint/2010/main" val="18739837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13511-E72E-F8F2-236E-A8F959868391}"/>
              </a:ext>
            </a:extLst>
          </p:cNvPr>
          <p:cNvSpPr>
            <a:spLocks noGrp="1"/>
          </p:cNvSpPr>
          <p:nvPr>
            <p:ph idx="1"/>
          </p:nvPr>
        </p:nvSpPr>
        <p:spPr/>
        <p:txBody>
          <a:bodyPr/>
          <a:lstStyle/>
          <a:p>
            <a:r>
              <a:rPr lang="en-US" dirty="0"/>
              <a:t>Thanks</a:t>
            </a:r>
          </a:p>
        </p:txBody>
      </p:sp>
    </p:spTree>
    <p:extLst>
      <p:ext uri="{BB962C8B-B14F-4D97-AF65-F5344CB8AC3E}">
        <p14:creationId xmlns:p14="http://schemas.microsoft.com/office/powerpoint/2010/main" val="2238016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Century Schoolbook"/>
        <a:ea typeface=""/>
        <a:cs typeface=""/>
      </a:majorFont>
      <a:minorFont>
        <a:latin typeface="Century School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2088</Words>
  <Application>Microsoft Office PowerPoint</Application>
  <PresentationFormat>Widescreen</PresentationFormat>
  <Paragraphs>137</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Cambria Math</vt:lpstr>
      <vt:lpstr>Century Schoolbook</vt:lpstr>
      <vt:lpstr>Symbol</vt:lpstr>
      <vt:lpstr>Office Theme</vt:lpstr>
      <vt:lpstr>Classic approaches to Classification Problem</vt:lpstr>
      <vt:lpstr>Classification Problem</vt:lpstr>
      <vt:lpstr>Lazy Learners Vs. Eager Learners</vt:lpstr>
      <vt:lpstr>Classification Vs. Regression</vt:lpstr>
      <vt:lpstr>Different Types of Classification</vt:lpstr>
      <vt:lpstr>Binary Classification</vt:lpstr>
      <vt:lpstr>Multi-Class Classification</vt:lpstr>
      <vt:lpstr>Multi-Label Classification</vt:lpstr>
      <vt:lpstr>Imbalanced Classification</vt:lpstr>
      <vt:lpstr>Metrics to Evaluate Machine Learning Classification Algorithms</vt:lpstr>
      <vt:lpstr>Context for understanding metrics</vt:lpstr>
      <vt:lpstr>Confusion Matrix</vt:lpstr>
      <vt:lpstr>Confusion Matrix</vt:lpstr>
      <vt:lpstr>Accuracy</vt:lpstr>
      <vt:lpstr>Precision</vt:lpstr>
      <vt:lpstr>Recall / Sensitivity</vt:lpstr>
      <vt:lpstr>Recall / Specificity</vt:lpstr>
      <vt:lpstr>Precision-Recall tradeoff</vt:lpstr>
      <vt:lpstr>Fl Score</vt:lpstr>
      <vt:lpstr>Receiver-operating characteristic curve (ROC)</vt:lpstr>
      <vt:lpstr>AUC - ROC Curve</vt:lpstr>
      <vt:lpstr>AUC - ROC Curve</vt:lpstr>
      <vt:lpstr>Strategies to choose the right metric</vt:lpstr>
      <vt:lpstr>ROC AUC &amp; Precision — Recall curves</vt:lpstr>
      <vt:lpstr>Classifiers we will cover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Iftekhar Mahmud Towhid</dc:creator>
  <cp:lastModifiedBy>Iftekhar Mahmud Towhid</cp:lastModifiedBy>
  <cp:revision>63</cp:revision>
  <dcterms:created xsi:type="dcterms:W3CDTF">2024-06-26T15:13:11Z</dcterms:created>
  <dcterms:modified xsi:type="dcterms:W3CDTF">2024-10-15T11:43:34Z</dcterms:modified>
</cp:coreProperties>
</file>