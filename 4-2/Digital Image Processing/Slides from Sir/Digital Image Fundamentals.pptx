
<file path=[Content_Types].xml><?xml version="1.0" encoding="utf-8"?>
<Types xmlns="http://schemas.openxmlformats.org/package/2006/content-types"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4"/>
  </p:notesMasterIdLst>
  <p:sldIdLst>
    <p:sldId id="256" r:id="rId2"/>
    <p:sldId id="257" r:id="rId3"/>
    <p:sldId id="258" r:id="rId4"/>
    <p:sldId id="264" r:id="rId5"/>
    <p:sldId id="259" r:id="rId6"/>
    <p:sldId id="265" r:id="rId7"/>
    <p:sldId id="260" r:id="rId8"/>
    <p:sldId id="261" r:id="rId9"/>
    <p:sldId id="262" r:id="rId10"/>
    <p:sldId id="263" r:id="rId11"/>
    <p:sldId id="267" r:id="rId12"/>
    <p:sldId id="266" r:id="rId13"/>
    <p:sldId id="268" r:id="rId14"/>
    <p:sldId id="270" r:id="rId15"/>
    <p:sldId id="269" r:id="rId16"/>
    <p:sldId id="271" r:id="rId17"/>
    <p:sldId id="272" r:id="rId18"/>
    <p:sldId id="273" r:id="rId19"/>
    <p:sldId id="274" r:id="rId20"/>
    <p:sldId id="308" r:id="rId21"/>
    <p:sldId id="275" r:id="rId22"/>
    <p:sldId id="276" r:id="rId23"/>
    <p:sldId id="277" r:id="rId24"/>
    <p:sldId id="289" r:id="rId25"/>
    <p:sldId id="293" r:id="rId26"/>
    <p:sldId id="290" r:id="rId27"/>
    <p:sldId id="278" r:id="rId28"/>
    <p:sldId id="310" r:id="rId29"/>
    <p:sldId id="311" r:id="rId30"/>
    <p:sldId id="312" r:id="rId31"/>
    <p:sldId id="313" r:id="rId32"/>
    <p:sldId id="314" r:id="rId33"/>
    <p:sldId id="315" r:id="rId34"/>
    <p:sldId id="309" r:id="rId35"/>
    <p:sldId id="279" r:id="rId36"/>
    <p:sldId id="280" r:id="rId37"/>
    <p:sldId id="288" r:id="rId38"/>
    <p:sldId id="282" r:id="rId39"/>
    <p:sldId id="283" r:id="rId40"/>
    <p:sldId id="284" r:id="rId41"/>
    <p:sldId id="285" r:id="rId42"/>
    <p:sldId id="286" r:id="rId43"/>
    <p:sldId id="287" r:id="rId44"/>
    <p:sldId id="316" r:id="rId45"/>
    <p:sldId id="317" r:id="rId46"/>
    <p:sldId id="291" r:id="rId47"/>
    <p:sldId id="319" r:id="rId48"/>
    <p:sldId id="318" r:id="rId49"/>
    <p:sldId id="292" r:id="rId50"/>
    <p:sldId id="294" r:id="rId51"/>
    <p:sldId id="321" r:id="rId52"/>
    <p:sldId id="322" r:id="rId53"/>
    <p:sldId id="323" r:id="rId54"/>
    <p:sldId id="324" r:id="rId55"/>
    <p:sldId id="320" r:id="rId56"/>
    <p:sldId id="295" r:id="rId57"/>
    <p:sldId id="296" r:id="rId58"/>
    <p:sldId id="297" r:id="rId59"/>
    <p:sldId id="298" r:id="rId60"/>
    <p:sldId id="326" r:id="rId61"/>
    <p:sldId id="327" r:id="rId62"/>
    <p:sldId id="299" r:id="rId63"/>
    <p:sldId id="302" r:id="rId64"/>
    <p:sldId id="303" r:id="rId65"/>
    <p:sldId id="328" r:id="rId66"/>
    <p:sldId id="329" r:id="rId67"/>
    <p:sldId id="330" r:id="rId68"/>
    <p:sldId id="304" r:id="rId69"/>
    <p:sldId id="305" r:id="rId70"/>
    <p:sldId id="331" r:id="rId71"/>
    <p:sldId id="333" r:id="rId72"/>
    <p:sldId id="334" r:id="rId73"/>
    <p:sldId id="335" r:id="rId74"/>
    <p:sldId id="332" r:id="rId75"/>
    <p:sldId id="336" r:id="rId76"/>
    <p:sldId id="337" r:id="rId77"/>
    <p:sldId id="306" r:id="rId78"/>
    <p:sldId id="307" r:id="rId79"/>
    <p:sldId id="338" r:id="rId80"/>
    <p:sldId id="339" r:id="rId81"/>
    <p:sldId id="341" r:id="rId82"/>
    <p:sldId id="342" r:id="rId83"/>
    <p:sldId id="340" r:id="rId84"/>
    <p:sldId id="343" r:id="rId85"/>
    <p:sldId id="344" r:id="rId86"/>
    <p:sldId id="345" r:id="rId87"/>
    <p:sldId id="346" r:id="rId88"/>
    <p:sldId id="347" r:id="rId89"/>
    <p:sldId id="348" r:id="rId90"/>
    <p:sldId id="349" r:id="rId91"/>
    <p:sldId id="350" r:id="rId92"/>
    <p:sldId id="351" r:id="rId9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28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346F3D-07BF-4070-B0DF-3C4936657B1C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2D8BB-B65C-43B4-B241-0857F76E3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556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22D8BB-B65C-43B4-B241-0857F76E3F67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575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E9E14-C6AA-42EC-B077-C540455BEF38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E7826-C169-44D6-BCE5-758EAFA78D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E9E14-C6AA-42EC-B077-C540455BEF38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E7826-C169-44D6-BCE5-758EAFA78D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E9E14-C6AA-42EC-B077-C540455BEF38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E7826-C169-44D6-BCE5-758EAFA78D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E9E14-C6AA-42EC-B077-C540455BEF38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E7826-C169-44D6-BCE5-758EAFA78D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E9E14-C6AA-42EC-B077-C540455BEF38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E7826-C169-44D6-BCE5-758EAFA78D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E9E14-C6AA-42EC-B077-C540455BEF38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E7826-C169-44D6-BCE5-758EAFA78D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E9E14-C6AA-42EC-B077-C540455BEF38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E7826-C169-44D6-BCE5-758EAFA78D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E9E14-C6AA-42EC-B077-C540455BEF38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E7826-C169-44D6-BCE5-758EAFA78D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E9E14-C6AA-42EC-B077-C540455BEF38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E7826-C169-44D6-BCE5-758EAFA78D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E9E14-C6AA-42EC-B077-C540455BEF38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E7826-C169-44D6-BCE5-758EAFA78D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E9E14-C6AA-42EC-B077-C540455BEF38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E7826-C169-44D6-BCE5-758EAFA78D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2E9E14-C6AA-42EC-B077-C540455BEF38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1E7826-C169-44D6-BCE5-758EAFA78D9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emf"/><Relationship Id="rId5" Type="http://schemas.openxmlformats.org/officeDocument/2006/relationships/image" Target="../media/image25.emf"/><Relationship Id="rId4" Type="http://schemas.openxmlformats.org/officeDocument/2006/relationships/image" Target="../media/image24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e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emf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.emf"/><Relationship Id="rId4" Type="http://schemas.openxmlformats.org/officeDocument/2006/relationships/image" Target="../media/image64.emf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8.emf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2" Type="http://schemas.openxmlformats.org/officeDocument/2006/relationships/image" Target="../media/image73.emf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emf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emf"/><Relationship Id="rId5" Type="http://schemas.openxmlformats.org/officeDocument/2006/relationships/image" Target="../media/image79.emf"/><Relationship Id="rId4" Type="http://schemas.openxmlformats.org/officeDocument/2006/relationships/image" Target="../media/image78.emf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emf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7" Type="http://schemas.openxmlformats.org/officeDocument/2006/relationships/image" Target="../media/image87.emf"/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emf"/><Relationship Id="rId5" Type="http://schemas.openxmlformats.org/officeDocument/2006/relationships/image" Target="../media/image85.emf"/><Relationship Id="rId4" Type="http://schemas.openxmlformats.org/officeDocument/2006/relationships/image" Target="../media/image84.emf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emf"/><Relationship Id="rId3" Type="http://schemas.openxmlformats.org/officeDocument/2006/relationships/image" Target="../media/image88.emf"/><Relationship Id="rId7" Type="http://schemas.openxmlformats.org/officeDocument/2006/relationships/image" Target="../media/image92.emf"/><Relationship Id="rId12" Type="http://schemas.openxmlformats.org/officeDocument/2006/relationships/image" Target="../media/image97.emf"/><Relationship Id="rId2" Type="http://schemas.openxmlformats.org/officeDocument/2006/relationships/image" Target="../media/image8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emf"/><Relationship Id="rId11" Type="http://schemas.openxmlformats.org/officeDocument/2006/relationships/image" Target="../media/image96.emf"/><Relationship Id="rId5" Type="http://schemas.openxmlformats.org/officeDocument/2006/relationships/image" Target="../media/image90.emf"/><Relationship Id="rId10" Type="http://schemas.openxmlformats.org/officeDocument/2006/relationships/image" Target="../media/image95.emf"/><Relationship Id="rId4" Type="http://schemas.openxmlformats.org/officeDocument/2006/relationships/image" Target="../media/image89.emf"/><Relationship Id="rId9" Type="http://schemas.openxmlformats.org/officeDocument/2006/relationships/image" Target="../media/image94.emf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emf"/><Relationship Id="rId2" Type="http://schemas.openxmlformats.org/officeDocument/2006/relationships/image" Target="../media/image98.emf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emf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/>
          </a:bodyPr>
          <a:lstStyle/>
          <a:p>
            <a:pPr algn="l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Elements of Visual Perception</a:t>
            </a:r>
          </a:p>
          <a:p>
            <a:pPr algn="l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Human vision and the physical limitations of human vision.</a:t>
            </a:r>
          </a:p>
          <a:p>
            <a:pPr algn="l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- Structure of the Human Eye</a:t>
            </a: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762000"/>
            <a:ext cx="4748002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9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48400" y="1752600"/>
            <a:ext cx="2003740" cy="140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 lnSpcReduction="10000"/>
          </a:bodyPr>
          <a:lstStyle/>
          <a:p>
            <a:pPr algn="l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Pattern vision  is afforded by the distribution of discrete light receptors over the surface of the retina.</a:t>
            </a:r>
          </a:p>
          <a:p>
            <a:pPr algn="l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There are two classes of receptors:</a:t>
            </a:r>
          </a:p>
          <a:p>
            <a:pPr algn="l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- cones</a:t>
            </a:r>
          </a:p>
          <a:p>
            <a:pPr algn="l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- rods</a:t>
            </a:r>
          </a:p>
          <a:p>
            <a:pPr algn="l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Cones – 6 to 7 million in each eye, are located in the central portion of the retina called </a:t>
            </a:r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fovea,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 are highly sensitive to color.</a:t>
            </a:r>
            <a:endParaRPr lang="en-US" sz="2800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/>
          </a:bodyPr>
          <a:lstStyle/>
          <a:p>
            <a:pPr algn="l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Cone vision is called </a:t>
            </a:r>
            <a:r>
              <a:rPr lang="en-US" sz="2800" i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photopic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or bright-light vision.</a:t>
            </a:r>
          </a:p>
          <a:p>
            <a:pPr algn="l"/>
            <a:endParaRPr lang="en-US" sz="2800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 fontScale="92500"/>
          </a:bodyPr>
          <a:lstStyle/>
          <a:p>
            <a:pPr algn="l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rods – 75 to 150 million are distributed over the retinal surface.</a:t>
            </a:r>
          </a:p>
          <a:p>
            <a:pPr algn="l">
              <a:buFont typeface="Wingdings" pitchFamily="2" charset="2"/>
              <a:buChar char="ü"/>
            </a:pPr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rods serve to give a general, overall picture of the field of view.</a:t>
            </a:r>
          </a:p>
          <a:p>
            <a:pPr algn="l">
              <a:buFont typeface="Wingdings" pitchFamily="2" charset="2"/>
              <a:buChar char="ü"/>
            </a:pPr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They are not involved in color vision and are sensitive to low levels of illumination.</a:t>
            </a:r>
          </a:p>
          <a:p>
            <a:pPr algn="l">
              <a:buFont typeface="Wingdings" pitchFamily="2" charset="2"/>
              <a:buChar char="ü"/>
            </a:pPr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Objects that appear brightly colored in daylight </a:t>
            </a:r>
            <a:r>
              <a:rPr lang="en-US" sz="2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when seen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by moonlight appear as colorless forms because only the rods are stimulated.</a:t>
            </a:r>
            <a:endParaRPr lang="en-US" sz="2800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/>
          </a:bodyPr>
          <a:lstStyle/>
          <a:p>
            <a:pPr algn="l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This phenomenon is known as </a:t>
            </a:r>
            <a:r>
              <a:rPr lang="en-US" sz="2800" i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scotopic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or dim-light vision.</a:t>
            </a:r>
            <a:endParaRPr lang="en-US" sz="2800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02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4897" y="1524000"/>
            <a:ext cx="6355497" cy="3538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9703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62800" y="2362200"/>
            <a:ext cx="1574236" cy="1023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/>
          </a:bodyPr>
          <a:lstStyle/>
          <a:p>
            <a:pPr algn="l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 above figure shows the density of rods and cones.</a:t>
            </a:r>
          </a:p>
          <a:p>
            <a:pPr algn="l">
              <a:buFont typeface="Wingdings" pitchFamily="2" charset="2"/>
              <a:buChar char="ü"/>
            </a:pPr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absence of receptors in this area results in the so-called </a:t>
            </a:r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blind spot.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Except for this region, the distribution of receptors is </a:t>
            </a:r>
            <a:r>
              <a:rPr lang="en-US" sz="2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radially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symmetric about fovea.</a:t>
            </a:r>
          </a:p>
          <a:p>
            <a:pPr algn="l"/>
            <a:endParaRPr lang="en-US" sz="2800" i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3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Image Formation in the Eye</a:t>
            </a:r>
            <a:endParaRPr lang="en-US" sz="2800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55800" y="2036763"/>
            <a:ext cx="6311900" cy="1347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 lnSpcReduction="10000"/>
          </a:bodyPr>
          <a:lstStyle/>
          <a:p>
            <a:pPr algn="l"/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Brightness Adaptation and Discrimination</a:t>
            </a:r>
          </a:p>
          <a:p>
            <a:pPr algn="l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 eye’s ability to discriminate between different intensity levels because digital images are displayed as a discrete set of intensities.</a:t>
            </a:r>
          </a:p>
          <a:p>
            <a:pPr algn="l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 range of light intensity levels to which the human visual system can adapt- from the </a:t>
            </a:r>
            <a:r>
              <a:rPr lang="en-US" sz="2800" i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scotopic</a:t>
            </a:r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threshold to the glare limit. (10</a:t>
            </a:r>
            <a:r>
              <a:rPr lang="en-US" sz="2800" baseline="30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).</a:t>
            </a:r>
          </a:p>
          <a:p>
            <a:pPr algn="l"/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/>
          </a:bodyPr>
          <a:lstStyle/>
          <a:p>
            <a:pPr algn="l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Experimental evidence indicates that </a:t>
            </a:r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subjective brightness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(intensity as </a:t>
            </a:r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perceived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by human visual system) is a logarithmic function of the light intensity incident on the eye.</a:t>
            </a:r>
          </a:p>
          <a:p>
            <a:pPr algn="l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 figure shows, a plot of light intensity versus subjective brightness.</a:t>
            </a: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697706"/>
            <a:ext cx="4222374" cy="4712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74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0" y="1828800"/>
            <a:ext cx="1944687" cy="2211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/>
          </a:bodyPr>
          <a:lstStyle/>
          <a:p>
            <a:pPr algn="l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 long solid curve represents the range of intensities to which the visual system can adapt.</a:t>
            </a:r>
          </a:p>
          <a:p>
            <a:pPr algn="l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In photonic vision alone, the range is about 10</a:t>
            </a:r>
            <a:r>
              <a:rPr lang="en-US" sz="2800" baseline="30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. </a:t>
            </a:r>
          </a:p>
          <a:p>
            <a:pPr algn="l">
              <a:buFont typeface="Wingdings" pitchFamily="2" charset="2"/>
              <a:buChar char="ü"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visual system cannot operate over such </a:t>
            </a:r>
          </a:p>
          <a:p>
            <a:pPr algn="l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Brightness discrimination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 ability of eye to discriminate between changes in light intensity at any specific adaptation level is also considerable interest.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 classic experiment used to determine the ability of the human visual system for brightness discrimination consists of having a subject look at a flat, uniformly illuminated area large enough to occupy the entire field of view.</a:t>
            </a:r>
          </a:p>
          <a:p>
            <a:pPr algn="l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799" y="1522412"/>
            <a:ext cx="3801875" cy="259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77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49962" y="1998663"/>
            <a:ext cx="1964457" cy="165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To the opaque glass(field) is added an increment of illumination,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 3"/>
              </a:rPr>
              <a:t>I, in the form of a short-duration flash that appears as a circle in the center of the uniformly illuminated field.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 3"/>
              </a:rPr>
              <a:t>If I is not bright enough, the subject says “no” indicating no perceivable change. As I gets stronger, the subject give a positive response of “yes” indicating a perceived change.</a:t>
            </a: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 quantity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 3"/>
              </a:rPr>
              <a:t></a:t>
            </a:r>
            <a:r>
              <a:rPr lang="en-US" sz="2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 3"/>
              </a:rPr>
              <a:t>I</a:t>
            </a:r>
            <a:r>
              <a:rPr lang="en-US" sz="2800" baseline="-25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 3"/>
              </a:rPr>
              <a:t>c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/I, where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 3"/>
              </a:rPr>
              <a:t></a:t>
            </a:r>
            <a:r>
              <a:rPr lang="en-US" sz="2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 3"/>
              </a:rPr>
              <a:t>I</a:t>
            </a:r>
            <a:r>
              <a:rPr lang="en-US" sz="2800" baseline="-25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 3"/>
              </a:rPr>
              <a:t>c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 3"/>
              </a:rPr>
              <a:t> is the increment of illumination </a:t>
            </a:r>
            <a:r>
              <a:rPr lang="en-US" sz="2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 3"/>
              </a:rPr>
              <a:t>discriminable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 3"/>
              </a:rPr>
              <a:t> 50% of the time with background illumination I, is called the </a:t>
            </a:r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 3"/>
              </a:rPr>
              <a:t>Weber ratio. </a:t>
            </a:r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  <a:sym typeface="Wingdings 3"/>
            </a:endParaRPr>
          </a:p>
          <a:p>
            <a:pPr algn="just">
              <a:buFont typeface="Wingdings" pitchFamily="2" charset="2"/>
              <a:buChar char="ü"/>
            </a:pPr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 3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 3"/>
              </a:rPr>
              <a:t>A small value of </a:t>
            </a:r>
            <a:r>
              <a:rPr lang="en-US" sz="2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 3"/>
              </a:rPr>
              <a:t>I</a:t>
            </a:r>
            <a:r>
              <a:rPr lang="en-US" sz="2800" baseline="-25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 3"/>
              </a:rPr>
              <a:t>c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/I, means t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 3"/>
              </a:rPr>
              <a:t>hat a small percentage change in intensity is </a:t>
            </a:r>
            <a:r>
              <a:rPr lang="en-US" sz="2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 3"/>
              </a:rPr>
              <a:t>discriminable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 3"/>
              </a:rPr>
              <a:t>. This presents “good” brightness discrimination.</a:t>
            </a:r>
            <a:endParaRPr lang="en-US" sz="2800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Conversely, a large value of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 3"/>
              </a:rPr>
              <a:t></a:t>
            </a:r>
            <a:r>
              <a:rPr lang="en-US" sz="2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 3"/>
              </a:rPr>
              <a:t>I</a:t>
            </a:r>
            <a:r>
              <a:rPr lang="en-US" sz="2800" baseline="-25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 3"/>
              </a:rPr>
              <a:t>c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/I, means that a large percentage change in intensity is required. This represents “poor” brightness discrimination.</a:t>
            </a:r>
            <a:endParaRPr lang="en-US" sz="2800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1066800"/>
            <a:ext cx="4750385" cy="384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3798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37300" y="2012950"/>
            <a:ext cx="1929947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24000"/>
            <a:ext cx="7961169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427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ü"/>
            </a:pPr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This curve shows that brightness discrimination is poor ( the Weber ratio is large) at low levels of illumination, and it improves significantly (the Weber ratio decreases) as background illumination increases.</a:t>
            </a:r>
          </a:p>
          <a:p>
            <a:pPr algn="just"/>
            <a:endParaRPr lang="en-US" sz="2800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Light and the Electromagnetic Spectrum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28738" y="1687513"/>
            <a:ext cx="6484937" cy="381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789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9113" y="5846763"/>
            <a:ext cx="8104187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6213" y="2314575"/>
            <a:ext cx="4367212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Image Acquisition Using Sensor Arrays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 typical sensor for these cameras is a CCD array, which can be manufactured with a board range of sensing properties and can be packaged in rugged arrays of 4000×4000 elements or more.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CCD sensors are used widely in digital cameras and other light sensing instruments.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1404938" y="722313"/>
            <a:ext cx="62642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folHlink"/>
            </a:outerShdw>
          </a:effec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Verdana" pitchFamily="-108" charset="0"/>
              </a:rPr>
              <a:t>Chapter 2: Digital Image Fundamentals</a:t>
            </a:r>
            <a:endParaRPr lang="en-US"/>
          </a:p>
        </p:txBody>
      </p:sp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33588" y="1604963"/>
            <a:ext cx="5926137" cy="5160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/>
          <p:cNvSpPr txBox="1">
            <a:spLocks noChangeArrowheads="1"/>
          </p:cNvSpPr>
          <p:nvPr/>
        </p:nvSpPr>
        <p:spPr bwMode="auto">
          <a:xfrm>
            <a:off x="1404938" y="722313"/>
            <a:ext cx="62642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folHlink"/>
            </a:outerShdw>
          </a:effec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Verdana" pitchFamily="-108" charset="0"/>
              </a:rPr>
              <a:t>Chapter 2: Digital Image Fundamentals</a:t>
            </a:r>
            <a:endParaRPr lang="en-US"/>
          </a:p>
        </p:txBody>
      </p:sp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6988" y="1660525"/>
            <a:ext cx="6515100" cy="4541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219200"/>
            <a:ext cx="7620000" cy="53340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Simple Image Formation Model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We denote images by two dimensional function of the form   </a:t>
            </a:r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f( x, y) </a:t>
            </a:r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value or amplitude of </a:t>
            </a:r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at spatial coordinates </a:t>
            </a:r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(x, y)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 a positive scalar quantity whose </a:t>
            </a: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physical meaning is determined by the source of the image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We consider gray scale/monochromatic image.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When an image is generated from a physical process, </a:t>
            </a:r>
            <a:r>
              <a:rPr lang="en-US" sz="2800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its value are proportional to energy radiated by a physical source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(electromagnetic waves)</a:t>
            </a:r>
            <a:endParaRPr lang="en-US" sz="2800" i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219200"/>
            <a:ext cx="8001000" cy="54102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Simple Image Formation Model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When an image is generated from a physical process, </a:t>
            </a:r>
            <a:r>
              <a:rPr lang="en-US" sz="2800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its value are proportional to energy radiated by a physical source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(electromagnetic waves), as a consequence, f(</a:t>
            </a:r>
            <a:r>
              <a:rPr lang="en-US" sz="2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x,y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 must be nonzero and finite, </a:t>
            </a:r>
            <a:r>
              <a:rPr lang="en-US" sz="2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e.i</a:t>
            </a:r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function f(x, y) may be characterized by two components: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amount of source illumination incident on the scene being viewed, and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amount of illumination by the objects in the scene.</a:t>
            </a:r>
          </a:p>
          <a:p>
            <a:pPr algn="just"/>
            <a:r>
              <a:rPr lang="en-US" sz="28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3352800"/>
            <a:ext cx="3276600" cy="81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181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219200"/>
            <a:ext cx="8001000" cy="5410200"/>
          </a:xfrm>
        </p:spPr>
        <p:txBody>
          <a:bodyPr>
            <a:normAutofit/>
          </a:bodyPr>
          <a:lstStyle/>
          <a:p>
            <a:pPr algn="just"/>
            <a:r>
              <a:rPr lang="en-US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Simple Image Formation Model</a:t>
            </a:r>
          </a:p>
          <a:p>
            <a:pPr algn="just"/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These are called the </a:t>
            </a:r>
            <a:r>
              <a:rPr lang="en-US" sz="2800" i="1" dirty="0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illumination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800" i="1" dirty="0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reflectance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components, denoted by </a:t>
            </a:r>
            <a:r>
              <a:rPr lang="en-US" sz="2800" i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(x, y)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r(x, y)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Two functions combine as a product to form </a:t>
            </a:r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f(x, y) </a:t>
            </a:r>
          </a:p>
          <a:p>
            <a:pPr algn="just"/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</a:p>
          <a:p>
            <a:pPr algn="just"/>
            <a:endParaRPr lang="en-US" sz="2800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Where      </a:t>
            </a:r>
          </a:p>
          <a:p>
            <a:pPr algn="just"/>
            <a:endParaRPr lang="en-US" sz="2800" i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  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3276600"/>
            <a:ext cx="4823147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4191000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543799" y="3462635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568" y="4191000"/>
            <a:ext cx="3530663" cy="609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5334000"/>
            <a:ext cx="2994846" cy="6458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67600" y="5334000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642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219200"/>
            <a:ext cx="8001000" cy="54102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Simple Image Formation Model</a:t>
            </a:r>
          </a:p>
          <a:p>
            <a:pPr algn="just"/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</a:p>
          <a:p>
            <a:pPr algn="just"/>
            <a:endParaRPr lang="en-US" sz="2800" i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Where      </a:t>
            </a:r>
          </a:p>
          <a:p>
            <a:pPr algn="just"/>
            <a:endParaRPr lang="en-US" sz="2800" i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   </a:t>
            </a:r>
          </a:p>
          <a:p>
            <a:pPr algn="just"/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Equation (3)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indicates that reflectance is bounded by 0 (total absorption) and 1 (total reflectance). 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nature of </a:t>
            </a:r>
            <a:r>
              <a:rPr lang="en-US" sz="2800" i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(x, y)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 determined by the illumination source, and </a:t>
            </a:r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r(</a:t>
            </a:r>
            <a:r>
              <a:rPr lang="en-US" sz="2800" i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x,y</a:t>
            </a:r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by the characteristics of the imaged objects.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426" y="1676400"/>
            <a:ext cx="4823147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71929" y="2895600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271930" y="1748135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2400" y="2895600"/>
            <a:ext cx="3530663" cy="609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800" y="3487075"/>
            <a:ext cx="2994846" cy="6458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71929" y="3671260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532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219200"/>
            <a:ext cx="8001000" cy="5410200"/>
          </a:xfrm>
        </p:spPr>
        <p:txBody>
          <a:bodyPr>
            <a:normAutofit/>
          </a:bodyPr>
          <a:lstStyle/>
          <a:p>
            <a:pPr algn="just"/>
            <a:r>
              <a:rPr lang="en-US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Simple Image Formation Model</a:t>
            </a:r>
          </a:p>
          <a:p>
            <a:pPr algn="just"/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</a:p>
          <a:p>
            <a:pPr algn="just"/>
            <a:endParaRPr lang="en-US" sz="2800" i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Where      </a:t>
            </a:r>
          </a:p>
          <a:p>
            <a:pPr algn="just"/>
            <a:endParaRPr lang="en-US" sz="2800" i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   </a:t>
            </a:r>
          </a:p>
          <a:p>
            <a:pPr algn="just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Example: </a:t>
            </a:r>
            <a:r>
              <a:rPr lang="en-US" sz="2800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chest X-ray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426" y="1676400"/>
            <a:ext cx="4823147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71929" y="2895600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271930" y="1748135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2400" y="2895600"/>
            <a:ext cx="3530663" cy="609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800" y="3810000"/>
            <a:ext cx="2994846" cy="6458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71929" y="3886200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125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1007" y="1219200"/>
            <a:ext cx="8001000" cy="5410200"/>
          </a:xfrm>
        </p:spPr>
        <p:txBody>
          <a:bodyPr>
            <a:normAutofit/>
          </a:bodyPr>
          <a:lstStyle/>
          <a:p>
            <a:pPr algn="just"/>
            <a:r>
              <a:rPr lang="en-US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Simple Image Formation Model</a:t>
            </a:r>
          </a:p>
          <a:p>
            <a:pPr algn="just"/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intensity of a monochrome image at any coordinate</a:t>
            </a:r>
          </a:p>
          <a:p>
            <a:pPr algn="just"/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From eq. (1) through (3) , it is evident that </a:t>
            </a:r>
            <a:r>
              <a:rPr lang="en-US" sz="2800" dirty="0" smtClean="0">
                <a:solidFill>
                  <a:schemeClr val="tx1"/>
                </a:solidFill>
                <a:latin typeface="Brush Script MT" panose="03060802040406070304" pitchFamily="66" charset="0"/>
                <a:cs typeface="Times New Roman" pitchFamily="18" charset="0"/>
              </a:rPr>
              <a:t>l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lies in the range   </a:t>
            </a:r>
          </a:p>
          <a:p>
            <a:pPr algn="just"/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is the positive and  on        that it be finite      </a:t>
            </a:r>
            <a:endParaRPr lang="en-US" sz="2800" dirty="0" smtClean="0">
              <a:solidFill>
                <a:schemeClr val="accent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04556" y="4418704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362200"/>
            <a:ext cx="6629401" cy="1066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23407" y="2819400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4269875"/>
            <a:ext cx="2752392" cy="7593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108" y="5310845"/>
            <a:ext cx="577383" cy="37876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1830" y="5332153"/>
            <a:ext cx="719353" cy="38553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5400" y="5715000"/>
            <a:ext cx="6432215" cy="392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271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1007" y="1219200"/>
            <a:ext cx="8001000" cy="5410200"/>
          </a:xfrm>
        </p:spPr>
        <p:txBody>
          <a:bodyPr>
            <a:normAutofit/>
          </a:bodyPr>
          <a:lstStyle/>
          <a:p>
            <a:pPr algn="just"/>
            <a:r>
              <a:rPr lang="en-US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Simple Image Formation Model</a:t>
            </a:r>
          </a:p>
          <a:p>
            <a:pPr algn="just"/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interval                   is called gray scale.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Common practice is to shift this interval numerically to the interval                 where </a:t>
            </a:r>
            <a:r>
              <a:rPr lang="en-US" sz="2800" dirty="0" smtClean="0">
                <a:solidFill>
                  <a:schemeClr val="tx1"/>
                </a:solidFill>
                <a:latin typeface="Brush Script MT" panose="03060802040406070304" pitchFamily="66" charset="0"/>
                <a:cs typeface="Times New Roman" pitchFamily="18" charset="0"/>
              </a:rPr>
              <a:t>l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 0 is considered as black and                   is considered as white in the gray scale.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All intermediate values are shades of gray varying from black to white.</a:t>
            </a:r>
            <a:endParaRPr lang="en-US" sz="2800" dirty="0" smtClean="0">
              <a:solidFill>
                <a:schemeClr val="accent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9" y="1905000"/>
            <a:ext cx="1435463" cy="381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819400"/>
            <a:ext cx="1429080" cy="381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6478" y="3298256"/>
            <a:ext cx="1444123" cy="35934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8410" y="4492122"/>
            <a:ext cx="443097" cy="213727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445264" y="4401514"/>
            <a:ext cx="8675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white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11507" y="6167735"/>
            <a:ext cx="849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306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/>
          </a:bodyPr>
          <a:lstStyle/>
          <a:p>
            <a:pPr algn="just"/>
            <a:endParaRPr lang="en-US" sz="2800" b="1" i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Image Sampling and Quantization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 output of most sensors is a continuous voltage waveform whose amplitude and spatial behavior are related to the physical phenomenon being sensed.</a:t>
            </a:r>
          </a:p>
        </p:txBody>
      </p:sp>
    </p:spTree>
    <p:extLst>
      <p:ext uri="{BB962C8B-B14F-4D97-AF65-F5344CB8AC3E}">
        <p14:creationId xmlns:p14="http://schemas.microsoft.com/office/powerpoint/2010/main" val="1267880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Image Sampling and Quantization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To create a digital image, we need to convert the continuous sensed data into digital form.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This involves two processes:</a:t>
            </a: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- sampling </a:t>
            </a: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- quantization</a:t>
            </a:r>
          </a:p>
          <a:p>
            <a:pPr algn="just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Basic Concepts in Sampling and Quantization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 following figure – 2.16(a) shows a continuous image, </a:t>
            </a:r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f(x, y)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that we want to convert to digital form.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An image may be continuous with respect to the x- and y-coordinates, and also in amplitude.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1404938" y="722313"/>
            <a:ext cx="62642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folHlink"/>
            </a:outerShdw>
          </a:effec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Verdana" pitchFamily="-108" charset="0"/>
              </a:rPr>
              <a:t>Chapter 2: Digital Image Fundamentals</a:t>
            </a:r>
            <a:endParaRPr lang="en-US"/>
          </a:p>
        </p:txBody>
      </p:sp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304800"/>
            <a:ext cx="6172200" cy="6366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Basic Concepts in Sampling and Quantization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To convert it to digital form, we have to sample the function in both coordinates and in amplitude. 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Digitizing the coordinate values is called </a:t>
            </a:r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sampling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Digitizing the amplitude values is called </a:t>
            </a:r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quantization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Basic Concepts in Sampling and Quantization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 one-dimensional function shown in figure 2.16(b) is a plot of amplitude (gray level) values of the continuous image along the line segment AB in figure 2.16(a).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random variations are due to image noise.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Basic Concepts in Sampling and Quantization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 right side o figure 2.16(c) shows the gray-level scale divided into eight discrete levels, ranging from black to white.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 quality of a digital image is determined to a large degree by the number of samples and discrete gray levels used in sampling and quantization.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1404938" y="722313"/>
            <a:ext cx="62642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folHlink"/>
            </a:outerShdw>
          </a:effec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Verdana" pitchFamily="34" charset="0"/>
              </a:rPr>
              <a:t>Chapter 2: Digital Image Fundamentals</a:t>
            </a:r>
            <a:endParaRPr lang="en-US"/>
          </a:p>
        </p:txBody>
      </p:sp>
      <p:pic>
        <p:nvPicPr>
          <p:cNvPr id="4505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73263" y="1657350"/>
            <a:ext cx="5197475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Representing Digital Images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 result of sampling and quantization is a matrix of real number.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 image f(x, y) is sampled so that resulting digital image has M rows and N columns. 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values of the coordinates (x, y) now becomes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/>
          <p:cNvSpPr txBox="1">
            <a:spLocks noChangeArrowheads="1"/>
          </p:cNvSpPr>
          <p:nvPr/>
        </p:nvSpPr>
        <p:spPr bwMode="auto">
          <a:xfrm>
            <a:off x="1404938" y="722313"/>
            <a:ext cx="62642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folHlink"/>
            </a:outerShdw>
          </a:effec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Verdana" pitchFamily="34" charset="0"/>
              </a:rPr>
              <a:t>Chapter 2: Digital Image Fundamentals</a:t>
            </a:r>
            <a:endParaRPr lang="en-US"/>
          </a:p>
        </p:txBody>
      </p:sp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93938" y="1693863"/>
            <a:ext cx="5318125" cy="276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/>
          <p:cNvSpPr txBox="1">
            <a:spLocks noChangeArrowheads="1"/>
          </p:cNvSpPr>
          <p:nvPr/>
        </p:nvSpPr>
        <p:spPr bwMode="auto">
          <a:xfrm>
            <a:off x="1404938" y="722313"/>
            <a:ext cx="62642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folHlink"/>
            </a:outerShdw>
          </a:effec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Verdana" pitchFamily="34" charset="0"/>
              </a:rPr>
              <a:t>Chapter 2: Digital Image Fundamentals</a:t>
            </a:r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990600" y="1524000"/>
            <a:ext cx="754725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complete M × N digital image in the following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Compact matrix form: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667000"/>
            <a:ext cx="7669398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992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/>
          <p:cNvSpPr txBox="1">
            <a:spLocks noChangeArrowheads="1"/>
          </p:cNvSpPr>
          <p:nvPr/>
        </p:nvSpPr>
        <p:spPr bwMode="auto">
          <a:xfrm>
            <a:off x="1404938" y="722313"/>
            <a:ext cx="62642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folHlink"/>
            </a:outerShdw>
          </a:effec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Verdana" pitchFamily="34" charset="0"/>
              </a:rPr>
              <a:t>Chapter 2: Digital Image Fundamentals</a:t>
            </a:r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57200" y="1447800"/>
            <a:ext cx="848924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more traditional matrix notation to denote digital image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nd its elements 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665432"/>
            <a:ext cx="5319843" cy="17870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4079" y="4800600"/>
            <a:ext cx="72562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Clearly, above two matrices are identical because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5486400"/>
            <a:ext cx="5257800" cy="54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001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Representing Digital Images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Digitization process requires decisions about the values for M, N and number of discrete gray levels L,</a:t>
            </a: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 number of gray levels typically is an integer power of 2: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4419600"/>
            <a:ext cx="1042840" cy="533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Representing Digital Images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 number of bits, b, required to store a digitized image is</a:t>
            </a:r>
          </a:p>
          <a:p>
            <a:pPr algn="just">
              <a:buFont typeface="Wingdings" pitchFamily="2" charset="2"/>
              <a:buChar char="ü"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ü"/>
            </a:pPr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when M=N, this equation becomes</a:t>
            </a:r>
          </a:p>
          <a:p>
            <a:pPr algn="just">
              <a:buFont typeface="Wingdings" pitchFamily="2" charset="2"/>
              <a:buChar char="ü"/>
            </a:pPr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3124200"/>
            <a:ext cx="2304389" cy="533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4648200"/>
            <a:ext cx="1537267" cy="46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665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Representing Digital Images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 following table shows the number of storage bits for various values of N and k</a:t>
            </a:r>
          </a:p>
        </p:txBody>
      </p:sp>
    </p:spTree>
    <p:extLst>
      <p:ext uri="{BB962C8B-B14F-4D97-AF65-F5344CB8AC3E}">
        <p14:creationId xmlns:p14="http://schemas.microsoft.com/office/powerpoint/2010/main" val="1254089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/>
          <p:cNvSpPr txBox="1">
            <a:spLocks noChangeArrowheads="1"/>
          </p:cNvSpPr>
          <p:nvPr/>
        </p:nvSpPr>
        <p:spPr bwMode="auto">
          <a:xfrm>
            <a:off x="1404938" y="722313"/>
            <a:ext cx="62642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folHlink"/>
            </a:outerShdw>
          </a:effec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Verdana" pitchFamily="-108" charset="0"/>
              </a:rPr>
              <a:t>Chapter 2: Digital Image Fundamentals</a:t>
            </a:r>
            <a:endParaRPr lang="en-US"/>
          </a:p>
        </p:txBody>
      </p:sp>
      <p:pic>
        <p:nvPicPr>
          <p:cNvPr id="4710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33500" y="2068513"/>
            <a:ext cx="6477000" cy="272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Spatial and Gray-level Resolution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Sampling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 the principal factor determining of an image.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Basically, spatial resolution is the smallest discernable detail in an image.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For example how many lines per millimeter.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524000"/>
            <a:ext cx="7086600" cy="4419600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Spatial and Gray-level Resolution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Gray-level resolution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refers to the smallest discernable change in the gray level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90983"/>
            <a:ext cx="7010400" cy="3767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373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086051"/>
            <a:ext cx="6781800" cy="5424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103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762000"/>
            <a:ext cx="5029200" cy="596890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762000"/>
            <a:ext cx="1752600" cy="288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577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652" y="609600"/>
            <a:ext cx="4602113" cy="543774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838200"/>
            <a:ext cx="1618652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620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Aliasing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If the function is sampled at a rate equal to or greater than twice its highest frequency, it is possible to recover completely the original function from its samples.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If the function is </a:t>
            </a:r>
            <a:r>
              <a:rPr lang="en-US" sz="2800" i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undersampled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then a phenomenon called </a:t>
            </a:r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aliasing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corrupts the sampled image.</a:t>
            </a:r>
          </a:p>
        </p:txBody>
      </p:sp>
    </p:spTree>
    <p:extLst>
      <p:ext uri="{BB962C8B-B14F-4D97-AF65-F5344CB8AC3E}">
        <p14:creationId xmlns:p14="http://schemas.microsoft.com/office/powerpoint/2010/main" val="2828800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Zooming and Shrinking Digital Images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Zooming may be viewed as oversampling, while shrinking may be viewed as </a:t>
            </a:r>
            <a:r>
              <a:rPr lang="en-US" sz="2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undersampling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Zooming requires two steps: </a:t>
            </a: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- the creation of new pixel locations and </a:t>
            </a: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- the assignment of gray levels to those new locations.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Zooming Digital Images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Suppose that we have an image of size 500×500 pixels and we want to enlarge it 1.5 times to 750×750 pixels.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Conceptually, one of the easiest ways to visualize zooming is laying an imaginary 750×750 grid over the original image. </a:t>
            </a:r>
          </a:p>
          <a:p>
            <a:pPr algn="just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Zooming Digital Images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Obviously, the spacing in the grid would be less than one pixel because we are fitting it over a smaller image.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In order to perform gray-level assignment for any point in the overlay, we look for the closest pixel in the original image and assign its gray-level to the new pixel in the grid.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Zooming Digital Images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When we are done with all points in the overlay grid, we simply expand it to the original specified size to obtain the zoomed image.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This method of gray-level assignment is called </a:t>
            </a:r>
            <a:r>
              <a:rPr lang="en-US" sz="2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nearest neighbor interpolation.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2"/>
          <p:cNvSpPr txBox="1">
            <a:spLocks noChangeArrowheads="1"/>
          </p:cNvSpPr>
          <p:nvPr/>
        </p:nvSpPr>
        <p:spPr bwMode="auto">
          <a:xfrm>
            <a:off x="1404938" y="722313"/>
            <a:ext cx="62642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folHlink"/>
            </a:outerShdw>
          </a:effec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Verdana" pitchFamily="-108" charset="0"/>
              </a:rPr>
              <a:t>Chapter 2: Digital Image Fundamentals</a:t>
            </a:r>
            <a:endParaRPr lang="en-US">
              <a:solidFill>
                <a:prstClr val="black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562" y="2298733"/>
            <a:ext cx="4750876" cy="226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11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2"/>
          <p:cNvSpPr txBox="1">
            <a:spLocks noChangeArrowheads="1"/>
          </p:cNvSpPr>
          <p:nvPr/>
        </p:nvSpPr>
        <p:spPr bwMode="auto">
          <a:xfrm>
            <a:off x="1404938" y="722313"/>
            <a:ext cx="62642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folHlink"/>
            </a:outerShdw>
          </a:effec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Verdana" pitchFamily="-108" charset="0"/>
              </a:rPr>
              <a:t>Chapter 2: Digital Image Fundamentals</a:t>
            </a:r>
            <a:endParaRPr lang="en-US">
              <a:solidFill>
                <a:prstClr val="black"/>
              </a:solidFill>
            </a:endParaRPr>
          </a:p>
        </p:txBody>
      </p:sp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65250" y="1574800"/>
            <a:ext cx="6381750" cy="5100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33021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5105400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Zooming Digital Images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Pixel replication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 a special case of nearest neighbor interpolation.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Pixel replication is applicable when we want to increase the size of an image an integer number of times.</a:t>
            </a:r>
          </a:p>
          <a:p>
            <a:pPr algn="just">
              <a:buFont typeface="Wingdings" pitchFamily="2" charset="2"/>
              <a:buChar char="ü"/>
            </a:pPr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Zooming Digital Images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For instance, to double the size of an image, we can duplicate each column.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This doubles the image size in the horizontal direction.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Then, we duplicate each row of the enlarged image to double the size in the vertical direction.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Zooming Digital Images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 same procedure is used to enlarge the image by any integer number of times.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Duplication is just done the required number of times to achieve the desired size.</a:t>
            </a:r>
          </a:p>
          <a:p>
            <a:pPr algn="just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Zooming Digital Images</a:t>
            </a:r>
          </a:p>
          <a:p>
            <a:pPr algn="just"/>
            <a:r>
              <a:rPr lang="en-US" sz="28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Although nearest neighbor interpolation is fast, it has undesirable feature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that it produces a checkerboard effect that is particularly objectionable at high factor of magnification.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slightly more sophisticated way of accomplishing gray-level assignment is </a:t>
            </a:r>
            <a:r>
              <a:rPr lang="en-US" sz="28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Bilinear </a:t>
            </a:r>
            <a:r>
              <a:rPr lang="en-US" sz="2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interpolation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using the four nearest neighbors of a point.</a:t>
            </a:r>
            <a:endParaRPr lang="en-US" sz="2800" b="1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995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1524000"/>
            <a:ext cx="7620000" cy="4419600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Zooming Digital Images</a:t>
            </a:r>
          </a:p>
          <a:p>
            <a:pPr algn="just"/>
            <a:r>
              <a:rPr lang="en-US" sz="2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Bilinear interpolation:</a:t>
            </a:r>
            <a:endParaRPr lang="en-US" sz="2800" b="1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Let             denotes the coordinates of a point in the zoomed image, and let               denote the gray level assigned to it.</a:t>
            </a: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For bilinear interpolation, the assigned gray level is given by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399" y="2667000"/>
            <a:ext cx="907353" cy="381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002" y="3048000"/>
            <a:ext cx="1095469" cy="37859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8307" y="4950594"/>
            <a:ext cx="6207386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660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1524000"/>
            <a:ext cx="7620000" cy="4419600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Zooming Digital Images</a:t>
            </a:r>
          </a:p>
          <a:p>
            <a:pPr algn="just"/>
            <a:r>
              <a:rPr lang="en-US" sz="2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Bilinear interpolation:</a:t>
            </a:r>
            <a:endParaRPr lang="en-US" sz="2800" b="1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For bilinear interpolation, the assigned gray level is given by</a:t>
            </a:r>
          </a:p>
          <a:p>
            <a:pPr algn="just"/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Where the four coefficients are determined from the four equations in the four unknowns that can be written using the four nearest neighbors of point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505200"/>
            <a:ext cx="6207386" cy="762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600" y="5486400"/>
            <a:ext cx="883363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028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Shrinking Digital Images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Image shrinking is done in a similar manner as just described for zooming.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equivalent process of pixel replication is row-column deletion.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Some Basic Relationships Between Pixels: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 image is denoted f(x, y) and a particular pixel denotes as </a:t>
            </a:r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endParaRPr lang="en-US" sz="2800" b="1" i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Neighbors of a Pixel</a:t>
            </a: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pixel </a:t>
            </a:r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at coordinates (x, y) has four horizontal and vertical neighbors whose coordinates are given below: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429" y="4953000"/>
            <a:ext cx="5528293" cy="533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9530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Neighbors of a Pixel</a:t>
            </a:r>
          </a:p>
          <a:p>
            <a:pPr algn="just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This set of pixels, is called the </a:t>
            </a:r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4-neighbors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of p, is denoted by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784235"/>
              </p:ext>
            </p:extLst>
          </p:nvPr>
        </p:nvGraphicFramePr>
        <p:xfrm>
          <a:off x="2911642" y="2895600"/>
          <a:ext cx="2863515" cy="2209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505"/>
                <a:gridCol w="954505"/>
                <a:gridCol w="954505"/>
              </a:tblGrid>
              <a:tr h="78739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X,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 smtClean="0"/>
                        <a:t>x-1, y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x,</a:t>
                      </a:r>
                      <a:r>
                        <a:rPr lang="en-US" baseline="0" dirty="0" smtClean="0"/>
                        <a:t> y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x+1, y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x, y+1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948763" y="3076545"/>
            <a:ext cx="76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dirty="0" smtClean="0"/>
              <a:t>, y-1</a:t>
            </a:r>
            <a:endParaRPr lang="en-US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853" y="2286000"/>
            <a:ext cx="5528293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90999" y="3909536"/>
            <a:ext cx="76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p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763" y="5715000"/>
            <a:ext cx="824471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140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953000"/>
          </a:xfrm>
        </p:spPr>
        <p:txBody>
          <a:bodyPr>
            <a:normAutofit/>
          </a:bodyPr>
          <a:lstStyle/>
          <a:p>
            <a:pPr algn="just"/>
            <a:r>
              <a:rPr lang="en-US" sz="2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Neighbors of a Pixel</a:t>
            </a:r>
          </a:p>
          <a:p>
            <a:pPr algn="just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Each pixel is a unit distance from (x, y), and some of the neighbors of p lie outside the digital images if (x, y) is on the border of the image. </a:t>
            </a:r>
          </a:p>
          <a:p>
            <a:pPr algn="just"/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959757"/>
              </p:ext>
            </p:extLst>
          </p:nvPr>
        </p:nvGraphicFramePr>
        <p:xfrm>
          <a:off x="2759241" y="2099847"/>
          <a:ext cx="2863515" cy="2209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505"/>
                <a:gridCol w="954505"/>
                <a:gridCol w="954505"/>
              </a:tblGrid>
              <a:tr h="78739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X,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 smtClean="0"/>
                        <a:t>x-1, y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x,</a:t>
                      </a:r>
                      <a:r>
                        <a:rPr lang="en-US" baseline="0" dirty="0" smtClean="0"/>
                        <a:t> y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x+1, y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x, y+1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809999" y="2209800"/>
            <a:ext cx="76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dirty="0" smtClean="0"/>
              <a:t>, y-1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4114800" y="3095655"/>
            <a:ext cx="76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3727331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953000"/>
          </a:xfrm>
        </p:spPr>
        <p:txBody>
          <a:bodyPr>
            <a:normAutofit/>
          </a:bodyPr>
          <a:lstStyle/>
          <a:p>
            <a:pPr algn="just"/>
            <a:r>
              <a:rPr lang="en-US" sz="2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Neighbors of a Pixel</a:t>
            </a: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four diagonal neighbors of </a:t>
            </a:r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have coordinates</a:t>
            </a:r>
          </a:p>
          <a:p>
            <a:pPr algn="just"/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nd denoted by </a:t>
            </a:r>
          </a:p>
          <a:p>
            <a:pPr algn="just"/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214167"/>
              </p:ext>
            </p:extLst>
          </p:nvPr>
        </p:nvGraphicFramePr>
        <p:xfrm>
          <a:off x="3048000" y="4267201"/>
          <a:ext cx="2863515" cy="2209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505"/>
                <a:gridCol w="954505"/>
                <a:gridCol w="954505"/>
              </a:tblGrid>
              <a:tr h="78739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X,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 smtClean="0"/>
                        <a:t>x-1, y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x,</a:t>
                      </a:r>
                      <a:r>
                        <a:rPr lang="en-US" baseline="0" dirty="0" smtClean="0"/>
                        <a:t> y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x+1, y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 smtClean="0"/>
                        <a:t>x-1,y+1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x, y+1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x+1,y+1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0" y="4438710"/>
            <a:ext cx="76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dirty="0" smtClean="0"/>
              <a:t>, y-1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4343400" y="5257800"/>
            <a:ext cx="76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p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46" y="3046450"/>
            <a:ext cx="8135754" cy="5784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63428" y="446948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x+1,y-1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068856" y="445409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dirty="0" smtClean="0"/>
              <a:t>-1,y-1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900" y="3647694"/>
            <a:ext cx="833500" cy="31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962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9530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Neighbors of a Pixel</a:t>
            </a:r>
          </a:p>
          <a:p>
            <a:pPr algn="just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These points, together with 4-neighbors, are called 8-neighbors of p, denoted </a:t>
            </a: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Some of the points in                      fall outside the image if (</a:t>
            </a:r>
            <a:r>
              <a:rPr lang="en-US" sz="2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x,y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 is on the border </a:t>
            </a: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969460"/>
              </p:ext>
            </p:extLst>
          </p:nvPr>
        </p:nvGraphicFramePr>
        <p:xfrm>
          <a:off x="2911642" y="2133600"/>
          <a:ext cx="2863515" cy="2209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505"/>
                <a:gridCol w="954505"/>
                <a:gridCol w="954505"/>
              </a:tblGrid>
              <a:tr h="78739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X,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 smtClean="0"/>
                        <a:t>x-1, y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x,</a:t>
                      </a:r>
                      <a:r>
                        <a:rPr lang="en-US" baseline="0" dirty="0" smtClean="0"/>
                        <a:t> y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x+1, y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 smtClean="0"/>
                        <a:t>x-1,y+1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x, y+1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x+1,y+1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983256" y="2187089"/>
            <a:ext cx="76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dirty="0" smtClean="0"/>
              <a:t>, y-1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4364256" y="3111205"/>
            <a:ext cx="76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87228" y="2228666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x+1,y-1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997870" y="22860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dirty="0" smtClean="0"/>
              <a:t>-1,y-1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4800600"/>
            <a:ext cx="714540" cy="381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228" y="5257800"/>
            <a:ext cx="1855949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682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953000"/>
          </a:xfrm>
        </p:spPr>
        <p:txBody>
          <a:bodyPr>
            <a:normAutofit/>
          </a:bodyPr>
          <a:lstStyle/>
          <a:p>
            <a:pPr algn="just"/>
            <a:r>
              <a:rPr lang="en-US" sz="2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Adjacency, Connectivity, Regions, and Boundaries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Connectivity is a fundamental concepts that simplifies the definitions of regions and boundaries.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 established if two pixels are connected, it must be determined if they are neighbors and if their gray levels satisfy a specified criterion of similarity (say, if their gray levels are equal)</a:t>
            </a:r>
          </a:p>
        </p:txBody>
      </p:sp>
    </p:spTree>
    <p:extLst>
      <p:ext uri="{BB962C8B-B14F-4D97-AF65-F5344CB8AC3E}">
        <p14:creationId xmlns:p14="http://schemas.microsoft.com/office/powerpoint/2010/main" val="3711076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143000"/>
            <a:ext cx="6400800" cy="5334000"/>
          </a:xfrm>
        </p:spPr>
        <p:txBody>
          <a:bodyPr>
            <a:normAutofit fontScale="85000" lnSpcReduction="10000"/>
          </a:bodyPr>
          <a:lstStyle/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For instance, in a binary image with values 0 and 1, two pixels may be </a:t>
            </a:r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4-neighbors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but they are said to be connected only if they have same value.</a:t>
            </a:r>
          </a:p>
          <a:p>
            <a:pPr algn="just"/>
            <a:endParaRPr lang="en-US" sz="2800" i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i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i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Adjacency: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Let V be the set of gray level values used to define adjacency. In a binary image, V={1} if we are referring to adjacency of pixels with value 1. V </a:t>
            </a:r>
            <a:r>
              <a:rPr lang="en-US" sz="2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tipically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contains more elements.</a:t>
            </a:r>
            <a:endParaRPr lang="en-US" sz="2800" b="1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2895600"/>
            <a:ext cx="1524000" cy="1621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38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143000"/>
            <a:ext cx="6400800" cy="5334000"/>
          </a:xfrm>
        </p:spPr>
        <p:txBody>
          <a:bodyPr>
            <a:normAutofit/>
          </a:bodyPr>
          <a:lstStyle/>
          <a:p>
            <a:pPr algn="just"/>
            <a:r>
              <a:rPr lang="en-US" sz="2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Adjacency: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we consider three types of adjacency. </a:t>
            </a:r>
          </a:p>
          <a:p>
            <a:pPr marL="514350" indent="-514350" algn="just">
              <a:buAutoNum type="arabicParenR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4-adjacency: two pixels p and q with values from V are 4-adjacent if q is in the set </a:t>
            </a:r>
          </a:p>
          <a:p>
            <a:pPr marL="514350" indent="-514350" algn="just">
              <a:buAutoNum type="arabicParenR"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8-adjacency</a:t>
            </a: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two pixels p and q with values from V are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8-adjacent </a:t>
            </a: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if q is in the set </a:t>
            </a:r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just">
              <a:buAutoNum type="arabicParenR"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3124200"/>
            <a:ext cx="663501" cy="304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4419600"/>
            <a:ext cx="765578" cy="381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4897655"/>
            <a:ext cx="6819039" cy="1249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244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1404938" y="722313"/>
            <a:ext cx="62642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folHlink"/>
            </a:outerShdw>
          </a:effec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Verdana" pitchFamily="-108" charset="0"/>
              </a:rPr>
              <a:t>Chapter 2: Digital Image Fundamentals</a:t>
            </a:r>
            <a:endParaRPr lang="en-US"/>
          </a:p>
        </p:txBody>
      </p:sp>
      <p:pic>
        <p:nvPicPr>
          <p:cNvPr id="563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65325" y="1971675"/>
            <a:ext cx="5189538" cy="150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99" y="3727450"/>
            <a:ext cx="8338749" cy="12255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4953001"/>
            <a:ext cx="1935481" cy="3041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/>
          </a:bodyPr>
          <a:lstStyle/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Two image subsets S</a:t>
            </a:r>
            <a:r>
              <a:rPr lang="en-US" sz="2800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and S</a:t>
            </a:r>
            <a:r>
              <a:rPr lang="en-US" sz="2800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are adjacent if some </a:t>
            </a: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pixels in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800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 adjacent to some pixels in S</a:t>
            </a:r>
            <a:r>
              <a:rPr lang="en-US" sz="2800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(digital) path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from pixel p with coordinates (x, y) to pixel q with coordinates (s, t) is a sequence of distinct pixels with coordinates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1" y="4648200"/>
            <a:ext cx="4191000" cy="6952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43435"/>
            <a:ext cx="8213998" cy="61317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791" y="5956604"/>
            <a:ext cx="5593391" cy="4441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/>
          </a:bodyPr>
          <a:lstStyle/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For example, the path shown in Fig. 2.26(b) between the northeast and southeast points are 8-path and path in 2.26( c ) is an m-path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3886200"/>
            <a:ext cx="1752600" cy="16898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3915878"/>
            <a:ext cx="1683091" cy="15705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74288" y="5575182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2.26 (b)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940421" y="5530334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2.26 (c)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166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Let S represent a subset of pixels in an image. Two pixels p and q are said to be </a:t>
            </a:r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connected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in S if there exists a path between them consisting entirely of pixels in S.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For any pixel p in S, the set of pixels that are connected to it in S is called a </a:t>
            </a:r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connected component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of S.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If it only has one connected component, then set S is called a </a:t>
            </a:r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connected set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272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371600"/>
            <a:ext cx="6400800" cy="48768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Let R be a subset of pixels in an image. We call R a </a:t>
            </a:r>
            <a:r>
              <a:rPr lang="en-US" sz="2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region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of the image if R is a connected set.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boundary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(also called </a:t>
            </a:r>
            <a:r>
              <a:rPr lang="en-US" sz="2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border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contour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 of a region R is the set of pixels in the region that have one or more neighbors that are not in R.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If R happens to be an entire image, then its boundary is defined as the set of pixels in the first and last rows and columns of the image.</a:t>
            </a:r>
          </a:p>
        </p:txBody>
      </p:sp>
    </p:spTree>
    <p:extLst>
      <p:ext uri="{BB962C8B-B14F-4D97-AF65-F5344CB8AC3E}">
        <p14:creationId xmlns:p14="http://schemas.microsoft.com/office/powerpoint/2010/main" val="412341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371600"/>
            <a:ext cx="6400800" cy="4876800"/>
          </a:xfrm>
        </p:spPr>
        <p:txBody>
          <a:bodyPr>
            <a:normAutofit/>
          </a:bodyPr>
          <a:lstStyle/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concept of an edge is found frequently in discussions dealing with regions and boundaries.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idea of an edge is a “local” concept that is based on a measure of gray-level discontinuity at a point.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4114800"/>
            <a:ext cx="4349203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923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/>
          </a:bodyPr>
          <a:lstStyle/>
          <a:p>
            <a:pPr algn="just"/>
            <a:r>
              <a:rPr lang="en-US" sz="2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Distance Measures:</a:t>
            </a: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For pixels p, q, and z, with coordinates (</a:t>
            </a:r>
            <a:r>
              <a:rPr lang="en-US" sz="2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x,y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), (s, t), and (v, w), respectively, D is a distance function or metric if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429000"/>
            <a:ext cx="6652616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989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/>
          </a:bodyPr>
          <a:lstStyle/>
          <a:p>
            <a:pPr algn="just"/>
            <a:r>
              <a:rPr lang="en-US" sz="2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Distance Measures:</a:t>
            </a: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Euclidean distance between p and q is defined as </a:t>
            </a:r>
          </a:p>
          <a:p>
            <a:pPr algn="just"/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D</a:t>
            </a:r>
            <a:r>
              <a:rPr lang="en-US" sz="2800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distance (also called city-block distance) between p and q is defined as</a:t>
            </a:r>
          </a:p>
          <a:p>
            <a:pPr algn="just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895600"/>
            <a:ext cx="5105400" cy="84692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5093217"/>
            <a:ext cx="4666207" cy="85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850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/>
          </a:bodyPr>
          <a:lstStyle/>
          <a:p>
            <a:pPr algn="just"/>
            <a:r>
              <a:rPr lang="en-US" sz="2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Distance Measures:</a:t>
            </a:r>
          </a:p>
          <a:p>
            <a:pPr algn="just"/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09800"/>
            <a:ext cx="8083224" cy="3391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565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419600"/>
          </a:xfrm>
        </p:spPr>
        <p:txBody>
          <a:bodyPr>
            <a:normAutofit/>
          </a:bodyPr>
          <a:lstStyle/>
          <a:p>
            <a:pPr algn="just"/>
            <a:r>
              <a:rPr lang="en-US" sz="2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Distance Measures:</a:t>
            </a:r>
          </a:p>
          <a:p>
            <a:pPr algn="just"/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7400"/>
            <a:ext cx="8225510" cy="533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2596415"/>
            <a:ext cx="4895462" cy="6419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30" y="3326960"/>
            <a:ext cx="8564880" cy="94024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4200" y="4289491"/>
            <a:ext cx="1905000" cy="175388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4430" y="6016910"/>
            <a:ext cx="6128135" cy="46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601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400800" cy="48006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Distance Measures:</a:t>
            </a: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between p and q are independent of any paths </a:t>
            </a: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If we select to consider </a:t>
            </a:r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m-adjacency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however, the </a:t>
            </a:r>
            <a:r>
              <a:rPr lang="en-US" sz="2800" i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800" i="1" baseline="-25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distance between two points is defined as the shortest m-path between the points. 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this case, the distance between two pixels will depend on the values of the pixels along the path and the values of their neighbors.</a:t>
            </a: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981200"/>
            <a:ext cx="3200400" cy="412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151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" y="1524000"/>
            <a:ext cx="7696200" cy="4800600"/>
          </a:xfrm>
        </p:spPr>
        <p:txBody>
          <a:bodyPr>
            <a:normAutofit/>
          </a:bodyPr>
          <a:lstStyle/>
          <a:p>
            <a:pPr algn="just"/>
            <a:r>
              <a:rPr lang="en-US" sz="2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Distance Measures:</a:t>
            </a: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For example,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1" y="2667000"/>
            <a:ext cx="8686800" cy="35090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9" y="3066408"/>
            <a:ext cx="8077201" cy="33497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999" y="3633083"/>
            <a:ext cx="2301103" cy="17009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5410200"/>
            <a:ext cx="1037234" cy="381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9234" y="5374796"/>
            <a:ext cx="6900417" cy="3048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5826604"/>
            <a:ext cx="478924" cy="345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668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9383" y="1205617"/>
            <a:ext cx="7696200" cy="5105400"/>
          </a:xfrm>
        </p:spPr>
        <p:txBody>
          <a:bodyPr>
            <a:normAutofit/>
          </a:bodyPr>
          <a:lstStyle/>
          <a:p>
            <a:pPr algn="just"/>
            <a:endParaRPr lang="en-US" sz="2800" b="1" i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1205617"/>
            <a:ext cx="2301103" cy="170091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95" y="2743200"/>
            <a:ext cx="9018505" cy="39271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495" y="3258691"/>
            <a:ext cx="7573422" cy="39890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3796417"/>
            <a:ext cx="1919265" cy="31838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9256" y="3703575"/>
            <a:ext cx="3605899" cy="42726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" y="4288824"/>
            <a:ext cx="5838184" cy="36657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3581" y="4666083"/>
            <a:ext cx="5557248" cy="38059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743" y="5344808"/>
            <a:ext cx="3230857" cy="3163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9901" y="5286623"/>
            <a:ext cx="4562088" cy="418229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8679" y="5762793"/>
            <a:ext cx="4841328" cy="333207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9142" y="6131054"/>
            <a:ext cx="5014391" cy="419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901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1205617"/>
            <a:ext cx="8146983" cy="5105400"/>
          </a:xfrm>
        </p:spPr>
        <p:txBody>
          <a:bodyPr>
            <a:normAutofit/>
          </a:bodyPr>
          <a:lstStyle/>
          <a:p>
            <a:pPr algn="just"/>
            <a:endParaRPr lang="en-US" sz="2800" b="1" i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3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Assignment-1:</a:t>
            </a:r>
          </a:p>
          <a:p>
            <a:pPr algn="just"/>
            <a:endParaRPr lang="en-US" sz="28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272" y="2438400"/>
            <a:ext cx="8142969" cy="1143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3581400"/>
            <a:ext cx="4194040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705" y="2512942"/>
            <a:ext cx="3930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1)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32518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1205617"/>
            <a:ext cx="8146983" cy="5105400"/>
          </a:xfrm>
        </p:spPr>
        <p:txBody>
          <a:bodyPr>
            <a:normAutofit/>
          </a:bodyPr>
          <a:lstStyle/>
          <a:p>
            <a:pPr algn="just"/>
            <a:endParaRPr lang="en-US" sz="2800" b="1" i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3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Assignment-1:</a:t>
            </a:r>
          </a:p>
          <a:p>
            <a:pPr algn="just"/>
            <a:endParaRPr lang="en-US" sz="28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8600" y="2464861"/>
            <a:ext cx="3930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2</a:t>
            </a:r>
            <a:r>
              <a:rPr lang="en-US" sz="2000" dirty="0" smtClean="0"/>
              <a:t>)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144" y="2514600"/>
            <a:ext cx="780139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069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265"/>
            <a:ext cx="7772400" cy="62453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Digital Image Fundamentals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1205617"/>
            <a:ext cx="8146983" cy="5105400"/>
          </a:xfrm>
        </p:spPr>
        <p:txBody>
          <a:bodyPr>
            <a:normAutofit/>
          </a:bodyPr>
          <a:lstStyle/>
          <a:p>
            <a:pPr algn="just"/>
            <a:endParaRPr lang="en-US" sz="2800" b="1" i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3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Assignment-1:</a:t>
            </a:r>
          </a:p>
          <a:p>
            <a:pPr algn="just"/>
            <a:endParaRPr lang="en-US" sz="28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8600" y="2464861"/>
            <a:ext cx="3930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3)</a:t>
            </a: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14600"/>
            <a:ext cx="7846154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122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11333</TotalTime>
  <Words>3298</Words>
  <Application>Microsoft Office PowerPoint</Application>
  <PresentationFormat>On-screen Show (4:3)</PresentationFormat>
  <Paragraphs>411</Paragraphs>
  <Slides>92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0" baseType="lpstr">
      <vt:lpstr>Arial</vt:lpstr>
      <vt:lpstr>Brush Script MT</vt:lpstr>
      <vt:lpstr>Calibri</vt:lpstr>
      <vt:lpstr>Times New Roman</vt:lpstr>
      <vt:lpstr>Verdana</vt:lpstr>
      <vt:lpstr>Wingdings</vt:lpstr>
      <vt:lpstr>Wingdings 3</vt:lpstr>
      <vt:lpstr>Office Theme</vt:lpstr>
      <vt:lpstr>Digital Image Fundamentals</vt:lpstr>
      <vt:lpstr>PowerPoint Presentation</vt:lpstr>
      <vt:lpstr>Digital Image Fundamentals</vt:lpstr>
      <vt:lpstr>Digital Image Fundamentals</vt:lpstr>
      <vt:lpstr>Digital Image Fundamentals</vt:lpstr>
      <vt:lpstr>Digital Image Fundamentals</vt:lpstr>
      <vt:lpstr>PowerPoint Presentation</vt:lpstr>
      <vt:lpstr>Digital Image Fundamentals</vt:lpstr>
      <vt:lpstr>PowerPoint Presentation</vt:lpstr>
      <vt:lpstr>Digital Image Fundamentals</vt:lpstr>
      <vt:lpstr>Digital Image Fundamentals</vt:lpstr>
      <vt:lpstr>PowerPoint Presentation</vt:lpstr>
      <vt:lpstr>Digital Image Fundamentals</vt:lpstr>
      <vt:lpstr>Digital Image Fundamentals</vt:lpstr>
      <vt:lpstr>PowerPoint Presentation</vt:lpstr>
      <vt:lpstr>Digital Image Fundamentals</vt:lpstr>
      <vt:lpstr>Digital Image Fundamentals</vt:lpstr>
      <vt:lpstr>Digital Image Fundamentals</vt:lpstr>
      <vt:lpstr>PowerPoint Presentation</vt:lpstr>
      <vt:lpstr>PowerPoint Presentation</vt:lpstr>
      <vt:lpstr>Digital Image Fundamentals</vt:lpstr>
      <vt:lpstr>PowerPoint Presentation</vt:lpstr>
      <vt:lpstr>PowerPoint Presentation</vt:lpstr>
      <vt:lpstr>Digital Image Fundamentals</vt:lpstr>
      <vt:lpstr>PowerPoint Presentation</vt:lpstr>
      <vt:lpstr>PowerPoint Presentation</vt:lpstr>
      <vt:lpstr>Digital Image Fundamentals</vt:lpstr>
      <vt:lpstr>Digital Image Fundamentals</vt:lpstr>
      <vt:lpstr>Digital Image Fundamentals</vt:lpstr>
      <vt:lpstr>Digital Image Fundamentals</vt:lpstr>
      <vt:lpstr>Digital Image Fundamentals</vt:lpstr>
      <vt:lpstr>Digital Image Fundamentals</vt:lpstr>
      <vt:lpstr>Digital Image Fundamentals</vt:lpstr>
      <vt:lpstr>Digital Image Fundamentals</vt:lpstr>
      <vt:lpstr>Digital Image Fundamentals</vt:lpstr>
      <vt:lpstr>Digital Image Fundamentals</vt:lpstr>
      <vt:lpstr>PowerPoint Presentation</vt:lpstr>
      <vt:lpstr>Digital Image Fundamentals</vt:lpstr>
      <vt:lpstr>Digital Image Fundamentals</vt:lpstr>
      <vt:lpstr>Digital Image Fundamentals</vt:lpstr>
      <vt:lpstr>PowerPoint Presentation</vt:lpstr>
      <vt:lpstr>Digital Image Fundamentals</vt:lpstr>
      <vt:lpstr>PowerPoint Presentation</vt:lpstr>
      <vt:lpstr>PowerPoint Presentation</vt:lpstr>
      <vt:lpstr>PowerPoint Presentation</vt:lpstr>
      <vt:lpstr>Digital Image Fundamentals</vt:lpstr>
      <vt:lpstr>Digital Image Fundamentals</vt:lpstr>
      <vt:lpstr>Digital Image Fundamentals</vt:lpstr>
      <vt:lpstr>PowerPoint Presentation</vt:lpstr>
      <vt:lpstr>Digital Image Fundamentals</vt:lpstr>
      <vt:lpstr>Digital Image Fundamentals</vt:lpstr>
      <vt:lpstr>Digital Image Fundamentals</vt:lpstr>
      <vt:lpstr>PowerPoint Presentation</vt:lpstr>
      <vt:lpstr>PowerPoint Presentation</vt:lpstr>
      <vt:lpstr>Digital Image Fundamentals</vt:lpstr>
      <vt:lpstr>Digital Image Fundamentals</vt:lpstr>
      <vt:lpstr>Digital Image Fundamentals</vt:lpstr>
      <vt:lpstr>Digital Image Fundamentals</vt:lpstr>
      <vt:lpstr>Digital Image Fundamentals</vt:lpstr>
      <vt:lpstr>PowerPoint Presentation</vt:lpstr>
      <vt:lpstr>PowerPoint Presentation</vt:lpstr>
      <vt:lpstr>Digital Image Fundamentals</vt:lpstr>
      <vt:lpstr>Digital Image Fundamentals</vt:lpstr>
      <vt:lpstr>Digital Image Fundamentals</vt:lpstr>
      <vt:lpstr>Digital Image Fundamentals</vt:lpstr>
      <vt:lpstr>Digital Image Fundamentals</vt:lpstr>
      <vt:lpstr>Digital Image Fundamentals</vt:lpstr>
      <vt:lpstr>Digital Image Fundamentals</vt:lpstr>
      <vt:lpstr>Digital Image Fundamentals</vt:lpstr>
      <vt:lpstr>Digital Image Fundamentals</vt:lpstr>
      <vt:lpstr>Digital Image Fundamentals</vt:lpstr>
      <vt:lpstr>Digital Image Fundamentals</vt:lpstr>
      <vt:lpstr>Digital Image Fundamentals</vt:lpstr>
      <vt:lpstr>Digital Image Fundamentals</vt:lpstr>
      <vt:lpstr>Digital Image Fundamentals</vt:lpstr>
      <vt:lpstr>Digital Image Fundamentals</vt:lpstr>
      <vt:lpstr>PowerPoint Presentation</vt:lpstr>
      <vt:lpstr>Digital Image Fundamentals</vt:lpstr>
      <vt:lpstr>Digital Image Fundamentals</vt:lpstr>
      <vt:lpstr>Digital Image Fundamentals</vt:lpstr>
      <vt:lpstr>Digital Image Fundamentals</vt:lpstr>
      <vt:lpstr>Digital Image Fundamentals</vt:lpstr>
      <vt:lpstr>Digital Image Fundamentals</vt:lpstr>
      <vt:lpstr>Digital Image Fundamentals</vt:lpstr>
      <vt:lpstr>Digital Image Fundamentals</vt:lpstr>
      <vt:lpstr>Digital Image Fundamentals</vt:lpstr>
      <vt:lpstr>Digital Image Fundamentals</vt:lpstr>
      <vt:lpstr>Digital Image Fundamentals</vt:lpstr>
      <vt:lpstr>Digital Image Fundamentals</vt:lpstr>
      <vt:lpstr>Digital Image Fundamentals</vt:lpstr>
      <vt:lpstr>Digital Image Fundamentals</vt:lpstr>
      <vt:lpstr>Digital Image Fundamentals</vt:lpstr>
    </vt:vector>
  </TitlesOfParts>
  <Company>CSE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Image Fundamentals</dc:title>
  <dc:creator>Kamal</dc:creator>
  <cp:lastModifiedBy>Windows User</cp:lastModifiedBy>
  <cp:revision>218</cp:revision>
  <dcterms:created xsi:type="dcterms:W3CDTF">2014-12-02T12:22:20Z</dcterms:created>
  <dcterms:modified xsi:type="dcterms:W3CDTF">2025-02-13T06:07:11Z</dcterms:modified>
</cp:coreProperties>
</file>