
<file path=[Content_Types].xml><?xml version="1.0" encoding="utf-8"?>
<Types xmlns="http://schemas.openxmlformats.org/package/2006/content-types">
  <Default Extension="png" ContentType="image/png"/>
  <Default Extension="emf" ContentType="image/x-emf"/>
  <Default Extension="wmf" ContentType="image/x-wmf"/>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0" r:id="rId2"/>
  </p:sldMasterIdLst>
  <p:notesMasterIdLst>
    <p:notesMasterId r:id="rId62"/>
  </p:notesMasterIdLst>
  <p:sldIdLst>
    <p:sldId id="256" r:id="rId3"/>
    <p:sldId id="294" r:id="rId4"/>
    <p:sldId id="257" r:id="rId5"/>
    <p:sldId id="295" r:id="rId6"/>
    <p:sldId id="259" r:id="rId7"/>
    <p:sldId id="260" r:id="rId8"/>
    <p:sldId id="261" r:id="rId9"/>
    <p:sldId id="262" r:id="rId10"/>
    <p:sldId id="296" r:id="rId11"/>
    <p:sldId id="297" r:id="rId12"/>
    <p:sldId id="298" r:id="rId13"/>
    <p:sldId id="299" r:id="rId14"/>
    <p:sldId id="300" r:id="rId15"/>
    <p:sldId id="263" r:id="rId16"/>
    <p:sldId id="302" r:id="rId17"/>
    <p:sldId id="309" r:id="rId18"/>
    <p:sldId id="310" r:id="rId19"/>
    <p:sldId id="305" r:id="rId20"/>
    <p:sldId id="301" r:id="rId21"/>
    <p:sldId id="311" r:id="rId22"/>
    <p:sldId id="312" r:id="rId23"/>
    <p:sldId id="313" r:id="rId24"/>
    <p:sldId id="314" r:id="rId25"/>
    <p:sldId id="315" r:id="rId26"/>
    <p:sldId id="316" r:id="rId27"/>
    <p:sldId id="317" r:id="rId28"/>
    <p:sldId id="318" r:id="rId29"/>
    <p:sldId id="274" r:id="rId30"/>
    <p:sldId id="275" r:id="rId31"/>
    <p:sldId id="320" r:id="rId32"/>
    <p:sldId id="319" r:id="rId33"/>
    <p:sldId id="276" r:id="rId34"/>
    <p:sldId id="277" r:id="rId35"/>
    <p:sldId id="278" r:id="rId36"/>
    <p:sldId id="279" r:id="rId37"/>
    <p:sldId id="321" r:id="rId38"/>
    <p:sldId id="280" r:id="rId39"/>
    <p:sldId id="281" r:id="rId40"/>
    <p:sldId id="282" r:id="rId41"/>
    <p:sldId id="283" r:id="rId42"/>
    <p:sldId id="284" r:id="rId43"/>
    <p:sldId id="285" r:id="rId44"/>
    <p:sldId id="322" r:id="rId45"/>
    <p:sldId id="287" r:id="rId46"/>
    <p:sldId id="288" r:id="rId47"/>
    <p:sldId id="289" r:id="rId48"/>
    <p:sldId id="290" r:id="rId49"/>
    <p:sldId id="291" r:id="rId50"/>
    <p:sldId id="292" r:id="rId51"/>
    <p:sldId id="323" r:id="rId52"/>
    <p:sldId id="293" r:id="rId53"/>
    <p:sldId id="324" r:id="rId54"/>
    <p:sldId id="325" r:id="rId55"/>
    <p:sldId id="326" r:id="rId56"/>
    <p:sldId id="327" r:id="rId57"/>
    <p:sldId id="328" r:id="rId58"/>
    <p:sldId id="329" r:id="rId59"/>
    <p:sldId id="330" r:id="rId60"/>
    <p:sldId id="331" r:id="rId61"/>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p:cViewPr varScale="1">
        <p:scale>
          <a:sx n="70" d="100"/>
          <a:sy n="70" d="100"/>
        </p:scale>
        <p:origin x="1204" y="60"/>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slide" Target="slides/slide37.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slide" Target="slides/slide40.xml"/><Relationship Id="rId47" Type="http://schemas.openxmlformats.org/officeDocument/2006/relationships/slide" Target="slides/slide45.xml"/><Relationship Id="rId50" Type="http://schemas.openxmlformats.org/officeDocument/2006/relationships/slide" Target="slides/slide48.xml"/><Relationship Id="rId55" Type="http://schemas.openxmlformats.org/officeDocument/2006/relationships/slide" Target="slides/slide53.xml"/><Relationship Id="rId63" Type="http://schemas.openxmlformats.org/officeDocument/2006/relationships/presProps" Target="presProps.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41" Type="http://schemas.openxmlformats.org/officeDocument/2006/relationships/slide" Target="slides/slide39.xml"/><Relationship Id="rId54" Type="http://schemas.openxmlformats.org/officeDocument/2006/relationships/slide" Target="slides/slide52.xml"/><Relationship Id="rId62"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3" Type="http://schemas.openxmlformats.org/officeDocument/2006/relationships/slide" Target="slides/slide51.xml"/><Relationship Id="rId58" Type="http://schemas.openxmlformats.org/officeDocument/2006/relationships/slide" Target="slides/slide56.xml"/><Relationship Id="rId66" Type="http://schemas.openxmlformats.org/officeDocument/2006/relationships/tableStyles" Target="tableStyle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slide" Target="slides/slide55.xml"/><Relationship Id="rId61" Type="http://schemas.openxmlformats.org/officeDocument/2006/relationships/slide" Target="slides/slide59.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60" Type="http://schemas.openxmlformats.org/officeDocument/2006/relationships/slide" Target="slides/slide58.xml"/><Relationship Id="rId65" Type="http://schemas.openxmlformats.org/officeDocument/2006/relationships/theme" Target="theme/theme1.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56" Type="http://schemas.openxmlformats.org/officeDocument/2006/relationships/slide" Target="slides/slide54.xml"/><Relationship Id="rId64" Type="http://schemas.openxmlformats.org/officeDocument/2006/relationships/viewProps" Target="viewProps.xml"/><Relationship Id="rId8" Type="http://schemas.openxmlformats.org/officeDocument/2006/relationships/slide" Target="slides/slide6.xml"/><Relationship Id="rId51" Type="http://schemas.openxmlformats.org/officeDocument/2006/relationships/slide" Target="slides/slide49.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59" Type="http://schemas.openxmlformats.org/officeDocument/2006/relationships/slide" Target="slides/slide5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198D818E-F41E-4A69-94E0-2E88D571E7E6}" type="datetimeFigureOut">
              <a:rPr lang="en-US" smtClean="0"/>
              <a:pPr/>
              <a:t>12/18/2022</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6A98224-9892-46CB-B8B4-4B6C80E0AB2B}" type="slidenum">
              <a:rPr lang="en-US" smtClean="0"/>
              <a:pPr/>
              <a:t>‹#›</a:t>
            </a:fld>
            <a:endParaRPr lang="en-US"/>
          </a:p>
        </p:txBody>
      </p:sp>
    </p:spTree>
    <p:extLst>
      <p:ext uri="{BB962C8B-B14F-4D97-AF65-F5344CB8AC3E}">
        <p14:creationId xmlns:p14="http://schemas.microsoft.com/office/powerpoint/2010/main" val="242496993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B6A98224-9892-46CB-B8B4-4B6C80E0AB2B}" type="slidenum">
              <a:rPr lang="en-US" smtClean="0"/>
              <a:pPr/>
              <a:t>35</a:t>
            </a:fld>
            <a:endParaRPr lang="en-US"/>
          </a:p>
        </p:txBody>
      </p:sp>
    </p:spTree>
    <p:extLst>
      <p:ext uri="{BB962C8B-B14F-4D97-AF65-F5344CB8AC3E}">
        <p14:creationId xmlns:p14="http://schemas.microsoft.com/office/powerpoint/2010/main" val="87305543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B6A98224-9892-46CB-B8B4-4B6C80E0AB2B}" type="slidenum">
              <a:rPr lang="en-US" smtClean="0"/>
              <a:pPr/>
              <a:t>36</a:t>
            </a:fld>
            <a:endParaRPr lang="en-US"/>
          </a:p>
        </p:txBody>
      </p:sp>
    </p:spTree>
    <p:extLst>
      <p:ext uri="{BB962C8B-B14F-4D97-AF65-F5344CB8AC3E}">
        <p14:creationId xmlns:p14="http://schemas.microsoft.com/office/powerpoint/2010/main" val="99356408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9102CEF4-2AC1-4D40-834A-998A644CFCCC}" type="datetimeFigureOut">
              <a:rPr lang="en-US" smtClean="0"/>
              <a:pPr/>
              <a:t>12/18/2022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7867FC3-485B-4C25-86AF-DF1C77CFF6E9}"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9102CEF4-2AC1-4D40-834A-998A644CFCCC}" type="datetimeFigureOut">
              <a:rPr lang="en-US" smtClean="0"/>
              <a:pPr/>
              <a:t>12/18/2022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7867FC3-485B-4C25-86AF-DF1C77CFF6E9}"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9102CEF4-2AC1-4D40-834A-998A644CFCCC}" type="datetimeFigureOut">
              <a:rPr lang="en-US" smtClean="0"/>
              <a:pPr/>
              <a:t>12/18/2022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7867FC3-485B-4C25-86AF-DF1C77CFF6E9}"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9102CEF4-2AC1-4D40-834A-998A644CFCCC}" type="datetimeFigureOut">
              <a:rPr lang="en-US" smtClean="0"/>
              <a:pPr/>
              <a:t>12/18/2022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7867FC3-485B-4C25-86AF-DF1C77CFF6E9}"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9102CEF4-2AC1-4D40-834A-998A644CFCCC}" type="datetimeFigureOut">
              <a:rPr lang="en-US" smtClean="0"/>
              <a:pPr/>
              <a:t>12/18/2022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07867FC3-485B-4C25-86AF-DF1C77CFF6E9}"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9102CEF4-2AC1-4D40-834A-998A644CFCCC}" type="datetimeFigureOut">
              <a:rPr lang="en-US" smtClean="0"/>
              <a:pPr/>
              <a:t>12/18/2022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07867FC3-485B-4C25-86AF-DF1C77CFF6E9}"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102CEF4-2AC1-4D40-834A-998A644CFCCC}" type="datetimeFigureOut">
              <a:rPr lang="en-US" smtClean="0"/>
              <a:pPr/>
              <a:t>12/18/2022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07867FC3-485B-4C25-86AF-DF1C77CFF6E9}"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9102CEF4-2AC1-4D40-834A-998A644CFCCC}" type="datetimeFigureOut">
              <a:rPr lang="en-US" smtClean="0"/>
              <a:pPr/>
              <a:t>12/18/2022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7867FC3-485B-4C25-86AF-DF1C77CFF6E9}"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9102CEF4-2AC1-4D40-834A-998A644CFCCC}" type="datetimeFigureOut">
              <a:rPr lang="en-US" smtClean="0"/>
              <a:pPr/>
              <a:t>12/18/2022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7867FC3-485B-4C25-86AF-DF1C77CFF6E9}"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9102CEF4-2AC1-4D40-834A-998A644CFCCC}" type="datetimeFigureOut">
              <a:rPr lang="en-US" smtClean="0"/>
              <a:pPr/>
              <a:t>12/18/2022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7867FC3-485B-4C25-86AF-DF1C77CFF6E9}"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9102CEF4-2AC1-4D40-834A-998A644CFCCC}" type="datetimeFigureOut">
              <a:rPr lang="en-US" smtClean="0"/>
              <a:pPr/>
              <a:t>12/18/2022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7867FC3-485B-4C25-86AF-DF1C77CFF6E9}" type="slidenum">
              <a:rPr lang="en-US" smtClean="0"/>
              <a:pPr/>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7"/>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9102CEF4-2AC1-4D40-834A-998A644CFCCC}" type="datetimeFigureOut">
              <a:rPr lang="en-US" smtClean="0">
                <a:solidFill>
                  <a:prstClr val="black">
                    <a:tint val="75000"/>
                  </a:prstClr>
                </a:solidFill>
              </a:rPr>
              <a:pPr/>
              <a:t>12/18/2022</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07867FC3-485B-4C25-86AF-DF1C77CFF6E9}"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322150224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9102CEF4-2AC1-4D40-834A-998A644CFCCC}" type="datetimeFigureOut">
              <a:rPr lang="en-US" smtClean="0">
                <a:solidFill>
                  <a:prstClr val="black">
                    <a:tint val="75000"/>
                  </a:prstClr>
                </a:solidFill>
              </a:rPr>
              <a:pPr/>
              <a:t>12/18/2022</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07867FC3-485B-4C25-86AF-DF1C77CFF6E9}"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274498462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2"/>
            <a:ext cx="7772400" cy="1362075"/>
          </a:xfrm>
        </p:spPr>
        <p:txBody>
          <a:bodyPr anchor="t"/>
          <a:lstStyle>
            <a:lvl1pPr algn="l">
              <a:defRPr sz="3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1500">
                <a:solidFill>
                  <a:schemeClr val="tx1">
                    <a:tint val="7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9102CEF4-2AC1-4D40-834A-998A644CFCCC}" type="datetimeFigureOut">
              <a:rPr lang="en-US" smtClean="0">
                <a:solidFill>
                  <a:prstClr val="black">
                    <a:tint val="75000"/>
                  </a:prstClr>
                </a:solidFill>
              </a:rPr>
              <a:pPr/>
              <a:t>12/18/2022</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07867FC3-485B-4C25-86AF-DF1C77CFF6E9}"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386937251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2"/>
            <a:ext cx="4038600" cy="4525963"/>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2"/>
            <a:ext cx="4038600" cy="4525963"/>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9102CEF4-2AC1-4D40-834A-998A644CFCCC}" type="datetimeFigureOut">
              <a:rPr lang="en-US" smtClean="0">
                <a:solidFill>
                  <a:prstClr val="black">
                    <a:tint val="75000"/>
                  </a:prstClr>
                </a:solidFill>
              </a:rPr>
              <a:pPr/>
              <a:t>12/18/2022</a:t>
            </a:fld>
            <a:endParaRPr lang="en-US">
              <a:solidFill>
                <a:prstClr val="black">
                  <a:tint val="75000"/>
                </a:prstClr>
              </a:solidFill>
            </a:endParaRPr>
          </a:p>
        </p:txBody>
      </p:sp>
      <p:sp>
        <p:nvSpPr>
          <p:cNvPr id="6" name="Footer Placeholder 5"/>
          <p:cNvSpPr>
            <a:spLocks noGrp="1"/>
          </p:cNvSpPr>
          <p:nvPr>
            <p:ph type="ftr" sz="quarter" idx="11"/>
          </p:nvPr>
        </p:nvSpPr>
        <p:spPr/>
        <p:txBody>
          <a:bodyPr/>
          <a:lstStyle/>
          <a:p>
            <a:endParaRPr lang="en-US">
              <a:solidFill>
                <a:prstClr val="black">
                  <a:tint val="75000"/>
                </a:prstClr>
              </a:solidFill>
            </a:endParaRPr>
          </a:p>
        </p:txBody>
      </p:sp>
      <p:sp>
        <p:nvSpPr>
          <p:cNvPr id="7" name="Slide Number Placeholder 6"/>
          <p:cNvSpPr>
            <a:spLocks noGrp="1"/>
          </p:cNvSpPr>
          <p:nvPr>
            <p:ph type="sldNum" sz="quarter" idx="12"/>
          </p:nvPr>
        </p:nvSpPr>
        <p:spPr/>
        <p:txBody>
          <a:bodyPr/>
          <a:lstStyle/>
          <a:p>
            <a:fld id="{07867FC3-485B-4C25-86AF-DF1C77CFF6E9}"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340439922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6" y="1535113"/>
            <a:ext cx="4041775" cy="63976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smtClean="0"/>
              <a:t>Click to edit Master text styles</a:t>
            </a:r>
          </a:p>
        </p:txBody>
      </p:sp>
      <p:sp>
        <p:nvSpPr>
          <p:cNvPr id="6" name="Content Placeholder 5"/>
          <p:cNvSpPr>
            <a:spLocks noGrp="1"/>
          </p:cNvSpPr>
          <p:nvPr>
            <p:ph sz="quarter" idx="4"/>
          </p:nvPr>
        </p:nvSpPr>
        <p:spPr>
          <a:xfrm>
            <a:off x="4645026" y="2174875"/>
            <a:ext cx="4041775" cy="3951288"/>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9102CEF4-2AC1-4D40-834A-998A644CFCCC}" type="datetimeFigureOut">
              <a:rPr lang="en-US" smtClean="0">
                <a:solidFill>
                  <a:prstClr val="black">
                    <a:tint val="75000"/>
                  </a:prstClr>
                </a:solidFill>
              </a:rPr>
              <a:pPr/>
              <a:t>12/18/2022</a:t>
            </a:fld>
            <a:endParaRPr lang="en-US">
              <a:solidFill>
                <a:prstClr val="black">
                  <a:tint val="75000"/>
                </a:prstClr>
              </a:solidFill>
            </a:endParaRPr>
          </a:p>
        </p:txBody>
      </p:sp>
      <p:sp>
        <p:nvSpPr>
          <p:cNvPr id="8" name="Footer Placeholder 7"/>
          <p:cNvSpPr>
            <a:spLocks noGrp="1"/>
          </p:cNvSpPr>
          <p:nvPr>
            <p:ph type="ftr" sz="quarter" idx="11"/>
          </p:nvPr>
        </p:nvSpPr>
        <p:spPr/>
        <p:txBody>
          <a:bodyPr/>
          <a:lstStyle/>
          <a:p>
            <a:endParaRPr lang="en-US">
              <a:solidFill>
                <a:prstClr val="black">
                  <a:tint val="75000"/>
                </a:prstClr>
              </a:solidFill>
            </a:endParaRPr>
          </a:p>
        </p:txBody>
      </p:sp>
      <p:sp>
        <p:nvSpPr>
          <p:cNvPr id="9" name="Slide Number Placeholder 8"/>
          <p:cNvSpPr>
            <a:spLocks noGrp="1"/>
          </p:cNvSpPr>
          <p:nvPr>
            <p:ph type="sldNum" sz="quarter" idx="12"/>
          </p:nvPr>
        </p:nvSpPr>
        <p:spPr/>
        <p:txBody>
          <a:bodyPr/>
          <a:lstStyle/>
          <a:p>
            <a:fld id="{07867FC3-485B-4C25-86AF-DF1C77CFF6E9}"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297336856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9102CEF4-2AC1-4D40-834A-998A644CFCCC}" type="datetimeFigureOut">
              <a:rPr lang="en-US" smtClean="0">
                <a:solidFill>
                  <a:prstClr val="black">
                    <a:tint val="75000"/>
                  </a:prstClr>
                </a:solidFill>
              </a:rPr>
              <a:pPr/>
              <a:t>12/18/2022</a:t>
            </a:fld>
            <a:endParaRPr lang="en-US">
              <a:solidFill>
                <a:prstClr val="black">
                  <a:tint val="75000"/>
                </a:prstClr>
              </a:solidFill>
            </a:endParaRPr>
          </a:p>
        </p:txBody>
      </p:sp>
      <p:sp>
        <p:nvSpPr>
          <p:cNvPr id="4" name="Footer Placeholder 3"/>
          <p:cNvSpPr>
            <a:spLocks noGrp="1"/>
          </p:cNvSpPr>
          <p:nvPr>
            <p:ph type="ftr" sz="quarter" idx="11"/>
          </p:nvPr>
        </p:nvSpPr>
        <p:spPr/>
        <p:txBody>
          <a:bodyPr/>
          <a:lstStyle/>
          <a:p>
            <a:endParaRPr lang="en-US">
              <a:solidFill>
                <a:prstClr val="black">
                  <a:tint val="75000"/>
                </a:prstClr>
              </a:solidFill>
            </a:endParaRPr>
          </a:p>
        </p:txBody>
      </p:sp>
      <p:sp>
        <p:nvSpPr>
          <p:cNvPr id="5" name="Slide Number Placeholder 4"/>
          <p:cNvSpPr>
            <a:spLocks noGrp="1"/>
          </p:cNvSpPr>
          <p:nvPr>
            <p:ph type="sldNum" sz="quarter" idx="12"/>
          </p:nvPr>
        </p:nvSpPr>
        <p:spPr/>
        <p:txBody>
          <a:bodyPr/>
          <a:lstStyle/>
          <a:p>
            <a:fld id="{07867FC3-485B-4C25-86AF-DF1C77CFF6E9}"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1397362705"/>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102CEF4-2AC1-4D40-834A-998A644CFCCC}" type="datetimeFigureOut">
              <a:rPr lang="en-US" smtClean="0">
                <a:solidFill>
                  <a:prstClr val="black">
                    <a:tint val="75000"/>
                  </a:prstClr>
                </a:solidFill>
              </a:rPr>
              <a:pPr/>
              <a:t>12/18/2022</a:t>
            </a:fld>
            <a:endParaRPr lang="en-US">
              <a:solidFill>
                <a:prstClr val="black">
                  <a:tint val="75000"/>
                </a:prstClr>
              </a:solidFill>
            </a:endParaRPr>
          </a:p>
        </p:txBody>
      </p:sp>
      <p:sp>
        <p:nvSpPr>
          <p:cNvPr id="3" name="Footer Placeholder 2"/>
          <p:cNvSpPr>
            <a:spLocks noGrp="1"/>
          </p:cNvSpPr>
          <p:nvPr>
            <p:ph type="ftr" sz="quarter" idx="11"/>
          </p:nvPr>
        </p:nvSpPr>
        <p:spPr/>
        <p:txBody>
          <a:bodyPr/>
          <a:lstStyle/>
          <a:p>
            <a:endParaRPr lang="en-US">
              <a:solidFill>
                <a:prstClr val="black">
                  <a:tint val="75000"/>
                </a:prstClr>
              </a:solidFill>
            </a:endParaRPr>
          </a:p>
        </p:txBody>
      </p:sp>
      <p:sp>
        <p:nvSpPr>
          <p:cNvPr id="4" name="Slide Number Placeholder 3"/>
          <p:cNvSpPr>
            <a:spLocks noGrp="1"/>
          </p:cNvSpPr>
          <p:nvPr>
            <p:ph type="sldNum" sz="quarter" idx="12"/>
          </p:nvPr>
        </p:nvSpPr>
        <p:spPr/>
        <p:txBody>
          <a:bodyPr/>
          <a:lstStyle/>
          <a:p>
            <a:fld id="{07867FC3-485B-4C25-86AF-DF1C77CFF6E9}"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569440696"/>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73050"/>
            <a:ext cx="3008313" cy="1162050"/>
          </a:xfrm>
        </p:spPr>
        <p:txBody>
          <a:bodyPr anchor="b"/>
          <a:lstStyle>
            <a:lvl1pPr algn="l">
              <a:defRPr sz="1500" b="1"/>
            </a:lvl1pPr>
          </a:lstStyle>
          <a:p>
            <a:r>
              <a:rPr lang="en-US" smtClean="0"/>
              <a:t>Click to edit Master title style</a:t>
            </a:r>
            <a:endParaRPr lang="en-US"/>
          </a:p>
        </p:txBody>
      </p:sp>
      <p:sp>
        <p:nvSpPr>
          <p:cNvPr id="3" name="Content Placeholder 2"/>
          <p:cNvSpPr>
            <a:spLocks noGrp="1"/>
          </p:cNvSpPr>
          <p:nvPr>
            <p:ph idx="1"/>
          </p:nvPr>
        </p:nvSpPr>
        <p:spPr>
          <a:xfrm>
            <a:off x="3575050" y="273052"/>
            <a:ext cx="5111750" cy="5853113"/>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1" y="1435102"/>
            <a:ext cx="3008313" cy="4691063"/>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9102CEF4-2AC1-4D40-834A-998A644CFCCC}" type="datetimeFigureOut">
              <a:rPr lang="en-US" smtClean="0">
                <a:solidFill>
                  <a:prstClr val="black">
                    <a:tint val="75000"/>
                  </a:prstClr>
                </a:solidFill>
              </a:rPr>
              <a:pPr/>
              <a:t>12/18/2022</a:t>
            </a:fld>
            <a:endParaRPr lang="en-US">
              <a:solidFill>
                <a:prstClr val="black">
                  <a:tint val="75000"/>
                </a:prstClr>
              </a:solidFill>
            </a:endParaRPr>
          </a:p>
        </p:txBody>
      </p:sp>
      <p:sp>
        <p:nvSpPr>
          <p:cNvPr id="6" name="Footer Placeholder 5"/>
          <p:cNvSpPr>
            <a:spLocks noGrp="1"/>
          </p:cNvSpPr>
          <p:nvPr>
            <p:ph type="ftr" sz="quarter" idx="11"/>
          </p:nvPr>
        </p:nvSpPr>
        <p:spPr/>
        <p:txBody>
          <a:bodyPr/>
          <a:lstStyle/>
          <a:p>
            <a:endParaRPr lang="en-US">
              <a:solidFill>
                <a:prstClr val="black">
                  <a:tint val="75000"/>
                </a:prstClr>
              </a:solidFill>
            </a:endParaRPr>
          </a:p>
        </p:txBody>
      </p:sp>
      <p:sp>
        <p:nvSpPr>
          <p:cNvPr id="7" name="Slide Number Placeholder 6"/>
          <p:cNvSpPr>
            <a:spLocks noGrp="1"/>
          </p:cNvSpPr>
          <p:nvPr>
            <p:ph type="sldNum" sz="quarter" idx="12"/>
          </p:nvPr>
        </p:nvSpPr>
        <p:spPr/>
        <p:txBody>
          <a:bodyPr/>
          <a:lstStyle/>
          <a:p>
            <a:fld id="{07867FC3-485B-4C25-86AF-DF1C77CFF6E9}"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3500190621"/>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15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9102CEF4-2AC1-4D40-834A-998A644CFCCC}" type="datetimeFigureOut">
              <a:rPr lang="en-US" smtClean="0">
                <a:solidFill>
                  <a:prstClr val="black">
                    <a:tint val="75000"/>
                  </a:prstClr>
                </a:solidFill>
              </a:rPr>
              <a:pPr/>
              <a:t>12/18/2022</a:t>
            </a:fld>
            <a:endParaRPr lang="en-US">
              <a:solidFill>
                <a:prstClr val="black">
                  <a:tint val="75000"/>
                </a:prstClr>
              </a:solidFill>
            </a:endParaRPr>
          </a:p>
        </p:txBody>
      </p:sp>
      <p:sp>
        <p:nvSpPr>
          <p:cNvPr id="6" name="Footer Placeholder 5"/>
          <p:cNvSpPr>
            <a:spLocks noGrp="1"/>
          </p:cNvSpPr>
          <p:nvPr>
            <p:ph type="ftr" sz="quarter" idx="11"/>
          </p:nvPr>
        </p:nvSpPr>
        <p:spPr/>
        <p:txBody>
          <a:bodyPr/>
          <a:lstStyle/>
          <a:p>
            <a:endParaRPr lang="en-US">
              <a:solidFill>
                <a:prstClr val="black">
                  <a:tint val="75000"/>
                </a:prstClr>
              </a:solidFill>
            </a:endParaRPr>
          </a:p>
        </p:txBody>
      </p:sp>
      <p:sp>
        <p:nvSpPr>
          <p:cNvPr id="7" name="Slide Number Placeholder 6"/>
          <p:cNvSpPr>
            <a:spLocks noGrp="1"/>
          </p:cNvSpPr>
          <p:nvPr>
            <p:ph type="sldNum" sz="quarter" idx="12"/>
          </p:nvPr>
        </p:nvSpPr>
        <p:spPr/>
        <p:txBody>
          <a:bodyPr/>
          <a:lstStyle/>
          <a:p>
            <a:fld id="{07867FC3-485B-4C25-86AF-DF1C77CFF6E9}"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2312992515"/>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9102CEF4-2AC1-4D40-834A-998A644CFCCC}" type="datetimeFigureOut">
              <a:rPr lang="en-US" smtClean="0">
                <a:solidFill>
                  <a:prstClr val="black">
                    <a:tint val="75000"/>
                  </a:prstClr>
                </a:solidFill>
              </a:rPr>
              <a:pPr/>
              <a:t>12/18/2022</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07867FC3-485B-4C25-86AF-DF1C77CFF6E9}"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3664176829"/>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40"/>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40"/>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9102CEF4-2AC1-4D40-834A-998A644CFCCC}" type="datetimeFigureOut">
              <a:rPr lang="en-US" smtClean="0">
                <a:solidFill>
                  <a:prstClr val="black">
                    <a:tint val="75000"/>
                  </a:prstClr>
                </a:solidFill>
              </a:rPr>
              <a:pPr/>
              <a:t>12/18/2022</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07867FC3-485B-4C25-86AF-DF1C77CFF6E9}"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260977280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102CEF4-2AC1-4D40-834A-998A644CFCCC}" type="datetimeFigureOut">
              <a:rPr lang="en-US" smtClean="0"/>
              <a:pPr/>
              <a:t>12/18/2022</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7867FC3-485B-4C25-86AF-DF1C77CFF6E9}"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2"/>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2"/>
            <a:ext cx="2133600" cy="365125"/>
          </a:xfrm>
          <a:prstGeom prst="rect">
            <a:avLst/>
          </a:prstGeom>
        </p:spPr>
        <p:txBody>
          <a:bodyPr vert="horz" lIns="91440" tIns="45720" rIns="91440" bIns="45720" rtlCol="0" anchor="ctr"/>
          <a:lstStyle>
            <a:lvl1pPr algn="l">
              <a:defRPr sz="900">
                <a:solidFill>
                  <a:schemeClr val="tx1">
                    <a:tint val="75000"/>
                  </a:schemeClr>
                </a:solidFill>
              </a:defRPr>
            </a:lvl1pPr>
          </a:lstStyle>
          <a:p>
            <a:fld id="{9102CEF4-2AC1-4D40-834A-998A644CFCCC}" type="datetimeFigureOut">
              <a:rPr lang="en-US" smtClean="0">
                <a:solidFill>
                  <a:prstClr val="black">
                    <a:tint val="75000"/>
                  </a:prstClr>
                </a:solidFill>
              </a:rPr>
              <a:pPr/>
              <a:t>12/18/2022</a:t>
            </a:fld>
            <a:endParaRPr lang="en-US">
              <a:solidFill>
                <a:prstClr val="black">
                  <a:tint val="75000"/>
                </a:prstClr>
              </a:solidFill>
            </a:endParaRPr>
          </a:p>
        </p:txBody>
      </p:sp>
      <p:sp>
        <p:nvSpPr>
          <p:cNvPr id="5" name="Footer Placeholder 4"/>
          <p:cNvSpPr>
            <a:spLocks noGrp="1"/>
          </p:cNvSpPr>
          <p:nvPr>
            <p:ph type="ftr" sz="quarter" idx="3"/>
          </p:nvPr>
        </p:nvSpPr>
        <p:spPr>
          <a:xfrm>
            <a:off x="3124200" y="6356352"/>
            <a:ext cx="2895600" cy="365125"/>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en-US">
              <a:solidFill>
                <a:prstClr val="black">
                  <a:tint val="75000"/>
                </a:prstClr>
              </a:solidFill>
            </a:endParaRPr>
          </a:p>
        </p:txBody>
      </p:sp>
      <p:sp>
        <p:nvSpPr>
          <p:cNvPr id="6" name="Slide Number Placeholder 5"/>
          <p:cNvSpPr>
            <a:spLocks noGrp="1"/>
          </p:cNvSpPr>
          <p:nvPr>
            <p:ph type="sldNum" sz="quarter" idx="4"/>
          </p:nvPr>
        </p:nvSpPr>
        <p:spPr>
          <a:xfrm>
            <a:off x="6553200" y="6356352"/>
            <a:ext cx="2133600"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07867FC3-485B-4C25-86AF-DF1C77CFF6E9}"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1289956749"/>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ctr" defTabSz="685800" rtl="0" eaLnBrk="1" latinLnBrk="0" hangingPunct="1">
        <a:spcBef>
          <a:spcPct val="0"/>
        </a:spcBef>
        <a:buNone/>
        <a:defRPr sz="3300" kern="1200">
          <a:solidFill>
            <a:schemeClr val="tx1"/>
          </a:solidFill>
          <a:latin typeface="+mj-lt"/>
          <a:ea typeface="+mj-ea"/>
          <a:cs typeface="+mj-cs"/>
        </a:defRPr>
      </a:lvl1pPr>
    </p:titleStyle>
    <p:bodyStyle>
      <a:lvl1pPr marL="257175" indent="-257175" algn="l" defTabSz="685800" rtl="0" eaLnBrk="1" latinLnBrk="0" hangingPunct="1">
        <a:spcBef>
          <a:spcPct val="20000"/>
        </a:spcBef>
        <a:buFont typeface="Arial" pitchFamily="34" charset="0"/>
        <a:buChar char="•"/>
        <a:defRPr sz="2400" kern="1200">
          <a:solidFill>
            <a:schemeClr val="tx1"/>
          </a:solidFill>
          <a:latin typeface="+mn-lt"/>
          <a:ea typeface="+mn-ea"/>
          <a:cs typeface="+mn-cs"/>
        </a:defRPr>
      </a:lvl1pPr>
      <a:lvl2pPr marL="557213" indent="-214313" algn="l" defTabSz="685800" rtl="0" eaLnBrk="1" latinLnBrk="0" hangingPunct="1">
        <a:spcBef>
          <a:spcPct val="20000"/>
        </a:spcBef>
        <a:buFont typeface="Arial" pitchFamily="34" charset="0"/>
        <a:buChar char="–"/>
        <a:defRPr sz="2100" kern="1200">
          <a:solidFill>
            <a:schemeClr val="tx1"/>
          </a:solidFill>
          <a:latin typeface="+mn-lt"/>
          <a:ea typeface="+mn-ea"/>
          <a:cs typeface="+mn-cs"/>
        </a:defRPr>
      </a:lvl2pPr>
      <a:lvl3pPr marL="857250" indent="-171450" algn="l" defTabSz="685800" rtl="0" eaLnBrk="1" latinLnBrk="0" hangingPunct="1">
        <a:spcBef>
          <a:spcPct val="20000"/>
        </a:spcBef>
        <a:buFont typeface="Arial" pitchFamily="34" charset="0"/>
        <a:buChar char="•"/>
        <a:defRPr sz="1800" kern="1200">
          <a:solidFill>
            <a:schemeClr val="tx1"/>
          </a:solidFill>
          <a:latin typeface="+mn-lt"/>
          <a:ea typeface="+mn-ea"/>
          <a:cs typeface="+mn-cs"/>
        </a:defRPr>
      </a:lvl3pPr>
      <a:lvl4pPr marL="12001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4pPr>
      <a:lvl5pPr marL="15430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5pPr>
      <a:lvl6pPr marL="18859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6pPr>
      <a:lvl7pPr marL="22288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7pPr>
      <a:lvl8pPr marL="25717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8pPr>
      <a:lvl9pPr marL="29146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openxmlformats.org/officeDocument/2006/relationships/image" Target="../media/image7.emf"/><Relationship Id="rId13" Type="http://schemas.openxmlformats.org/officeDocument/2006/relationships/image" Target="../media/image12.emf"/><Relationship Id="rId3" Type="http://schemas.openxmlformats.org/officeDocument/2006/relationships/image" Target="../media/image2.emf"/><Relationship Id="rId7" Type="http://schemas.openxmlformats.org/officeDocument/2006/relationships/image" Target="../media/image6.emf"/><Relationship Id="rId12" Type="http://schemas.openxmlformats.org/officeDocument/2006/relationships/image" Target="../media/image11.emf"/><Relationship Id="rId2" Type="http://schemas.openxmlformats.org/officeDocument/2006/relationships/image" Target="../media/image1.emf"/><Relationship Id="rId1" Type="http://schemas.openxmlformats.org/officeDocument/2006/relationships/slideLayout" Target="../slideLayouts/slideLayout18.xml"/><Relationship Id="rId6" Type="http://schemas.openxmlformats.org/officeDocument/2006/relationships/image" Target="../media/image5.emf"/><Relationship Id="rId11" Type="http://schemas.openxmlformats.org/officeDocument/2006/relationships/image" Target="../media/image10.emf"/><Relationship Id="rId5" Type="http://schemas.openxmlformats.org/officeDocument/2006/relationships/image" Target="../media/image4.emf"/><Relationship Id="rId10" Type="http://schemas.openxmlformats.org/officeDocument/2006/relationships/image" Target="../media/image9.emf"/><Relationship Id="rId4" Type="http://schemas.openxmlformats.org/officeDocument/2006/relationships/image" Target="../media/image3.emf"/><Relationship Id="rId9" Type="http://schemas.openxmlformats.org/officeDocument/2006/relationships/image" Target="../media/image8.emf"/></Relationships>
</file>

<file path=ppt/slides/_rels/slide3.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15.emf"/><Relationship Id="rId2" Type="http://schemas.openxmlformats.org/officeDocument/2006/relationships/image" Target="../media/image14.emf"/><Relationship Id="rId1" Type="http://schemas.openxmlformats.org/officeDocument/2006/relationships/slideLayout" Target="../slideLayouts/slideLayout7.xml"/><Relationship Id="rId5" Type="http://schemas.openxmlformats.org/officeDocument/2006/relationships/image" Target="../media/image17.emf"/><Relationship Id="rId4" Type="http://schemas.openxmlformats.org/officeDocument/2006/relationships/image" Target="../media/image16.emf"/></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8" Type="http://schemas.openxmlformats.org/officeDocument/2006/relationships/image" Target="../media/image26.emf"/><Relationship Id="rId3" Type="http://schemas.openxmlformats.org/officeDocument/2006/relationships/image" Target="../media/image21.wmf"/><Relationship Id="rId7" Type="http://schemas.openxmlformats.org/officeDocument/2006/relationships/image" Target="../media/image25.emf"/><Relationship Id="rId2" Type="http://schemas.openxmlformats.org/officeDocument/2006/relationships/image" Target="../media/image20.wmf"/><Relationship Id="rId1" Type="http://schemas.openxmlformats.org/officeDocument/2006/relationships/slideLayout" Target="../slideLayouts/slideLayout7.xml"/><Relationship Id="rId6" Type="http://schemas.openxmlformats.org/officeDocument/2006/relationships/image" Target="../media/image24.emf"/><Relationship Id="rId5" Type="http://schemas.openxmlformats.org/officeDocument/2006/relationships/image" Target="../media/image23.emf"/><Relationship Id="rId4" Type="http://schemas.openxmlformats.org/officeDocument/2006/relationships/image" Target="../media/image22.emf"/></Relationships>
</file>

<file path=ppt/slides/_rels/slide10.xml.rels><?xml version="1.0" encoding="UTF-8" standalone="yes"?>
<Relationships xmlns="http://schemas.openxmlformats.org/package/2006/relationships"><Relationship Id="rId3" Type="http://schemas.openxmlformats.org/officeDocument/2006/relationships/image" Target="../media/image28.emf"/><Relationship Id="rId2" Type="http://schemas.openxmlformats.org/officeDocument/2006/relationships/image" Target="../media/image27.emf"/><Relationship Id="rId1" Type="http://schemas.openxmlformats.org/officeDocument/2006/relationships/slideLayout" Target="../slideLayouts/slideLayout7.xml"/><Relationship Id="rId6" Type="http://schemas.openxmlformats.org/officeDocument/2006/relationships/image" Target="../media/image31.emf"/><Relationship Id="rId5" Type="http://schemas.openxmlformats.org/officeDocument/2006/relationships/image" Target="../media/image30.emf"/><Relationship Id="rId4" Type="http://schemas.openxmlformats.org/officeDocument/2006/relationships/image" Target="../media/image29.emf"/></Relationships>
</file>

<file path=ppt/slides/_rels/slide11.xml.rels><?xml version="1.0" encoding="UTF-8" standalone="yes"?>
<Relationships xmlns="http://schemas.openxmlformats.org/package/2006/relationships"><Relationship Id="rId8" Type="http://schemas.openxmlformats.org/officeDocument/2006/relationships/image" Target="../media/image38.emf"/><Relationship Id="rId3" Type="http://schemas.openxmlformats.org/officeDocument/2006/relationships/image" Target="../media/image33.emf"/><Relationship Id="rId7" Type="http://schemas.openxmlformats.org/officeDocument/2006/relationships/image" Target="../media/image37.emf"/><Relationship Id="rId2" Type="http://schemas.openxmlformats.org/officeDocument/2006/relationships/image" Target="../media/image32.emf"/><Relationship Id="rId1" Type="http://schemas.openxmlformats.org/officeDocument/2006/relationships/slideLayout" Target="../slideLayouts/slideLayout7.xml"/><Relationship Id="rId6" Type="http://schemas.openxmlformats.org/officeDocument/2006/relationships/image" Target="../media/image36.emf"/><Relationship Id="rId5" Type="http://schemas.openxmlformats.org/officeDocument/2006/relationships/image" Target="../media/image35.emf"/><Relationship Id="rId4" Type="http://schemas.openxmlformats.org/officeDocument/2006/relationships/image" Target="../media/image34.emf"/><Relationship Id="rId9" Type="http://schemas.openxmlformats.org/officeDocument/2006/relationships/image" Target="../media/image39.emf"/></Relationships>
</file>

<file path=ppt/slides/_rels/slide12.xml.rels><?xml version="1.0" encoding="UTF-8" standalone="yes"?>
<Relationships xmlns="http://schemas.openxmlformats.org/package/2006/relationships"><Relationship Id="rId8" Type="http://schemas.openxmlformats.org/officeDocument/2006/relationships/image" Target="../media/image46.wmf"/><Relationship Id="rId3" Type="http://schemas.openxmlformats.org/officeDocument/2006/relationships/image" Target="../media/image41.emf"/><Relationship Id="rId7" Type="http://schemas.openxmlformats.org/officeDocument/2006/relationships/image" Target="../media/image45.wmf"/><Relationship Id="rId2" Type="http://schemas.openxmlformats.org/officeDocument/2006/relationships/image" Target="../media/image40.emf"/><Relationship Id="rId1" Type="http://schemas.openxmlformats.org/officeDocument/2006/relationships/slideLayout" Target="../slideLayouts/slideLayout7.xml"/><Relationship Id="rId6" Type="http://schemas.openxmlformats.org/officeDocument/2006/relationships/image" Target="../media/image44.emf"/><Relationship Id="rId5" Type="http://schemas.openxmlformats.org/officeDocument/2006/relationships/image" Target="../media/image43.emf"/><Relationship Id="rId4" Type="http://schemas.openxmlformats.org/officeDocument/2006/relationships/image" Target="../media/image42.emf"/></Relationships>
</file>

<file path=ppt/slides/_rels/slide13.xml.rels><?xml version="1.0" encoding="UTF-8" standalone="yes"?>
<Relationships xmlns="http://schemas.openxmlformats.org/package/2006/relationships"><Relationship Id="rId3" Type="http://schemas.openxmlformats.org/officeDocument/2006/relationships/image" Target="../media/image48.wmf"/><Relationship Id="rId2" Type="http://schemas.openxmlformats.org/officeDocument/2006/relationships/image" Target="../media/image47.wmf"/><Relationship Id="rId1" Type="http://schemas.openxmlformats.org/officeDocument/2006/relationships/slideLayout" Target="../slideLayouts/slideLayout7.xml"/><Relationship Id="rId4" Type="http://schemas.openxmlformats.org/officeDocument/2006/relationships/image" Target="../media/image49.emf"/></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8" Type="http://schemas.openxmlformats.org/officeDocument/2006/relationships/image" Target="../media/image56.emf"/><Relationship Id="rId3" Type="http://schemas.openxmlformats.org/officeDocument/2006/relationships/image" Target="../media/image51.emf"/><Relationship Id="rId7" Type="http://schemas.openxmlformats.org/officeDocument/2006/relationships/image" Target="../media/image55.emf"/><Relationship Id="rId2" Type="http://schemas.openxmlformats.org/officeDocument/2006/relationships/image" Target="../media/image50.emf"/><Relationship Id="rId1" Type="http://schemas.openxmlformats.org/officeDocument/2006/relationships/slideLayout" Target="../slideLayouts/slideLayout1.xml"/><Relationship Id="rId6" Type="http://schemas.openxmlformats.org/officeDocument/2006/relationships/image" Target="../media/image54.emf"/><Relationship Id="rId11" Type="http://schemas.openxmlformats.org/officeDocument/2006/relationships/image" Target="../media/image59.emf"/><Relationship Id="rId5" Type="http://schemas.openxmlformats.org/officeDocument/2006/relationships/image" Target="../media/image53.emf"/><Relationship Id="rId10" Type="http://schemas.openxmlformats.org/officeDocument/2006/relationships/image" Target="../media/image58.emf"/><Relationship Id="rId4" Type="http://schemas.openxmlformats.org/officeDocument/2006/relationships/image" Target="../media/image52.emf"/><Relationship Id="rId9" Type="http://schemas.openxmlformats.org/officeDocument/2006/relationships/image" Target="../media/image57.emf"/></Relationships>
</file>

<file path=ppt/slides/_rels/slide16.xml.rels><?xml version="1.0" encoding="UTF-8" standalone="yes"?>
<Relationships xmlns="http://schemas.openxmlformats.org/package/2006/relationships"><Relationship Id="rId3" Type="http://schemas.openxmlformats.org/officeDocument/2006/relationships/image" Target="../media/image61.emf"/><Relationship Id="rId7" Type="http://schemas.openxmlformats.org/officeDocument/2006/relationships/image" Target="../media/image65.emf"/><Relationship Id="rId2" Type="http://schemas.openxmlformats.org/officeDocument/2006/relationships/image" Target="../media/image60.emf"/><Relationship Id="rId1" Type="http://schemas.openxmlformats.org/officeDocument/2006/relationships/slideLayout" Target="../slideLayouts/slideLayout1.xml"/><Relationship Id="rId6" Type="http://schemas.openxmlformats.org/officeDocument/2006/relationships/image" Target="../media/image64.emf"/><Relationship Id="rId5" Type="http://schemas.openxmlformats.org/officeDocument/2006/relationships/image" Target="../media/image63.emf"/><Relationship Id="rId4" Type="http://schemas.openxmlformats.org/officeDocument/2006/relationships/image" Target="../media/image62.emf"/></Relationships>
</file>

<file path=ppt/slides/_rels/slide17.xml.rels><?xml version="1.0" encoding="UTF-8" standalone="yes"?>
<Relationships xmlns="http://schemas.openxmlformats.org/package/2006/relationships"><Relationship Id="rId3" Type="http://schemas.openxmlformats.org/officeDocument/2006/relationships/image" Target="../media/image67.emf"/><Relationship Id="rId7" Type="http://schemas.openxmlformats.org/officeDocument/2006/relationships/image" Target="../media/image71.wmf"/><Relationship Id="rId2" Type="http://schemas.openxmlformats.org/officeDocument/2006/relationships/image" Target="../media/image66.emf"/><Relationship Id="rId1" Type="http://schemas.openxmlformats.org/officeDocument/2006/relationships/slideLayout" Target="../slideLayouts/slideLayout1.xml"/><Relationship Id="rId6" Type="http://schemas.openxmlformats.org/officeDocument/2006/relationships/image" Target="../media/image70.wmf"/><Relationship Id="rId5" Type="http://schemas.openxmlformats.org/officeDocument/2006/relationships/image" Target="../media/image69.wmf"/><Relationship Id="rId4" Type="http://schemas.openxmlformats.org/officeDocument/2006/relationships/image" Target="../media/image68.emf"/></Relationships>
</file>

<file path=ppt/slides/_rels/slide18.xml.rels><?xml version="1.0" encoding="UTF-8" standalone="yes"?>
<Relationships xmlns="http://schemas.openxmlformats.org/package/2006/relationships"><Relationship Id="rId3" Type="http://schemas.openxmlformats.org/officeDocument/2006/relationships/image" Target="../media/image73.emf"/><Relationship Id="rId2" Type="http://schemas.openxmlformats.org/officeDocument/2006/relationships/image" Target="../media/image72.emf"/><Relationship Id="rId1" Type="http://schemas.openxmlformats.org/officeDocument/2006/relationships/slideLayout" Target="../slideLayouts/slideLayout7.xml"/><Relationship Id="rId5" Type="http://schemas.openxmlformats.org/officeDocument/2006/relationships/image" Target="../media/image75.png"/><Relationship Id="rId4" Type="http://schemas.openxmlformats.org/officeDocument/2006/relationships/image" Target="../media/image74.wmf"/></Relationships>
</file>

<file path=ppt/slides/_rels/slide19.xml.rels><?xml version="1.0" encoding="UTF-8" standalone="yes"?>
<Relationships xmlns="http://schemas.openxmlformats.org/package/2006/relationships"><Relationship Id="rId8" Type="http://schemas.openxmlformats.org/officeDocument/2006/relationships/image" Target="../media/image82.emf"/><Relationship Id="rId3" Type="http://schemas.openxmlformats.org/officeDocument/2006/relationships/image" Target="../media/image77.emf"/><Relationship Id="rId7" Type="http://schemas.openxmlformats.org/officeDocument/2006/relationships/image" Target="../media/image81.emf"/><Relationship Id="rId2" Type="http://schemas.openxmlformats.org/officeDocument/2006/relationships/image" Target="../media/image76.emf"/><Relationship Id="rId1" Type="http://schemas.openxmlformats.org/officeDocument/2006/relationships/slideLayout" Target="../slideLayouts/slideLayout1.xml"/><Relationship Id="rId6" Type="http://schemas.openxmlformats.org/officeDocument/2006/relationships/image" Target="../media/image80.emf"/><Relationship Id="rId5" Type="http://schemas.openxmlformats.org/officeDocument/2006/relationships/image" Target="../media/image79.emf"/><Relationship Id="rId4" Type="http://schemas.openxmlformats.org/officeDocument/2006/relationships/image" Target="../media/image78.emf"/><Relationship Id="rId9" Type="http://schemas.openxmlformats.org/officeDocument/2006/relationships/image" Target="../media/image83.emf"/></Relationships>
</file>

<file path=ppt/slides/_rels/slide20.xml.rels><?xml version="1.0" encoding="UTF-8" standalone="yes"?>
<Relationships xmlns="http://schemas.openxmlformats.org/package/2006/relationships"><Relationship Id="rId8" Type="http://schemas.openxmlformats.org/officeDocument/2006/relationships/image" Target="../media/image90.emf"/><Relationship Id="rId3" Type="http://schemas.openxmlformats.org/officeDocument/2006/relationships/image" Target="../media/image85.emf"/><Relationship Id="rId7" Type="http://schemas.openxmlformats.org/officeDocument/2006/relationships/image" Target="../media/image89.emf"/><Relationship Id="rId2" Type="http://schemas.openxmlformats.org/officeDocument/2006/relationships/image" Target="../media/image84.emf"/><Relationship Id="rId1" Type="http://schemas.openxmlformats.org/officeDocument/2006/relationships/slideLayout" Target="../slideLayouts/slideLayout1.xml"/><Relationship Id="rId6" Type="http://schemas.openxmlformats.org/officeDocument/2006/relationships/image" Target="../media/image88.emf"/><Relationship Id="rId5" Type="http://schemas.openxmlformats.org/officeDocument/2006/relationships/image" Target="../media/image87.emf"/><Relationship Id="rId4" Type="http://schemas.openxmlformats.org/officeDocument/2006/relationships/image" Target="../media/image86.emf"/></Relationships>
</file>

<file path=ppt/slides/_rels/slide21.xml.rels><?xml version="1.0" encoding="UTF-8" standalone="yes"?>
<Relationships xmlns="http://schemas.openxmlformats.org/package/2006/relationships"><Relationship Id="rId8" Type="http://schemas.openxmlformats.org/officeDocument/2006/relationships/image" Target="../media/image97.emf"/><Relationship Id="rId3" Type="http://schemas.openxmlformats.org/officeDocument/2006/relationships/image" Target="../media/image92.emf"/><Relationship Id="rId7" Type="http://schemas.openxmlformats.org/officeDocument/2006/relationships/image" Target="../media/image96.emf"/><Relationship Id="rId12" Type="http://schemas.openxmlformats.org/officeDocument/2006/relationships/image" Target="../media/image101.emf"/><Relationship Id="rId2" Type="http://schemas.openxmlformats.org/officeDocument/2006/relationships/image" Target="../media/image91.emf"/><Relationship Id="rId1" Type="http://schemas.openxmlformats.org/officeDocument/2006/relationships/slideLayout" Target="../slideLayouts/slideLayout1.xml"/><Relationship Id="rId6" Type="http://schemas.openxmlformats.org/officeDocument/2006/relationships/image" Target="../media/image95.emf"/><Relationship Id="rId11" Type="http://schemas.openxmlformats.org/officeDocument/2006/relationships/image" Target="../media/image100.emf"/><Relationship Id="rId5" Type="http://schemas.openxmlformats.org/officeDocument/2006/relationships/image" Target="../media/image94.emf"/><Relationship Id="rId10" Type="http://schemas.openxmlformats.org/officeDocument/2006/relationships/image" Target="../media/image99.emf"/><Relationship Id="rId4" Type="http://schemas.openxmlformats.org/officeDocument/2006/relationships/image" Target="../media/image93.emf"/><Relationship Id="rId9" Type="http://schemas.openxmlformats.org/officeDocument/2006/relationships/image" Target="../media/image98.emf"/></Relationships>
</file>

<file path=ppt/slides/_rels/slide22.xml.rels><?xml version="1.0" encoding="UTF-8" standalone="yes"?>
<Relationships xmlns="http://schemas.openxmlformats.org/package/2006/relationships"><Relationship Id="rId8" Type="http://schemas.openxmlformats.org/officeDocument/2006/relationships/image" Target="../media/image103.png"/><Relationship Id="rId3" Type="http://schemas.openxmlformats.org/officeDocument/2006/relationships/image" Target="../media/image98.emf"/><Relationship Id="rId7" Type="http://schemas.openxmlformats.org/officeDocument/2006/relationships/image" Target="../media/image102.wmf"/><Relationship Id="rId2" Type="http://schemas.openxmlformats.org/officeDocument/2006/relationships/image" Target="../media/image97.emf"/><Relationship Id="rId1" Type="http://schemas.openxmlformats.org/officeDocument/2006/relationships/slideLayout" Target="../slideLayouts/slideLayout1.xml"/><Relationship Id="rId6" Type="http://schemas.openxmlformats.org/officeDocument/2006/relationships/image" Target="../media/image101.emf"/><Relationship Id="rId5" Type="http://schemas.openxmlformats.org/officeDocument/2006/relationships/image" Target="../media/image100.emf"/><Relationship Id="rId4" Type="http://schemas.openxmlformats.org/officeDocument/2006/relationships/image" Target="../media/image99.emf"/></Relationships>
</file>

<file path=ppt/slides/_rels/slide23.xml.rels><?xml version="1.0" encoding="UTF-8" standalone="yes"?>
<Relationships xmlns="http://schemas.openxmlformats.org/package/2006/relationships"><Relationship Id="rId3" Type="http://schemas.openxmlformats.org/officeDocument/2006/relationships/image" Target="../media/image105.emf"/><Relationship Id="rId7" Type="http://schemas.openxmlformats.org/officeDocument/2006/relationships/image" Target="../media/image109.emf"/><Relationship Id="rId2" Type="http://schemas.openxmlformats.org/officeDocument/2006/relationships/image" Target="../media/image104.emf"/><Relationship Id="rId1" Type="http://schemas.openxmlformats.org/officeDocument/2006/relationships/slideLayout" Target="../slideLayouts/slideLayout1.xml"/><Relationship Id="rId6" Type="http://schemas.openxmlformats.org/officeDocument/2006/relationships/image" Target="../media/image108.emf"/><Relationship Id="rId5" Type="http://schemas.openxmlformats.org/officeDocument/2006/relationships/image" Target="../media/image107.emf"/><Relationship Id="rId4" Type="http://schemas.openxmlformats.org/officeDocument/2006/relationships/image" Target="../media/image106.emf"/></Relationships>
</file>

<file path=ppt/slides/_rels/slide24.xml.rels><?xml version="1.0" encoding="UTF-8" standalone="yes"?>
<Relationships xmlns="http://schemas.openxmlformats.org/package/2006/relationships"><Relationship Id="rId3" Type="http://schemas.openxmlformats.org/officeDocument/2006/relationships/image" Target="../media/image111.png"/><Relationship Id="rId2" Type="http://schemas.openxmlformats.org/officeDocument/2006/relationships/image" Target="../media/image110.wmf"/><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8" Type="http://schemas.openxmlformats.org/officeDocument/2006/relationships/image" Target="../media/image118.emf"/><Relationship Id="rId3" Type="http://schemas.openxmlformats.org/officeDocument/2006/relationships/image" Target="../media/image113.emf"/><Relationship Id="rId7" Type="http://schemas.openxmlformats.org/officeDocument/2006/relationships/image" Target="../media/image117.emf"/><Relationship Id="rId2" Type="http://schemas.openxmlformats.org/officeDocument/2006/relationships/image" Target="../media/image112.emf"/><Relationship Id="rId1" Type="http://schemas.openxmlformats.org/officeDocument/2006/relationships/slideLayout" Target="../slideLayouts/slideLayout1.xml"/><Relationship Id="rId6" Type="http://schemas.openxmlformats.org/officeDocument/2006/relationships/image" Target="../media/image116.emf"/><Relationship Id="rId5" Type="http://schemas.openxmlformats.org/officeDocument/2006/relationships/image" Target="../media/image115.emf"/><Relationship Id="rId10" Type="http://schemas.openxmlformats.org/officeDocument/2006/relationships/image" Target="../media/image120.emf"/><Relationship Id="rId4" Type="http://schemas.openxmlformats.org/officeDocument/2006/relationships/image" Target="../media/image114.emf"/><Relationship Id="rId9" Type="http://schemas.openxmlformats.org/officeDocument/2006/relationships/image" Target="../media/image119.emf"/></Relationships>
</file>

<file path=ppt/slides/_rels/slide26.xml.rels><?xml version="1.0" encoding="UTF-8" standalone="yes"?>
<Relationships xmlns="http://schemas.openxmlformats.org/package/2006/relationships"><Relationship Id="rId8" Type="http://schemas.openxmlformats.org/officeDocument/2006/relationships/image" Target="../media/image127.emf"/><Relationship Id="rId3" Type="http://schemas.openxmlformats.org/officeDocument/2006/relationships/image" Target="../media/image122.emf"/><Relationship Id="rId7" Type="http://schemas.openxmlformats.org/officeDocument/2006/relationships/image" Target="../media/image126.emf"/><Relationship Id="rId12" Type="http://schemas.openxmlformats.org/officeDocument/2006/relationships/image" Target="../media/image131.emf"/><Relationship Id="rId2" Type="http://schemas.openxmlformats.org/officeDocument/2006/relationships/image" Target="../media/image121.emf"/><Relationship Id="rId1" Type="http://schemas.openxmlformats.org/officeDocument/2006/relationships/slideLayout" Target="../slideLayouts/slideLayout1.xml"/><Relationship Id="rId6" Type="http://schemas.openxmlformats.org/officeDocument/2006/relationships/image" Target="../media/image125.emf"/><Relationship Id="rId11" Type="http://schemas.openxmlformats.org/officeDocument/2006/relationships/image" Target="../media/image130.emf"/><Relationship Id="rId5" Type="http://schemas.openxmlformats.org/officeDocument/2006/relationships/image" Target="../media/image124.emf"/><Relationship Id="rId10" Type="http://schemas.openxmlformats.org/officeDocument/2006/relationships/image" Target="../media/image129.emf"/><Relationship Id="rId4" Type="http://schemas.openxmlformats.org/officeDocument/2006/relationships/image" Target="../media/image123.emf"/><Relationship Id="rId9" Type="http://schemas.openxmlformats.org/officeDocument/2006/relationships/image" Target="../media/image128.emf"/></Relationships>
</file>

<file path=ppt/slides/_rels/slide27.xml.rels><?xml version="1.0" encoding="UTF-8" standalone="yes"?>
<Relationships xmlns="http://schemas.openxmlformats.org/package/2006/relationships"><Relationship Id="rId8" Type="http://schemas.openxmlformats.org/officeDocument/2006/relationships/image" Target="../media/image138.emf"/><Relationship Id="rId3" Type="http://schemas.openxmlformats.org/officeDocument/2006/relationships/image" Target="../media/image133.emf"/><Relationship Id="rId7" Type="http://schemas.openxmlformats.org/officeDocument/2006/relationships/image" Target="../media/image137.emf"/><Relationship Id="rId2" Type="http://schemas.openxmlformats.org/officeDocument/2006/relationships/image" Target="../media/image132.emf"/><Relationship Id="rId1" Type="http://schemas.openxmlformats.org/officeDocument/2006/relationships/slideLayout" Target="../slideLayouts/slideLayout1.xml"/><Relationship Id="rId6" Type="http://schemas.openxmlformats.org/officeDocument/2006/relationships/image" Target="../media/image136.emf"/><Relationship Id="rId5" Type="http://schemas.openxmlformats.org/officeDocument/2006/relationships/image" Target="../media/image135.emf"/><Relationship Id="rId4" Type="http://schemas.openxmlformats.org/officeDocument/2006/relationships/image" Target="../media/image134.emf"/><Relationship Id="rId9" Type="http://schemas.openxmlformats.org/officeDocument/2006/relationships/image" Target="../media/image139.emf"/></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8" Type="http://schemas.openxmlformats.org/officeDocument/2006/relationships/image" Target="../media/image146.emf"/><Relationship Id="rId3" Type="http://schemas.openxmlformats.org/officeDocument/2006/relationships/image" Target="../media/image141.emf"/><Relationship Id="rId7" Type="http://schemas.openxmlformats.org/officeDocument/2006/relationships/image" Target="../media/image145.emf"/><Relationship Id="rId12" Type="http://schemas.openxmlformats.org/officeDocument/2006/relationships/image" Target="../media/image150.emf"/><Relationship Id="rId2" Type="http://schemas.openxmlformats.org/officeDocument/2006/relationships/image" Target="../media/image140.emf"/><Relationship Id="rId1" Type="http://schemas.openxmlformats.org/officeDocument/2006/relationships/slideLayout" Target="../slideLayouts/slideLayout1.xml"/><Relationship Id="rId6" Type="http://schemas.openxmlformats.org/officeDocument/2006/relationships/image" Target="../media/image144.emf"/><Relationship Id="rId11" Type="http://schemas.openxmlformats.org/officeDocument/2006/relationships/image" Target="../media/image149.emf"/><Relationship Id="rId5" Type="http://schemas.openxmlformats.org/officeDocument/2006/relationships/image" Target="../media/image143.emf"/><Relationship Id="rId10" Type="http://schemas.openxmlformats.org/officeDocument/2006/relationships/image" Target="../media/image148.emf"/><Relationship Id="rId4" Type="http://schemas.openxmlformats.org/officeDocument/2006/relationships/image" Target="../media/image142.emf"/><Relationship Id="rId9" Type="http://schemas.openxmlformats.org/officeDocument/2006/relationships/image" Target="../media/image147.emf"/></Relationships>
</file>

<file path=ppt/slides/_rels/slide30.xml.rels><?xml version="1.0" encoding="UTF-8" standalone="yes"?>
<Relationships xmlns="http://schemas.openxmlformats.org/package/2006/relationships"><Relationship Id="rId3" Type="http://schemas.openxmlformats.org/officeDocument/2006/relationships/image" Target="../media/image151.emf"/><Relationship Id="rId2" Type="http://schemas.openxmlformats.org/officeDocument/2006/relationships/image" Target="../media/image150.emf"/><Relationship Id="rId1" Type="http://schemas.openxmlformats.org/officeDocument/2006/relationships/slideLayout" Target="../slideLayouts/slideLayout1.xml"/><Relationship Id="rId5" Type="http://schemas.openxmlformats.org/officeDocument/2006/relationships/image" Target="../media/image153.emf"/><Relationship Id="rId4" Type="http://schemas.openxmlformats.org/officeDocument/2006/relationships/image" Target="../media/image152.emf"/></Relationships>
</file>

<file path=ppt/slides/_rels/slide31.xml.rels><?xml version="1.0" encoding="UTF-8" standalone="yes"?>
<Relationships xmlns="http://schemas.openxmlformats.org/package/2006/relationships"><Relationship Id="rId2" Type="http://schemas.openxmlformats.org/officeDocument/2006/relationships/image" Target="../media/image154.png"/><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3" Type="http://schemas.openxmlformats.org/officeDocument/2006/relationships/image" Target="../media/image156.emf"/><Relationship Id="rId2" Type="http://schemas.openxmlformats.org/officeDocument/2006/relationships/image" Target="../media/image155.emf"/><Relationship Id="rId1" Type="http://schemas.openxmlformats.org/officeDocument/2006/relationships/slideLayout" Target="../slideLayouts/slideLayout1.xml"/><Relationship Id="rId5" Type="http://schemas.openxmlformats.org/officeDocument/2006/relationships/image" Target="../media/image158.emf"/><Relationship Id="rId4" Type="http://schemas.openxmlformats.org/officeDocument/2006/relationships/image" Target="../media/image157.emf"/></Relationships>
</file>

<file path=ppt/slides/_rels/slide33.xml.rels><?xml version="1.0" encoding="UTF-8" standalone="yes"?>
<Relationships xmlns="http://schemas.openxmlformats.org/package/2006/relationships"><Relationship Id="rId2" Type="http://schemas.openxmlformats.org/officeDocument/2006/relationships/image" Target="../media/image159.png"/><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8" Type="http://schemas.openxmlformats.org/officeDocument/2006/relationships/image" Target="../media/image166.emf"/><Relationship Id="rId3" Type="http://schemas.openxmlformats.org/officeDocument/2006/relationships/image" Target="../media/image161.emf"/><Relationship Id="rId7" Type="http://schemas.openxmlformats.org/officeDocument/2006/relationships/image" Target="../media/image165.emf"/><Relationship Id="rId2" Type="http://schemas.openxmlformats.org/officeDocument/2006/relationships/image" Target="../media/image160.emf"/><Relationship Id="rId1" Type="http://schemas.openxmlformats.org/officeDocument/2006/relationships/slideLayout" Target="../slideLayouts/slideLayout1.xml"/><Relationship Id="rId6" Type="http://schemas.openxmlformats.org/officeDocument/2006/relationships/image" Target="../media/image164.emf"/><Relationship Id="rId11" Type="http://schemas.openxmlformats.org/officeDocument/2006/relationships/image" Target="../media/image169.emf"/><Relationship Id="rId5" Type="http://schemas.openxmlformats.org/officeDocument/2006/relationships/image" Target="../media/image163.emf"/><Relationship Id="rId10" Type="http://schemas.openxmlformats.org/officeDocument/2006/relationships/image" Target="../media/image168.emf"/><Relationship Id="rId4" Type="http://schemas.openxmlformats.org/officeDocument/2006/relationships/image" Target="../media/image162.emf"/><Relationship Id="rId9" Type="http://schemas.openxmlformats.org/officeDocument/2006/relationships/image" Target="../media/image167.emf"/></Relationships>
</file>

<file path=ppt/slides/_rels/slide35.xml.rels><?xml version="1.0" encoding="UTF-8" standalone="yes"?>
<Relationships xmlns="http://schemas.openxmlformats.org/package/2006/relationships"><Relationship Id="rId3" Type="http://schemas.openxmlformats.org/officeDocument/2006/relationships/image" Target="../media/image170.wmf"/><Relationship Id="rId2" Type="http://schemas.openxmlformats.org/officeDocument/2006/relationships/notesSlide" Target="../notesSlides/notesSlide1.xml"/><Relationship Id="rId1" Type="http://schemas.openxmlformats.org/officeDocument/2006/relationships/slideLayout" Target="../slideLayouts/slideLayout7.xml"/><Relationship Id="rId4" Type="http://schemas.openxmlformats.org/officeDocument/2006/relationships/image" Target="../media/image171.wmf"/></Relationships>
</file>

<file path=ppt/slides/_rels/slide36.xml.rels><?xml version="1.0" encoding="UTF-8" standalone="yes"?>
<Relationships xmlns="http://schemas.openxmlformats.org/package/2006/relationships"><Relationship Id="rId8" Type="http://schemas.openxmlformats.org/officeDocument/2006/relationships/image" Target="../media/image177.emf"/><Relationship Id="rId3" Type="http://schemas.openxmlformats.org/officeDocument/2006/relationships/image" Target="../media/image172.emf"/><Relationship Id="rId7" Type="http://schemas.openxmlformats.org/officeDocument/2006/relationships/image" Target="../media/image176.emf"/><Relationship Id="rId2" Type="http://schemas.openxmlformats.org/officeDocument/2006/relationships/notesSlide" Target="../notesSlides/notesSlide2.xml"/><Relationship Id="rId1" Type="http://schemas.openxmlformats.org/officeDocument/2006/relationships/slideLayout" Target="../slideLayouts/slideLayout7.xml"/><Relationship Id="rId6" Type="http://schemas.openxmlformats.org/officeDocument/2006/relationships/image" Target="../media/image175.emf"/><Relationship Id="rId5" Type="http://schemas.openxmlformats.org/officeDocument/2006/relationships/image" Target="../media/image174.emf"/><Relationship Id="rId4" Type="http://schemas.openxmlformats.org/officeDocument/2006/relationships/image" Target="../media/image173.emf"/></Relationships>
</file>

<file path=ppt/slides/_rels/slide37.xml.rels><?xml version="1.0" encoding="UTF-8" standalone="yes"?>
<Relationships xmlns="http://schemas.openxmlformats.org/package/2006/relationships"><Relationship Id="rId3" Type="http://schemas.openxmlformats.org/officeDocument/2006/relationships/image" Target="../media/image179.emf"/><Relationship Id="rId7" Type="http://schemas.openxmlformats.org/officeDocument/2006/relationships/image" Target="../media/image183.emf"/><Relationship Id="rId2" Type="http://schemas.openxmlformats.org/officeDocument/2006/relationships/image" Target="../media/image178.emf"/><Relationship Id="rId1" Type="http://schemas.openxmlformats.org/officeDocument/2006/relationships/slideLayout" Target="../slideLayouts/slideLayout1.xml"/><Relationship Id="rId6" Type="http://schemas.openxmlformats.org/officeDocument/2006/relationships/image" Target="../media/image182.emf"/><Relationship Id="rId5" Type="http://schemas.openxmlformats.org/officeDocument/2006/relationships/image" Target="../media/image181.emf"/><Relationship Id="rId4" Type="http://schemas.openxmlformats.org/officeDocument/2006/relationships/image" Target="../media/image180.emf"/></Relationships>
</file>

<file path=ppt/slides/_rels/slide38.xml.rels><?xml version="1.0" encoding="UTF-8" standalone="yes"?>
<Relationships xmlns="http://schemas.openxmlformats.org/package/2006/relationships"><Relationship Id="rId2" Type="http://schemas.openxmlformats.org/officeDocument/2006/relationships/image" Target="../media/image184.png"/><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8" Type="http://schemas.openxmlformats.org/officeDocument/2006/relationships/image" Target="../media/image191.emf"/><Relationship Id="rId3" Type="http://schemas.openxmlformats.org/officeDocument/2006/relationships/image" Target="../media/image186.emf"/><Relationship Id="rId7" Type="http://schemas.openxmlformats.org/officeDocument/2006/relationships/image" Target="../media/image190.emf"/><Relationship Id="rId2" Type="http://schemas.openxmlformats.org/officeDocument/2006/relationships/image" Target="../media/image185.emf"/><Relationship Id="rId1" Type="http://schemas.openxmlformats.org/officeDocument/2006/relationships/slideLayout" Target="../slideLayouts/slideLayout1.xml"/><Relationship Id="rId6" Type="http://schemas.openxmlformats.org/officeDocument/2006/relationships/image" Target="../media/image189.emf"/><Relationship Id="rId5" Type="http://schemas.openxmlformats.org/officeDocument/2006/relationships/image" Target="../media/image188.emf"/><Relationship Id="rId4" Type="http://schemas.openxmlformats.org/officeDocument/2006/relationships/image" Target="../media/image187.emf"/></Relationships>
</file>

<file path=ppt/slides/_rels/slide41.xml.rels><?xml version="1.0" encoding="UTF-8" standalone="yes"?>
<Relationships xmlns="http://schemas.openxmlformats.org/package/2006/relationships"><Relationship Id="rId3" Type="http://schemas.openxmlformats.org/officeDocument/2006/relationships/image" Target="../media/image193.emf"/><Relationship Id="rId7" Type="http://schemas.openxmlformats.org/officeDocument/2006/relationships/image" Target="../media/image197.emf"/><Relationship Id="rId2" Type="http://schemas.openxmlformats.org/officeDocument/2006/relationships/image" Target="../media/image192.png"/><Relationship Id="rId1" Type="http://schemas.openxmlformats.org/officeDocument/2006/relationships/slideLayout" Target="../slideLayouts/slideLayout7.xml"/><Relationship Id="rId6" Type="http://schemas.openxmlformats.org/officeDocument/2006/relationships/image" Target="../media/image196.emf"/><Relationship Id="rId5" Type="http://schemas.openxmlformats.org/officeDocument/2006/relationships/image" Target="../media/image195.emf"/><Relationship Id="rId4" Type="http://schemas.openxmlformats.org/officeDocument/2006/relationships/image" Target="../media/image194.emf"/></Relationships>
</file>

<file path=ppt/slides/_rels/slide42.xml.rels><?xml version="1.0" encoding="UTF-8" standalone="yes"?>
<Relationships xmlns="http://schemas.openxmlformats.org/package/2006/relationships"><Relationship Id="rId3" Type="http://schemas.openxmlformats.org/officeDocument/2006/relationships/image" Target="../media/image199.wmf"/><Relationship Id="rId2" Type="http://schemas.openxmlformats.org/officeDocument/2006/relationships/image" Target="../media/image198.wmf"/><Relationship Id="rId1" Type="http://schemas.openxmlformats.org/officeDocument/2006/relationships/slideLayout" Target="../slideLayouts/slideLayout1.xml"/><Relationship Id="rId5" Type="http://schemas.openxmlformats.org/officeDocument/2006/relationships/image" Target="../media/image201.emf"/><Relationship Id="rId4" Type="http://schemas.openxmlformats.org/officeDocument/2006/relationships/image" Target="../media/image200.emf"/></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8" Type="http://schemas.openxmlformats.org/officeDocument/2006/relationships/image" Target="../media/image208.emf"/><Relationship Id="rId3" Type="http://schemas.openxmlformats.org/officeDocument/2006/relationships/image" Target="../media/image203.emf"/><Relationship Id="rId7" Type="http://schemas.openxmlformats.org/officeDocument/2006/relationships/image" Target="../media/image207.emf"/><Relationship Id="rId2" Type="http://schemas.openxmlformats.org/officeDocument/2006/relationships/image" Target="../media/image202.emf"/><Relationship Id="rId1" Type="http://schemas.openxmlformats.org/officeDocument/2006/relationships/slideLayout" Target="../slideLayouts/slideLayout1.xml"/><Relationship Id="rId6" Type="http://schemas.openxmlformats.org/officeDocument/2006/relationships/image" Target="../media/image206.emf"/><Relationship Id="rId5" Type="http://schemas.openxmlformats.org/officeDocument/2006/relationships/image" Target="../media/image205.emf"/><Relationship Id="rId4" Type="http://schemas.openxmlformats.org/officeDocument/2006/relationships/image" Target="../media/image204.emf"/><Relationship Id="rId9" Type="http://schemas.openxmlformats.org/officeDocument/2006/relationships/image" Target="../media/image209.emf"/></Relationships>
</file>

<file path=ppt/slides/_rels/slide45.xml.rels><?xml version="1.0" encoding="UTF-8" standalone="yes"?>
<Relationships xmlns="http://schemas.openxmlformats.org/package/2006/relationships"><Relationship Id="rId3" Type="http://schemas.openxmlformats.org/officeDocument/2006/relationships/image" Target="../media/image211.wmf"/><Relationship Id="rId2" Type="http://schemas.openxmlformats.org/officeDocument/2006/relationships/image" Target="../media/image210.wmf"/><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8" Type="http://schemas.openxmlformats.org/officeDocument/2006/relationships/image" Target="../media/image218.emf"/><Relationship Id="rId3" Type="http://schemas.openxmlformats.org/officeDocument/2006/relationships/image" Target="../media/image213.emf"/><Relationship Id="rId7" Type="http://schemas.openxmlformats.org/officeDocument/2006/relationships/image" Target="../media/image217.emf"/><Relationship Id="rId2" Type="http://schemas.openxmlformats.org/officeDocument/2006/relationships/image" Target="../media/image212.emf"/><Relationship Id="rId1" Type="http://schemas.openxmlformats.org/officeDocument/2006/relationships/slideLayout" Target="../slideLayouts/slideLayout1.xml"/><Relationship Id="rId6" Type="http://schemas.openxmlformats.org/officeDocument/2006/relationships/image" Target="../media/image216.emf"/><Relationship Id="rId5" Type="http://schemas.openxmlformats.org/officeDocument/2006/relationships/image" Target="../media/image215.emf"/><Relationship Id="rId4" Type="http://schemas.openxmlformats.org/officeDocument/2006/relationships/image" Target="../media/image214.emf"/><Relationship Id="rId9" Type="http://schemas.openxmlformats.org/officeDocument/2006/relationships/image" Target="../media/image219.emf"/></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3" Type="http://schemas.openxmlformats.org/officeDocument/2006/relationships/image" Target="../media/image221.png"/><Relationship Id="rId2" Type="http://schemas.openxmlformats.org/officeDocument/2006/relationships/image" Target="../media/image220.wmf"/><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8" Type="http://schemas.openxmlformats.org/officeDocument/2006/relationships/image" Target="../media/image228.emf"/><Relationship Id="rId3" Type="http://schemas.openxmlformats.org/officeDocument/2006/relationships/image" Target="../media/image223.emf"/><Relationship Id="rId7" Type="http://schemas.openxmlformats.org/officeDocument/2006/relationships/image" Target="../media/image227.emf"/><Relationship Id="rId2" Type="http://schemas.openxmlformats.org/officeDocument/2006/relationships/image" Target="../media/image222.emf"/><Relationship Id="rId1" Type="http://schemas.openxmlformats.org/officeDocument/2006/relationships/slideLayout" Target="../slideLayouts/slideLayout1.xml"/><Relationship Id="rId6" Type="http://schemas.openxmlformats.org/officeDocument/2006/relationships/image" Target="../media/image226.emf"/><Relationship Id="rId5" Type="http://schemas.openxmlformats.org/officeDocument/2006/relationships/image" Target="../media/image225.emf"/><Relationship Id="rId10" Type="http://schemas.openxmlformats.org/officeDocument/2006/relationships/image" Target="../media/image230.emf"/><Relationship Id="rId4" Type="http://schemas.openxmlformats.org/officeDocument/2006/relationships/image" Target="../media/image224.emf"/><Relationship Id="rId9" Type="http://schemas.openxmlformats.org/officeDocument/2006/relationships/image" Target="../media/image229.emf"/></Relationships>
</file>

<file path=ppt/slides/_rels/slide50.xml.rels><?xml version="1.0" encoding="UTF-8" standalone="yes"?>
<Relationships xmlns="http://schemas.openxmlformats.org/package/2006/relationships"><Relationship Id="rId8" Type="http://schemas.openxmlformats.org/officeDocument/2006/relationships/image" Target="../media/image237.emf"/><Relationship Id="rId3" Type="http://schemas.openxmlformats.org/officeDocument/2006/relationships/image" Target="../media/image232.emf"/><Relationship Id="rId7" Type="http://schemas.openxmlformats.org/officeDocument/2006/relationships/image" Target="../media/image236.emf"/><Relationship Id="rId2" Type="http://schemas.openxmlformats.org/officeDocument/2006/relationships/image" Target="../media/image231.emf"/><Relationship Id="rId1" Type="http://schemas.openxmlformats.org/officeDocument/2006/relationships/slideLayout" Target="../slideLayouts/slideLayout1.xml"/><Relationship Id="rId6" Type="http://schemas.openxmlformats.org/officeDocument/2006/relationships/image" Target="../media/image235.emf"/><Relationship Id="rId5" Type="http://schemas.openxmlformats.org/officeDocument/2006/relationships/image" Target="../media/image234.emf"/><Relationship Id="rId10" Type="http://schemas.openxmlformats.org/officeDocument/2006/relationships/image" Target="../media/image239.emf"/><Relationship Id="rId4" Type="http://schemas.openxmlformats.org/officeDocument/2006/relationships/image" Target="../media/image233.emf"/><Relationship Id="rId9" Type="http://schemas.openxmlformats.org/officeDocument/2006/relationships/image" Target="../media/image238.emf"/></Relationships>
</file>

<file path=ppt/slides/_rels/slide51.xml.rels><?xml version="1.0" encoding="UTF-8" standalone="yes"?>
<Relationships xmlns="http://schemas.openxmlformats.org/package/2006/relationships"><Relationship Id="rId3" Type="http://schemas.openxmlformats.org/officeDocument/2006/relationships/image" Target="../media/image241.png"/><Relationship Id="rId2" Type="http://schemas.openxmlformats.org/officeDocument/2006/relationships/image" Target="../media/image240.png"/><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3" Type="http://schemas.openxmlformats.org/officeDocument/2006/relationships/image" Target="../media/image243.png"/><Relationship Id="rId2" Type="http://schemas.openxmlformats.org/officeDocument/2006/relationships/image" Target="../media/image242.wmf"/><Relationship Id="rId1" Type="http://schemas.openxmlformats.org/officeDocument/2006/relationships/slideLayout" Target="../slideLayouts/slideLayout1.xml"/></Relationships>
</file>

<file path=ppt/slides/_rels/slide53.xml.rels><?xml version="1.0" encoding="UTF-8" standalone="yes"?>
<Relationships xmlns="http://schemas.openxmlformats.org/package/2006/relationships"><Relationship Id="rId8" Type="http://schemas.openxmlformats.org/officeDocument/2006/relationships/image" Target="../media/image250.emf"/><Relationship Id="rId13" Type="http://schemas.openxmlformats.org/officeDocument/2006/relationships/image" Target="../media/image255.emf"/><Relationship Id="rId3" Type="http://schemas.openxmlformats.org/officeDocument/2006/relationships/image" Target="../media/image245.emf"/><Relationship Id="rId7" Type="http://schemas.openxmlformats.org/officeDocument/2006/relationships/image" Target="../media/image249.emf"/><Relationship Id="rId12" Type="http://schemas.openxmlformats.org/officeDocument/2006/relationships/image" Target="../media/image254.emf"/><Relationship Id="rId2" Type="http://schemas.openxmlformats.org/officeDocument/2006/relationships/image" Target="../media/image244.emf"/><Relationship Id="rId1" Type="http://schemas.openxmlformats.org/officeDocument/2006/relationships/slideLayout" Target="../slideLayouts/slideLayout1.xml"/><Relationship Id="rId6" Type="http://schemas.openxmlformats.org/officeDocument/2006/relationships/image" Target="../media/image248.emf"/><Relationship Id="rId11" Type="http://schemas.openxmlformats.org/officeDocument/2006/relationships/image" Target="../media/image253.emf"/><Relationship Id="rId5" Type="http://schemas.openxmlformats.org/officeDocument/2006/relationships/image" Target="../media/image247.emf"/><Relationship Id="rId10" Type="http://schemas.openxmlformats.org/officeDocument/2006/relationships/image" Target="../media/image252.emf"/><Relationship Id="rId4" Type="http://schemas.openxmlformats.org/officeDocument/2006/relationships/image" Target="../media/image246.emf"/><Relationship Id="rId9" Type="http://schemas.openxmlformats.org/officeDocument/2006/relationships/image" Target="../media/image251.emf"/><Relationship Id="rId14" Type="http://schemas.openxmlformats.org/officeDocument/2006/relationships/image" Target="../media/image256.emf"/></Relationships>
</file>

<file path=ppt/slides/_rels/slide54.xml.rels><?xml version="1.0" encoding="UTF-8" standalone="yes"?>
<Relationships xmlns="http://schemas.openxmlformats.org/package/2006/relationships"><Relationship Id="rId3" Type="http://schemas.openxmlformats.org/officeDocument/2006/relationships/image" Target="../media/image258.emf"/><Relationship Id="rId2" Type="http://schemas.openxmlformats.org/officeDocument/2006/relationships/image" Target="../media/image257.emf"/><Relationship Id="rId1" Type="http://schemas.openxmlformats.org/officeDocument/2006/relationships/slideLayout" Target="../slideLayouts/slideLayout1.xml"/><Relationship Id="rId6" Type="http://schemas.openxmlformats.org/officeDocument/2006/relationships/image" Target="../media/image261.emf"/><Relationship Id="rId5" Type="http://schemas.openxmlformats.org/officeDocument/2006/relationships/image" Target="../media/image260.emf"/><Relationship Id="rId4" Type="http://schemas.openxmlformats.org/officeDocument/2006/relationships/image" Target="../media/image259.emf"/></Relationships>
</file>

<file path=ppt/slides/_rels/slide55.xml.rels><?xml version="1.0" encoding="UTF-8" standalone="yes"?>
<Relationships xmlns="http://schemas.openxmlformats.org/package/2006/relationships"><Relationship Id="rId3" Type="http://schemas.openxmlformats.org/officeDocument/2006/relationships/image" Target="../media/image263.wmf"/><Relationship Id="rId2" Type="http://schemas.openxmlformats.org/officeDocument/2006/relationships/image" Target="../media/image262.wmf"/><Relationship Id="rId1" Type="http://schemas.openxmlformats.org/officeDocument/2006/relationships/slideLayout" Target="../slideLayouts/slideLayout1.xml"/></Relationships>
</file>

<file path=ppt/slides/_rels/slide56.xml.rels><?xml version="1.0" encoding="UTF-8" standalone="yes"?>
<Relationships xmlns="http://schemas.openxmlformats.org/package/2006/relationships"><Relationship Id="rId8" Type="http://schemas.openxmlformats.org/officeDocument/2006/relationships/image" Target="../media/image270.emf"/><Relationship Id="rId13" Type="http://schemas.openxmlformats.org/officeDocument/2006/relationships/image" Target="../media/image275.emf"/><Relationship Id="rId3" Type="http://schemas.openxmlformats.org/officeDocument/2006/relationships/image" Target="../media/image265.emf"/><Relationship Id="rId7" Type="http://schemas.openxmlformats.org/officeDocument/2006/relationships/image" Target="../media/image269.emf"/><Relationship Id="rId12" Type="http://schemas.openxmlformats.org/officeDocument/2006/relationships/image" Target="../media/image274.emf"/><Relationship Id="rId2" Type="http://schemas.openxmlformats.org/officeDocument/2006/relationships/image" Target="../media/image264.emf"/><Relationship Id="rId1" Type="http://schemas.openxmlformats.org/officeDocument/2006/relationships/slideLayout" Target="../slideLayouts/slideLayout1.xml"/><Relationship Id="rId6" Type="http://schemas.openxmlformats.org/officeDocument/2006/relationships/image" Target="../media/image268.emf"/><Relationship Id="rId11" Type="http://schemas.openxmlformats.org/officeDocument/2006/relationships/image" Target="../media/image273.emf"/><Relationship Id="rId5" Type="http://schemas.openxmlformats.org/officeDocument/2006/relationships/image" Target="../media/image267.emf"/><Relationship Id="rId10" Type="http://schemas.openxmlformats.org/officeDocument/2006/relationships/image" Target="../media/image272.emf"/><Relationship Id="rId4" Type="http://schemas.openxmlformats.org/officeDocument/2006/relationships/image" Target="../media/image266.emf"/><Relationship Id="rId9" Type="http://schemas.openxmlformats.org/officeDocument/2006/relationships/image" Target="../media/image271.emf"/></Relationships>
</file>

<file path=ppt/slides/_rels/slide57.xml.rels><?xml version="1.0" encoding="UTF-8" standalone="yes"?>
<Relationships xmlns="http://schemas.openxmlformats.org/package/2006/relationships"><Relationship Id="rId8" Type="http://schemas.openxmlformats.org/officeDocument/2006/relationships/image" Target="../media/image282.emf"/><Relationship Id="rId13" Type="http://schemas.openxmlformats.org/officeDocument/2006/relationships/image" Target="../media/image287.emf"/><Relationship Id="rId3" Type="http://schemas.openxmlformats.org/officeDocument/2006/relationships/image" Target="../media/image277.emf"/><Relationship Id="rId7" Type="http://schemas.openxmlformats.org/officeDocument/2006/relationships/image" Target="../media/image281.emf"/><Relationship Id="rId12" Type="http://schemas.openxmlformats.org/officeDocument/2006/relationships/image" Target="../media/image286.emf"/><Relationship Id="rId2" Type="http://schemas.openxmlformats.org/officeDocument/2006/relationships/image" Target="../media/image276.emf"/><Relationship Id="rId1" Type="http://schemas.openxmlformats.org/officeDocument/2006/relationships/slideLayout" Target="../slideLayouts/slideLayout1.xml"/><Relationship Id="rId6" Type="http://schemas.openxmlformats.org/officeDocument/2006/relationships/image" Target="../media/image280.emf"/><Relationship Id="rId11" Type="http://schemas.openxmlformats.org/officeDocument/2006/relationships/image" Target="../media/image285.emf"/><Relationship Id="rId5" Type="http://schemas.openxmlformats.org/officeDocument/2006/relationships/image" Target="../media/image279.emf"/><Relationship Id="rId10" Type="http://schemas.openxmlformats.org/officeDocument/2006/relationships/image" Target="../media/image284.emf"/><Relationship Id="rId4" Type="http://schemas.openxmlformats.org/officeDocument/2006/relationships/image" Target="../media/image278.emf"/><Relationship Id="rId9" Type="http://schemas.openxmlformats.org/officeDocument/2006/relationships/image" Target="../media/image283.emf"/></Relationships>
</file>

<file path=ppt/slides/_rels/slide58.xml.rels><?xml version="1.0" encoding="UTF-8" standalone="yes"?>
<Relationships xmlns="http://schemas.openxmlformats.org/package/2006/relationships"><Relationship Id="rId8" Type="http://schemas.openxmlformats.org/officeDocument/2006/relationships/image" Target="../media/image294.emf"/><Relationship Id="rId13" Type="http://schemas.openxmlformats.org/officeDocument/2006/relationships/image" Target="../media/image299.emf"/><Relationship Id="rId3" Type="http://schemas.openxmlformats.org/officeDocument/2006/relationships/image" Target="../media/image289.emf"/><Relationship Id="rId7" Type="http://schemas.openxmlformats.org/officeDocument/2006/relationships/image" Target="../media/image293.emf"/><Relationship Id="rId12" Type="http://schemas.openxmlformats.org/officeDocument/2006/relationships/image" Target="../media/image298.emf"/><Relationship Id="rId2" Type="http://schemas.openxmlformats.org/officeDocument/2006/relationships/image" Target="../media/image288.emf"/><Relationship Id="rId1" Type="http://schemas.openxmlformats.org/officeDocument/2006/relationships/slideLayout" Target="../slideLayouts/slideLayout1.xml"/><Relationship Id="rId6" Type="http://schemas.openxmlformats.org/officeDocument/2006/relationships/image" Target="../media/image292.emf"/><Relationship Id="rId11" Type="http://schemas.openxmlformats.org/officeDocument/2006/relationships/image" Target="../media/image297.emf"/><Relationship Id="rId5" Type="http://schemas.openxmlformats.org/officeDocument/2006/relationships/image" Target="../media/image291.emf"/><Relationship Id="rId10" Type="http://schemas.openxmlformats.org/officeDocument/2006/relationships/image" Target="../media/image296.emf"/><Relationship Id="rId4" Type="http://schemas.openxmlformats.org/officeDocument/2006/relationships/image" Target="../media/image290.emf"/><Relationship Id="rId9" Type="http://schemas.openxmlformats.org/officeDocument/2006/relationships/image" Target="../media/image295.emf"/></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414129"/>
            <a:ext cx="7772400" cy="576471"/>
          </a:xfrm>
        </p:spPr>
        <p:txBody>
          <a:bodyPr>
            <a:normAutofit/>
          </a:bodyPr>
          <a:lstStyle/>
          <a:p>
            <a:r>
              <a:rPr lang="en-US" sz="2800" dirty="0" smtClean="0">
                <a:solidFill>
                  <a:srgbClr val="FF0000"/>
                </a:solidFill>
              </a:rPr>
              <a:t>Morphological Image Processing</a:t>
            </a:r>
            <a:endParaRPr lang="en-US" sz="2800" dirty="0">
              <a:solidFill>
                <a:srgbClr val="FF0000"/>
              </a:solidFill>
            </a:endParaRPr>
          </a:p>
        </p:txBody>
      </p:sp>
      <p:sp>
        <p:nvSpPr>
          <p:cNvPr id="3" name="Subtitle 2"/>
          <p:cNvSpPr>
            <a:spLocks noGrp="1"/>
          </p:cNvSpPr>
          <p:nvPr>
            <p:ph type="subTitle" idx="1"/>
          </p:nvPr>
        </p:nvSpPr>
        <p:spPr>
          <a:xfrm>
            <a:off x="914400" y="1447800"/>
            <a:ext cx="7391400" cy="4724400"/>
          </a:xfrm>
        </p:spPr>
        <p:txBody>
          <a:bodyPr>
            <a:normAutofit/>
          </a:bodyPr>
          <a:lstStyle/>
          <a:p>
            <a:pPr algn="just">
              <a:buFont typeface="Wingdings" pitchFamily="2" charset="2"/>
              <a:buChar char="ü"/>
            </a:pPr>
            <a:r>
              <a:rPr lang="en-US" sz="2400" dirty="0" smtClean="0">
                <a:solidFill>
                  <a:schemeClr val="tx1"/>
                </a:solidFill>
              </a:rPr>
              <a:t> The word </a:t>
            </a:r>
            <a:r>
              <a:rPr lang="en-US" sz="2400" b="1" i="1" dirty="0" smtClean="0">
                <a:solidFill>
                  <a:schemeClr val="tx1"/>
                </a:solidFill>
              </a:rPr>
              <a:t>morphology</a:t>
            </a:r>
            <a:r>
              <a:rPr lang="en-US" sz="2400" dirty="0" smtClean="0">
                <a:solidFill>
                  <a:schemeClr val="tx1"/>
                </a:solidFill>
              </a:rPr>
              <a:t> commonly denotes a branch of biology that deals with the form and structure of animals and plants.</a:t>
            </a:r>
          </a:p>
          <a:p>
            <a:pPr algn="just">
              <a:buFont typeface="Wingdings" pitchFamily="2" charset="2"/>
              <a:buChar char="ü"/>
            </a:pPr>
            <a:r>
              <a:rPr lang="en-US" sz="2400" dirty="0" smtClean="0">
                <a:solidFill>
                  <a:schemeClr val="tx1"/>
                </a:solidFill>
              </a:rPr>
              <a:t> We use </a:t>
            </a:r>
            <a:r>
              <a:rPr lang="en-US" sz="2400" b="1" i="1" dirty="0" smtClean="0">
                <a:solidFill>
                  <a:schemeClr val="tx1"/>
                </a:solidFill>
              </a:rPr>
              <a:t>mathematical morphology</a:t>
            </a:r>
            <a:r>
              <a:rPr lang="en-US" sz="2400" dirty="0" smtClean="0">
                <a:solidFill>
                  <a:schemeClr val="tx1"/>
                </a:solidFill>
              </a:rPr>
              <a:t> as a tool for extracting  image components that are useful in the representation  and description of region shape, such as boundaries, skeletons, and the convex hull.</a:t>
            </a:r>
          </a:p>
          <a:p>
            <a:pPr algn="just">
              <a:buFont typeface="Wingdings" pitchFamily="2" charset="2"/>
              <a:buChar char="ü"/>
            </a:pPr>
            <a:r>
              <a:rPr lang="en-US" sz="2400" dirty="0" smtClean="0">
                <a:solidFill>
                  <a:schemeClr val="tx1"/>
                </a:solidFill>
              </a:rPr>
              <a:t> The language of mathematical morphology is set theory.</a:t>
            </a:r>
            <a:endParaRPr lang="en-US" sz="2400" dirty="0">
              <a:solidFill>
                <a:schemeClr val="tx1"/>
              </a:solidFill>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30" name="Text Box 2"/>
          <p:cNvSpPr txBox="1">
            <a:spLocks noChangeArrowheads="1"/>
          </p:cNvSpPr>
          <p:nvPr/>
        </p:nvSpPr>
        <p:spPr bwMode="auto">
          <a:xfrm>
            <a:off x="3085422" y="1232297"/>
            <a:ext cx="2980303" cy="300082"/>
          </a:xfrm>
          <a:prstGeom prst="rect">
            <a:avLst/>
          </a:prstGeom>
          <a:noFill/>
          <a:ln w="9525">
            <a:noFill/>
            <a:miter lim="800000"/>
            <a:headEnd/>
            <a:tailEnd/>
          </a:ln>
          <a:effectLst>
            <a:outerShdw dist="35921" dir="2700000" algn="ctr" rotWithShape="0">
              <a:schemeClr val="folHlink"/>
            </a:outerShdw>
          </a:effectLst>
        </p:spPr>
        <p:txBody>
          <a:bodyPr wrap="none">
            <a:spAutoFit/>
          </a:bodyPr>
          <a:lstStyle/>
          <a:p>
            <a:pPr algn="ctr"/>
            <a:r>
              <a:rPr lang="en-US" sz="1350" dirty="0">
                <a:solidFill>
                  <a:srgbClr val="FF0000"/>
                </a:solidFill>
                <a:latin typeface="Verdana" pitchFamily="34" charset="0"/>
              </a:rPr>
              <a:t>Morphological Image Processing</a:t>
            </a:r>
            <a:endParaRPr lang="en-US" sz="1350" dirty="0">
              <a:solidFill>
                <a:prstClr val="black"/>
              </a:solidFill>
            </a:endParaRPr>
          </a:p>
        </p:txBody>
      </p:sp>
      <p:pic>
        <p:nvPicPr>
          <p:cNvPr id="2" name="Picture 1"/>
          <p:cNvPicPr>
            <a:picLocks noChangeAspect="1"/>
          </p:cNvPicPr>
          <p:nvPr/>
        </p:nvPicPr>
        <p:blipFill>
          <a:blip r:embed="rId2"/>
          <a:stretch>
            <a:fillRect/>
          </a:stretch>
        </p:blipFill>
        <p:spPr>
          <a:xfrm>
            <a:off x="1714500" y="1943100"/>
            <a:ext cx="4972050" cy="258950"/>
          </a:xfrm>
          <a:prstGeom prst="rect">
            <a:avLst/>
          </a:prstGeom>
        </p:spPr>
      </p:pic>
      <p:pic>
        <p:nvPicPr>
          <p:cNvPr id="3" name="Picture 2"/>
          <p:cNvPicPr>
            <a:picLocks noChangeAspect="1"/>
          </p:cNvPicPr>
          <p:nvPr/>
        </p:nvPicPr>
        <p:blipFill>
          <a:blip r:embed="rId3"/>
          <a:stretch>
            <a:fillRect/>
          </a:stretch>
        </p:blipFill>
        <p:spPr>
          <a:xfrm>
            <a:off x="1714500" y="2508479"/>
            <a:ext cx="5772974" cy="234722"/>
          </a:xfrm>
          <a:prstGeom prst="rect">
            <a:avLst/>
          </a:prstGeom>
        </p:spPr>
      </p:pic>
      <p:pic>
        <p:nvPicPr>
          <p:cNvPr id="4" name="Picture 3"/>
          <p:cNvPicPr>
            <a:picLocks noChangeAspect="1"/>
          </p:cNvPicPr>
          <p:nvPr/>
        </p:nvPicPr>
        <p:blipFill>
          <a:blip r:embed="rId4"/>
          <a:stretch>
            <a:fillRect/>
          </a:stretch>
        </p:blipFill>
        <p:spPr>
          <a:xfrm>
            <a:off x="1885950" y="3086100"/>
            <a:ext cx="4664152" cy="228600"/>
          </a:xfrm>
          <a:prstGeom prst="rect">
            <a:avLst/>
          </a:prstGeom>
        </p:spPr>
      </p:pic>
      <p:pic>
        <p:nvPicPr>
          <p:cNvPr id="5" name="Picture 4"/>
          <p:cNvPicPr>
            <a:picLocks noChangeAspect="1"/>
          </p:cNvPicPr>
          <p:nvPr/>
        </p:nvPicPr>
        <p:blipFill>
          <a:blip r:embed="rId5"/>
          <a:stretch>
            <a:fillRect/>
          </a:stretch>
        </p:blipFill>
        <p:spPr>
          <a:xfrm>
            <a:off x="1885950" y="3429001"/>
            <a:ext cx="1485901" cy="202475"/>
          </a:xfrm>
          <a:prstGeom prst="rect">
            <a:avLst/>
          </a:prstGeom>
        </p:spPr>
      </p:pic>
      <p:pic>
        <p:nvPicPr>
          <p:cNvPr id="6" name="Picture 5"/>
          <p:cNvPicPr>
            <a:picLocks noChangeAspect="1"/>
          </p:cNvPicPr>
          <p:nvPr/>
        </p:nvPicPr>
        <p:blipFill>
          <a:blip r:embed="rId6"/>
          <a:stretch>
            <a:fillRect/>
          </a:stretch>
        </p:blipFill>
        <p:spPr>
          <a:xfrm>
            <a:off x="3352600" y="3432040"/>
            <a:ext cx="2660946" cy="199436"/>
          </a:xfrm>
          <a:prstGeom prst="rect">
            <a:avLst/>
          </a:prstGeom>
        </p:spPr>
      </p:pic>
      <p:pic>
        <p:nvPicPr>
          <p:cNvPr id="7" name="Picture 6"/>
          <p:cNvPicPr>
            <a:picLocks noChangeAspect="1"/>
          </p:cNvPicPr>
          <p:nvPr/>
        </p:nvPicPr>
        <p:blipFill>
          <a:blip r:embed="rId7"/>
          <a:stretch>
            <a:fillRect/>
          </a:stretch>
        </p:blipFill>
        <p:spPr>
          <a:xfrm>
            <a:off x="1428751" y="4089664"/>
            <a:ext cx="3494279" cy="224384"/>
          </a:xfrm>
          <a:prstGeom prst="rect">
            <a:avLst/>
          </a:prstGeom>
        </p:spPr>
      </p:pic>
      <p:pic>
        <p:nvPicPr>
          <p:cNvPr id="8" name="Picture 7"/>
          <p:cNvPicPr>
            <a:picLocks noChangeAspect="1"/>
          </p:cNvPicPr>
          <p:nvPr/>
        </p:nvPicPr>
        <p:blipFill>
          <a:blip r:embed="rId8"/>
          <a:stretch>
            <a:fillRect/>
          </a:stretch>
        </p:blipFill>
        <p:spPr>
          <a:xfrm>
            <a:off x="4972050" y="4082549"/>
            <a:ext cx="2857500" cy="231500"/>
          </a:xfrm>
          <a:prstGeom prst="rect">
            <a:avLst/>
          </a:prstGeom>
        </p:spPr>
      </p:pic>
      <p:pic>
        <p:nvPicPr>
          <p:cNvPr id="9" name="Picture 8"/>
          <p:cNvPicPr>
            <a:picLocks noChangeAspect="1"/>
          </p:cNvPicPr>
          <p:nvPr/>
        </p:nvPicPr>
        <p:blipFill>
          <a:blip r:embed="rId9"/>
          <a:stretch>
            <a:fillRect/>
          </a:stretch>
        </p:blipFill>
        <p:spPr>
          <a:xfrm>
            <a:off x="1468799" y="4406440"/>
            <a:ext cx="1803432" cy="224375"/>
          </a:xfrm>
          <a:prstGeom prst="rect">
            <a:avLst/>
          </a:prstGeom>
        </p:spPr>
      </p:pic>
      <p:pic>
        <p:nvPicPr>
          <p:cNvPr id="10" name="Picture 9"/>
          <p:cNvPicPr>
            <a:picLocks noChangeAspect="1"/>
          </p:cNvPicPr>
          <p:nvPr/>
        </p:nvPicPr>
        <p:blipFill>
          <a:blip r:embed="rId10"/>
          <a:stretch>
            <a:fillRect/>
          </a:stretch>
        </p:blipFill>
        <p:spPr>
          <a:xfrm>
            <a:off x="3283061" y="4417158"/>
            <a:ext cx="3412514" cy="244007"/>
          </a:xfrm>
          <a:prstGeom prst="rect">
            <a:avLst/>
          </a:prstGeom>
        </p:spPr>
      </p:pic>
      <p:pic>
        <p:nvPicPr>
          <p:cNvPr id="11" name="Picture 10"/>
          <p:cNvPicPr>
            <a:picLocks noChangeAspect="1"/>
          </p:cNvPicPr>
          <p:nvPr/>
        </p:nvPicPr>
        <p:blipFill>
          <a:blip r:embed="rId11"/>
          <a:stretch>
            <a:fillRect/>
          </a:stretch>
        </p:blipFill>
        <p:spPr>
          <a:xfrm>
            <a:off x="1468800" y="4723206"/>
            <a:ext cx="3160351" cy="220898"/>
          </a:xfrm>
          <a:prstGeom prst="rect">
            <a:avLst/>
          </a:prstGeom>
        </p:spPr>
      </p:pic>
      <p:pic>
        <p:nvPicPr>
          <p:cNvPr id="12" name="Picture 11"/>
          <p:cNvPicPr>
            <a:picLocks noChangeAspect="1"/>
          </p:cNvPicPr>
          <p:nvPr/>
        </p:nvPicPr>
        <p:blipFill>
          <a:blip r:embed="rId12"/>
          <a:stretch>
            <a:fillRect/>
          </a:stretch>
        </p:blipFill>
        <p:spPr>
          <a:xfrm>
            <a:off x="4638777" y="4695290"/>
            <a:ext cx="2945045" cy="256963"/>
          </a:xfrm>
          <a:prstGeom prst="rect">
            <a:avLst/>
          </a:prstGeom>
        </p:spPr>
      </p:pic>
      <p:pic>
        <p:nvPicPr>
          <p:cNvPr id="13" name="Picture 12"/>
          <p:cNvPicPr>
            <a:picLocks noChangeAspect="1"/>
          </p:cNvPicPr>
          <p:nvPr/>
        </p:nvPicPr>
        <p:blipFill>
          <a:blip r:embed="rId13"/>
          <a:stretch>
            <a:fillRect/>
          </a:stretch>
        </p:blipFill>
        <p:spPr>
          <a:xfrm>
            <a:off x="1462784" y="4991091"/>
            <a:ext cx="3100207" cy="211224"/>
          </a:xfrm>
          <a:prstGeom prst="rect">
            <a:avLst/>
          </a:prstGeom>
        </p:spPr>
      </p:pic>
    </p:spTree>
    <p:extLst>
      <p:ext uri="{BB962C8B-B14F-4D97-AF65-F5344CB8AC3E}">
        <p14:creationId xmlns:p14="http://schemas.microsoft.com/office/powerpoint/2010/main" val="988248895"/>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30" name="Text Box 2"/>
          <p:cNvSpPr txBox="1">
            <a:spLocks noChangeArrowheads="1"/>
          </p:cNvSpPr>
          <p:nvPr/>
        </p:nvSpPr>
        <p:spPr bwMode="auto">
          <a:xfrm>
            <a:off x="2017713" y="500063"/>
            <a:ext cx="5118100" cy="822325"/>
          </a:xfrm>
          <a:prstGeom prst="rect">
            <a:avLst/>
          </a:prstGeom>
          <a:noFill/>
          <a:ln w="9525">
            <a:noFill/>
            <a:miter lim="800000"/>
            <a:headEnd/>
            <a:tailEnd/>
          </a:ln>
          <a:effectLst>
            <a:outerShdw dist="35921" dir="2700000" algn="ctr" rotWithShape="0">
              <a:schemeClr val="folHlink"/>
            </a:outerShdw>
          </a:effectLst>
        </p:spPr>
        <p:txBody>
          <a:bodyPr wrap="none">
            <a:spAutoFit/>
          </a:bodyPr>
          <a:lstStyle/>
          <a:p>
            <a:pPr algn="ctr"/>
            <a:r>
              <a:rPr lang="en-US">
                <a:solidFill>
                  <a:srgbClr val="FF0000"/>
                </a:solidFill>
                <a:latin typeface="Verdana" pitchFamily="34" charset="0"/>
              </a:rPr>
              <a:t>Chapter 9</a:t>
            </a:r>
          </a:p>
          <a:p>
            <a:pPr algn="ctr"/>
            <a:r>
              <a:rPr lang="en-US">
                <a:solidFill>
                  <a:srgbClr val="FF0000"/>
                </a:solidFill>
                <a:latin typeface="Verdana" pitchFamily="34" charset="0"/>
              </a:rPr>
              <a:t>Morphological Image Processing</a:t>
            </a:r>
            <a:endParaRPr lang="en-US"/>
          </a:p>
        </p:txBody>
      </p:sp>
      <p:pic>
        <p:nvPicPr>
          <p:cNvPr id="99337" name="Picture 9"/>
          <p:cNvPicPr>
            <a:picLocks noChangeAspect="1" noChangeArrowheads="1"/>
          </p:cNvPicPr>
          <p:nvPr/>
        </p:nvPicPr>
        <p:blipFill>
          <a:blip r:embed="rId2"/>
          <a:srcRect/>
          <a:stretch>
            <a:fillRect/>
          </a:stretch>
        </p:blipFill>
        <p:spPr bwMode="auto">
          <a:xfrm>
            <a:off x="1795463" y="1874838"/>
            <a:ext cx="6294437" cy="2955925"/>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30" name="Text Box 2"/>
          <p:cNvSpPr txBox="1">
            <a:spLocks noChangeArrowheads="1"/>
          </p:cNvSpPr>
          <p:nvPr/>
        </p:nvSpPr>
        <p:spPr bwMode="auto">
          <a:xfrm>
            <a:off x="2619336" y="500063"/>
            <a:ext cx="3914853" cy="369332"/>
          </a:xfrm>
          <a:prstGeom prst="rect">
            <a:avLst/>
          </a:prstGeom>
          <a:noFill/>
          <a:ln w="9525">
            <a:noFill/>
            <a:miter lim="800000"/>
            <a:headEnd/>
            <a:tailEnd/>
          </a:ln>
          <a:effectLst>
            <a:outerShdw dist="35921" dir="2700000" algn="ctr" rotWithShape="0">
              <a:schemeClr val="folHlink"/>
            </a:outerShdw>
          </a:effectLst>
        </p:spPr>
        <p:txBody>
          <a:bodyPr wrap="none">
            <a:spAutoFit/>
          </a:bodyPr>
          <a:lstStyle/>
          <a:p>
            <a:pPr algn="ctr"/>
            <a:r>
              <a:rPr lang="en-US" dirty="0" smtClean="0">
                <a:solidFill>
                  <a:srgbClr val="FF0000"/>
                </a:solidFill>
                <a:latin typeface="Verdana" pitchFamily="34" charset="0"/>
              </a:rPr>
              <a:t>Morphological </a:t>
            </a:r>
            <a:r>
              <a:rPr lang="en-US" dirty="0">
                <a:solidFill>
                  <a:srgbClr val="FF0000"/>
                </a:solidFill>
                <a:latin typeface="Verdana" pitchFamily="34" charset="0"/>
              </a:rPr>
              <a:t>Image Processing</a:t>
            </a:r>
            <a:endParaRPr lang="en-US" dirty="0"/>
          </a:p>
        </p:txBody>
      </p:sp>
      <p:pic>
        <p:nvPicPr>
          <p:cNvPr id="2" name="Picture 1"/>
          <p:cNvPicPr>
            <a:picLocks noChangeAspect="1"/>
          </p:cNvPicPr>
          <p:nvPr/>
        </p:nvPicPr>
        <p:blipFill>
          <a:blip r:embed="rId2"/>
          <a:stretch>
            <a:fillRect/>
          </a:stretch>
        </p:blipFill>
        <p:spPr>
          <a:xfrm>
            <a:off x="1219200" y="1219200"/>
            <a:ext cx="6206292" cy="304800"/>
          </a:xfrm>
          <a:prstGeom prst="rect">
            <a:avLst/>
          </a:prstGeom>
        </p:spPr>
      </p:pic>
      <p:pic>
        <p:nvPicPr>
          <p:cNvPr id="3" name="Picture 2"/>
          <p:cNvPicPr>
            <a:picLocks noChangeAspect="1"/>
          </p:cNvPicPr>
          <p:nvPr/>
        </p:nvPicPr>
        <p:blipFill>
          <a:blip r:embed="rId3"/>
          <a:stretch>
            <a:fillRect/>
          </a:stretch>
        </p:blipFill>
        <p:spPr>
          <a:xfrm>
            <a:off x="1752600" y="2057400"/>
            <a:ext cx="5985430" cy="762000"/>
          </a:xfrm>
          <a:prstGeom prst="rect">
            <a:avLst/>
          </a:prstGeom>
        </p:spPr>
      </p:pic>
      <p:pic>
        <p:nvPicPr>
          <p:cNvPr id="4" name="Picture 3"/>
          <p:cNvPicPr>
            <a:picLocks noChangeAspect="1"/>
          </p:cNvPicPr>
          <p:nvPr/>
        </p:nvPicPr>
        <p:blipFill>
          <a:blip r:embed="rId4"/>
          <a:stretch>
            <a:fillRect/>
          </a:stretch>
        </p:blipFill>
        <p:spPr>
          <a:xfrm>
            <a:off x="1447800" y="3276600"/>
            <a:ext cx="6767338" cy="762000"/>
          </a:xfrm>
          <a:prstGeom prst="rect">
            <a:avLst/>
          </a:prstGeom>
        </p:spPr>
      </p:pic>
      <p:pic>
        <p:nvPicPr>
          <p:cNvPr id="5" name="Picture 4"/>
          <p:cNvPicPr>
            <a:picLocks noChangeAspect="1"/>
          </p:cNvPicPr>
          <p:nvPr/>
        </p:nvPicPr>
        <p:blipFill>
          <a:blip r:embed="rId5"/>
          <a:stretch>
            <a:fillRect/>
          </a:stretch>
        </p:blipFill>
        <p:spPr>
          <a:xfrm>
            <a:off x="3048000" y="4495800"/>
            <a:ext cx="1219200" cy="254443"/>
          </a:xfrm>
          <a:prstGeom prst="rect">
            <a:avLst/>
          </a:prstGeom>
        </p:spPr>
      </p:pic>
    </p:spTree>
    <p:extLst>
      <p:ext uri="{BB962C8B-B14F-4D97-AF65-F5344CB8AC3E}">
        <p14:creationId xmlns:p14="http://schemas.microsoft.com/office/powerpoint/2010/main" val="3405239723"/>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414129"/>
            <a:ext cx="7772400" cy="576471"/>
          </a:xfrm>
        </p:spPr>
        <p:txBody>
          <a:bodyPr>
            <a:normAutofit/>
          </a:bodyPr>
          <a:lstStyle/>
          <a:p>
            <a:r>
              <a:rPr lang="en-US" sz="2800" dirty="0" smtClean="0">
                <a:solidFill>
                  <a:srgbClr val="FF0000"/>
                </a:solidFill>
              </a:rPr>
              <a:t>Morphological Image Processing</a:t>
            </a:r>
            <a:endParaRPr lang="en-US" sz="2800" dirty="0">
              <a:solidFill>
                <a:srgbClr val="FF0000"/>
              </a:solidFill>
            </a:endParaRPr>
          </a:p>
        </p:txBody>
      </p:sp>
      <p:sp>
        <p:nvSpPr>
          <p:cNvPr id="3" name="Subtitle 2"/>
          <p:cNvSpPr>
            <a:spLocks noGrp="1"/>
          </p:cNvSpPr>
          <p:nvPr>
            <p:ph type="subTitle" idx="1"/>
          </p:nvPr>
        </p:nvSpPr>
        <p:spPr>
          <a:xfrm>
            <a:off x="914400" y="1447800"/>
            <a:ext cx="7391400" cy="4724400"/>
          </a:xfrm>
        </p:spPr>
        <p:txBody>
          <a:bodyPr>
            <a:normAutofit/>
          </a:bodyPr>
          <a:lstStyle/>
          <a:p>
            <a:pPr algn="just"/>
            <a:r>
              <a:rPr lang="en-US" sz="2800" b="1" dirty="0" smtClean="0">
                <a:solidFill>
                  <a:schemeClr val="tx1"/>
                </a:solidFill>
              </a:rPr>
              <a:t>Logic Operations Involving Binary Images</a:t>
            </a:r>
          </a:p>
          <a:p>
            <a:pPr algn="just">
              <a:buFont typeface="Wingdings" pitchFamily="2" charset="2"/>
              <a:buChar char="ü"/>
            </a:pPr>
            <a:r>
              <a:rPr lang="en-US" sz="2400" dirty="0" smtClean="0">
                <a:solidFill>
                  <a:schemeClr val="tx1"/>
                </a:solidFill>
              </a:rPr>
              <a:t> The principal logic operations used in image processing are AND, OR, and NOT(COMPLEMENT).</a:t>
            </a:r>
          </a:p>
          <a:p>
            <a:pPr algn="just">
              <a:buFont typeface="Wingdings" pitchFamily="2" charset="2"/>
              <a:buChar char="ü"/>
            </a:pPr>
            <a:r>
              <a:rPr lang="en-US" sz="2400" dirty="0" smtClean="0">
                <a:solidFill>
                  <a:schemeClr val="tx1"/>
                </a:solidFill>
              </a:rPr>
              <a:t> Their properties are summarized in the following table-</a:t>
            </a:r>
          </a:p>
          <a:p>
            <a:pPr algn="just">
              <a:buFont typeface="Wingdings" pitchFamily="2" charset="2"/>
              <a:buChar char="ü"/>
            </a:pPr>
            <a:endParaRPr lang="en-US" sz="2400" dirty="0">
              <a:solidFill>
                <a:schemeClr val="tx1"/>
              </a:solidFill>
            </a:endParaRPr>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2370" name="Text Box 2"/>
          <p:cNvSpPr txBox="1">
            <a:spLocks noChangeArrowheads="1"/>
          </p:cNvSpPr>
          <p:nvPr/>
        </p:nvSpPr>
        <p:spPr bwMode="auto">
          <a:xfrm>
            <a:off x="2017713" y="500063"/>
            <a:ext cx="5118100" cy="822325"/>
          </a:xfrm>
          <a:prstGeom prst="rect">
            <a:avLst/>
          </a:prstGeom>
          <a:noFill/>
          <a:ln w="9525">
            <a:noFill/>
            <a:miter lim="800000"/>
            <a:headEnd/>
            <a:tailEnd/>
          </a:ln>
          <a:effectLst>
            <a:outerShdw dist="35921" dir="2700000" algn="ctr" rotWithShape="0">
              <a:schemeClr val="folHlink"/>
            </a:outerShdw>
          </a:effectLst>
        </p:spPr>
        <p:txBody>
          <a:bodyPr wrap="none">
            <a:spAutoFit/>
          </a:bodyPr>
          <a:lstStyle/>
          <a:p>
            <a:pPr algn="ctr"/>
            <a:r>
              <a:rPr lang="en-US">
                <a:solidFill>
                  <a:srgbClr val="FF0000"/>
                </a:solidFill>
                <a:latin typeface="Verdana" pitchFamily="34" charset="0"/>
              </a:rPr>
              <a:t>Chapter 9</a:t>
            </a:r>
          </a:p>
          <a:p>
            <a:pPr algn="ctr"/>
            <a:r>
              <a:rPr lang="en-US">
                <a:solidFill>
                  <a:srgbClr val="FF0000"/>
                </a:solidFill>
                <a:latin typeface="Verdana" pitchFamily="34" charset="0"/>
              </a:rPr>
              <a:t>Morphological Image Processing</a:t>
            </a:r>
            <a:endParaRPr lang="en-US"/>
          </a:p>
        </p:txBody>
      </p:sp>
      <p:pic>
        <p:nvPicPr>
          <p:cNvPr id="442371" name="Picture 3"/>
          <p:cNvPicPr>
            <a:picLocks noChangeAspect="1" noChangeArrowheads="1"/>
          </p:cNvPicPr>
          <p:nvPr/>
        </p:nvPicPr>
        <p:blipFill>
          <a:blip r:embed="rId2"/>
          <a:srcRect/>
          <a:stretch>
            <a:fillRect/>
          </a:stretch>
        </p:blipFill>
        <p:spPr bwMode="auto">
          <a:xfrm>
            <a:off x="819150" y="2141538"/>
            <a:ext cx="6278563" cy="1311275"/>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414129"/>
            <a:ext cx="7772400" cy="576471"/>
          </a:xfrm>
        </p:spPr>
        <p:txBody>
          <a:bodyPr>
            <a:normAutofit/>
          </a:bodyPr>
          <a:lstStyle/>
          <a:p>
            <a:r>
              <a:rPr lang="en-US" sz="2800" dirty="0" smtClean="0">
                <a:solidFill>
                  <a:srgbClr val="FF0000"/>
                </a:solidFill>
              </a:rPr>
              <a:t>Morphological Image Processing</a:t>
            </a:r>
            <a:endParaRPr lang="en-US" sz="2800" dirty="0">
              <a:solidFill>
                <a:srgbClr val="FF0000"/>
              </a:solidFill>
            </a:endParaRPr>
          </a:p>
        </p:txBody>
      </p:sp>
      <p:sp>
        <p:nvSpPr>
          <p:cNvPr id="3" name="Subtitle 2"/>
          <p:cNvSpPr>
            <a:spLocks noGrp="1"/>
          </p:cNvSpPr>
          <p:nvPr>
            <p:ph type="subTitle" idx="1"/>
          </p:nvPr>
        </p:nvSpPr>
        <p:spPr>
          <a:xfrm>
            <a:off x="914400" y="1447800"/>
            <a:ext cx="7391400" cy="4724400"/>
          </a:xfrm>
        </p:spPr>
        <p:txBody>
          <a:bodyPr>
            <a:normAutofit/>
          </a:bodyPr>
          <a:lstStyle/>
          <a:p>
            <a:pPr algn="just"/>
            <a:r>
              <a:rPr lang="en-US" sz="2800" b="1" dirty="0" smtClean="0">
                <a:solidFill>
                  <a:schemeClr val="tx1"/>
                </a:solidFill>
              </a:rPr>
              <a:t>Logic Operations Involving Binary Images</a:t>
            </a:r>
          </a:p>
          <a:p>
            <a:pPr algn="just">
              <a:buFont typeface="Wingdings" pitchFamily="2" charset="2"/>
              <a:buChar char="ü"/>
            </a:pPr>
            <a:r>
              <a:rPr lang="en-US" sz="2400" dirty="0" smtClean="0">
                <a:solidFill>
                  <a:schemeClr val="tx1"/>
                </a:solidFill>
              </a:rPr>
              <a:t> Logic operations are performed on a pixel by pixel basis between corresponding pixels of two or more images (except NOT, which operates on the pixels of a single image).</a:t>
            </a:r>
          </a:p>
          <a:p>
            <a:pPr algn="just">
              <a:buFont typeface="Wingdings" pitchFamily="2" charset="2"/>
              <a:buChar char="ü"/>
            </a:pPr>
            <a:r>
              <a:rPr lang="en-US" sz="2400" dirty="0" smtClean="0">
                <a:solidFill>
                  <a:schemeClr val="tx1"/>
                </a:solidFill>
              </a:rPr>
              <a:t> The following figure shows various examples of logic operations involving images, where black indicates a binary 1 and white indicates a 0.</a:t>
            </a:r>
            <a:endParaRPr lang="en-US" sz="2400" dirty="0">
              <a:solidFill>
                <a:schemeClr val="tx1"/>
              </a:solidFill>
            </a:endParaRPr>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4418" name="Text Box 2"/>
          <p:cNvSpPr txBox="1">
            <a:spLocks noChangeArrowheads="1"/>
          </p:cNvSpPr>
          <p:nvPr/>
        </p:nvSpPr>
        <p:spPr bwMode="auto">
          <a:xfrm>
            <a:off x="2619336" y="500063"/>
            <a:ext cx="3914853" cy="369332"/>
          </a:xfrm>
          <a:prstGeom prst="rect">
            <a:avLst/>
          </a:prstGeom>
          <a:noFill/>
          <a:ln w="9525">
            <a:noFill/>
            <a:miter lim="800000"/>
            <a:headEnd/>
            <a:tailEnd/>
          </a:ln>
          <a:effectLst>
            <a:outerShdw dist="35921" dir="2700000" algn="ctr" rotWithShape="0">
              <a:schemeClr val="folHlink"/>
            </a:outerShdw>
          </a:effectLst>
        </p:spPr>
        <p:txBody>
          <a:bodyPr wrap="none">
            <a:spAutoFit/>
          </a:bodyPr>
          <a:lstStyle/>
          <a:p>
            <a:pPr algn="ctr"/>
            <a:r>
              <a:rPr lang="en-US" dirty="0" smtClean="0">
                <a:solidFill>
                  <a:srgbClr val="FF0000"/>
                </a:solidFill>
                <a:latin typeface="Verdana" pitchFamily="34" charset="0"/>
              </a:rPr>
              <a:t>Morphological </a:t>
            </a:r>
            <a:r>
              <a:rPr lang="en-US" dirty="0">
                <a:solidFill>
                  <a:srgbClr val="FF0000"/>
                </a:solidFill>
                <a:latin typeface="Verdana" pitchFamily="34" charset="0"/>
              </a:rPr>
              <a:t>Image Processing</a:t>
            </a:r>
            <a:endParaRPr lang="en-US" dirty="0"/>
          </a:p>
        </p:txBody>
      </p:sp>
      <p:pic>
        <p:nvPicPr>
          <p:cNvPr id="444419" name="Picture 3"/>
          <p:cNvPicPr>
            <a:picLocks noChangeAspect="1" noChangeArrowheads="1"/>
          </p:cNvPicPr>
          <p:nvPr/>
        </p:nvPicPr>
        <p:blipFill>
          <a:blip r:embed="rId2"/>
          <a:srcRect/>
          <a:stretch>
            <a:fillRect/>
          </a:stretch>
        </p:blipFill>
        <p:spPr bwMode="auto">
          <a:xfrm>
            <a:off x="1752600" y="895864"/>
            <a:ext cx="5884671" cy="5657336"/>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22" name="Text Box 2"/>
          <p:cNvSpPr txBox="1">
            <a:spLocks noChangeArrowheads="1"/>
          </p:cNvSpPr>
          <p:nvPr/>
        </p:nvSpPr>
        <p:spPr bwMode="auto">
          <a:xfrm>
            <a:off x="2619336" y="500063"/>
            <a:ext cx="3914853" cy="369332"/>
          </a:xfrm>
          <a:prstGeom prst="rect">
            <a:avLst/>
          </a:prstGeom>
          <a:noFill/>
          <a:ln w="9525">
            <a:noFill/>
            <a:miter lim="800000"/>
            <a:headEnd/>
            <a:tailEnd/>
          </a:ln>
          <a:effectLst>
            <a:outerShdw dist="35921" dir="2700000" algn="ctr" rotWithShape="0">
              <a:schemeClr val="folHlink"/>
            </a:outerShdw>
          </a:effectLst>
        </p:spPr>
        <p:txBody>
          <a:bodyPr wrap="none">
            <a:spAutoFit/>
          </a:bodyPr>
          <a:lstStyle/>
          <a:p>
            <a:pPr algn="ctr"/>
            <a:r>
              <a:rPr lang="en-US" dirty="0" smtClean="0">
                <a:solidFill>
                  <a:srgbClr val="FF0000"/>
                </a:solidFill>
                <a:latin typeface="Verdana" pitchFamily="34" charset="0"/>
              </a:rPr>
              <a:t>Morphological </a:t>
            </a:r>
            <a:r>
              <a:rPr lang="en-US" dirty="0">
                <a:solidFill>
                  <a:srgbClr val="FF0000"/>
                </a:solidFill>
                <a:latin typeface="Verdana" pitchFamily="34" charset="0"/>
              </a:rPr>
              <a:t>Image Processing</a:t>
            </a:r>
            <a:endParaRPr lang="en-US" dirty="0">
              <a:solidFill>
                <a:prstClr val="black"/>
              </a:solidFill>
            </a:endParaRPr>
          </a:p>
        </p:txBody>
      </p:sp>
      <p:pic>
        <p:nvPicPr>
          <p:cNvPr id="4"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76400" y="1524000"/>
            <a:ext cx="3844971" cy="2819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248400" y="1981200"/>
            <a:ext cx="1876264" cy="17510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 name="Picture 1"/>
          <p:cNvPicPr>
            <a:picLocks noChangeAspect="1"/>
          </p:cNvPicPr>
          <p:nvPr/>
        </p:nvPicPr>
        <p:blipFill>
          <a:blip r:embed="rId4"/>
          <a:stretch>
            <a:fillRect/>
          </a:stretch>
        </p:blipFill>
        <p:spPr>
          <a:xfrm>
            <a:off x="1507863" y="4566668"/>
            <a:ext cx="2073538" cy="281433"/>
          </a:xfrm>
          <a:prstGeom prst="rect">
            <a:avLst/>
          </a:prstGeom>
        </p:spPr>
      </p:pic>
      <p:pic>
        <p:nvPicPr>
          <p:cNvPr id="3" name="Picture 2"/>
          <p:cNvPicPr>
            <a:picLocks noChangeAspect="1"/>
          </p:cNvPicPr>
          <p:nvPr/>
        </p:nvPicPr>
        <p:blipFill>
          <a:blip r:embed="rId5"/>
          <a:stretch>
            <a:fillRect/>
          </a:stretch>
        </p:blipFill>
        <p:spPr>
          <a:xfrm>
            <a:off x="3599687" y="4584358"/>
            <a:ext cx="4719375" cy="246051"/>
          </a:xfrm>
          <a:prstGeom prst="rect">
            <a:avLst/>
          </a:prstGeom>
        </p:spPr>
      </p:pic>
      <p:pic>
        <p:nvPicPr>
          <p:cNvPr id="6" name="Picture 5"/>
          <p:cNvPicPr>
            <a:picLocks noChangeAspect="1"/>
          </p:cNvPicPr>
          <p:nvPr/>
        </p:nvPicPr>
        <p:blipFill>
          <a:blip r:embed="rId6"/>
          <a:stretch>
            <a:fillRect/>
          </a:stretch>
        </p:blipFill>
        <p:spPr>
          <a:xfrm>
            <a:off x="1507863" y="4999285"/>
            <a:ext cx="3075186" cy="258515"/>
          </a:xfrm>
          <a:prstGeom prst="rect">
            <a:avLst/>
          </a:prstGeom>
        </p:spPr>
      </p:pic>
      <p:pic>
        <p:nvPicPr>
          <p:cNvPr id="7" name="Picture 6"/>
          <p:cNvPicPr>
            <a:picLocks noChangeAspect="1"/>
          </p:cNvPicPr>
          <p:nvPr/>
        </p:nvPicPr>
        <p:blipFill>
          <a:blip r:embed="rId7"/>
          <a:stretch>
            <a:fillRect/>
          </a:stretch>
        </p:blipFill>
        <p:spPr>
          <a:xfrm>
            <a:off x="4650195" y="4876024"/>
            <a:ext cx="3196409" cy="381776"/>
          </a:xfrm>
          <a:prstGeom prst="rect">
            <a:avLst/>
          </a:prstGeom>
        </p:spPr>
      </p:pic>
      <p:pic>
        <p:nvPicPr>
          <p:cNvPr id="8" name="Picture 7"/>
          <p:cNvPicPr>
            <a:picLocks noChangeAspect="1"/>
          </p:cNvPicPr>
          <p:nvPr/>
        </p:nvPicPr>
        <p:blipFill>
          <a:blip r:embed="rId8"/>
          <a:stretch>
            <a:fillRect/>
          </a:stretch>
        </p:blipFill>
        <p:spPr>
          <a:xfrm>
            <a:off x="2014505" y="5440266"/>
            <a:ext cx="6640850" cy="655734"/>
          </a:xfrm>
          <a:prstGeom prst="rect">
            <a:avLst/>
          </a:prstGeom>
        </p:spPr>
      </p:pic>
    </p:spTree>
    <p:extLst>
      <p:ext uri="{BB962C8B-B14F-4D97-AF65-F5344CB8AC3E}">
        <p14:creationId xmlns:p14="http://schemas.microsoft.com/office/powerpoint/2010/main" val="639058943"/>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22" name="Text Box 2"/>
          <p:cNvSpPr txBox="1">
            <a:spLocks noChangeArrowheads="1"/>
          </p:cNvSpPr>
          <p:nvPr/>
        </p:nvSpPr>
        <p:spPr bwMode="auto">
          <a:xfrm>
            <a:off x="2619336" y="500063"/>
            <a:ext cx="3914853" cy="369332"/>
          </a:xfrm>
          <a:prstGeom prst="rect">
            <a:avLst/>
          </a:prstGeom>
          <a:noFill/>
          <a:ln w="9525">
            <a:noFill/>
            <a:miter lim="800000"/>
            <a:headEnd/>
            <a:tailEnd/>
          </a:ln>
          <a:effectLst>
            <a:outerShdw dist="35921" dir="2700000" algn="ctr" rotWithShape="0">
              <a:schemeClr val="folHlink"/>
            </a:outerShdw>
          </a:effectLst>
        </p:spPr>
        <p:txBody>
          <a:bodyPr wrap="none">
            <a:spAutoFit/>
          </a:bodyPr>
          <a:lstStyle/>
          <a:p>
            <a:pPr algn="ctr"/>
            <a:r>
              <a:rPr lang="en-US" dirty="0" smtClean="0">
                <a:solidFill>
                  <a:srgbClr val="FF0000"/>
                </a:solidFill>
                <a:latin typeface="Verdana" pitchFamily="34" charset="0"/>
              </a:rPr>
              <a:t>Morphological </a:t>
            </a:r>
            <a:r>
              <a:rPr lang="en-US" dirty="0">
                <a:solidFill>
                  <a:srgbClr val="FF0000"/>
                </a:solidFill>
                <a:latin typeface="Verdana" pitchFamily="34" charset="0"/>
              </a:rPr>
              <a:t>Image Processing</a:t>
            </a:r>
            <a:endParaRPr lang="en-US" dirty="0">
              <a:solidFill>
                <a:prstClr val="black"/>
              </a:solidFill>
            </a:endParaRPr>
          </a:p>
        </p:txBody>
      </p:sp>
      <p:pic>
        <p:nvPicPr>
          <p:cNvPr id="9" name="Picture 8"/>
          <p:cNvPicPr>
            <a:picLocks noChangeAspect="1"/>
          </p:cNvPicPr>
          <p:nvPr/>
        </p:nvPicPr>
        <p:blipFill>
          <a:blip r:embed="rId2"/>
          <a:stretch>
            <a:fillRect/>
          </a:stretch>
        </p:blipFill>
        <p:spPr>
          <a:xfrm>
            <a:off x="381000" y="1322388"/>
            <a:ext cx="8218271" cy="1039812"/>
          </a:xfrm>
          <a:prstGeom prst="rect">
            <a:avLst/>
          </a:prstGeom>
        </p:spPr>
      </p:pic>
      <p:pic>
        <p:nvPicPr>
          <p:cNvPr id="10" name="Picture 9"/>
          <p:cNvPicPr>
            <a:picLocks noChangeAspect="1"/>
          </p:cNvPicPr>
          <p:nvPr/>
        </p:nvPicPr>
        <p:blipFill>
          <a:blip r:embed="rId3"/>
          <a:stretch>
            <a:fillRect/>
          </a:stretch>
        </p:blipFill>
        <p:spPr>
          <a:xfrm>
            <a:off x="762000" y="2846474"/>
            <a:ext cx="7969680" cy="506325"/>
          </a:xfrm>
          <a:prstGeom prst="rect">
            <a:avLst/>
          </a:prstGeom>
        </p:spPr>
      </p:pic>
      <p:pic>
        <p:nvPicPr>
          <p:cNvPr id="11" name="Picture 10"/>
          <p:cNvPicPr>
            <a:picLocks noChangeAspect="1"/>
          </p:cNvPicPr>
          <p:nvPr/>
        </p:nvPicPr>
        <p:blipFill>
          <a:blip r:embed="rId4"/>
          <a:stretch>
            <a:fillRect/>
          </a:stretch>
        </p:blipFill>
        <p:spPr>
          <a:xfrm>
            <a:off x="914400" y="3355204"/>
            <a:ext cx="1746903" cy="378596"/>
          </a:xfrm>
          <a:prstGeom prst="rect">
            <a:avLst/>
          </a:prstGeom>
        </p:spPr>
      </p:pic>
      <p:pic>
        <p:nvPicPr>
          <p:cNvPr id="12" name="Picture 11"/>
          <p:cNvPicPr>
            <a:picLocks noChangeAspect="1"/>
          </p:cNvPicPr>
          <p:nvPr/>
        </p:nvPicPr>
        <p:blipFill>
          <a:blip r:embed="rId5"/>
          <a:stretch>
            <a:fillRect/>
          </a:stretch>
        </p:blipFill>
        <p:spPr>
          <a:xfrm>
            <a:off x="1295400" y="4038600"/>
            <a:ext cx="7531628" cy="533400"/>
          </a:xfrm>
          <a:prstGeom prst="rect">
            <a:avLst/>
          </a:prstGeom>
        </p:spPr>
      </p:pic>
      <p:pic>
        <p:nvPicPr>
          <p:cNvPr id="13" name="Picture 12"/>
          <p:cNvPicPr>
            <a:picLocks noChangeAspect="1"/>
          </p:cNvPicPr>
          <p:nvPr/>
        </p:nvPicPr>
        <p:blipFill>
          <a:blip r:embed="rId6"/>
          <a:stretch>
            <a:fillRect/>
          </a:stretch>
        </p:blipFill>
        <p:spPr>
          <a:xfrm>
            <a:off x="166767" y="5257801"/>
            <a:ext cx="8580153" cy="1295400"/>
          </a:xfrm>
          <a:prstGeom prst="rect">
            <a:avLst/>
          </a:prstGeom>
        </p:spPr>
      </p:pic>
    </p:spTree>
    <p:extLst>
      <p:ext uri="{BB962C8B-B14F-4D97-AF65-F5344CB8AC3E}">
        <p14:creationId xmlns:p14="http://schemas.microsoft.com/office/powerpoint/2010/main" val="3413556740"/>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22" name="Text Box 2"/>
          <p:cNvSpPr txBox="1">
            <a:spLocks noChangeArrowheads="1"/>
          </p:cNvSpPr>
          <p:nvPr/>
        </p:nvSpPr>
        <p:spPr bwMode="auto">
          <a:xfrm>
            <a:off x="2619336" y="500063"/>
            <a:ext cx="3914853" cy="369332"/>
          </a:xfrm>
          <a:prstGeom prst="rect">
            <a:avLst/>
          </a:prstGeom>
          <a:noFill/>
          <a:ln w="9525">
            <a:noFill/>
            <a:miter lim="800000"/>
            <a:headEnd/>
            <a:tailEnd/>
          </a:ln>
          <a:effectLst>
            <a:outerShdw dist="35921" dir="2700000" algn="ctr" rotWithShape="0">
              <a:schemeClr val="folHlink"/>
            </a:outerShdw>
          </a:effectLst>
        </p:spPr>
        <p:txBody>
          <a:bodyPr wrap="none">
            <a:spAutoFit/>
          </a:bodyPr>
          <a:lstStyle/>
          <a:p>
            <a:pPr algn="ctr"/>
            <a:r>
              <a:rPr lang="en-US" dirty="0" smtClean="0">
                <a:solidFill>
                  <a:srgbClr val="FF0000"/>
                </a:solidFill>
                <a:latin typeface="Verdana" pitchFamily="34" charset="0"/>
              </a:rPr>
              <a:t>Morphological </a:t>
            </a:r>
            <a:r>
              <a:rPr lang="en-US" dirty="0">
                <a:solidFill>
                  <a:srgbClr val="FF0000"/>
                </a:solidFill>
                <a:latin typeface="Verdana" pitchFamily="34" charset="0"/>
              </a:rPr>
              <a:t>Image Processing</a:t>
            </a:r>
            <a:endParaRPr lang="en-US" dirty="0">
              <a:solidFill>
                <a:prstClr val="black"/>
              </a:solidFill>
            </a:endParaRPr>
          </a:p>
        </p:txBody>
      </p:sp>
      <p:pic>
        <p:nvPicPr>
          <p:cNvPr id="2" name="Picture 1"/>
          <p:cNvPicPr>
            <a:picLocks noChangeAspect="1"/>
          </p:cNvPicPr>
          <p:nvPr/>
        </p:nvPicPr>
        <p:blipFill>
          <a:blip r:embed="rId2"/>
          <a:stretch>
            <a:fillRect/>
          </a:stretch>
        </p:blipFill>
        <p:spPr>
          <a:xfrm>
            <a:off x="1066800" y="1981200"/>
            <a:ext cx="7054247" cy="381000"/>
          </a:xfrm>
          <a:prstGeom prst="rect">
            <a:avLst/>
          </a:prstGeom>
        </p:spPr>
      </p:pic>
      <p:pic>
        <p:nvPicPr>
          <p:cNvPr id="3" name="Picture 2"/>
          <p:cNvPicPr>
            <a:picLocks noChangeAspect="1"/>
          </p:cNvPicPr>
          <p:nvPr/>
        </p:nvPicPr>
        <p:blipFill>
          <a:blip r:embed="rId3"/>
          <a:stretch>
            <a:fillRect/>
          </a:stretch>
        </p:blipFill>
        <p:spPr>
          <a:xfrm>
            <a:off x="990599" y="2362200"/>
            <a:ext cx="2057401" cy="329108"/>
          </a:xfrm>
          <a:prstGeom prst="rect">
            <a:avLst/>
          </a:prstGeom>
        </p:spPr>
      </p:pic>
      <p:pic>
        <p:nvPicPr>
          <p:cNvPr id="4" name="Picture 3"/>
          <p:cNvPicPr>
            <a:picLocks noChangeAspect="1"/>
          </p:cNvPicPr>
          <p:nvPr/>
        </p:nvPicPr>
        <p:blipFill>
          <a:blip r:embed="rId4"/>
          <a:stretch>
            <a:fillRect/>
          </a:stretch>
        </p:blipFill>
        <p:spPr>
          <a:xfrm>
            <a:off x="3028749" y="2314568"/>
            <a:ext cx="4945856" cy="376740"/>
          </a:xfrm>
          <a:prstGeom prst="rect">
            <a:avLst/>
          </a:prstGeom>
        </p:spPr>
      </p:pic>
      <p:pic>
        <p:nvPicPr>
          <p:cNvPr id="5" name="Picture 4"/>
          <p:cNvPicPr>
            <a:picLocks noChangeAspect="1"/>
          </p:cNvPicPr>
          <p:nvPr/>
        </p:nvPicPr>
        <p:blipFill>
          <a:blip r:embed="rId5"/>
          <a:stretch>
            <a:fillRect/>
          </a:stretch>
        </p:blipFill>
        <p:spPr>
          <a:xfrm>
            <a:off x="990599" y="2741346"/>
            <a:ext cx="3404960" cy="330962"/>
          </a:xfrm>
          <a:prstGeom prst="rect">
            <a:avLst/>
          </a:prstGeom>
        </p:spPr>
      </p:pic>
      <p:pic>
        <p:nvPicPr>
          <p:cNvPr id="6" name="Picture 5"/>
          <p:cNvPicPr>
            <a:picLocks noChangeAspect="1"/>
          </p:cNvPicPr>
          <p:nvPr/>
        </p:nvPicPr>
        <p:blipFill>
          <a:blip r:embed="rId6"/>
          <a:stretch>
            <a:fillRect/>
          </a:stretch>
        </p:blipFill>
        <p:spPr>
          <a:xfrm>
            <a:off x="1022264" y="3276600"/>
            <a:ext cx="816617" cy="304800"/>
          </a:xfrm>
          <a:prstGeom prst="rect">
            <a:avLst/>
          </a:prstGeom>
        </p:spPr>
      </p:pic>
      <p:pic>
        <p:nvPicPr>
          <p:cNvPr id="7" name="Picture 6"/>
          <p:cNvPicPr>
            <a:picLocks noChangeAspect="1"/>
          </p:cNvPicPr>
          <p:nvPr/>
        </p:nvPicPr>
        <p:blipFill>
          <a:blip r:embed="rId7"/>
          <a:stretch>
            <a:fillRect/>
          </a:stretch>
        </p:blipFill>
        <p:spPr>
          <a:xfrm>
            <a:off x="1854923" y="3276600"/>
            <a:ext cx="5869437" cy="304800"/>
          </a:xfrm>
          <a:prstGeom prst="rect">
            <a:avLst/>
          </a:prstGeom>
        </p:spPr>
      </p:pic>
      <p:pic>
        <p:nvPicPr>
          <p:cNvPr id="8" name="Picture 7"/>
          <p:cNvPicPr>
            <a:picLocks noChangeAspect="1"/>
          </p:cNvPicPr>
          <p:nvPr/>
        </p:nvPicPr>
        <p:blipFill>
          <a:blip r:embed="rId8"/>
          <a:stretch>
            <a:fillRect/>
          </a:stretch>
        </p:blipFill>
        <p:spPr>
          <a:xfrm>
            <a:off x="1066799" y="3713608"/>
            <a:ext cx="3134569" cy="324992"/>
          </a:xfrm>
          <a:prstGeom prst="rect">
            <a:avLst/>
          </a:prstGeom>
        </p:spPr>
      </p:pic>
      <p:pic>
        <p:nvPicPr>
          <p:cNvPr id="14" name="Picture 13"/>
          <p:cNvPicPr>
            <a:picLocks noChangeAspect="1"/>
          </p:cNvPicPr>
          <p:nvPr/>
        </p:nvPicPr>
        <p:blipFill>
          <a:blip r:embed="rId9"/>
          <a:stretch>
            <a:fillRect/>
          </a:stretch>
        </p:blipFill>
        <p:spPr>
          <a:xfrm>
            <a:off x="4196534" y="3737338"/>
            <a:ext cx="760455" cy="277531"/>
          </a:xfrm>
          <a:prstGeom prst="rect">
            <a:avLst/>
          </a:prstGeom>
        </p:spPr>
      </p:pic>
    </p:spTree>
    <p:extLst>
      <p:ext uri="{BB962C8B-B14F-4D97-AF65-F5344CB8AC3E}">
        <p14:creationId xmlns:p14="http://schemas.microsoft.com/office/powerpoint/2010/main" val="2820537184"/>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22" name="Text Box 2"/>
          <p:cNvSpPr txBox="1">
            <a:spLocks noChangeArrowheads="1"/>
          </p:cNvSpPr>
          <p:nvPr/>
        </p:nvSpPr>
        <p:spPr bwMode="auto">
          <a:xfrm>
            <a:off x="2619336" y="500063"/>
            <a:ext cx="3914853" cy="369332"/>
          </a:xfrm>
          <a:prstGeom prst="rect">
            <a:avLst/>
          </a:prstGeom>
          <a:noFill/>
          <a:ln w="9525">
            <a:noFill/>
            <a:miter lim="800000"/>
            <a:headEnd/>
            <a:tailEnd/>
          </a:ln>
          <a:effectLst>
            <a:outerShdw dist="35921" dir="2700000" algn="ctr" rotWithShape="0">
              <a:schemeClr val="folHlink"/>
            </a:outerShdw>
          </a:effectLst>
        </p:spPr>
        <p:txBody>
          <a:bodyPr wrap="none">
            <a:spAutoFit/>
          </a:bodyPr>
          <a:lstStyle/>
          <a:p>
            <a:pPr algn="ctr"/>
            <a:r>
              <a:rPr lang="en-US" dirty="0" smtClean="0">
                <a:solidFill>
                  <a:srgbClr val="FF0000"/>
                </a:solidFill>
                <a:latin typeface="Verdana" pitchFamily="34" charset="0"/>
              </a:rPr>
              <a:t>Morphological </a:t>
            </a:r>
            <a:r>
              <a:rPr lang="en-US" dirty="0">
                <a:solidFill>
                  <a:srgbClr val="FF0000"/>
                </a:solidFill>
                <a:latin typeface="Verdana" pitchFamily="34" charset="0"/>
              </a:rPr>
              <a:t>Image Processing</a:t>
            </a:r>
            <a:endParaRPr lang="en-US" dirty="0">
              <a:solidFill>
                <a:prstClr val="black"/>
              </a:solidFill>
            </a:endParaRPr>
          </a:p>
        </p:txBody>
      </p:sp>
      <p:pic>
        <p:nvPicPr>
          <p:cNvPr id="15" name="Picture 14"/>
          <p:cNvPicPr>
            <a:picLocks noChangeAspect="1"/>
          </p:cNvPicPr>
          <p:nvPr/>
        </p:nvPicPr>
        <p:blipFill>
          <a:blip r:embed="rId2"/>
          <a:stretch>
            <a:fillRect/>
          </a:stretch>
        </p:blipFill>
        <p:spPr>
          <a:xfrm>
            <a:off x="1137433" y="1371600"/>
            <a:ext cx="6711167" cy="354232"/>
          </a:xfrm>
          <a:prstGeom prst="rect">
            <a:avLst/>
          </a:prstGeom>
        </p:spPr>
      </p:pic>
      <p:pic>
        <p:nvPicPr>
          <p:cNvPr id="16" name="Picture 15"/>
          <p:cNvPicPr>
            <a:picLocks noChangeAspect="1"/>
          </p:cNvPicPr>
          <p:nvPr/>
        </p:nvPicPr>
        <p:blipFill>
          <a:blip r:embed="rId3"/>
          <a:stretch>
            <a:fillRect/>
          </a:stretch>
        </p:blipFill>
        <p:spPr>
          <a:xfrm>
            <a:off x="1066799" y="1828800"/>
            <a:ext cx="1923674" cy="349300"/>
          </a:xfrm>
          <a:prstGeom prst="rect">
            <a:avLst/>
          </a:prstGeom>
        </p:spPr>
      </p:pic>
      <p:pic>
        <p:nvPicPr>
          <p:cNvPr id="17" name="Picture 16"/>
          <p:cNvPicPr>
            <a:picLocks noChangeAspect="1"/>
          </p:cNvPicPr>
          <p:nvPr/>
        </p:nvPicPr>
        <p:blipFill>
          <a:blip r:embed="rId4"/>
          <a:stretch>
            <a:fillRect/>
          </a:stretch>
        </p:blipFill>
        <p:spPr>
          <a:xfrm>
            <a:off x="3028749" y="1858262"/>
            <a:ext cx="5734252" cy="296348"/>
          </a:xfrm>
          <a:prstGeom prst="rect">
            <a:avLst/>
          </a:prstGeom>
        </p:spPr>
      </p:pic>
      <p:pic>
        <p:nvPicPr>
          <p:cNvPr id="18" name="Picture 17"/>
          <p:cNvPicPr>
            <a:picLocks noChangeAspect="1"/>
          </p:cNvPicPr>
          <p:nvPr/>
        </p:nvPicPr>
        <p:blipFill>
          <a:blip r:embed="rId5"/>
          <a:stretch>
            <a:fillRect/>
          </a:stretch>
        </p:blipFill>
        <p:spPr>
          <a:xfrm>
            <a:off x="1086455" y="2367132"/>
            <a:ext cx="1904018" cy="231626"/>
          </a:xfrm>
          <a:prstGeom prst="rect">
            <a:avLst/>
          </a:prstGeom>
        </p:spPr>
      </p:pic>
      <p:pic>
        <p:nvPicPr>
          <p:cNvPr id="19" name="Picture 18"/>
          <p:cNvPicPr>
            <a:picLocks noChangeAspect="1"/>
          </p:cNvPicPr>
          <p:nvPr/>
        </p:nvPicPr>
        <p:blipFill>
          <a:blip r:embed="rId6"/>
          <a:stretch>
            <a:fillRect/>
          </a:stretch>
        </p:blipFill>
        <p:spPr>
          <a:xfrm>
            <a:off x="2967212" y="2387800"/>
            <a:ext cx="590927" cy="190289"/>
          </a:xfrm>
          <a:prstGeom prst="rect">
            <a:avLst/>
          </a:prstGeom>
        </p:spPr>
      </p:pic>
      <p:pic>
        <p:nvPicPr>
          <p:cNvPr id="20" name="Picture 19"/>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600200" y="3048000"/>
            <a:ext cx="3573102" cy="2895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1" name="Picture 20"/>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6400799" y="3352799"/>
            <a:ext cx="1651103" cy="243840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068390472"/>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22" name="Text Box 2"/>
          <p:cNvSpPr txBox="1">
            <a:spLocks noChangeArrowheads="1"/>
          </p:cNvSpPr>
          <p:nvPr/>
        </p:nvSpPr>
        <p:spPr bwMode="auto">
          <a:xfrm>
            <a:off x="2619336" y="500063"/>
            <a:ext cx="3914853" cy="369332"/>
          </a:xfrm>
          <a:prstGeom prst="rect">
            <a:avLst/>
          </a:prstGeom>
          <a:noFill/>
          <a:ln w="9525">
            <a:noFill/>
            <a:miter lim="800000"/>
            <a:headEnd/>
            <a:tailEnd/>
          </a:ln>
          <a:effectLst>
            <a:outerShdw dist="35921" dir="2700000" algn="ctr" rotWithShape="0">
              <a:schemeClr val="folHlink"/>
            </a:outerShdw>
          </a:effectLst>
        </p:spPr>
        <p:txBody>
          <a:bodyPr wrap="none">
            <a:spAutoFit/>
          </a:bodyPr>
          <a:lstStyle/>
          <a:p>
            <a:pPr algn="ctr"/>
            <a:r>
              <a:rPr lang="en-US" dirty="0" smtClean="0">
                <a:solidFill>
                  <a:srgbClr val="FF0000"/>
                </a:solidFill>
                <a:latin typeface="Verdana" pitchFamily="34" charset="0"/>
              </a:rPr>
              <a:t>Morphological </a:t>
            </a:r>
            <a:r>
              <a:rPr lang="en-US" dirty="0">
                <a:solidFill>
                  <a:srgbClr val="FF0000"/>
                </a:solidFill>
                <a:latin typeface="Verdana" pitchFamily="34" charset="0"/>
              </a:rPr>
              <a:t>Image Processing</a:t>
            </a:r>
            <a:endParaRPr lang="en-US" dirty="0">
              <a:solidFill>
                <a:prstClr val="black"/>
              </a:solidFill>
            </a:endParaRPr>
          </a:p>
        </p:txBody>
      </p:sp>
      <p:pic>
        <p:nvPicPr>
          <p:cNvPr id="10" name="Picture 9"/>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90600" y="880624"/>
            <a:ext cx="6738570" cy="2743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1" name="Picture 10"/>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38200" y="3886200"/>
            <a:ext cx="8065036" cy="1752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 name="Picture 1"/>
          <p:cNvPicPr>
            <a:picLocks noChangeAspect="1"/>
          </p:cNvPicPr>
          <p:nvPr/>
        </p:nvPicPr>
        <p:blipFill>
          <a:blip r:embed="rId4"/>
          <a:stretch>
            <a:fillRect/>
          </a:stretch>
        </p:blipFill>
        <p:spPr>
          <a:xfrm>
            <a:off x="834189" y="5901176"/>
            <a:ext cx="8003180" cy="271024"/>
          </a:xfrm>
          <a:prstGeom prst="rect">
            <a:avLst/>
          </a:prstGeom>
        </p:spPr>
      </p:pic>
    </p:spTree>
    <p:extLst>
      <p:ext uri="{BB962C8B-B14F-4D97-AF65-F5344CB8AC3E}">
        <p14:creationId xmlns:p14="http://schemas.microsoft.com/office/powerpoint/2010/main" val="2822042222"/>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414129"/>
            <a:ext cx="7772400" cy="576471"/>
          </a:xfrm>
        </p:spPr>
        <p:txBody>
          <a:bodyPr>
            <a:normAutofit/>
          </a:bodyPr>
          <a:lstStyle/>
          <a:p>
            <a:r>
              <a:rPr lang="en-US" sz="2800" dirty="0" smtClean="0">
                <a:solidFill>
                  <a:srgbClr val="FF0000"/>
                </a:solidFill>
              </a:rPr>
              <a:t>Morphological Image Processing</a:t>
            </a:r>
            <a:endParaRPr lang="en-US" sz="2800" dirty="0">
              <a:solidFill>
                <a:srgbClr val="FF0000"/>
              </a:solidFill>
            </a:endParaRPr>
          </a:p>
        </p:txBody>
      </p:sp>
      <p:sp>
        <p:nvSpPr>
          <p:cNvPr id="3" name="Subtitle 2"/>
          <p:cNvSpPr>
            <a:spLocks noGrp="1"/>
          </p:cNvSpPr>
          <p:nvPr>
            <p:ph type="subTitle" idx="1"/>
          </p:nvPr>
        </p:nvSpPr>
        <p:spPr>
          <a:xfrm>
            <a:off x="609600" y="1143000"/>
            <a:ext cx="7848600" cy="5562600"/>
          </a:xfrm>
        </p:spPr>
        <p:txBody>
          <a:bodyPr>
            <a:normAutofit/>
          </a:bodyPr>
          <a:lstStyle/>
          <a:p>
            <a:pPr algn="just"/>
            <a:r>
              <a:rPr lang="en-US" sz="2800" b="1" dirty="0" smtClean="0">
                <a:solidFill>
                  <a:schemeClr val="tx1"/>
                </a:solidFill>
              </a:rPr>
              <a:t>Erosion and Dilation</a:t>
            </a:r>
          </a:p>
          <a:p>
            <a:pPr algn="just"/>
            <a:r>
              <a:rPr lang="en-US" sz="2800" dirty="0" smtClean="0">
                <a:solidFill>
                  <a:schemeClr val="tx1"/>
                </a:solidFill>
              </a:rPr>
              <a:t>Two morphological operations including </a:t>
            </a:r>
            <a:r>
              <a:rPr lang="en-US" sz="2800" b="1" i="1" dirty="0" smtClean="0">
                <a:solidFill>
                  <a:schemeClr val="tx1"/>
                </a:solidFill>
              </a:rPr>
              <a:t>erosion and dilation.</a:t>
            </a:r>
            <a:endParaRPr lang="en-US" sz="2800" dirty="0" smtClean="0">
              <a:solidFill>
                <a:schemeClr val="tx1"/>
              </a:solidFill>
            </a:endParaRPr>
          </a:p>
          <a:p>
            <a:pPr algn="just"/>
            <a:r>
              <a:rPr lang="en-US" sz="2800" dirty="0" smtClean="0">
                <a:solidFill>
                  <a:schemeClr val="tx1"/>
                </a:solidFill>
              </a:rPr>
              <a:t>These operations are fundamental to morphological processing.</a:t>
            </a:r>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414129"/>
            <a:ext cx="7772400" cy="576471"/>
          </a:xfrm>
        </p:spPr>
        <p:txBody>
          <a:bodyPr>
            <a:normAutofit/>
          </a:bodyPr>
          <a:lstStyle/>
          <a:p>
            <a:r>
              <a:rPr lang="en-US" sz="2800" dirty="0" smtClean="0">
                <a:solidFill>
                  <a:srgbClr val="FF0000"/>
                </a:solidFill>
              </a:rPr>
              <a:t>Morphological Image Processing</a:t>
            </a:r>
            <a:endParaRPr lang="en-US" sz="2800" dirty="0">
              <a:solidFill>
                <a:srgbClr val="FF0000"/>
              </a:solidFill>
            </a:endParaRPr>
          </a:p>
        </p:txBody>
      </p:sp>
      <p:sp>
        <p:nvSpPr>
          <p:cNvPr id="3" name="Subtitle 2"/>
          <p:cNvSpPr>
            <a:spLocks noGrp="1"/>
          </p:cNvSpPr>
          <p:nvPr>
            <p:ph type="subTitle" idx="1"/>
          </p:nvPr>
        </p:nvSpPr>
        <p:spPr>
          <a:xfrm>
            <a:off x="914400" y="1143000"/>
            <a:ext cx="7543800" cy="5486400"/>
          </a:xfrm>
        </p:spPr>
        <p:txBody>
          <a:bodyPr>
            <a:normAutofit/>
          </a:bodyPr>
          <a:lstStyle/>
          <a:p>
            <a:pPr algn="just"/>
            <a:r>
              <a:rPr lang="en-US" sz="2800" b="1" dirty="0" smtClean="0">
                <a:solidFill>
                  <a:schemeClr val="tx1"/>
                </a:solidFill>
              </a:rPr>
              <a:t>Erosion</a:t>
            </a:r>
          </a:p>
        </p:txBody>
      </p:sp>
      <p:pic>
        <p:nvPicPr>
          <p:cNvPr id="4" name="Picture 3"/>
          <p:cNvPicPr>
            <a:picLocks noChangeAspect="1"/>
          </p:cNvPicPr>
          <p:nvPr/>
        </p:nvPicPr>
        <p:blipFill>
          <a:blip r:embed="rId2"/>
          <a:stretch>
            <a:fillRect/>
          </a:stretch>
        </p:blipFill>
        <p:spPr>
          <a:xfrm>
            <a:off x="1295400" y="2968918"/>
            <a:ext cx="6096000" cy="429557"/>
          </a:xfrm>
          <a:prstGeom prst="rect">
            <a:avLst/>
          </a:prstGeom>
        </p:spPr>
      </p:pic>
      <p:pic>
        <p:nvPicPr>
          <p:cNvPr id="5" name="Picture 4"/>
          <p:cNvPicPr>
            <a:picLocks noChangeAspect="1"/>
          </p:cNvPicPr>
          <p:nvPr/>
        </p:nvPicPr>
        <p:blipFill>
          <a:blip r:embed="rId3"/>
          <a:stretch>
            <a:fillRect/>
          </a:stretch>
        </p:blipFill>
        <p:spPr>
          <a:xfrm>
            <a:off x="1219199" y="3470141"/>
            <a:ext cx="3192127" cy="336977"/>
          </a:xfrm>
          <a:prstGeom prst="rect">
            <a:avLst/>
          </a:prstGeom>
        </p:spPr>
      </p:pic>
      <p:pic>
        <p:nvPicPr>
          <p:cNvPr id="6" name="Picture 5"/>
          <p:cNvPicPr>
            <a:picLocks noChangeAspect="1"/>
          </p:cNvPicPr>
          <p:nvPr/>
        </p:nvPicPr>
        <p:blipFill>
          <a:blip r:embed="rId4"/>
          <a:stretch>
            <a:fillRect/>
          </a:stretch>
        </p:blipFill>
        <p:spPr>
          <a:xfrm>
            <a:off x="2133600" y="4008075"/>
            <a:ext cx="5715000" cy="563925"/>
          </a:xfrm>
          <a:prstGeom prst="rect">
            <a:avLst/>
          </a:prstGeom>
        </p:spPr>
      </p:pic>
      <p:pic>
        <p:nvPicPr>
          <p:cNvPr id="7" name="Picture 6"/>
          <p:cNvPicPr>
            <a:picLocks noChangeAspect="1"/>
          </p:cNvPicPr>
          <p:nvPr/>
        </p:nvPicPr>
        <p:blipFill>
          <a:blip r:embed="rId5"/>
          <a:stretch>
            <a:fillRect/>
          </a:stretch>
        </p:blipFill>
        <p:spPr>
          <a:xfrm>
            <a:off x="1139620" y="1857647"/>
            <a:ext cx="6864759" cy="299241"/>
          </a:xfrm>
          <a:prstGeom prst="rect">
            <a:avLst/>
          </a:prstGeom>
        </p:spPr>
      </p:pic>
      <p:pic>
        <p:nvPicPr>
          <p:cNvPr id="8" name="Picture 7"/>
          <p:cNvPicPr>
            <a:picLocks noChangeAspect="1"/>
          </p:cNvPicPr>
          <p:nvPr/>
        </p:nvPicPr>
        <p:blipFill>
          <a:blip r:embed="rId6"/>
          <a:stretch>
            <a:fillRect/>
          </a:stretch>
        </p:blipFill>
        <p:spPr>
          <a:xfrm>
            <a:off x="1122075" y="2228554"/>
            <a:ext cx="6657855" cy="286046"/>
          </a:xfrm>
          <a:prstGeom prst="rect">
            <a:avLst/>
          </a:prstGeom>
        </p:spPr>
      </p:pic>
      <p:pic>
        <p:nvPicPr>
          <p:cNvPr id="9" name="Picture 8"/>
          <p:cNvPicPr>
            <a:picLocks noChangeAspect="1"/>
          </p:cNvPicPr>
          <p:nvPr/>
        </p:nvPicPr>
        <p:blipFill>
          <a:blip r:embed="rId7"/>
          <a:stretch>
            <a:fillRect/>
          </a:stretch>
        </p:blipFill>
        <p:spPr>
          <a:xfrm>
            <a:off x="1139620" y="2540329"/>
            <a:ext cx="1364230" cy="245167"/>
          </a:xfrm>
          <a:prstGeom prst="rect">
            <a:avLst/>
          </a:prstGeom>
        </p:spPr>
      </p:pic>
      <p:pic>
        <p:nvPicPr>
          <p:cNvPr id="10" name="Picture 9"/>
          <p:cNvPicPr>
            <a:picLocks noChangeAspect="1"/>
          </p:cNvPicPr>
          <p:nvPr/>
        </p:nvPicPr>
        <p:blipFill>
          <a:blip r:embed="rId8"/>
          <a:stretch>
            <a:fillRect/>
          </a:stretch>
        </p:blipFill>
        <p:spPr>
          <a:xfrm>
            <a:off x="2463845" y="2548721"/>
            <a:ext cx="2230437" cy="236558"/>
          </a:xfrm>
          <a:prstGeom prst="rect">
            <a:avLst/>
          </a:prstGeom>
        </p:spPr>
      </p:pic>
      <p:pic>
        <p:nvPicPr>
          <p:cNvPr id="11" name="Picture 10"/>
          <p:cNvPicPr>
            <a:picLocks noChangeAspect="1"/>
          </p:cNvPicPr>
          <p:nvPr/>
        </p:nvPicPr>
        <p:blipFill>
          <a:blip r:embed="rId9"/>
          <a:stretch>
            <a:fillRect/>
          </a:stretch>
        </p:blipFill>
        <p:spPr>
          <a:xfrm>
            <a:off x="679369" y="4811216"/>
            <a:ext cx="8186701" cy="370384"/>
          </a:xfrm>
          <a:prstGeom prst="rect">
            <a:avLst/>
          </a:prstGeom>
        </p:spPr>
      </p:pic>
      <p:pic>
        <p:nvPicPr>
          <p:cNvPr id="12" name="Picture 11"/>
          <p:cNvPicPr>
            <a:picLocks noChangeAspect="1"/>
          </p:cNvPicPr>
          <p:nvPr/>
        </p:nvPicPr>
        <p:blipFill>
          <a:blip r:embed="rId10"/>
          <a:stretch>
            <a:fillRect/>
          </a:stretch>
        </p:blipFill>
        <p:spPr>
          <a:xfrm>
            <a:off x="695411" y="5267684"/>
            <a:ext cx="6086389" cy="283196"/>
          </a:xfrm>
          <a:prstGeom prst="rect">
            <a:avLst/>
          </a:prstGeom>
        </p:spPr>
      </p:pic>
      <p:pic>
        <p:nvPicPr>
          <p:cNvPr id="13" name="Picture 12"/>
          <p:cNvPicPr>
            <a:picLocks noChangeAspect="1"/>
          </p:cNvPicPr>
          <p:nvPr/>
        </p:nvPicPr>
        <p:blipFill>
          <a:blip r:embed="rId11"/>
          <a:stretch>
            <a:fillRect/>
          </a:stretch>
        </p:blipFill>
        <p:spPr>
          <a:xfrm>
            <a:off x="870562" y="5755903"/>
            <a:ext cx="5650286" cy="309571"/>
          </a:xfrm>
          <a:prstGeom prst="rect">
            <a:avLst/>
          </a:prstGeom>
        </p:spPr>
      </p:pic>
    </p:spTree>
    <p:extLst>
      <p:ext uri="{BB962C8B-B14F-4D97-AF65-F5344CB8AC3E}">
        <p14:creationId xmlns:p14="http://schemas.microsoft.com/office/powerpoint/2010/main" val="2879283316"/>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414129"/>
            <a:ext cx="7772400" cy="576471"/>
          </a:xfrm>
        </p:spPr>
        <p:txBody>
          <a:bodyPr>
            <a:normAutofit/>
          </a:bodyPr>
          <a:lstStyle/>
          <a:p>
            <a:r>
              <a:rPr lang="en-US" sz="2800" dirty="0" smtClean="0">
                <a:solidFill>
                  <a:srgbClr val="FF0000"/>
                </a:solidFill>
              </a:rPr>
              <a:t>Morphological Image Processing</a:t>
            </a:r>
            <a:endParaRPr lang="en-US" sz="2800" dirty="0">
              <a:solidFill>
                <a:srgbClr val="FF0000"/>
              </a:solidFill>
            </a:endParaRPr>
          </a:p>
        </p:txBody>
      </p:sp>
      <p:sp>
        <p:nvSpPr>
          <p:cNvPr id="3" name="Subtitle 2"/>
          <p:cNvSpPr>
            <a:spLocks noGrp="1"/>
          </p:cNvSpPr>
          <p:nvPr>
            <p:ph type="subTitle" idx="1"/>
          </p:nvPr>
        </p:nvSpPr>
        <p:spPr>
          <a:xfrm>
            <a:off x="914400" y="1143000"/>
            <a:ext cx="7543800" cy="5486400"/>
          </a:xfrm>
        </p:spPr>
        <p:txBody>
          <a:bodyPr>
            <a:normAutofit/>
          </a:bodyPr>
          <a:lstStyle/>
          <a:p>
            <a:pPr algn="just"/>
            <a:r>
              <a:rPr lang="en-US" sz="2800" b="1" dirty="0" smtClean="0">
                <a:solidFill>
                  <a:schemeClr val="tx1"/>
                </a:solidFill>
              </a:rPr>
              <a:t>Erosion</a:t>
            </a:r>
          </a:p>
        </p:txBody>
      </p:sp>
      <p:pic>
        <p:nvPicPr>
          <p:cNvPr id="14" name="Picture 13"/>
          <p:cNvPicPr>
            <a:picLocks noChangeAspect="1"/>
          </p:cNvPicPr>
          <p:nvPr/>
        </p:nvPicPr>
        <p:blipFill>
          <a:blip r:embed="rId2"/>
          <a:stretch>
            <a:fillRect/>
          </a:stretch>
        </p:blipFill>
        <p:spPr>
          <a:xfrm>
            <a:off x="990600" y="1828800"/>
            <a:ext cx="6705600" cy="338550"/>
          </a:xfrm>
          <a:prstGeom prst="rect">
            <a:avLst/>
          </a:prstGeom>
        </p:spPr>
      </p:pic>
      <p:pic>
        <p:nvPicPr>
          <p:cNvPr id="15" name="Picture 14"/>
          <p:cNvPicPr>
            <a:picLocks noChangeAspect="1"/>
          </p:cNvPicPr>
          <p:nvPr/>
        </p:nvPicPr>
        <p:blipFill>
          <a:blip r:embed="rId3"/>
          <a:stretch>
            <a:fillRect/>
          </a:stretch>
        </p:blipFill>
        <p:spPr>
          <a:xfrm>
            <a:off x="990599" y="2250550"/>
            <a:ext cx="6723011" cy="340250"/>
          </a:xfrm>
          <a:prstGeom prst="rect">
            <a:avLst/>
          </a:prstGeom>
        </p:spPr>
      </p:pic>
      <p:pic>
        <p:nvPicPr>
          <p:cNvPr id="16" name="Picture 15"/>
          <p:cNvPicPr>
            <a:picLocks noChangeAspect="1"/>
          </p:cNvPicPr>
          <p:nvPr/>
        </p:nvPicPr>
        <p:blipFill>
          <a:blip r:embed="rId4"/>
          <a:stretch>
            <a:fillRect/>
          </a:stretch>
        </p:blipFill>
        <p:spPr>
          <a:xfrm>
            <a:off x="1021880" y="2769533"/>
            <a:ext cx="2850667" cy="354667"/>
          </a:xfrm>
          <a:prstGeom prst="rect">
            <a:avLst/>
          </a:prstGeom>
        </p:spPr>
      </p:pic>
      <p:pic>
        <p:nvPicPr>
          <p:cNvPr id="18" name="Picture 17"/>
          <p:cNvPicPr>
            <a:picLocks noChangeAspect="1"/>
          </p:cNvPicPr>
          <p:nvPr/>
        </p:nvPicPr>
        <p:blipFill>
          <a:blip r:embed="rId5"/>
          <a:stretch>
            <a:fillRect/>
          </a:stretch>
        </p:blipFill>
        <p:spPr>
          <a:xfrm>
            <a:off x="3964787" y="2818707"/>
            <a:ext cx="4141731" cy="335253"/>
          </a:xfrm>
          <a:prstGeom prst="rect">
            <a:avLst/>
          </a:prstGeom>
        </p:spPr>
      </p:pic>
      <p:pic>
        <p:nvPicPr>
          <p:cNvPr id="19" name="Picture 18"/>
          <p:cNvPicPr>
            <a:picLocks noChangeAspect="1"/>
          </p:cNvPicPr>
          <p:nvPr/>
        </p:nvPicPr>
        <p:blipFill>
          <a:blip r:embed="rId6"/>
          <a:stretch>
            <a:fillRect/>
          </a:stretch>
        </p:blipFill>
        <p:spPr>
          <a:xfrm>
            <a:off x="1059177" y="3274900"/>
            <a:ext cx="1733586" cy="306500"/>
          </a:xfrm>
          <a:prstGeom prst="rect">
            <a:avLst/>
          </a:prstGeom>
        </p:spPr>
      </p:pic>
      <p:pic>
        <p:nvPicPr>
          <p:cNvPr id="20" name="Picture 19"/>
          <p:cNvPicPr>
            <a:picLocks noChangeAspect="1"/>
          </p:cNvPicPr>
          <p:nvPr/>
        </p:nvPicPr>
        <p:blipFill>
          <a:blip r:embed="rId7"/>
          <a:stretch>
            <a:fillRect/>
          </a:stretch>
        </p:blipFill>
        <p:spPr>
          <a:xfrm>
            <a:off x="1981200" y="3864714"/>
            <a:ext cx="5263895" cy="493868"/>
          </a:xfrm>
          <a:prstGeom prst="rect">
            <a:avLst/>
          </a:prstGeom>
        </p:spPr>
      </p:pic>
    </p:spTree>
    <p:extLst>
      <p:ext uri="{BB962C8B-B14F-4D97-AF65-F5344CB8AC3E}">
        <p14:creationId xmlns:p14="http://schemas.microsoft.com/office/powerpoint/2010/main" val="1081048112"/>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414129"/>
            <a:ext cx="7772400" cy="576471"/>
          </a:xfrm>
        </p:spPr>
        <p:txBody>
          <a:bodyPr>
            <a:normAutofit/>
          </a:bodyPr>
          <a:lstStyle/>
          <a:p>
            <a:r>
              <a:rPr lang="en-US" sz="2800" dirty="0" smtClean="0">
                <a:solidFill>
                  <a:srgbClr val="FF0000"/>
                </a:solidFill>
              </a:rPr>
              <a:t>Morphological Image Processing</a:t>
            </a:r>
            <a:endParaRPr lang="en-US" sz="2800" dirty="0">
              <a:solidFill>
                <a:srgbClr val="FF0000"/>
              </a:solidFill>
            </a:endParaRPr>
          </a:p>
        </p:txBody>
      </p:sp>
      <p:sp>
        <p:nvSpPr>
          <p:cNvPr id="3" name="Subtitle 2"/>
          <p:cNvSpPr>
            <a:spLocks noGrp="1"/>
          </p:cNvSpPr>
          <p:nvPr>
            <p:ph type="subTitle" idx="1"/>
          </p:nvPr>
        </p:nvSpPr>
        <p:spPr>
          <a:xfrm>
            <a:off x="914400" y="1143000"/>
            <a:ext cx="7543800" cy="5486400"/>
          </a:xfrm>
        </p:spPr>
        <p:txBody>
          <a:bodyPr>
            <a:normAutofit/>
          </a:bodyPr>
          <a:lstStyle/>
          <a:p>
            <a:pPr algn="just"/>
            <a:r>
              <a:rPr lang="en-US" sz="2800" b="1" dirty="0" smtClean="0">
                <a:solidFill>
                  <a:schemeClr val="tx1"/>
                </a:solidFill>
              </a:rPr>
              <a:t>Erosion</a:t>
            </a:r>
          </a:p>
        </p:txBody>
      </p:sp>
      <p:pic>
        <p:nvPicPr>
          <p:cNvPr id="4" name="Picture 3"/>
          <p:cNvPicPr>
            <a:picLocks noChangeAspect="1"/>
          </p:cNvPicPr>
          <p:nvPr/>
        </p:nvPicPr>
        <p:blipFill>
          <a:blip r:embed="rId2"/>
          <a:stretch>
            <a:fillRect/>
          </a:stretch>
        </p:blipFill>
        <p:spPr>
          <a:xfrm>
            <a:off x="1295399" y="1828800"/>
            <a:ext cx="4139413" cy="304800"/>
          </a:xfrm>
          <a:prstGeom prst="rect">
            <a:avLst/>
          </a:prstGeom>
        </p:spPr>
      </p:pic>
      <p:pic>
        <p:nvPicPr>
          <p:cNvPr id="5" name="Picture 4"/>
          <p:cNvPicPr>
            <a:picLocks noChangeAspect="1"/>
          </p:cNvPicPr>
          <p:nvPr/>
        </p:nvPicPr>
        <p:blipFill>
          <a:blip r:embed="rId3"/>
          <a:stretch>
            <a:fillRect/>
          </a:stretch>
        </p:blipFill>
        <p:spPr>
          <a:xfrm>
            <a:off x="5486400" y="1828800"/>
            <a:ext cx="3033763" cy="293571"/>
          </a:xfrm>
          <a:prstGeom prst="rect">
            <a:avLst/>
          </a:prstGeom>
        </p:spPr>
      </p:pic>
      <p:pic>
        <p:nvPicPr>
          <p:cNvPr id="6" name="Picture 5"/>
          <p:cNvPicPr>
            <a:picLocks noChangeAspect="1"/>
          </p:cNvPicPr>
          <p:nvPr/>
        </p:nvPicPr>
        <p:blipFill>
          <a:blip r:embed="rId4"/>
          <a:stretch>
            <a:fillRect/>
          </a:stretch>
        </p:blipFill>
        <p:spPr>
          <a:xfrm>
            <a:off x="852437" y="2259530"/>
            <a:ext cx="3948163" cy="262629"/>
          </a:xfrm>
          <a:prstGeom prst="rect">
            <a:avLst/>
          </a:prstGeom>
        </p:spPr>
      </p:pic>
      <p:pic>
        <p:nvPicPr>
          <p:cNvPr id="13" name="Picture 1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773237" y="2522159"/>
            <a:ext cx="3710368" cy="30404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7" name="Picture 1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277936" y="5562600"/>
            <a:ext cx="608459" cy="3997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1" name="Picture 20"/>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295399" y="6070468"/>
            <a:ext cx="6670160" cy="68486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964876078"/>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2610" name="Text Box 2"/>
          <p:cNvSpPr txBox="1">
            <a:spLocks noChangeArrowheads="1"/>
          </p:cNvSpPr>
          <p:nvPr/>
        </p:nvSpPr>
        <p:spPr bwMode="auto">
          <a:xfrm>
            <a:off x="2619336" y="500063"/>
            <a:ext cx="3914853" cy="369332"/>
          </a:xfrm>
          <a:prstGeom prst="rect">
            <a:avLst/>
          </a:prstGeom>
          <a:noFill/>
          <a:ln w="9525">
            <a:noFill/>
            <a:miter lim="800000"/>
            <a:headEnd/>
            <a:tailEnd/>
          </a:ln>
          <a:effectLst>
            <a:outerShdw dist="35921" dir="2700000" algn="ctr" rotWithShape="0">
              <a:schemeClr val="folHlink"/>
            </a:outerShdw>
          </a:effectLst>
        </p:spPr>
        <p:txBody>
          <a:bodyPr wrap="none">
            <a:spAutoFit/>
          </a:bodyPr>
          <a:lstStyle/>
          <a:p>
            <a:pPr algn="ctr"/>
            <a:r>
              <a:rPr lang="en-US" dirty="0" smtClean="0">
                <a:solidFill>
                  <a:srgbClr val="FF0000"/>
                </a:solidFill>
                <a:latin typeface="Verdana" pitchFamily="34" charset="0"/>
              </a:rPr>
              <a:t>Morphological </a:t>
            </a:r>
            <a:r>
              <a:rPr lang="en-US" dirty="0">
                <a:solidFill>
                  <a:srgbClr val="FF0000"/>
                </a:solidFill>
                <a:latin typeface="Verdana" pitchFamily="34" charset="0"/>
              </a:rPr>
              <a:t>Image Processing</a:t>
            </a:r>
            <a:endParaRPr lang="en-US" dirty="0">
              <a:solidFill>
                <a:prstClr val="black"/>
              </a:solidFill>
            </a:endParaRPr>
          </a:p>
        </p:txBody>
      </p:sp>
      <p:pic>
        <p:nvPicPr>
          <p:cNvPr id="2" name="Picture 1"/>
          <p:cNvPicPr>
            <a:picLocks noChangeAspect="1"/>
          </p:cNvPicPr>
          <p:nvPr/>
        </p:nvPicPr>
        <p:blipFill>
          <a:blip r:embed="rId2"/>
          <a:stretch>
            <a:fillRect/>
          </a:stretch>
        </p:blipFill>
        <p:spPr>
          <a:xfrm>
            <a:off x="1142999" y="1143000"/>
            <a:ext cx="1696055" cy="304800"/>
          </a:xfrm>
          <a:prstGeom prst="rect">
            <a:avLst/>
          </a:prstGeom>
        </p:spPr>
      </p:pic>
      <p:pic>
        <p:nvPicPr>
          <p:cNvPr id="3" name="Picture 2"/>
          <p:cNvPicPr>
            <a:picLocks noChangeAspect="1"/>
          </p:cNvPicPr>
          <p:nvPr/>
        </p:nvPicPr>
        <p:blipFill>
          <a:blip r:embed="rId3"/>
          <a:stretch>
            <a:fillRect/>
          </a:stretch>
        </p:blipFill>
        <p:spPr>
          <a:xfrm>
            <a:off x="2839054" y="1174282"/>
            <a:ext cx="1504058" cy="738117"/>
          </a:xfrm>
          <a:prstGeom prst="rect">
            <a:avLst/>
          </a:prstGeom>
        </p:spPr>
      </p:pic>
      <p:pic>
        <p:nvPicPr>
          <p:cNvPr id="6" name="Picture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02987" y="1943680"/>
            <a:ext cx="4439204" cy="44571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7" name="Picture 6"/>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791200" y="1943679"/>
            <a:ext cx="1752600" cy="43853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376200319"/>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414129"/>
            <a:ext cx="7772400" cy="576471"/>
          </a:xfrm>
        </p:spPr>
        <p:txBody>
          <a:bodyPr>
            <a:normAutofit/>
          </a:bodyPr>
          <a:lstStyle/>
          <a:p>
            <a:r>
              <a:rPr lang="en-US" sz="2800" dirty="0" smtClean="0">
                <a:solidFill>
                  <a:srgbClr val="FF0000"/>
                </a:solidFill>
              </a:rPr>
              <a:t>Morphological Image Processing</a:t>
            </a:r>
            <a:endParaRPr lang="en-US" sz="2800" dirty="0">
              <a:solidFill>
                <a:srgbClr val="FF0000"/>
              </a:solidFill>
            </a:endParaRPr>
          </a:p>
        </p:txBody>
      </p:sp>
      <p:sp>
        <p:nvSpPr>
          <p:cNvPr id="3" name="Subtitle 2"/>
          <p:cNvSpPr>
            <a:spLocks noGrp="1"/>
          </p:cNvSpPr>
          <p:nvPr>
            <p:ph type="subTitle" idx="1"/>
          </p:nvPr>
        </p:nvSpPr>
        <p:spPr>
          <a:xfrm>
            <a:off x="381000" y="990600"/>
            <a:ext cx="8229600" cy="5562600"/>
          </a:xfrm>
        </p:spPr>
        <p:txBody>
          <a:bodyPr>
            <a:normAutofit/>
          </a:bodyPr>
          <a:lstStyle/>
          <a:p>
            <a:pPr algn="just"/>
            <a:r>
              <a:rPr lang="en-US" sz="2800" b="1" dirty="0" smtClean="0">
                <a:solidFill>
                  <a:schemeClr val="tx1"/>
                </a:solidFill>
              </a:rPr>
              <a:t>Dilation</a:t>
            </a:r>
          </a:p>
        </p:txBody>
      </p:sp>
      <p:pic>
        <p:nvPicPr>
          <p:cNvPr id="4" name="Picture 3"/>
          <p:cNvPicPr>
            <a:picLocks noChangeAspect="1"/>
          </p:cNvPicPr>
          <p:nvPr/>
        </p:nvPicPr>
        <p:blipFill>
          <a:blip r:embed="rId2"/>
          <a:stretch>
            <a:fillRect/>
          </a:stretch>
        </p:blipFill>
        <p:spPr>
          <a:xfrm>
            <a:off x="533400" y="1676400"/>
            <a:ext cx="7480783" cy="304800"/>
          </a:xfrm>
          <a:prstGeom prst="rect">
            <a:avLst/>
          </a:prstGeom>
        </p:spPr>
      </p:pic>
      <p:pic>
        <p:nvPicPr>
          <p:cNvPr id="5" name="Picture 4"/>
          <p:cNvPicPr>
            <a:picLocks noChangeAspect="1"/>
          </p:cNvPicPr>
          <p:nvPr/>
        </p:nvPicPr>
        <p:blipFill>
          <a:blip r:embed="rId3"/>
          <a:stretch>
            <a:fillRect/>
          </a:stretch>
        </p:blipFill>
        <p:spPr>
          <a:xfrm>
            <a:off x="510941" y="2057400"/>
            <a:ext cx="4730758" cy="304800"/>
          </a:xfrm>
          <a:prstGeom prst="rect">
            <a:avLst/>
          </a:prstGeom>
        </p:spPr>
      </p:pic>
      <p:pic>
        <p:nvPicPr>
          <p:cNvPr id="6" name="Picture 5"/>
          <p:cNvPicPr>
            <a:picLocks noChangeAspect="1"/>
          </p:cNvPicPr>
          <p:nvPr/>
        </p:nvPicPr>
        <p:blipFill>
          <a:blip r:embed="rId4"/>
          <a:stretch>
            <a:fillRect/>
          </a:stretch>
        </p:blipFill>
        <p:spPr>
          <a:xfrm>
            <a:off x="990599" y="2577616"/>
            <a:ext cx="5242323" cy="361055"/>
          </a:xfrm>
          <a:prstGeom prst="rect">
            <a:avLst/>
          </a:prstGeom>
        </p:spPr>
      </p:pic>
      <p:pic>
        <p:nvPicPr>
          <p:cNvPr id="7" name="Picture 6"/>
          <p:cNvPicPr>
            <a:picLocks noChangeAspect="1"/>
          </p:cNvPicPr>
          <p:nvPr/>
        </p:nvPicPr>
        <p:blipFill>
          <a:blip r:embed="rId5"/>
          <a:stretch>
            <a:fillRect/>
          </a:stretch>
        </p:blipFill>
        <p:spPr>
          <a:xfrm>
            <a:off x="990599" y="3008449"/>
            <a:ext cx="2901664" cy="344351"/>
          </a:xfrm>
          <a:prstGeom prst="rect">
            <a:avLst/>
          </a:prstGeom>
        </p:spPr>
      </p:pic>
      <p:pic>
        <p:nvPicPr>
          <p:cNvPr id="8" name="Picture 7"/>
          <p:cNvPicPr>
            <a:picLocks noChangeAspect="1"/>
          </p:cNvPicPr>
          <p:nvPr/>
        </p:nvPicPr>
        <p:blipFill>
          <a:blip r:embed="rId6"/>
          <a:stretch>
            <a:fillRect/>
          </a:stretch>
        </p:blipFill>
        <p:spPr>
          <a:xfrm>
            <a:off x="1676400" y="3535087"/>
            <a:ext cx="5185247" cy="503513"/>
          </a:xfrm>
          <a:prstGeom prst="rect">
            <a:avLst/>
          </a:prstGeom>
        </p:spPr>
      </p:pic>
      <p:pic>
        <p:nvPicPr>
          <p:cNvPr id="9" name="Picture 8"/>
          <p:cNvPicPr>
            <a:picLocks noChangeAspect="1"/>
          </p:cNvPicPr>
          <p:nvPr/>
        </p:nvPicPr>
        <p:blipFill>
          <a:blip r:embed="rId7"/>
          <a:stretch>
            <a:fillRect/>
          </a:stretch>
        </p:blipFill>
        <p:spPr>
          <a:xfrm>
            <a:off x="990599" y="4400292"/>
            <a:ext cx="5242323" cy="353750"/>
          </a:xfrm>
          <a:prstGeom prst="rect">
            <a:avLst/>
          </a:prstGeom>
        </p:spPr>
      </p:pic>
      <p:pic>
        <p:nvPicPr>
          <p:cNvPr id="10" name="Picture 9"/>
          <p:cNvPicPr>
            <a:picLocks noChangeAspect="1"/>
          </p:cNvPicPr>
          <p:nvPr/>
        </p:nvPicPr>
        <p:blipFill>
          <a:blip r:embed="rId8"/>
          <a:stretch>
            <a:fillRect/>
          </a:stretch>
        </p:blipFill>
        <p:spPr>
          <a:xfrm>
            <a:off x="990599" y="4874211"/>
            <a:ext cx="2489881" cy="241523"/>
          </a:xfrm>
          <a:prstGeom prst="rect">
            <a:avLst/>
          </a:prstGeom>
        </p:spPr>
      </p:pic>
      <p:pic>
        <p:nvPicPr>
          <p:cNvPr id="11" name="Picture 10"/>
          <p:cNvPicPr>
            <a:picLocks noChangeAspect="1"/>
          </p:cNvPicPr>
          <p:nvPr/>
        </p:nvPicPr>
        <p:blipFill>
          <a:blip r:embed="rId9"/>
          <a:stretch>
            <a:fillRect/>
          </a:stretch>
        </p:blipFill>
        <p:spPr>
          <a:xfrm>
            <a:off x="3480480" y="4833551"/>
            <a:ext cx="1979470" cy="274914"/>
          </a:xfrm>
          <a:prstGeom prst="rect">
            <a:avLst/>
          </a:prstGeom>
        </p:spPr>
      </p:pic>
    </p:spTree>
    <p:extLst>
      <p:ext uri="{BB962C8B-B14F-4D97-AF65-F5344CB8AC3E}">
        <p14:creationId xmlns:p14="http://schemas.microsoft.com/office/powerpoint/2010/main" val="1644024962"/>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414129"/>
            <a:ext cx="7772400" cy="576471"/>
          </a:xfrm>
        </p:spPr>
        <p:txBody>
          <a:bodyPr>
            <a:normAutofit/>
          </a:bodyPr>
          <a:lstStyle/>
          <a:p>
            <a:r>
              <a:rPr lang="en-US" sz="2800" dirty="0" smtClean="0">
                <a:solidFill>
                  <a:srgbClr val="FF0000"/>
                </a:solidFill>
              </a:rPr>
              <a:t>Morphological Image Processing</a:t>
            </a:r>
            <a:endParaRPr lang="en-US" sz="2800" dirty="0">
              <a:solidFill>
                <a:srgbClr val="FF0000"/>
              </a:solidFill>
            </a:endParaRPr>
          </a:p>
        </p:txBody>
      </p:sp>
      <p:sp>
        <p:nvSpPr>
          <p:cNvPr id="3" name="Subtitle 2"/>
          <p:cNvSpPr>
            <a:spLocks noGrp="1"/>
          </p:cNvSpPr>
          <p:nvPr>
            <p:ph type="subTitle" idx="1"/>
          </p:nvPr>
        </p:nvSpPr>
        <p:spPr>
          <a:xfrm>
            <a:off x="381000" y="990600"/>
            <a:ext cx="8229600" cy="5562600"/>
          </a:xfrm>
        </p:spPr>
        <p:txBody>
          <a:bodyPr>
            <a:normAutofit/>
          </a:bodyPr>
          <a:lstStyle/>
          <a:p>
            <a:pPr algn="just"/>
            <a:r>
              <a:rPr lang="en-US" sz="2800" b="1" dirty="0" smtClean="0">
                <a:solidFill>
                  <a:schemeClr val="tx1"/>
                </a:solidFill>
              </a:rPr>
              <a:t>Dilation</a:t>
            </a:r>
          </a:p>
        </p:txBody>
      </p:sp>
      <p:pic>
        <p:nvPicPr>
          <p:cNvPr id="13" name="Picture 12"/>
          <p:cNvPicPr>
            <a:picLocks noChangeAspect="1"/>
          </p:cNvPicPr>
          <p:nvPr/>
        </p:nvPicPr>
        <p:blipFill>
          <a:blip r:embed="rId2"/>
          <a:stretch>
            <a:fillRect/>
          </a:stretch>
        </p:blipFill>
        <p:spPr>
          <a:xfrm>
            <a:off x="762000" y="1676400"/>
            <a:ext cx="6629400" cy="381626"/>
          </a:xfrm>
          <a:prstGeom prst="rect">
            <a:avLst/>
          </a:prstGeom>
        </p:spPr>
      </p:pic>
      <p:pic>
        <p:nvPicPr>
          <p:cNvPr id="14" name="Picture 13"/>
          <p:cNvPicPr>
            <a:picLocks noChangeAspect="1"/>
          </p:cNvPicPr>
          <p:nvPr/>
        </p:nvPicPr>
        <p:blipFill>
          <a:blip r:embed="rId3"/>
          <a:stretch>
            <a:fillRect/>
          </a:stretch>
        </p:blipFill>
        <p:spPr>
          <a:xfrm>
            <a:off x="721895" y="2073266"/>
            <a:ext cx="6026217" cy="360348"/>
          </a:xfrm>
          <a:prstGeom prst="rect">
            <a:avLst/>
          </a:prstGeom>
        </p:spPr>
      </p:pic>
      <p:pic>
        <p:nvPicPr>
          <p:cNvPr id="15" name="Picture 14"/>
          <p:cNvPicPr>
            <a:picLocks noChangeAspect="1"/>
          </p:cNvPicPr>
          <p:nvPr/>
        </p:nvPicPr>
        <p:blipFill>
          <a:blip r:embed="rId4"/>
          <a:stretch>
            <a:fillRect/>
          </a:stretch>
        </p:blipFill>
        <p:spPr>
          <a:xfrm>
            <a:off x="673768" y="2588866"/>
            <a:ext cx="2168091" cy="309919"/>
          </a:xfrm>
          <a:prstGeom prst="rect">
            <a:avLst/>
          </a:prstGeom>
        </p:spPr>
      </p:pic>
      <p:pic>
        <p:nvPicPr>
          <p:cNvPr id="16" name="Picture 15"/>
          <p:cNvPicPr>
            <a:picLocks noChangeAspect="1"/>
          </p:cNvPicPr>
          <p:nvPr/>
        </p:nvPicPr>
        <p:blipFill>
          <a:blip r:embed="rId5"/>
          <a:stretch>
            <a:fillRect/>
          </a:stretch>
        </p:blipFill>
        <p:spPr>
          <a:xfrm>
            <a:off x="2438400" y="2641318"/>
            <a:ext cx="4673617" cy="275953"/>
          </a:xfrm>
          <a:prstGeom prst="rect">
            <a:avLst/>
          </a:prstGeom>
        </p:spPr>
      </p:pic>
      <p:pic>
        <p:nvPicPr>
          <p:cNvPr id="17" name="Picture 16"/>
          <p:cNvPicPr>
            <a:picLocks noChangeAspect="1"/>
          </p:cNvPicPr>
          <p:nvPr/>
        </p:nvPicPr>
        <p:blipFill>
          <a:blip r:embed="rId6"/>
          <a:stretch>
            <a:fillRect/>
          </a:stretch>
        </p:blipFill>
        <p:spPr>
          <a:xfrm>
            <a:off x="1891797" y="3196976"/>
            <a:ext cx="5316207" cy="613023"/>
          </a:xfrm>
          <a:prstGeom prst="rect">
            <a:avLst/>
          </a:prstGeom>
        </p:spPr>
      </p:pic>
      <p:pic>
        <p:nvPicPr>
          <p:cNvPr id="18" name="Picture 17"/>
          <p:cNvPicPr>
            <a:picLocks noChangeAspect="1"/>
          </p:cNvPicPr>
          <p:nvPr/>
        </p:nvPicPr>
        <p:blipFill>
          <a:blip r:embed="rId7"/>
          <a:stretch>
            <a:fillRect/>
          </a:stretch>
        </p:blipFill>
        <p:spPr>
          <a:xfrm>
            <a:off x="332506" y="4226389"/>
            <a:ext cx="8434788" cy="320162"/>
          </a:xfrm>
          <a:prstGeom prst="rect">
            <a:avLst/>
          </a:prstGeom>
        </p:spPr>
      </p:pic>
      <p:pic>
        <p:nvPicPr>
          <p:cNvPr id="19" name="Picture 18"/>
          <p:cNvPicPr>
            <a:picLocks noChangeAspect="1"/>
          </p:cNvPicPr>
          <p:nvPr/>
        </p:nvPicPr>
        <p:blipFill>
          <a:blip r:embed="rId8"/>
          <a:stretch>
            <a:fillRect/>
          </a:stretch>
        </p:blipFill>
        <p:spPr>
          <a:xfrm>
            <a:off x="381000" y="4648200"/>
            <a:ext cx="2324324" cy="300749"/>
          </a:xfrm>
          <a:prstGeom prst="rect">
            <a:avLst/>
          </a:prstGeom>
        </p:spPr>
      </p:pic>
    </p:spTree>
    <p:extLst>
      <p:ext uri="{BB962C8B-B14F-4D97-AF65-F5344CB8AC3E}">
        <p14:creationId xmlns:p14="http://schemas.microsoft.com/office/powerpoint/2010/main" val="1990158066"/>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414129"/>
            <a:ext cx="7772400" cy="576471"/>
          </a:xfrm>
        </p:spPr>
        <p:txBody>
          <a:bodyPr>
            <a:normAutofit/>
          </a:bodyPr>
          <a:lstStyle/>
          <a:p>
            <a:r>
              <a:rPr lang="en-US" sz="2800" dirty="0" smtClean="0">
                <a:solidFill>
                  <a:srgbClr val="FF0000"/>
                </a:solidFill>
              </a:rPr>
              <a:t>Morphological Image Processing</a:t>
            </a:r>
            <a:endParaRPr lang="en-US" sz="2800" dirty="0">
              <a:solidFill>
                <a:srgbClr val="FF0000"/>
              </a:solidFill>
            </a:endParaRPr>
          </a:p>
        </p:txBody>
      </p:sp>
      <p:sp>
        <p:nvSpPr>
          <p:cNvPr id="3" name="Subtitle 2"/>
          <p:cNvSpPr>
            <a:spLocks noGrp="1"/>
          </p:cNvSpPr>
          <p:nvPr>
            <p:ph type="subTitle" idx="1"/>
          </p:nvPr>
        </p:nvSpPr>
        <p:spPr>
          <a:xfrm>
            <a:off x="381000" y="990600"/>
            <a:ext cx="8229600" cy="5562600"/>
          </a:xfrm>
        </p:spPr>
        <p:txBody>
          <a:bodyPr>
            <a:normAutofit/>
          </a:bodyPr>
          <a:lstStyle/>
          <a:p>
            <a:pPr algn="just"/>
            <a:r>
              <a:rPr lang="en-US" sz="2800" b="1" dirty="0" smtClean="0">
                <a:solidFill>
                  <a:schemeClr val="tx1"/>
                </a:solidFill>
              </a:rPr>
              <a:t>Dilation</a:t>
            </a:r>
          </a:p>
        </p:txBody>
      </p:sp>
      <p:pic>
        <p:nvPicPr>
          <p:cNvPr id="4" name="Picture 3"/>
          <p:cNvPicPr>
            <a:picLocks noChangeAspect="1"/>
          </p:cNvPicPr>
          <p:nvPr/>
        </p:nvPicPr>
        <p:blipFill>
          <a:blip r:embed="rId2"/>
          <a:stretch>
            <a:fillRect/>
          </a:stretch>
        </p:blipFill>
        <p:spPr>
          <a:xfrm>
            <a:off x="705853" y="1752600"/>
            <a:ext cx="1003173" cy="381000"/>
          </a:xfrm>
          <a:prstGeom prst="rect">
            <a:avLst/>
          </a:prstGeom>
        </p:spPr>
      </p:pic>
      <p:pic>
        <p:nvPicPr>
          <p:cNvPr id="5" name="Picture 4"/>
          <p:cNvPicPr>
            <a:picLocks noChangeAspect="1"/>
          </p:cNvPicPr>
          <p:nvPr/>
        </p:nvPicPr>
        <p:blipFill>
          <a:blip r:embed="rId3"/>
          <a:stretch>
            <a:fillRect/>
          </a:stretch>
        </p:blipFill>
        <p:spPr>
          <a:xfrm>
            <a:off x="1709026" y="1763163"/>
            <a:ext cx="5682374" cy="328238"/>
          </a:xfrm>
          <a:prstGeom prst="rect">
            <a:avLst/>
          </a:prstGeom>
        </p:spPr>
      </p:pic>
      <p:pic>
        <p:nvPicPr>
          <p:cNvPr id="6" name="Picture 5"/>
          <p:cNvPicPr>
            <a:picLocks noChangeAspect="1"/>
          </p:cNvPicPr>
          <p:nvPr/>
        </p:nvPicPr>
        <p:blipFill>
          <a:blip r:embed="rId4"/>
          <a:stretch>
            <a:fillRect/>
          </a:stretch>
        </p:blipFill>
        <p:spPr>
          <a:xfrm>
            <a:off x="454251" y="2286000"/>
            <a:ext cx="2948896" cy="304800"/>
          </a:xfrm>
          <a:prstGeom prst="rect">
            <a:avLst/>
          </a:prstGeom>
        </p:spPr>
      </p:pic>
      <p:pic>
        <p:nvPicPr>
          <p:cNvPr id="7" name="Picture 6"/>
          <p:cNvPicPr>
            <a:picLocks noChangeAspect="1"/>
          </p:cNvPicPr>
          <p:nvPr/>
        </p:nvPicPr>
        <p:blipFill>
          <a:blip r:embed="rId5"/>
          <a:stretch>
            <a:fillRect/>
          </a:stretch>
        </p:blipFill>
        <p:spPr>
          <a:xfrm>
            <a:off x="3352800" y="2329041"/>
            <a:ext cx="4573722" cy="261759"/>
          </a:xfrm>
          <a:prstGeom prst="rect">
            <a:avLst/>
          </a:prstGeom>
        </p:spPr>
      </p:pic>
      <p:pic>
        <p:nvPicPr>
          <p:cNvPr id="8" name="Picture 7"/>
          <p:cNvPicPr>
            <a:picLocks noChangeAspect="1"/>
          </p:cNvPicPr>
          <p:nvPr/>
        </p:nvPicPr>
        <p:blipFill>
          <a:blip r:embed="rId6"/>
          <a:stretch>
            <a:fillRect/>
          </a:stretch>
        </p:blipFill>
        <p:spPr>
          <a:xfrm>
            <a:off x="457459" y="2723045"/>
            <a:ext cx="3079048" cy="248755"/>
          </a:xfrm>
          <a:prstGeom prst="rect">
            <a:avLst/>
          </a:prstGeom>
        </p:spPr>
      </p:pic>
      <p:pic>
        <p:nvPicPr>
          <p:cNvPr id="9" name="Picture 8"/>
          <p:cNvPicPr>
            <a:picLocks noChangeAspect="1"/>
          </p:cNvPicPr>
          <p:nvPr/>
        </p:nvPicPr>
        <p:blipFill>
          <a:blip r:embed="rId7"/>
          <a:stretch>
            <a:fillRect/>
          </a:stretch>
        </p:blipFill>
        <p:spPr>
          <a:xfrm>
            <a:off x="3517515" y="2747478"/>
            <a:ext cx="597285" cy="222935"/>
          </a:xfrm>
          <a:prstGeom prst="rect">
            <a:avLst/>
          </a:prstGeom>
        </p:spPr>
      </p:pic>
      <p:pic>
        <p:nvPicPr>
          <p:cNvPr id="10" name="Picture 9"/>
          <p:cNvPicPr>
            <a:picLocks noChangeAspect="1"/>
          </p:cNvPicPr>
          <p:nvPr/>
        </p:nvPicPr>
        <p:blipFill>
          <a:blip r:embed="rId8"/>
          <a:stretch>
            <a:fillRect/>
          </a:stretch>
        </p:blipFill>
        <p:spPr>
          <a:xfrm>
            <a:off x="660133" y="3175604"/>
            <a:ext cx="6152473" cy="253395"/>
          </a:xfrm>
          <a:prstGeom prst="rect">
            <a:avLst/>
          </a:prstGeom>
        </p:spPr>
      </p:pic>
      <p:pic>
        <p:nvPicPr>
          <p:cNvPr id="11" name="Picture 10"/>
          <p:cNvPicPr>
            <a:picLocks noChangeAspect="1"/>
          </p:cNvPicPr>
          <p:nvPr/>
        </p:nvPicPr>
        <p:blipFill>
          <a:blip r:embed="rId9"/>
          <a:stretch>
            <a:fillRect/>
          </a:stretch>
        </p:blipFill>
        <p:spPr>
          <a:xfrm>
            <a:off x="6831054" y="3175604"/>
            <a:ext cx="891721" cy="277361"/>
          </a:xfrm>
          <a:prstGeom prst="rect">
            <a:avLst/>
          </a:prstGeom>
        </p:spPr>
      </p:pic>
      <p:pic>
        <p:nvPicPr>
          <p:cNvPr id="12" name="Picture 11"/>
          <p:cNvPicPr>
            <a:picLocks noChangeAspect="1"/>
          </p:cNvPicPr>
          <p:nvPr/>
        </p:nvPicPr>
        <p:blipFill>
          <a:blip r:embed="rId10"/>
          <a:stretch>
            <a:fillRect/>
          </a:stretch>
        </p:blipFill>
        <p:spPr>
          <a:xfrm>
            <a:off x="496378" y="3522700"/>
            <a:ext cx="6042392" cy="287300"/>
          </a:xfrm>
          <a:prstGeom prst="rect">
            <a:avLst/>
          </a:prstGeom>
        </p:spPr>
      </p:pic>
      <p:pic>
        <p:nvPicPr>
          <p:cNvPr id="21" name="Picture 20"/>
          <p:cNvPicPr>
            <a:picLocks noChangeAspect="1"/>
          </p:cNvPicPr>
          <p:nvPr/>
        </p:nvPicPr>
        <p:blipFill>
          <a:blip r:embed="rId11"/>
          <a:stretch>
            <a:fillRect/>
          </a:stretch>
        </p:blipFill>
        <p:spPr>
          <a:xfrm>
            <a:off x="6550802" y="3548588"/>
            <a:ext cx="974532" cy="288684"/>
          </a:xfrm>
          <a:prstGeom prst="rect">
            <a:avLst/>
          </a:prstGeom>
        </p:spPr>
      </p:pic>
      <p:pic>
        <p:nvPicPr>
          <p:cNvPr id="22" name="Picture 21"/>
          <p:cNvPicPr>
            <a:picLocks noChangeAspect="1"/>
          </p:cNvPicPr>
          <p:nvPr/>
        </p:nvPicPr>
        <p:blipFill>
          <a:blip r:embed="rId12"/>
          <a:stretch>
            <a:fillRect/>
          </a:stretch>
        </p:blipFill>
        <p:spPr>
          <a:xfrm>
            <a:off x="496377" y="3837272"/>
            <a:ext cx="803033" cy="277528"/>
          </a:xfrm>
          <a:prstGeom prst="rect">
            <a:avLst/>
          </a:prstGeom>
        </p:spPr>
      </p:pic>
    </p:spTree>
    <p:extLst>
      <p:ext uri="{BB962C8B-B14F-4D97-AF65-F5344CB8AC3E}">
        <p14:creationId xmlns:p14="http://schemas.microsoft.com/office/powerpoint/2010/main" val="861926066"/>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414129"/>
            <a:ext cx="7772400" cy="576471"/>
          </a:xfrm>
        </p:spPr>
        <p:txBody>
          <a:bodyPr>
            <a:normAutofit/>
          </a:bodyPr>
          <a:lstStyle/>
          <a:p>
            <a:r>
              <a:rPr lang="en-US" sz="2800" dirty="0" smtClean="0">
                <a:solidFill>
                  <a:srgbClr val="FF0000"/>
                </a:solidFill>
              </a:rPr>
              <a:t>Morphological Image Processing</a:t>
            </a:r>
            <a:endParaRPr lang="en-US" sz="2800" dirty="0">
              <a:solidFill>
                <a:srgbClr val="FF0000"/>
              </a:solidFill>
            </a:endParaRPr>
          </a:p>
        </p:txBody>
      </p:sp>
      <p:sp>
        <p:nvSpPr>
          <p:cNvPr id="3" name="Subtitle 2"/>
          <p:cNvSpPr>
            <a:spLocks noGrp="1"/>
          </p:cNvSpPr>
          <p:nvPr>
            <p:ph type="subTitle" idx="1"/>
          </p:nvPr>
        </p:nvSpPr>
        <p:spPr>
          <a:xfrm>
            <a:off x="381000" y="990600"/>
            <a:ext cx="8229600" cy="5562600"/>
          </a:xfrm>
        </p:spPr>
        <p:txBody>
          <a:bodyPr>
            <a:normAutofit/>
          </a:bodyPr>
          <a:lstStyle/>
          <a:p>
            <a:pPr algn="just"/>
            <a:r>
              <a:rPr lang="en-US" sz="2800" b="1" dirty="0" smtClean="0">
                <a:solidFill>
                  <a:schemeClr val="tx1"/>
                </a:solidFill>
              </a:rPr>
              <a:t>Dilation</a:t>
            </a:r>
          </a:p>
        </p:txBody>
      </p:sp>
      <p:pic>
        <p:nvPicPr>
          <p:cNvPr id="10" name="Picture 9"/>
          <p:cNvPicPr>
            <a:picLocks noChangeAspect="1"/>
          </p:cNvPicPr>
          <p:nvPr/>
        </p:nvPicPr>
        <p:blipFill>
          <a:blip r:embed="rId2"/>
          <a:stretch>
            <a:fillRect/>
          </a:stretch>
        </p:blipFill>
        <p:spPr>
          <a:xfrm>
            <a:off x="660133" y="1676400"/>
            <a:ext cx="6152473" cy="253395"/>
          </a:xfrm>
          <a:prstGeom prst="rect">
            <a:avLst/>
          </a:prstGeom>
        </p:spPr>
      </p:pic>
      <p:pic>
        <p:nvPicPr>
          <p:cNvPr id="11" name="Picture 10"/>
          <p:cNvPicPr>
            <a:picLocks noChangeAspect="1"/>
          </p:cNvPicPr>
          <p:nvPr/>
        </p:nvPicPr>
        <p:blipFill>
          <a:blip r:embed="rId3"/>
          <a:stretch>
            <a:fillRect/>
          </a:stretch>
        </p:blipFill>
        <p:spPr>
          <a:xfrm>
            <a:off x="6831054" y="1676400"/>
            <a:ext cx="891721" cy="277361"/>
          </a:xfrm>
          <a:prstGeom prst="rect">
            <a:avLst/>
          </a:prstGeom>
        </p:spPr>
      </p:pic>
      <p:pic>
        <p:nvPicPr>
          <p:cNvPr id="12" name="Picture 11"/>
          <p:cNvPicPr>
            <a:picLocks noChangeAspect="1"/>
          </p:cNvPicPr>
          <p:nvPr/>
        </p:nvPicPr>
        <p:blipFill>
          <a:blip r:embed="rId4"/>
          <a:stretch>
            <a:fillRect/>
          </a:stretch>
        </p:blipFill>
        <p:spPr>
          <a:xfrm>
            <a:off x="496378" y="2023496"/>
            <a:ext cx="6042392" cy="287300"/>
          </a:xfrm>
          <a:prstGeom prst="rect">
            <a:avLst/>
          </a:prstGeom>
        </p:spPr>
      </p:pic>
      <p:pic>
        <p:nvPicPr>
          <p:cNvPr id="21" name="Picture 20"/>
          <p:cNvPicPr>
            <a:picLocks noChangeAspect="1"/>
          </p:cNvPicPr>
          <p:nvPr/>
        </p:nvPicPr>
        <p:blipFill>
          <a:blip r:embed="rId5"/>
          <a:stretch>
            <a:fillRect/>
          </a:stretch>
        </p:blipFill>
        <p:spPr>
          <a:xfrm>
            <a:off x="6550802" y="2049384"/>
            <a:ext cx="974532" cy="288684"/>
          </a:xfrm>
          <a:prstGeom prst="rect">
            <a:avLst/>
          </a:prstGeom>
        </p:spPr>
      </p:pic>
      <p:pic>
        <p:nvPicPr>
          <p:cNvPr id="22" name="Picture 21"/>
          <p:cNvPicPr>
            <a:picLocks noChangeAspect="1"/>
          </p:cNvPicPr>
          <p:nvPr/>
        </p:nvPicPr>
        <p:blipFill>
          <a:blip r:embed="rId6"/>
          <a:stretch>
            <a:fillRect/>
          </a:stretch>
        </p:blipFill>
        <p:spPr>
          <a:xfrm>
            <a:off x="496377" y="2338068"/>
            <a:ext cx="803033" cy="277528"/>
          </a:xfrm>
          <a:prstGeom prst="rect">
            <a:avLst/>
          </a:prstGeom>
        </p:spPr>
      </p:pic>
      <p:pic>
        <p:nvPicPr>
          <p:cNvPr id="15" name="Picture 14"/>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562703" y="2463237"/>
            <a:ext cx="4143952" cy="40669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6" name="Picture 15"/>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6672043" y="2506266"/>
            <a:ext cx="1481357" cy="41574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463013184"/>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414129"/>
            <a:ext cx="7772400" cy="576471"/>
          </a:xfrm>
        </p:spPr>
        <p:txBody>
          <a:bodyPr>
            <a:normAutofit/>
          </a:bodyPr>
          <a:lstStyle/>
          <a:p>
            <a:r>
              <a:rPr lang="en-US" sz="2800" dirty="0" smtClean="0">
                <a:solidFill>
                  <a:srgbClr val="FF0000"/>
                </a:solidFill>
              </a:rPr>
              <a:t>Morphological Image Processing</a:t>
            </a:r>
            <a:endParaRPr lang="en-US" sz="2800" dirty="0">
              <a:solidFill>
                <a:srgbClr val="FF0000"/>
              </a:solidFill>
            </a:endParaRPr>
          </a:p>
        </p:txBody>
      </p:sp>
      <p:sp>
        <p:nvSpPr>
          <p:cNvPr id="3" name="Subtitle 2"/>
          <p:cNvSpPr>
            <a:spLocks noGrp="1"/>
          </p:cNvSpPr>
          <p:nvPr>
            <p:ph type="subTitle" idx="1"/>
          </p:nvPr>
        </p:nvSpPr>
        <p:spPr>
          <a:xfrm>
            <a:off x="381000" y="990600"/>
            <a:ext cx="8229600" cy="5562600"/>
          </a:xfrm>
        </p:spPr>
        <p:txBody>
          <a:bodyPr>
            <a:normAutofit/>
          </a:bodyPr>
          <a:lstStyle/>
          <a:p>
            <a:pPr algn="just"/>
            <a:r>
              <a:rPr lang="en-US" sz="2800" b="1" dirty="0" smtClean="0">
                <a:solidFill>
                  <a:schemeClr val="tx1"/>
                </a:solidFill>
              </a:rPr>
              <a:t>Dilation</a:t>
            </a:r>
          </a:p>
        </p:txBody>
      </p:sp>
      <p:pic>
        <p:nvPicPr>
          <p:cNvPr id="4" name="Picture 3"/>
          <p:cNvPicPr>
            <a:picLocks noChangeAspect="1"/>
          </p:cNvPicPr>
          <p:nvPr/>
        </p:nvPicPr>
        <p:blipFill>
          <a:blip r:embed="rId2"/>
          <a:stretch>
            <a:fillRect/>
          </a:stretch>
        </p:blipFill>
        <p:spPr>
          <a:xfrm>
            <a:off x="723499" y="1587926"/>
            <a:ext cx="5342042" cy="240874"/>
          </a:xfrm>
          <a:prstGeom prst="rect">
            <a:avLst/>
          </a:prstGeom>
        </p:spPr>
      </p:pic>
      <p:pic>
        <p:nvPicPr>
          <p:cNvPr id="5" name="Picture 4"/>
          <p:cNvPicPr>
            <a:picLocks noChangeAspect="1"/>
          </p:cNvPicPr>
          <p:nvPr/>
        </p:nvPicPr>
        <p:blipFill>
          <a:blip r:embed="rId3"/>
          <a:stretch>
            <a:fillRect/>
          </a:stretch>
        </p:blipFill>
        <p:spPr>
          <a:xfrm>
            <a:off x="6092032" y="1619208"/>
            <a:ext cx="467945" cy="209592"/>
          </a:xfrm>
          <a:prstGeom prst="rect">
            <a:avLst/>
          </a:prstGeom>
        </p:spPr>
      </p:pic>
      <p:pic>
        <p:nvPicPr>
          <p:cNvPr id="6" name="Picture 5"/>
          <p:cNvPicPr>
            <a:picLocks noChangeAspect="1"/>
          </p:cNvPicPr>
          <p:nvPr/>
        </p:nvPicPr>
        <p:blipFill>
          <a:blip r:embed="rId4"/>
          <a:stretch>
            <a:fillRect/>
          </a:stretch>
        </p:blipFill>
        <p:spPr>
          <a:xfrm>
            <a:off x="6586467" y="1576696"/>
            <a:ext cx="1246959" cy="252104"/>
          </a:xfrm>
          <a:prstGeom prst="rect">
            <a:avLst/>
          </a:prstGeom>
        </p:spPr>
      </p:pic>
      <p:pic>
        <p:nvPicPr>
          <p:cNvPr id="7" name="Picture 6"/>
          <p:cNvPicPr>
            <a:picLocks noChangeAspect="1"/>
          </p:cNvPicPr>
          <p:nvPr/>
        </p:nvPicPr>
        <p:blipFill>
          <a:blip r:embed="rId5"/>
          <a:stretch>
            <a:fillRect/>
          </a:stretch>
        </p:blipFill>
        <p:spPr>
          <a:xfrm>
            <a:off x="672163" y="1905000"/>
            <a:ext cx="6795437" cy="254796"/>
          </a:xfrm>
          <a:prstGeom prst="rect">
            <a:avLst/>
          </a:prstGeom>
        </p:spPr>
      </p:pic>
      <p:pic>
        <p:nvPicPr>
          <p:cNvPr id="8" name="Picture 7"/>
          <p:cNvPicPr>
            <a:picLocks noChangeAspect="1"/>
          </p:cNvPicPr>
          <p:nvPr/>
        </p:nvPicPr>
        <p:blipFill>
          <a:blip r:embed="rId6"/>
          <a:stretch>
            <a:fillRect/>
          </a:stretch>
        </p:blipFill>
        <p:spPr>
          <a:xfrm>
            <a:off x="723499" y="2237600"/>
            <a:ext cx="5601101" cy="345646"/>
          </a:xfrm>
          <a:prstGeom prst="rect">
            <a:avLst/>
          </a:prstGeom>
        </p:spPr>
      </p:pic>
      <p:pic>
        <p:nvPicPr>
          <p:cNvPr id="9" name="Picture 8"/>
          <p:cNvPicPr>
            <a:picLocks noChangeAspect="1"/>
          </p:cNvPicPr>
          <p:nvPr/>
        </p:nvPicPr>
        <p:blipFill>
          <a:blip r:embed="rId7"/>
          <a:stretch>
            <a:fillRect/>
          </a:stretch>
        </p:blipFill>
        <p:spPr>
          <a:xfrm>
            <a:off x="6324600" y="2307475"/>
            <a:ext cx="1491898" cy="275771"/>
          </a:xfrm>
          <a:prstGeom prst="rect">
            <a:avLst/>
          </a:prstGeom>
        </p:spPr>
      </p:pic>
    </p:spTree>
    <p:extLst>
      <p:ext uri="{BB962C8B-B14F-4D97-AF65-F5344CB8AC3E}">
        <p14:creationId xmlns:p14="http://schemas.microsoft.com/office/powerpoint/2010/main" val="1761967774"/>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414129"/>
            <a:ext cx="7772400" cy="576471"/>
          </a:xfrm>
        </p:spPr>
        <p:txBody>
          <a:bodyPr>
            <a:normAutofit/>
          </a:bodyPr>
          <a:lstStyle/>
          <a:p>
            <a:r>
              <a:rPr lang="en-US" sz="2800" dirty="0" smtClean="0">
                <a:solidFill>
                  <a:srgbClr val="FF0000"/>
                </a:solidFill>
              </a:rPr>
              <a:t>Morphological Image Processing</a:t>
            </a:r>
            <a:endParaRPr lang="en-US" sz="2800" dirty="0">
              <a:solidFill>
                <a:srgbClr val="FF0000"/>
              </a:solidFill>
            </a:endParaRPr>
          </a:p>
        </p:txBody>
      </p:sp>
      <p:sp>
        <p:nvSpPr>
          <p:cNvPr id="3" name="Subtitle 2"/>
          <p:cNvSpPr>
            <a:spLocks noGrp="1"/>
          </p:cNvSpPr>
          <p:nvPr>
            <p:ph type="subTitle" idx="1"/>
          </p:nvPr>
        </p:nvSpPr>
        <p:spPr>
          <a:xfrm>
            <a:off x="381000" y="990600"/>
            <a:ext cx="8229600" cy="5562600"/>
          </a:xfrm>
        </p:spPr>
        <p:txBody>
          <a:bodyPr>
            <a:normAutofit/>
          </a:bodyPr>
          <a:lstStyle/>
          <a:p>
            <a:pPr algn="just"/>
            <a:r>
              <a:rPr lang="en-US" sz="2800" b="1" dirty="0" smtClean="0">
                <a:solidFill>
                  <a:schemeClr val="tx1"/>
                </a:solidFill>
              </a:rPr>
              <a:t>Example 9.2: </a:t>
            </a:r>
            <a:r>
              <a:rPr lang="en-US" sz="2800" dirty="0" smtClean="0">
                <a:solidFill>
                  <a:schemeClr val="tx1"/>
                </a:solidFill>
              </a:rPr>
              <a:t>An illustration of dilation </a:t>
            </a:r>
            <a:endParaRPr lang="en-US" sz="2800" b="1" dirty="0" smtClean="0">
              <a:solidFill>
                <a:schemeClr val="tx1"/>
              </a:solidFill>
            </a:endParaRPr>
          </a:p>
        </p:txBody>
      </p:sp>
      <p:pic>
        <p:nvPicPr>
          <p:cNvPr id="10" name="Picture 9"/>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11875" y="1676400"/>
            <a:ext cx="6139567" cy="3962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1" name="Picture 10"/>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010400" y="2057400"/>
            <a:ext cx="1669325" cy="32908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252247267"/>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414129"/>
            <a:ext cx="7772400" cy="576471"/>
          </a:xfrm>
        </p:spPr>
        <p:txBody>
          <a:bodyPr>
            <a:normAutofit/>
          </a:bodyPr>
          <a:lstStyle/>
          <a:p>
            <a:r>
              <a:rPr lang="en-US" sz="2800" dirty="0" smtClean="0">
                <a:solidFill>
                  <a:srgbClr val="FF0000"/>
                </a:solidFill>
              </a:rPr>
              <a:t>Morphological Image Processing</a:t>
            </a:r>
            <a:endParaRPr lang="en-US" sz="2800" dirty="0">
              <a:solidFill>
                <a:srgbClr val="FF0000"/>
              </a:solidFill>
            </a:endParaRPr>
          </a:p>
        </p:txBody>
      </p:sp>
      <p:sp>
        <p:nvSpPr>
          <p:cNvPr id="3" name="Subtitle 2"/>
          <p:cNvSpPr>
            <a:spLocks noGrp="1"/>
          </p:cNvSpPr>
          <p:nvPr>
            <p:ph type="subTitle" idx="1"/>
          </p:nvPr>
        </p:nvSpPr>
        <p:spPr>
          <a:xfrm>
            <a:off x="381000" y="990600"/>
            <a:ext cx="8229600" cy="5562600"/>
          </a:xfrm>
        </p:spPr>
        <p:txBody>
          <a:bodyPr>
            <a:normAutofit/>
          </a:bodyPr>
          <a:lstStyle/>
          <a:p>
            <a:pPr algn="just"/>
            <a:r>
              <a:rPr lang="en-US" sz="2800" b="1" dirty="0" smtClean="0">
                <a:solidFill>
                  <a:schemeClr val="tx1"/>
                </a:solidFill>
              </a:rPr>
              <a:t>Duality</a:t>
            </a:r>
            <a:r>
              <a:rPr lang="en-US" sz="2800" dirty="0" smtClean="0">
                <a:solidFill>
                  <a:schemeClr val="tx1"/>
                </a:solidFill>
              </a:rPr>
              <a:t> </a:t>
            </a:r>
            <a:endParaRPr lang="en-US" sz="2800" b="1" dirty="0" smtClean="0">
              <a:solidFill>
                <a:schemeClr val="tx1"/>
              </a:solidFill>
            </a:endParaRPr>
          </a:p>
        </p:txBody>
      </p:sp>
      <p:pic>
        <p:nvPicPr>
          <p:cNvPr id="4" name="Picture 3"/>
          <p:cNvPicPr>
            <a:picLocks noChangeAspect="1"/>
          </p:cNvPicPr>
          <p:nvPr/>
        </p:nvPicPr>
        <p:blipFill>
          <a:blip r:embed="rId2"/>
          <a:stretch>
            <a:fillRect/>
          </a:stretch>
        </p:blipFill>
        <p:spPr>
          <a:xfrm>
            <a:off x="609601" y="1597551"/>
            <a:ext cx="6777987" cy="353004"/>
          </a:xfrm>
          <a:prstGeom prst="rect">
            <a:avLst/>
          </a:prstGeom>
        </p:spPr>
      </p:pic>
      <p:pic>
        <p:nvPicPr>
          <p:cNvPr id="5" name="Picture 4"/>
          <p:cNvPicPr>
            <a:picLocks noChangeAspect="1"/>
          </p:cNvPicPr>
          <p:nvPr/>
        </p:nvPicPr>
        <p:blipFill>
          <a:blip r:embed="rId3"/>
          <a:stretch>
            <a:fillRect/>
          </a:stretch>
        </p:blipFill>
        <p:spPr>
          <a:xfrm>
            <a:off x="716280" y="2133600"/>
            <a:ext cx="2449858" cy="304800"/>
          </a:xfrm>
          <a:prstGeom prst="rect">
            <a:avLst/>
          </a:prstGeom>
        </p:spPr>
      </p:pic>
      <p:pic>
        <p:nvPicPr>
          <p:cNvPr id="8" name="Picture 7"/>
          <p:cNvPicPr>
            <a:picLocks noChangeAspect="1"/>
          </p:cNvPicPr>
          <p:nvPr/>
        </p:nvPicPr>
        <p:blipFill>
          <a:blip r:embed="rId4"/>
          <a:stretch>
            <a:fillRect/>
          </a:stretch>
        </p:blipFill>
        <p:spPr>
          <a:xfrm>
            <a:off x="3124200" y="2133600"/>
            <a:ext cx="3113251" cy="312369"/>
          </a:xfrm>
          <a:prstGeom prst="rect">
            <a:avLst/>
          </a:prstGeom>
        </p:spPr>
      </p:pic>
      <p:pic>
        <p:nvPicPr>
          <p:cNvPr id="9" name="Picture 8"/>
          <p:cNvPicPr>
            <a:picLocks noChangeAspect="1"/>
          </p:cNvPicPr>
          <p:nvPr/>
        </p:nvPicPr>
        <p:blipFill>
          <a:blip r:embed="rId5"/>
          <a:stretch>
            <a:fillRect/>
          </a:stretch>
        </p:blipFill>
        <p:spPr>
          <a:xfrm>
            <a:off x="1976399" y="2629014"/>
            <a:ext cx="4643433" cy="495185"/>
          </a:xfrm>
          <a:prstGeom prst="rect">
            <a:avLst/>
          </a:prstGeom>
        </p:spPr>
      </p:pic>
      <p:pic>
        <p:nvPicPr>
          <p:cNvPr id="12" name="Picture 11"/>
          <p:cNvPicPr>
            <a:picLocks noChangeAspect="1"/>
          </p:cNvPicPr>
          <p:nvPr/>
        </p:nvPicPr>
        <p:blipFill>
          <a:blip r:embed="rId6"/>
          <a:stretch>
            <a:fillRect/>
          </a:stretch>
        </p:blipFill>
        <p:spPr>
          <a:xfrm>
            <a:off x="1066800" y="3314700"/>
            <a:ext cx="723818" cy="304800"/>
          </a:xfrm>
          <a:prstGeom prst="rect">
            <a:avLst/>
          </a:prstGeom>
        </p:spPr>
      </p:pic>
      <p:pic>
        <p:nvPicPr>
          <p:cNvPr id="13" name="Picture 12"/>
          <p:cNvPicPr>
            <a:picLocks noChangeAspect="1"/>
          </p:cNvPicPr>
          <p:nvPr/>
        </p:nvPicPr>
        <p:blipFill>
          <a:blip r:embed="rId7"/>
          <a:stretch>
            <a:fillRect/>
          </a:stretch>
        </p:blipFill>
        <p:spPr>
          <a:xfrm>
            <a:off x="1932065" y="3767274"/>
            <a:ext cx="4927862" cy="412352"/>
          </a:xfrm>
          <a:prstGeom prst="rect">
            <a:avLst/>
          </a:prstGeom>
        </p:spPr>
      </p:pic>
      <p:pic>
        <p:nvPicPr>
          <p:cNvPr id="14" name="Picture 13"/>
          <p:cNvPicPr>
            <a:picLocks noChangeAspect="1"/>
          </p:cNvPicPr>
          <p:nvPr/>
        </p:nvPicPr>
        <p:blipFill>
          <a:blip r:embed="rId8"/>
          <a:stretch>
            <a:fillRect/>
          </a:stretch>
        </p:blipFill>
        <p:spPr>
          <a:xfrm>
            <a:off x="685800" y="4880723"/>
            <a:ext cx="8018236" cy="270316"/>
          </a:xfrm>
          <a:prstGeom prst="rect">
            <a:avLst/>
          </a:prstGeom>
        </p:spPr>
      </p:pic>
      <p:pic>
        <p:nvPicPr>
          <p:cNvPr id="15" name="Picture 14"/>
          <p:cNvPicPr>
            <a:picLocks noChangeAspect="1"/>
          </p:cNvPicPr>
          <p:nvPr/>
        </p:nvPicPr>
        <p:blipFill>
          <a:blip r:embed="rId9"/>
          <a:stretch>
            <a:fillRect/>
          </a:stretch>
        </p:blipFill>
        <p:spPr>
          <a:xfrm>
            <a:off x="716280" y="5308018"/>
            <a:ext cx="1023110" cy="254582"/>
          </a:xfrm>
          <a:prstGeom prst="rect">
            <a:avLst/>
          </a:prstGeom>
        </p:spPr>
      </p:pic>
      <p:pic>
        <p:nvPicPr>
          <p:cNvPr id="16" name="Picture 15"/>
          <p:cNvPicPr>
            <a:picLocks noChangeAspect="1"/>
          </p:cNvPicPr>
          <p:nvPr/>
        </p:nvPicPr>
        <p:blipFill>
          <a:blip r:embed="rId10"/>
          <a:stretch>
            <a:fillRect/>
          </a:stretch>
        </p:blipFill>
        <p:spPr>
          <a:xfrm>
            <a:off x="1676400" y="5284398"/>
            <a:ext cx="3669879" cy="288982"/>
          </a:xfrm>
          <a:prstGeom prst="rect">
            <a:avLst/>
          </a:prstGeom>
        </p:spPr>
      </p:pic>
    </p:spTree>
    <p:extLst>
      <p:ext uri="{BB962C8B-B14F-4D97-AF65-F5344CB8AC3E}">
        <p14:creationId xmlns:p14="http://schemas.microsoft.com/office/powerpoint/2010/main" val="1315288594"/>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414129"/>
            <a:ext cx="7772400" cy="576471"/>
          </a:xfrm>
        </p:spPr>
        <p:txBody>
          <a:bodyPr>
            <a:normAutofit/>
          </a:bodyPr>
          <a:lstStyle/>
          <a:p>
            <a:r>
              <a:rPr lang="en-US" sz="2800" dirty="0" smtClean="0">
                <a:solidFill>
                  <a:srgbClr val="FF0000"/>
                </a:solidFill>
              </a:rPr>
              <a:t>Morphological Image Processing</a:t>
            </a:r>
            <a:endParaRPr lang="en-US" sz="2800" dirty="0">
              <a:solidFill>
                <a:srgbClr val="FF0000"/>
              </a:solidFill>
            </a:endParaRPr>
          </a:p>
        </p:txBody>
      </p:sp>
      <p:sp>
        <p:nvSpPr>
          <p:cNvPr id="3" name="Subtitle 2"/>
          <p:cNvSpPr>
            <a:spLocks noGrp="1"/>
          </p:cNvSpPr>
          <p:nvPr>
            <p:ph type="subTitle" idx="1"/>
          </p:nvPr>
        </p:nvSpPr>
        <p:spPr>
          <a:xfrm>
            <a:off x="381000" y="990600"/>
            <a:ext cx="8229600" cy="5562600"/>
          </a:xfrm>
        </p:spPr>
        <p:txBody>
          <a:bodyPr>
            <a:normAutofit/>
          </a:bodyPr>
          <a:lstStyle/>
          <a:p>
            <a:pPr algn="just"/>
            <a:r>
              <a:rPr lang="en-US" sz="2800" b="1" dirty="0" smtClean="0">
                <a:solidFill>
                  <a:schemeClr val="tx1"/>
                </a:solidFill>
              </a:rPr>
              <a:t>Duality</a:t>
            </a:r>
            <a:r>
              <a:rPr lang="en-US" sz="2800" dirty="0" smtClean="0">
                <a:solidFill>
                  <a:schemeClr val="tx1"/>
                </a:solidFill>
              </a:rPr>
              <a:t> </a:t>
            </a:r>
            <a:endParaRPr lang="en-US" sz="2800" b="1" dirty="0" smtClean="0">
              <a:solidFill>
                <a:schemeClr val="tx1"/>
              </a:solidFill>
            </a:endParaRPr>
          </a:p>
        </p:txBody>
      </p:sp>
      <p:pic>
        <p:nvPicPr>
          <p:cNvPr id="6" name="Picture 5"/>
          <p:cNvPicPr>
            <a:picLocks noChangeAspect="1"/>
          </p:cNvPicPr>
          <p:nvPr/>
        </p:nvPicPr>
        <p:blipFill>
          <a:blip r:embed="rId2"/>
          <a:stretch>
            <a:fillRect/>
          </a:stretch>
        </p:blipFill>
        <p:spPr>
          <a:xfrm>
            <a:off x="762000" y="1676400"/>
            <a:ext cx="4850696" cy="304800"/>
          </a:xfrm>
          <a:prstGeom prst="rect">
            <a:avLst/>
          </a:prstGeom>
        </p:spPr>
      </p:pic>
      <p:pic>
        <p:nvPicPr>
          <p:cNvPr id="7" name="Picture 6"/>
          <p:cNvPicPr>
            <a:picLocks noChangeAspect="1"/>
          </p:cNvPicPr>
          <p:nvPr/>
        </p:nvPicPr>
        <p:blipFill>
          <a:blip r:embed="rId3"/>
          <a:stretch>
            <a:fillRect/>
          </a:stretch>
        </p:blipFill>
        <p:spPr>
          <a:xfrm>
            <a:off x="5612696" y="1726920"/>
            <a:ext cx="2312105" cy="203760"/>
          </a:xfrm>
          <a:prstGeom prst="rect">
            <a:avLst/>
          </a:prstGeom>
        </p:spPr>
      </p:pic>
      <p:pic>
        <p:nvPicPr>
          <p:cNvPr id="10" name="Picture 9"/>
          <p:cNvPicPr>
            <a:picLocks noChangeAspect="1"/>
          </p:cNvPicPr>
          <p:nvPr/>
        </p:nvPicPr>
        <p:blipFill>
          <a:blip r:embed="rId4"/>
          <a:stretch>
            <a:fillRect/>
          </a:stretch>
        </p:blipFill>
        <p:spPr>
          <a:xfrm>
            <a:off x="795528" y="2057400"/>
            <a:ext cx="6124644" cy="304800"/>
          </a:xfrm>
          <a:prstGeom prst="rect">
            <a:avLst/>
          </a:prstGeom>
        </p:spPr>
      </p:pic>
      <p:pic>
        <p:nvPicPr>
          <p:cNvPr id="11" name="Picture 10"/>
          <p:cNvPicPr>
            <a:picLocks noChangeAspect="1"/>
          </p:cNvPicPr>
          <p:nvPr/>
        </p:nvPicPr>
        <p:blipFill>
          <a:blip r:embed="rId5"/>
          <a:stretch>
            <a:fillRect/>
          </a:stretch>
        </p:blipFill>
        <p:spPr>
          <a:xfrm>
            <a:off x="6942874" y="2094674"/>
            <a:ext cx="955668" cy="267525"/>
          </a:xfrm>
          <a:prstGeom prst="rect">
            <a:avLst/>
          </a:prstGeom>
        </p:spPr>
      </p:pic>
      <p:pic>
        <p:nvPicPr>
          <p:cNvPr id="19" name="Picture 18"/>
          <p:cNvPicPr>
            <a:picLocks noChangeAspect="1"/>
          </p:cNvPicPr>
          <p:nvPr/>
        </p:nvPicPr>
        <p:blipFill>
          <a:blip r:embed="rId6"/>
          <a:stretch>
            <a:fillRect/>
          </a:stretch>
        </p:blipFill>
        <p:spPr>
          <a:xfrm>
            <a:off x="795528" y="2499767"/>
            <a:ext cx="1594600" cy="319633"/>
          </a:xfrm>
          <a:prstGeom prst="rect">
            <a:avLst/>
          </a:prstGeom>
        </p:spPr>
      </p:pic>
      <p:pic>
        <p:nvPicPr>
          <p:cNvPr id="20" name="Picture 19"/>
          <p:cNvPicPr>
            <a:picLocks noChangeAspect="1"/>
          </p:cNvPicPr>
          <p:nvPr/>
        </p:nvPicPr>
        <p:blipFill>
          <a:blip r:embed="rId7"/>
          <a:stretch>
            <a:fillRect/>
          </a:stretch>
        </p:blipFill>
        <p:spPr>
          <a:xfrm>
            <a:off x="914400" y="3177578"/>
            <a:ext cx="6442132" cy="327622"/>
          </a:xfrm>
          <a:prstGeom prst="rect">
            <a:avLst/>
          </a:prstGeom>
        </p:spPr>
      </p:pic>
      <p:pic>
        <p:nvPicPr>
          <p:cNvPr id="21" name="Picture 20"/>
          <p:cNvPicPr>
            <a:picLocks noChangeAspect="1"/>
          </p:cNvPicPr>
          <p:nvPr/>
        </p:nvPicPr>
        <p:blipFill>
          <a:blip r:embed="rId8"/>
          <a:stretch>
            <a:fillRect/>
          </a:stretch>
        </p:blipFill>
        <p:spPr>
          <a:xfrm>
            <a:off x="914399" y="3708712"/>
            <a:ext cx="1553551" cy="253688"/>
          </a:xfrm>
          <a:prstGeom prst="rect">
            <a:avLst/>
          </a:prstGeom>
        </p:spPr>
      </p:pic>
      <p:pic>
        <p:nvPicPr>
          <p:cNvPr id="22" name="Picture 21"/>
          <p:cNvPicPr>
            <a:picLocks noChangeAspect="1"/>
          </p:cNvPicPr>
          <p:nvPr/>
        </p:nvPicPr>
        <p:blipFill>
          <a:blip r:embed="rId9"/>
          <a:stretch>
            <a:fillRect/>
          </a:stretch>
        </p:blipFill>
        <p:spPr>
          <a:xfrm>
            <a:off x="2286000" y="3725580"/>
            <a:ext cx="5271980" cy="275596"/>
          </a:xfrm>
          <a:prstGeom prst="rect">
            <a:avLst/>
          </a:prstGeom>
        </p:spPr>
      </p:pic>
      <p:pic>
        <p:nvPicPr>
          <p:cNvPr id="23" name="Picture 22"/>
          <p:cNvPicPr>
            <a:picLocks noChangeAspect="1"/>
          </p:cNvPicPr>
          <p:nvPr/>
        </p:nvPicPr>
        <p:blipFill>
          <a:blip r:embed="rId10"/>
          <a:stretch>
            <a:fillRect/>
          </a:stretch>
        </p:blipFill>
        <p:spPr>
          <a:xfrm>
            <a:off x="697992" y="4170522"/>
            <a:ext cx="2463975" cy="301179"/>
          </a:xfrm>
          <a:prstGeom prst="rect">
            <a:avLst/>
          </a:prstGeom>
        </p:spPr>
      </p:pic>
      <p:pic>
        <p:nvPicPr>
          <p:cNvPr id="24" name="Picture 23"/>
          <p:cNvPicPr>
            <a:picLocks noChangeAspect="1"/>
          </p:cNvPicPr>
          <p:nvPr/>
        </p:nvPicPr>
        <p:blipFill>
          <a:blip r:embed="rId11"/>
          <a:stretch>
            <a:fillRect/>
          </a:stretch>
        </p:blipFill>
        <p:spPr>
          <a:xfrm>
            <a:off x="3124200" y="4186476"/>
            <a:ext cx="5772392" cy="248391"/>
          </a:xfrm>
          <a:prstGeom prst="rect">
            <a:avLst/>
          </a:prstGeom>
        </p:spPr>
      </p:pic>
      <p:pic>
        <p:nvPicPr>
          <p:cNvPr id="25" name="Picture 24"/>
          <p:cNvPicPr>
            <a:picLocks noChangeAspect="1"/>
          </p:cNvPicPr>
          <p:nvPr/>
        </p:nvPicPr>
        <p:blipFill>
          <a:blip r:embed="rId12"/>
          <a:stretch>
            <a:fillRect/>
          </a:stretch>
        </p:blipFill>
        <p:spPr>
          <a:xfrm>
            <a:off x="2971800" y="5036838"/>
            <a:ext cx="2724758" cy="529691"/>
          </a:xfrm>
          <a:prstGeom prst="rect">
            <a:avLst/>
          </a:prstGeom>
        </p:spPr>
      </p:pic>
    </p:spTree>
    <p:extLst>
      <p:ext uri="{BB962C8B-B14F-4D97-AF65-F5344CB8AC3E}">
        <p14:creationId xmlns:p14="http://schemas.microsoft.com/office/powerpoint/2010/main" val="1160910165"/>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414129"/>
            <a:ext cx="7772400" cy="576471"/>
          </a:xfrm>
        </p:spPr>
        <p:txBody>
          <a:bodyPr>
            <a:normAutofit/>
          </a:bodyPr>
          <a:lstStyle/>
          <a:p>
            <a:r>
              <a:rPr lang="en-US" sz="2800" dirty="0" smtClean="0">
                <a:solidFill>
                  <a:srgbClr val="FF0000"/>
                </a:solidFill>
              </a:rPr>
              <a:t>Morphological Image Processing</a:t>
            </a:r>
            <a:endParaRPr lang="en-US" sz="2800" dirty="0">
              <a:solidFill>
                <a:srgbClr val="FF0000"/>
              </a:solidFill>
            </a:endParaRPr>
          </a:p>
        </p:txBody>
      </p:sp>
      <p:sp>
        <p:nvSpPr>
          <p:cNvPr id="3" name="Subtitle 2"/>
          <p:cNvSpPr>
            <a:spLocks noGrp="1"/>
          </p:cNvSpPr>
          <p:nvPr>
            <p:ph type="subTitle" idx="1"/>
          </p:nvPr>
        </p:nvSpPr>
        <p:spPr>
          <a:xfrm>
            <a:off x="381000" y="990600"/>
            <a:ext cx="8229600" cy="5562600"/>
          </a:xfrm>
        </p:spPr>
        <p:txBody>
          <a:bodyPr>
            <a:normAutofit/>
          </a:bodyPr>
          <a:lstStyle/>
          <a:p>
            <a:pPr algn="just"/>
            <a:r>
              <a:rPr lang="en-US" sz="2800" b="1" dirty="0" smtClean="0">
                <a:solidFill>
                  <a:schemeClr val="tx1"/>
                </a:solidFill>
              </a:rPr>
              <a:t>Duality</a:t>
            </a:r>
            <a:r>
              <a:rPr lang="en-US" sz="2800" dirty="0" smtClean="0">
                <a:solidFill>
                  <a:schemeClr val="tx1"/>
                </a:solidFill>
              </a:rPr>
              <a:t> </a:t>
            </a:r>
            <a:endParaRPr lang="en-US" sz="2800" b="1" dirty="0" smtClean="0">
              <a:solidFill>
                <a:schemeClr val="tx1"/>
              </a:solidFill>
            </a:endParaRPr>
          </a:p>
        </p:txBody>
      </p:sp>
      <p:pic>
        <p:nvPicPr>
          <p:cNvPr id="4" name="Picture 3"/>
          <p:cNvPicPr>
            <a:picLocks noChangeAspect="1"/>
          </p:cNvPicPr>
          <p:nvPr/>
        </p:nvPicPr>
        <p:blipFill>
          <a:blip r:embed="rId2"/>
          <a:stretch>
            <a:fillRect/>
          </a:stretch>
        </p:blipFill>
        <p:spPr>
          <a:xfrm>
            <a:off x="914400" y="1752600"/>
            <a:ext cx="5867400" cy="358596"/>
          </a:xfrm>
          <a:prstGeom prst="rect">
            <a:avLst/>
          </a:prstGeom>
        </p:spPr>
      </p:pic>
      <p:pic>
        <p:nvPicPr>
          <p:cNvPr id="5" name="Picture 4"/>
          <p:cNvPicPr>
            <a:picLocks noChangeAspect="1"/>
          </p:cNvPicPr>
          <p:nvPr/>
        </p:nvPicPr>
        <p:blipFill>
          <a:blip r:embed="rId3"/>
          <a:stretch>
            <a:fillRect/>
          </a:stretch>
        </p:blipFill>
        <p:spPr>
          <a:xfrm>
            <a:off x="762000" y="2209799"/>
            <a:ext cx="3318444" cy="342997"/>
          </a:xfrm>
          <a:prstGeom prst="rect">
            <a:avLst/>
          </a:prstGeom>
        </p:spPr>
      </p:pic>
      <p:pic>
        <p:nvPicPr>
          <p:cNvPr id="8" name="Picture 7"/>
          <p:cNvPicPr>
            <a:picLocks noChangeAspect="1"/>
          </p:cNvPicPr>
          <p:nvPr/>
        </p:nvPicPr>
        <p:blipFill>
          <a:blip r:embed="rId4"/>
          <a:stretch>
            <a:fillRect/>
          </a:stretch>
        </p:blipFill>
        <p:spPr>
          <a:xfrm>
            <a:off x="4113972" y="2272406"/>
            <a:ext cx="2080304" cy="280390"/>
          </a:xfrm>
          <a:prstGeom prst="rect">
            <a:avLst/>
          </a:prstGeom>
        </p:spPr>
      </p:pic>
      <p:pic>
        <p:nvPicPr>
          <p:cNvPr id="9" name="Picture 8"/>
          <p:cNvPicPr>
            <a:picLocks noChangeAspect="1"/>
          </p:cNvPicPr>
          <p:nvPr/>
        </p:nvPicPr>
        <p:blipFill>
          <a:blip r:embed="rId5"/>
          <a:stretch>
            <a:fillRect/>
          </a:stretch>
        </p:blipFill>
        <p:spPr>
          <a:xfrm>
            <a:off x="2040450" y="2934802"/>
            <a:ext cx="3227374" cy="494198"/>
          </a:xfrm>
          <a:prstGeom prst="rect">
            <a:avLst/>
          </a:prstGeom>
        </p:spPr>
      </p:pic>
      <p:pic>
        <p:nvPicPr>
          <p:cNvPr id="12" name="Picture 11"/>
          <p:cNvPicPr>
            <a:picLocks noChangeAspect="1"/>
          </p:cNvPicPr>
          <p:nvPr/>
        </p:nvPicPr>
        <p:blipFill>
          <a:blip r:embed="rId6"/>
          <a:stretch>
            <a:fillRect/>
          </a:stretch>
        </p:blipFill>
        <p:spPr>
          <a:xfrm>
            <a:off x="462389" y="3746248"/>
            <a:ext cx="7236109" cy="365150"/>
          </a:xfrm>
          <a:prstGeom prst="rect">
            <a:avLst/>
          </a:prstGeom>
        </p:spPr>
      </p:pic>
      <p:pic>
        <p:nvPicPr>
          <p:cNvPr id="13" name="Picture 12"/>
          <p:cNvPicPr>
            <a:picLocks noChangeAspect="1"/>
          </p:cNvPicPr>
          <p:nvPr/>
        </p:nvPicPr>
        <p:blipFill>
          <a:blip r:embed="rId7"/>
          <a:stretch>
            <a:fillRect/>
          </a:stretch>
        </p:blipFill>
        <p:spPr>
          <a:xfrm>
            <a:off x="508837" y="4187848"/>
            <a:ext cx="1700963" cy="314416"/>
          </a:xfrm>
          <a:prstGeom prst="rect">
            <a:avLst/>
          </a:prstGeom>
        </p:spPr>
      </p:pic>
      <p:pic>
        <p:nvPicPr>
          <p:cNvPr id="14" name="Picture 13"/>
          <p:cNvPicPr>
            <a:picLocks noChangeAspect="1"/>
          </p:cNvPicPr>
          <p:nvPr/>
        </p:nvPicPr>
        <p:blipFill>
          <a:blip r:embed="rId8"/>
          <a:stretch>
            <a:fillRect/>
          </a:stretch>
        </p:blipFill>
        <p:spPr>
          <a:xfrm>
            <a:off x="2259610" y="4187848"/>
            <a:ext cx="3708724" cy="314853"/>
          </a:xfrm>
          <a:prstGeom prst="rect">
            <a:avLst/>
          </a:prstGeom>
        </p:spPr>
      </p:pic>
      <p:pic>
        <p:nvPicPr>
          <p:cNvPr id="15" name="Picture 14"/>
          <p:cNvPicPr>
            <a:picLocks noChangeAspect="1"/>
          </p:cNvPicPr>
          <p:nvPr/>
        </p:nvPicPr>
        <p:blipFill>
          <a:blip r:embed="rId9"/>
          <a:stretch>
            <a:fillRect/>
          </a:stretch>
        </p:blipFill>
        <p:spPr>
          <a:xfrm>
            <a:off x="2259610" y="4953000"/>
            <a:ext cx="2946524" cy="793450"/>
          </a:xfrm>
          <a:prstGeom prst="rect">
            <a:avLst/>
          </a:prstGeom>
        </p:spPr>
      </p:pic>
    </p:spTree>
    <p:extLst>
      <p:ext uri="{BB962C8B-B14F-4D97-AF65-F5344CB8AC3E}">
        <p14:creationId xmlns:p14="http://schemas.microsoft.com/office/powerpoint/2010/main" val="38512701"/>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414129"/>
            <a:ext cx="7772400" cy="576471"/>
          </a:xfrm>
        </p:spPr>
        <p:txBody>
          <a:bodyPr>
            <a:normAutofit/>
          </a:bodyPr>
          <a:lstStyle/>
          <a:p>
            <a:r>
              <a:rPr lang="en-US" sz="2800" dirty="0" smtClean="0">
                <a:solidFill>
                  <a:srgbClr val="FF0000"/>
                </a:solidFill>
              </a:rPr>
              <a:t>Morphological Image Processing</a:t>
            </a:r>
            <a:endParaRPr lang="en-US" sz="2800" dirty="0">
              <a:solidFill>
                <a:srgbClr val="FF0000"/>
              </a:solidFill>
            </a:endParaRPr>
          </a:p>
        </p:txBody>
      </p:sp>
      <p:sp>
        <p:nvSpPr>
          <p:cNvPr id="3" name="Subtitle 2"/>
          <p:cNvSpPr>
            <a:spLocks noGrp="1"/>
          </p:cNvSpPr>
          <p:nvPr>
            <p:ph type="subTitle" idx="1"/>
          </p:nvPr>
        </p:nvSpPr>
        <p:spPr>
          <a:xfrm>
            <a:off x="914400" y="1447800"/>
            <a:ext cx="7391400" cy="4724400"/>
          </a:xfrm>
        </p:spPr>
        <p:txBody>
          <a:bodyPr>
            <a:normAutofit/>
          </a:bodyPr>
          <a:lstStyle/>
          <a:p>
            <a:pPr algn="just"/>
            <a:r>
              <a:rPr lang="en-US" sz="2800" b="1" dirty="0" smtClean="0">
                <a:solidFill>
                  <a:schemeClr val="tx1"/>
                </a:solidFill>
              </a:rPr>
              <a:t>Opening and Closing</a:t>
            </a:r>
          </a:p>
          <a:p>
            <a:pPr algn="just">
              <a:buFont typeface="Wingdings" pitchFamily="2" charset="2"/>
              <a:buChar char="ü"/>
            </a:pPr>
            <a:r>
              <a:rPr lang="en-US" sz="2400" dirty="0" smtClean="0">
                <a:solidFill>
                  <a:schemeClr val="tx1"/>
                </a:solidFill>
              </a:rPr>
              <a:t> As we have seen, dilation expands an image and erosion shrinks it.</a:t>
            </a:r>
          </a:p>
          <a:p>
            <a:pPr algn="just">
              <a:buFont typeface="Wingdings" pitchFamily="2" charset="2"/>
              <a:buChar char="ü"/>
            </a:pPr>
            <a:r>
              <a:rPr lang="en-US" sz="2400" dirty="0" smtClean="0">
                <a:solidFill>
                  <a:schemeClr val="tx1"/>
                </a:solidFill>
              </a:rPr>
              <a:t> </a:t>
            </a:r>
            <a:r>
              <a:rPr lang="en-US" sz="2400" b="1" i="1" dirty="0" smtClean="0">
                <a:solidFill>
                  <a:schemeClr val="tx1"/>
                </a:solidFill>
              </a:rPr>
              <a:t>Opening</a:t>
            </a:r>
            <a:r>
              <a:rPr lang="en-US" sz="2400" dirty="0" smtClean="0">
                <a:solidFill>
                  <a:schemeClr val="tx1"/>
                </a:solidFill>
              </a:rPr>
              <a:t> generally smoothes the contour of an object,  breaks narrow isthmuses, and eliminates thin protrusions.</a:t>
            </a:r>
          </a:p>
          <a:p>
            <a:pPr algn="just">
              <a:buFont typeface="Wingdings" pitchFamily="2" charset="2"/>
              <a:buChar char="ü"/>
            </a:pPr>
            <a:r>
              <a:rPr lang="en-US" sz="2400" dirty="0" smtClean="0">
                <a:solidFill>
                  <a:schemeClr val="tx1"/>
                </a:solidFill>
              </a:rPr>
              <a:t> </a:t>
            </a:r>
            <a:r>
              <a:rPr lang="en-US" sz="2400" b="1" i="1" dirty="0" smtClean="0">
                <a:solidFill>
                  <a:schemeClr val="tx1"/>
                </a:solidFill>
              </a:rPr>
              <a:t>Closing</a:t>
            </a:r>
            <a:r>
              <a:rPr lang="en-US" sz="2400" dirty="0" smtClean="0">
                <a:solidFill>
                  <a:schemeClr val="tx1"/>
                </a:solidFill>
              </a:rPr>
              <a:t> also tends to smooth sections of contours but, as opposed to opening, it generally fuses narrow breaks and long thin gulfs, eliminates small holes, and fills gaps in the contour.</a:t>
            </a:r>
          </a:p>
        </p:txBody>
      </p:sp>
    </p:spTree>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414129"/>
            <a:ext cx="7772400" cy="576471"/>
          </a:xfrm>
        </p:spPr>
        <p:txBody>
          <a:bodyPr>
            <a:normAutofit/>
          </a:bodyPr>
          <a:lstStyle/>
          <a:p>
            <a:r>
              <a:rPr lang="en-US" sz="2800" dirty="0" smtClean="0">
                <a:solidFill>
                  <a:srgbClr val="FF0000"/>
                </a:solidFill>
              </a:rPr>
              <a:t>Morphological Image Processing</a:t>
            </a:r>
            <a:endParaRPr lang="en-US" sz="2800" dirty="0">
              <a:solidFill>
                <a:srgbClr val="FF0000"/>
              </a:solidFill>
            </a:endParaRPr>
          </a:p>
        </p:txBody>
      </p:sp>
      <p:sp>
        <p:nvSpPr>
          <p:cNvPr id="3" name="Subtitle 2"/>
          <p:cNvSpPr>
            <a:spLocks noGrp="1"/>
          </p:cNvSpPr>
          <p:nvPr>
            <p:ph type="subTitle" idx="1"/>
          </p:nvPr>
        </p:nvSpPr>
        <p:spPr>
          <a:xfrm>
            <a:off x="914400" y="1143000"/>
            <a:ext cx="7391400" cy="5029200"/>
          </a:xfrm>
        </p:spPr>
        <p:txBody>
          <a:bodyPr>
            <a:normAutofit/>
          </a:bodyPr>
          <a:lstStyle/>
          <a:p>
            <a:pPr algn="just"/>
            <a:r>
              <a:rPr lang="en-US" sz="2800" b="1" dirty="0" smtClean="0">
                <a:solidFill>
                  <a:schemeClr val="tx1"/>
                </a:solidFill>
              </a:rPr>
              <a:t>Opening and Closing </a:t>
            </a:r>
          </a:p>
          <a:p>
            <a:pPr algn="just"/>
            <a:endParaRPr lang="en-US" sz="2400" dirty="0" smtClean="0">
              <a:solidFill>
                <a:schemeClr val="tx1"/>
              </a:solidFill>
            </a:endParaRPr>
          </a:p>
        </p:txBody>
      </p:sp>
      <p:pic>
        <p:nvPicPr>
          <p:cNvPr id="5" name="Picture 4"/>
          <p:cNvPicPr>
            <a:picLocks noChangeAspect="1"/>
          </p:cNvPicPr>
          <p:nvPr/>
        </p:nvPicPr>
        <p:blipFill>
          <a:blip r:embed="rId2"/>
          <a:stretch>
            <a:fillRect/>
          </a:stretch>
        </p:blipFill>
        <p:spPr>
          <a:xfrm>
            <a:off x="1371600" y="1752600"/>
            <a:ext cx="5162178" cy="304800"/>
          </a:xfrm>
          <a:prstGeom prst="rect">
            <a:avLst/>
          </a:prstGeom>
        </p:spPr>
      </p:pic>
      <p:pic>
        <p:nvPicPr>
          <p:cNvPr id="6" name="Picture 5"/>
          <p:cNvPicPr>
            <a:picLocks noChangeAspect="1"/>
          </p:cNvPicPr>
          <p:nvPr/>
        </p:nvPicPr>
        <p:blipFill>
          <a:blip r:embed="rId3"/>
          <a:stretch>
            <a:fillRect/>
          </a:stretch>
        </p:blipFill>
        <p:spPr>
          <a:xfrm>
            <a:off x="990600" y="2209800"/>
            <a:ext cx="2362200" cy="271287"/>
          </a:xfrm>
          <a:prstGeom prst="rect">
            <a:avLst/>
          </a:prstGeom>
        </p:spPr>
      </p:pic>
      <p:pic>
        <p:nvPicPr>
          <p:cNvPr id="7" name="Picture 6"/>
          <p:cNvPicPr>
            <a:picLocks noChangeAspect="1"/>
          </p:cNvPicPr>
          <p:nvPr/>
        </p:nvPicPr>
        <p:blipFill>
          <a:blip r:embed="rId4"/>
          <a:stretch>
            <a:fillRect/>
          </a:stretch>
        </p:blipFill>
        <p:spPr>
          <a:xfrm>
            <a:off x="3346704" y="2232587"/>
            <a:ext cx="832224" cy="248500"/>
          </a:xfrm>
          <a:prstGeom prst="rect">
            <a:avLst/>
          </a:prstGeom>
        </p:spPr>
      </p:pic>
      <p:pic>
        <p:nvPicPr>
          <p:cNvPr id="8" name="Picture 7"/>
          <p:cNvPicPr>
            <a:picLocks noChangeAspect="1"/>
          </p:cNvPicPr>
          <p:nvPr/>
        </p:nvPicPr>
        <p:blipFill>
          <a:blip r:embed="rId5"/>
          <a:stretch>
            <a:fillRect/>
          </a:stretch>
        </p:blipFill>
        <p:spPr>
          <a:xfrm>
            <a:off x="2286000" y="2825336"/>
            <a:ext cx="4509314" cy="527464"/>
          </a:xfrm>
          <a:prstGeom prst="rect">
            <a:avLst/>
          </a:prstGeom>
        </p:spPr>
      </p:pic>
      <p:pic>
        <p:nvPicPr>
          <p:cNvPr id="9" name="Picture 8"/>
          <p:cNvPicPr>
            <a:picLocks noChangeAspect="1"/>
          </p:cNvPicPr>
          <p:nvPr/>
        </p:nvPicPr>
        <p:blipFill>
          <a:blip r:embed="rId6"/>
          <a:stretch>
            <a:fillRect/>
          </a:stretch>
        </p:blipFill>
        <p:spPr>
          <a:xfrm>
            <a:off x="1066800" y="3524048"/>
            <a:ext cx="5821630" cy="362151"/>
          </a:xfrm>
          <a:prstGeom prst="rect">
            <a:avLst/>
          </a:prstGeom>
        </p:spPr>
      </p:pic>
      <p:pic>
        <p:nvPicPr>
          <p:cNvPr id="10" name="Picture 9"/>
          <p:cNvPicPr>
            <a:picLocks noChangeAspect="1"/>
          </p:cNvPicPr>
          <p:nvPr/>
        </p:nvPicPr>
        <p:blipFill>
          <a:blip r:embed="rId7"/>
          <a:stretch>
            <a:fillRect/>
          </a:stretch>
        </p:blipFill>
        <p:spPr>
          <a:xfrm>
            <a:off x="1066799" y="4042886"/>
            <a:ext cx="2683781" cy="300514"/>
          </a:xfrm>
          <a:prstGeom prst="rect">
            <a:avLst/>
          </a:prstGeom>
        </p:spPr>
      </p:pic>
      <p:pic>
        <p:nvPicPr>
          <p:cNvPr id="11" name="Picture 10"/>
          <p:cNvPicPr>
            <a:picLocks noChangeAspect="1"/>
          </p:cNvPicPr>
          <p:nvPr/>
        </p:nvPicPr>
        <p:blipFill>
          <a:blip r:embed="rId8"/>
          <a:stretch>
            <a:fillRect/>
          </a:stretch>
        </p:blipFill>
        <p:spPr>
          <a:xfrm>
            <a:off x="3819625" y="4057447"/>
            <a:ext cx="1504749" cy="283352"/>
          </a:xfrm>
          <a:prstGeom prst="rect">
            <a:avLst/>
          </a:prstGeom>
        </p:spPr>
      </p:pic>
      <p:pic>
        <p:nvPicPr>
          <p:cNvPr id="12" name="Picture 11"/>
          <p:cNvPicPr>
            <a:picLocks noChangeAspect="1"/>
          </p:cNvPicPr>
          <p:nvPr/>
        </p:nvPicPr>
        <p:blipFill>
          <a:blip r:embed="rId9"/>
          <a:stretch>
            <a:fillRect/>
          </a:stretch>
        </p:blipFill>
        <p:spPr>
          <a:xfrm>
            <a:off x="1166177" y="4664982"/>
            <a:ext cx="6668429" cy="370154"/>
          </a:xfrm>
          <a:prstGeom prst="rect">
            <a:avLst/>
          </a:prstGeom>
        </p:spPr>
      </p:pic>
      <p:pic>
        <p:nvPicPr>
          <p:cNvPr id="13" name="Picture 12"/>
          <p:cNvPicPr>
            <a:picLocks noChangeAspect="1"/>
          </p:cNvPicPr>
          <p:nvPr/>
        </p:nvPicPr>
        <p:blipFill>
          <a:blip r:embed="rId10"/>
          <a:stretch>
            <a:fillRect/>
          </a:stretch>
        </p:blipFill>
        <p:spPr>
          <a:xfrm>
            <a:off x="1072895" y="5078832"/>
            <a:ext cx="2199823" cy="369166"/>
          </a:xfrm>
          <a:prstGeom prst="rect">
            <a:avLst/>
          </a:prstGeom>
        </p:spPr>
      </p:pic>
      <p:pic>
        <p:nvPicPr>
          <p:cNvPr id="14" name="Picture 13"/>
          <p:cNvPicPr>
            <a:picLocks noChangeAspect="1"/>
          </p:cNvPicPr>
          <p:nvPr/>
        </p:nvPicPr>
        <p:blipFill>
          <a:blip r:embed="rId11"/>
          <a:stretch>
            <a:fillRect/>
          </a:stretch>
        </p:blipFill>
        <p:spPr>
          <a:xfrm>
            <a:off x="3346704" y="5140745"/>
            <a:ext cx="1106243" cy="296443"/>
          </a:xfrm>
          <a:prstGeom prst="rect">
            <a:avLst/>
          </a:prstGeom>
        </p:spPr>
      </p:pic>
      <p:pic>
        <p:nvPicPr>
          <p:cNvPr id="15" name="Picture 14"/>
          <p:cNvPicPr>
            <a:picLocks noChangeAspect="1"/>
          </p:cNvPicPr>
          <p:nvPr/>
        </p:nvPicPr>
        <p:blipFill>
          <a:blip r:embed="rId12"/>
          <a:stretch>
            <a:fillRect/>
          </a:stretch>
        </p:blipFill>
        <p:spPr>
          <a:xfrm>
            <a:off x="1650940" y="5594622"/>
            <a:ext cx="5604013" cy="540952"/>
          </a:xfrm>
          <a:prstGeom prst="rect">
            <a:avLst/>
          </a:prstGeom>
        </p:spPr>
      </p:pic>
    </p:spTree>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414129"/>
            <a:ext cx="7772400" cy="576471"/>
          </a:xfrm>
        </p:spPr>
        <p:txBody>
          <a:bodyPr>
            <a:normAutofit/>
          </a:bodyPr>
          <a:lstStyle/>
          <a:p>
            <a:r>
              <a:rPr lang="en-US" sz="2800" dirty="0" smtClean="0">
                <a:solidFill>
                  <a:srgbClr val="FF0000"/>
                </a:solidFill>
              </a:rPr>
              <a:t>Morphological Image Processing</a:t>
            </a:r>
            <a:endParaRPr lang="en-US" sz="2800" dirty="0">
              <a:solidFill>
                <a:srgbClr val="FF0000"/>
              </a:solidFill>
            </a:endParaRPr>
          </a:p>
        </p:txBody>
      </p:sp>
      <p:sp>
        <p:nvSpPr>
          <p:cNvPr id="3" name="Subtitle 2"/>
          <p:cNvSpPr>
            <a:spLocks noGrp="1"/>
          </p:cNvSpPr>
          <p:nvPr>
            <p:ph type="subTitle" idx="1"/>
          </p:nvPr>
        </p:nvSpPr>
        <p:spPr>
          <a:xfrm>
            <a:off x="914400" y="1143000"/>
            <a:ext cx="7391400" cy="5029200"/>
          </a:xfrm>
        </p:spPr>
        <p:txBody>
          <a:bodyPr>
            <a:normAutofit/>
          </a:bodyPr>
          <a:lstStyle/>
          <a:p>
            <a:pPr algn="just"/>
            <a:r>
              <a:rPr lang="en-US" sz="2800" b="1" dirty="0" smtClean="0">
                <a:solidFill>
                  <a:schemeClr val="tx1"/>
                </a:solidFill>
              </a:rPr>
              <a:t>Opening and Closing </a:t>
            </a:r>
          </a:p>
          <a:p>
            <a:pPr algn="just"/>
            <a:endParaRPr lang="en-US" sz="2400" dirty="0" smtClean="0">
              <a:solidFill>
                <a:schemeClr val="tx1"/>
              </a:solidFill>
            </a:endParaRPr>
          </a:p>
        </p:txBody>
      </p:sp>
      <p:pic>
        <p:nvPicPr>
          <p:cNvPr id="15" name="Picture 14"/>
          <p:cNvPicPr>
            <a:picLocks noChangeAspect="1"/>
          </p:cNvPicPr>
          <p:nvPr/>
        </p:nvPicPr>
        <p:blipFill>
          <a:blip r:embed="rId2"/>
          <a:stretch>
            <a:fillRect/>
          </a:stretch>
        </p:blipFill>
        <p:spPr>
          <a:xfrm>
            <a:off x="1650940" y="1905000"/>
            <a:ext cx="5604013" cy="540952"/>
          </a:xfrm>
          <a:prstGeom prst="rect">
            <a:avLst/>
          </a:prstGeom>
        </p:spPr>
      </p:pic>
      <p:pic>
        <p:nvPicPr>
          <p:cNvPr id="4" name="Picture 3"/>
          <p:cNvPicPr>
            <a:picLocks noChangeAspect="1"/>
          </p:cNvPicPr>
          <p:nvPr/>
        </p:nvPicPr>
        <p:blipFill>
          <a:blip r:embed="rId3"/>
          <a:stretch>
            <a:fillRect/>
          </a:stretch>
        </p:blipFill>
        <p:spPr>
          <a:xfrm>
            <a:off x="890016" y="2674956"/>
            <a:ext cx="6431971" cy="373044"/>
          </a:xfrm>
          <a:prstGeom prst="rect">
            <a:avLst/>
          </a:prstGeom>
        </p:spPr>
      </p:pic>
      <p:pic>
        <p:nvPicPr>
          <p:cNvPr id="16" name="Picture 15"/>
          <p:cNvPicPr>
            <a:picLocks noChangeAspect="1"/>
          </p:cNvPicPr>
          <p:nvPr/>
        </p:nvPicPr>
        <p:blipFill>
          <a:blip r:embed="rId4"/>
          <a:stretch>
            <a:fillRect/>
          </a:stretch>
        </p:blipFill>
        <p:spPr>
          <a:xfrm>
            <a:off x="990600" y="3121452"/>
            <a:ext cx="1936352" cy="307548"/>
          </a:xfrm>
          <a:prstGeom prst="rect">
            <a:avLst/>
          </a:prstGeom>
        </p:spPr>
      </p:pic>
      <p:pic>
        <p:nvPicPr>
          <p:cNvPr id="17" name="Picture 16"/>
          <p:cNvPicPr>
            <a:picLocks noChangeAspect="1"/>
          </p:cNvPicPr>
          <p:nvPr/>
        </p:nvPicPr>
        <p:blipFill>
          <a:blip r:embed="rId5"/>
          <a:stretch>
            <a:fillRect/>
          </a:stretch>
        </p:blipFill>
        <p:spPr>
          <a:xfrm>
            <a:off x="2917964" y="3194708"/>
            <a:ext cx="3308072" cy="281604"/>
          </a:xfrm>
          <a:prstGeom prst="rect">
            <a:avLst/>
          </a:prstGeom>
        </p:spPr>
      </p:pic>
    </p:spTree>
    <p:extLst>
      <p:ext uri="{BB962C8B-B14F-4D97-AF65-F5344CB8AC3E}">
        <p14:creationId xmlns:p14="http://schemas.microsoft.com/office/powerpoint/2010/main" val="304831207"/>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414129"/>
            <a:ext cx="7772400" cy="576471"/>
          </a:xfrm>
        </p:spPr>
        <p:txBody>
          <a:bodyPr>
            <a:normAutofit/>
          </a:bodyPr>
          <a:lstStyle/>
          <a:p>
            <a:r>
              <a:rPr lang="en-US" sz="2800" dirty="0" smtClean="0">
                <a:solidFill>
                  <a:srgbClr val="FF0000"/>
                </a:solidFill>
              </a:rPr>
              <a:t>Morphological Image Processing</a:t>
            </a:r>
            <a:endParaRPr lang="en-US" sz="2800" dirty="0">
              <a:solidFill>
                <a:srgbClr val="FF0000"/>
              </a:solidFill>
            </a:endParaRPr>
          </a:p>
        </p:txBody>
      </p:sp>
      <p:sp>
        <p:nvSpPr>
          <p:cNvPr id="3" name="Subtitle 2"/>
          <p:cNvSpPr>
            <a:spLocks noGrp="1"/>
          </p:cNvSpPr>
          <p:nvPr>
            <p:ph type="subTitle" idx="1"/>
          </p:nvPr>
        </p:nvSpPr>
        <p:spPr>
          <a:xfrm>
            <a:off x="914400" y="1447800"/>
            <a:ext cx="7391400" cy="4724400"/>
          </a:xfrm>
        </p:spPr>
        <p:txBody>
          <a:bodyPr>
            <a:normAutofit/>
          </a:bodyPr>
          <a:lstStyle/>
          <a:p>
            <a:pPr algn="just"/>
            <a:r>
              <a:rPr lang="en-US" sz="2800" b="1" dirty="0" smtClean="0">
                <a:solidFill>
                  <a:schemeClr val="tx1"/>
                </a:solidFill>
              </a:rPr>
              <a:t>Opening </a:t>
            </a:r>
          </a:p>
          <a:p>
            <a:pPr algn="just">
              <a:buFont typeface="Wingdings" pitchFamily="2" charset="2"/>
              <a:buChar char="ü"/>
            </a:pPr>
            <a:r>
              <a:rPr lang="en-US" sz="2400" dirty="0" smtClean="0">
                <a:solidFill>
                  <a:schemeClr val="tx1"/>
                </a:solidFill>
              </a:rPr>
              <a:t> The opening operation has a simple geometric interpretation shown in the following figure-</a:t>
            </a:r>
          </a:p>
          <a:p>
            <a:pPr algn="just"/>
            <a:endParaRPr lang="en-US" sz="2400" dirty="0" smtClean="0">
              <a:solidFill>
                <a:schemeClr val="tx1"/>
              </a:solidFill>
            </a:endParaRPr>
          </a:p>
        </p:txBody>
      </p:sp>
      <p:pic>
        <p:nvPicPr>
          <p:cNvPr id="4" name="Picture 3"/>
          <p:cNvPicPr>
            <a:picLocks noChangeAspect="1" noChangeArrowheads="1"/>
          </p:cNvPicPr>
          <p:nvPr/>
        </p:nvPicPr>
        <p:blipFill>
          <a:blip r:embed="rId2"/>
          <a:srcRect/>
          <a:stretch>
            <a:fillRect/>
          </a:stretch>
        </p:blipFill>
        <p:spPr bwMode="auto">
          <a:xfrm>
            <a:off x="1511757" y="2978445"/>
            <a:ext cx="6196685" cy="3163275"/>
          </a:xfrm>
          <a:prstGeom prst="rect">
            <a:avLst/>
          </a:prstGeom>
          <a:noFill/>
          <a:ln w="9525">
            <a:noFill/>
            <a:miter lim="800000"/>
            <a:headEnd/>
            <a:tailEnd/>
          </a:ln>
          <a:effectLst/>
        </p:spPr>
      </p:pic>
    </p:spTree>
    <p:extLst>
      <p:ext uri="{BB962C8B-B14F-4D97-AF65-F5344CB8AC3E}">
        <p14:creationId xmlns:p14="http://schemas.microsoft.com/office/powerpoint/2010/main" val="3901727041"/>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414129"/>
            <a:ext cx="7772400" cy="576471"/>
          </a:xfrm>
        </p:spPr>
        <p:txBody>
          <a:bodyPr>
            <a:normAutofit/>
          </a:bodyPr>
          <a:lstStyle/>
          <a:p>
            <a:r>
              <a:rPr lang="en-US" sz="2800" dirty="0" smtClean="0">
                <a:solidFill>
                  <a:srgbClr val="FF0000"/>
                </a:solidFill>
              </a:rPr>
              <a:t>Morphological Image Processing</a:t>
            </a:r>
            <a:endParaRPr lang="en-US" sz="2800" dirty="0">
              <a:solidFill>
                <a:srgbClr val="FF0000"/>
              </a:solidFill>
            </a:endParaRPr>
          </a:p>
        </p:txBody>
      </p:sp>
      <p:sp>
        <p:nvSpPr>
          <p:cNvPr id="3" name="Subtitle 2"/>
          <p:cNvSpPr>
            <a:spLocks noGrp="1"/>
          </p:cNvSpPr>
          <p:nvPr>
            <p:ph type="subTitle" idx="1"/>
          </p:nvPr>
        </p:nvSpPr>
        <p:spPr>
          <a:xfrm>
            <a:off x="914400" y="1447800"/>
            <a:ext cx="7391400" cy="4724400"/>
          </a:xfrm>
        </p:spPr>
        <p:txBody>
          <a:bodyPr>
            <a:normAutofit/>
          </a:bodyPr>
          <a:lstStyle/>
          <a:p>
            <a:pPr algn="just"/>
            <a:r>
              <a:rPr lang="en-US" sz="2800" b="1" dirty="0" smtClean="0">
                <a:solidFill>
                  <a:schemeClr val="tx1"/>
                </a:solidFill>
              </a:rPr>
              <a:t>Opening</a:t>
            </a:r>
          </a:p>
          <a:p>
            <a:pPr algn="just">
              <a:buFont typeface="Wingdings" pitchFamily="2" charset="2"/>
              <a:buChar char="ü"/>
            </a:pPr>
            <a:r>
              <a:rPr lang="en-US" sz="2400" dirty="0" smtClean="0">
                <a:solidFill>
                  <a:schemeClr val="tx1"/>
                </a:solidFill>
              </a:rPr>
              <a:t> We view the structuring element </a:t>
            </a:r>
            <a:r>
              <a:rPr lang="en-US" sz="2400" i="1" dirty="0" smtClean="0">
                <a:solidFill>
                  <a:schemeClr val="tx1"/>
                </a:solidFill>
              </a:rPr>
              <a:t>B</a:t>
            </a:r>
            <a:r>
              <a:rPr lang="en-US" sz="2400" dirty="0" smtClean="0">
                <a:solidFill>
                  <a:schemeClr val="tx1"/>
                </a:solidFill>
              </a:rPr>
              <a:t> as a “</a:t>
            </a:r>
            <a:r>
              <a:rPr lang="en-US" sz="2400" i="1" dirty="0" smtClean="0">
                <a:solidFill>
                  <a:schemeClr val="tx1"/>
                </a:solidFill>
              </a:rPr>
              <a:t>rolling ball</a:t>
            </a:r>
            <a:r>
              <a:rPr lang="en-US" sz="2400" dirty="0" smtClean="0">
                <a:solidFill>
                  <a:schemeClr val="tx1"/>
                </a:solidFill>
              </a:rPr>
              <a:t>”.</a:t>
            </a:r>
          </a:p>
          <a:p>
            <a:pPr algn="just">
              <a:buFont typeface="Wingdings" pitchFamily="2" charset="2"/>
              <a:buChar char="ü"/>
            </a:pPr>
            <a:r>
              <a:rPr lang="en-US" sz="2400" dirty="0" smtClean="0">
                <a:solidFill>
                  <a:schemeClr val="tx1"/>
                </a:solidFill>
              </a:rPr>
              <a:t> The boundary of </a:t>
            </a:r>
            <a:r>
              <a:rPr lang="en-US" sz="2400" i="1" dirty="0" smtClean="0">
                <a:solidFill>
                  <a:schemeClr val="tx1"/>
                </a:solidFill>
              </a:rPr>
              <a:t>A◦B </a:t>
            </a:r>
            <a:r>
              <a:rPr lang="en-US" sz="2400" dirty="0" smtClean="0">
                <a:solidFill>
                  <a:schemeClr val="tx1"/>
                </a:solidFill>
              </a:rPr>
              <a:t>is then established by the points in </a:t>
            </a:r>
            <a:r>
              <a:rPr lang="en-US" sz="2400" i="1" dirty="0" smtClean="0">
                <a:solidFill>
                  <a:schemeClr val="tx1"/>
                </a:solidFill>
              </a:rPr>
              <a:t>B</a:t>
            </a:r>
            <a:r>
              <a:rPr lang="en-US" sz="2400" dirty="0" smtClean="0">
                <a:solidFill>
                  <a:schemeClr val="tx1"/>
                </a:solidFill>
              </a:rPr>
              <a:t> that reach the farthest into the boundary of </a:t>
            </a:r>
            <a:r>
              <a:rPr lang="en-US" sz="2400" i="1" dirty="0" smtClean="0">
                <a:solidFill>
                  <a:schemeClr val="tx1"/>
                </a:solidFill>
              </a:rPr>
              <a:t>A</a:t>
            </a:r>
            <a:r>
              <a:rPr lang="en-US" sz="2400" dirty="0" smtClean="0">
                <a:solidFill>
                  <a:schemeClr val="tx1"/>
                </a:solidFill>
              </a:rPr>
              <a:t> as </a:t>
            </a:r>
            <a:r>
              <a:rPr lang="en-US" sz="2400" i="1" dirty="0" smtClean="0">
                <a:solidFill>
                  <a:schemeClr val="tx1"/>
                </a:solidFill>
              </a:rPr>
              <a:t>B</a:t>
            </a:r>
            <a:r>
              <a:rPr lang="en-US" sz="2400" dirty="0" smtClean="0">
                <a:solidFill>
                  <a:schemeClr val="tx1"/>
                </a:solidFill>
              </a:rPr>
              <a:t> is rolled around the inside of this boundary.</a:t>
            </a:r>
          </a:p>
          <a:p>
            <a:pPr algn="just">
              <a:buFont typeface="Wingdings" pitchFamily="2" charset="2"/>
              <a:buChar char="ü"/>
            </a:pPr>
            <a:r>
              <a:rPr lang="en-US" sz="2400" i="1" dirty="0" smtClean="0">
                <a:solidFill>
                  <a:schemeClr val="tx1"/>
                </a:solidFill>
              </a:rPr>
              <a:t> </a:t>
            </a:r>
            <a:r>
              <a:rPr lang="en-US" sz="2400" dirty="0" smtClean="0">
                <a:solidFill>
                  <a:schemeClr val="tx1"/>
                </a:solidFill>
              </a:rPr>
              <a:t>This geometric fitting property of the opening operation leads to a set theoretic formulation, which states that the opening of </a:t>
            </a:r>
            <a:r>
              <a:rPr lang="en-US" sz="2400" i="1" dirty="0" smtClean="0">
                <a:solidFill>
                  <a:schemeClr val="tx1"/>
                </a:solidFill>
              </a:rPr>
              <a:t>A</a:t>
            </a:r>
            <a:r>
              <a:rPr lang="en-US" sz="2400" dirty="0" smtClean="0">
                <a:solidFill>
                  <a:schemeClr val="tx1"/>
                </a:solidFill>
              </a:rPr>
              <a:t> by </a:t>
            </a:r>
            <a:r>
              <a:rPr lang="en-US" sz="2400" i="1" dirty="0" smtClean="0">
                <a:solidFill>
                  <a:schemeClr val="tx1"/>
                </a:solidFill>
              </a:rPr>
              <a:t>B</a:t>
            </a:r>
            <a:r>
              <a:rPr lang="en-US" sz="2400" dirty="0" smtClean="0">
                <a:solidFill>
                  <a:schemeClr val="tx1"/>
                </a:solidFill>
              </a:rPr>
              <a:t> is obtained by taking the union of all translates of B that fit into </a:t>
            </a:r>
            <a:r>
              <a:rPr lang="en-US" sz="2400" i="1" dirty="0" smtClean="0">
                <a:solidFill>
                  <a:schemeClr val="tx1"/>
                </a:solidFill>
              </a:rPr>
              <a:t>A</a:t>
            </a:r>
            <a:r>
              <a:rPr lang="en-US" sz="2400" dirty="0" smtClean="0">
                <a:solidFill>
                  <a:schemeClr val="tx1"/>
                </a:solidFill>
              </a:rPr>
              <a:t>.</a:t>
            </a:r>
            <a:endParaRPr lang="en-US" sz="2400" i="1" dirty="0" smtClean="0">
              <a:solidFill>
                <a:schemeClr val="tx1"/>
              </a:solidFill>
            </a:endParaRPr>
          </a:p>
        </p:txBody>
      </p:sp>
      <p:pic>
        <p:nvPicPr>
          <p:cNvPr id="4" name="Picture 3"/>
          <p:cNvPicPr>
            <a:picLocks noChangeAspect="1"/>
          </p:cNvPicPr>
          <p:nvPr/>
        </p:nvPicPr>
        <p:blipFill>
          <a:blip r:embed="rId2"/>
          <a:stretch>
            <a:fillRect/>
          </a:stretch>
        </p:blipFill>
        <p:spPr>
          <a:xfrm>
            <a:off x="1066801" y="5181600"/>
            <a:ext cx="2895600" cy="329728"/>
          </a:xfrm>
          <a:prstGeom prst="rect">
            <a:avLst/>
          </a:prstGeom>
        </p:spPr>
      </p:pic>
      <p:pic>
        <p:nvPicPr>
          <p:cNvPr id="5" name="Picture 4"/>
          <p:cNvPicPr>
            <a:picLocks noChangeAspect="1"/>
          </p:cNvPicPr>
          <p:nvPr/>
        </p:nvPicPr>
        <p:blipFill>
          <a:blip r:embed="rId3"/>
          <a:stretch>
            <a:fillRect/>
          </a:stretch>
        </p:blipFill>
        <p:spPr>
          <a:xfrm>
            <a:off x="3928873" y="5220225"/>
            <a:ext cx="3779623" cy="291103"/>
          </a:xfrm>
          <a:prstGeom prst="rect">
            <a:avLst/>
          </a:prstGeom>
        </p:spPr>
      </p:pic>
      <p:pic>
        <p:nvPicPr>
          <p:cNvPr id="6" name="Picture 5"/>
          <p:cNvPicPr>
            <a:picLocks noChangeAspect="1"/>
          </p:cNvPicPr>
          <p:nvPr/>
        </p:nvPicPr>
        <p:blipFill>
          <a:blip r:embed="rId4"/>
          <a:stretch>
            <a:fillRect/>
          </a:stretch>
        </p:blipFill>
        <p:spPr>
          <a:xfrm>
            <a:off x="2209800" y="5720561"/>
            <a:ext cx="5276274" cy="451639"/>
          </a:xfrm>
          <a:prstGeom prst="rect">
            <a:avLst/>
          </a:prstGeom>
        </p:spPr>
      </p:pic>
      <p:pic>
        <p:nvPicPr>
          <p:cNvPr id="7" name="Picture 6"/>
          <p:cNvPicPr>
            <a:picLocks noChangeAspect="1"/>
          </p:cNvPicPr>
          <p:nvPr/>
        </p:nvPicPr>
        <p:blipFill>
          <a:blip r:embed="rId5"/>
          <a:stretch>
            <a:fillRect/>
          </a:stretch>
        </p:blipFill>
        <p:spPr>
          <a:xfrm>
            <a:off x="1368803" y="6321395"/>
            <a:ext cx="6092887" cy="292765"/>
          </a:xfrm>
          <a:prstGeom prst="rect">
            <a:avLst/>
          </a:prstGeom>
        </p:spPr>
      </p:pic>
    </p:spTree>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414129"/>
            <a:ext cx="7772400" cy="576471"/>
          </a:xfrm>
        </p:spPr>
        <p:txBody>
          <a:bodyPr>
            <a:normAutofit/>
          </a:bodyPr>
          <a:lstStyle/>
          <a:p>
            <a:r>
              <a:rPr lang="en-US" sz="2800" dirty="0" smtClean="0">
                <a:solidFill>
                  <a:srgbClr val="FF0000"/>
                </a:solidFill>
              </a:rPr>
              <a:t>Morphological Image Processing</a:t>
            </a:r>
            <a:endParaRPr lang="en-US" sz="2800" dirty="0">
              <a:solidFill>
                <a:srgbClr val="FF0000"/>
              </a:solidFill>
            </a:endParaRPr>
          </a:p>
        </p:txBody>
      </p:sp>
      <p:sp>
        <p:nvSpPr>
          <p:cNvPr id="3" name="Subtitle 2"/>
          <p:cNvSpPr>
            <a:spLocks noGrp="1"/>
          </p:cNvSpPr>
          <p:nvPr>
            <p:ph type="subTitle" idx="1"/>
          </p:nvPr>
        </p:nvSpPr>
        <p:spPr>
          <a:xfrm>
            <a:off x="914400" y="1447800"/>
            <a:ext cx="7391400" cy="4648200"/>
          </a:xfrm>
        </p:spPr>
        <p:txBody>
          <a:bodyPr>
            <a:normAutofit/>
          </a:bodyPr>
          <a:lstStyle/>
          <a:p>
            <a:pPr algn="just"/>
            <a:r>
              <a:rPr lang="en-US" sz="2800" b="1" dirty="0" smtClean="0">
                <a:solidFill>
                  <a:schemeClr val="tx1"/>
                </a:solidFill>
              </a:rPr>
              <a:t>Closing</a:t>
            </a:r>
          </a:p>
          <a:p>
            <a:pPr algn="just">
              <a:buFont typeface="Wingdings" pitchFamily="2" charset="2"/>
              <a:buChar char="ü"/>
            </a:pPr>
            <a:r>
              <a:rPr lang="en-US" sz="2400" dirty="0" smtClean="0">
                <a:solidFill>
                  <a:schemeClr val="tx1"/>
                </a:solidFill>
              </a:rPr>
              <a:t> Closing has a similar geometric interpretation, except that now we roll </a:t>
            </a:r>
            <a:r>
              <a:rPr lang="en-US" sz="2400" i="1" dirty="0" smtClean="0">
                <a:solidFill>
                  <a:schemeClr val="tx1"/>
                </a:solidFill>
              </a:rPr>
              <a:t>B</a:t>
            </a:r>
            <a:r>
              <a:rPr lang="en-US" sz="2400" dirty="0" smtClean="0">
                <a:solidFill>
                  <a:schemeClr val="tx1"/>
                </a:solidFill>
              </a:rPr>
              <a:t> on the outside of the boundary shown in the following figure- </a:t>
            </a:r>
          </a:p>
          <a:p>
            <a:pPr algn="just"/>
            <a:endParaRPr lang="en-US" sz="2400" dirty="0" smtClean="0">
              <a:solidFill>
                <a:schemeClr val="tx1"/>
              </a:solidFill>
            </a:endParaRPr>
          </a:p>
          <a:p>
            <a:pPr algn="just"/>
            <a:endParaRPr lang="en-US" sz="2400" dirty="0" smtClean="0">
              <a:solidFill>
                <a:schemeClr val="tx1"/>
              </a:solidFill>
            </a:endParaRPr>
          </a:p>
          <a:p>
            <a:pPr algn="just"/>
            <a:endParaRPr lang="en-US" sz="2400" i="1" dirty="0" smtClean="0">
              <a:solidFill>
                <a:schemeClr val="tx1"/>
              </a:solidFill>
            </a:endParaRPr>
          </a:p>
        </p:txBody>
      </p:sp>
      <p:pic>
        <p:nvPicPr>
          <p:cNvPr id="4" name="Picture 3"/>
          <p:cNvPicPr>
            <a:picLocks noChangeAspect="1" noChangeArrowheads="1"/>
          </p:cNvPicPr>
          <p:nvPr/>
        </p:nvPicPr>
        <p:blipFill>
          <a:blip r:embed="rId2"/>
          <a:srcRect/>
          <a:stretch>
            <a:fillRect/>
          </a:stretch>
        </p:blipFill>
        <p:spPr bwMode="auto">
          <a:xfrm>
            <a:off x="1447800" y="3276600"/>
            <a:ext cx="6619840" cy="2667000"/>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414129"/>
            <a:ext cx="7772400" cy="576471"/>
          </a:xfrm>
        </p:spPr>
        <p:txBody>
          <a:bodyPr>
            <a:normAutofit/>
          </a:bodyPr>
          <a:lstStyle/>
          <a:p>
            <a:r>
              <a:rPr lang="en-US" sz="2800" dirty="0" smtClean="0">
                <a:solidFill>
                  <a:srgbClr val="FF0000"/>
                </a:solidFill>
              </a:rPr>
              <a:t>Morphological Image Processing</a:t>
            </a:r>
            <a:endParaRPr lang="en-US" sz="2800" dirty="0">
              <a:solidFill>
                <a:srgbClr val="FF0000"/>
              </a:solidFill>
            </a:endParaRPr>
          </a:p>
        </p:txBody>
      </p:sp>
      <p:sp>
        <p:nvSpPr>
          <p:cNvPr id="3" name="Subtitle 2"/>
          <p:cNvSpPr>
            <a:spLocks noGrp="1"/>
          </p:cNvSpPr>
          <p:nvPr>
            <p:ph type="subTitle" idx="1"/>
          </p:nvPr>
        </p:nvSpPr>
        <p:spPr>
          <a:xfrm>
            <a:off x="914400" y="1447800"/>
            <a:ext cx="7391400" cy="4724400"/>
          </a:xfrm>
        </p:spPr>
        <p:txBody>
          <a:bodyPr>
            <a:normAutofit/>
          </a:bodyPr>
          <a:lstStyle/>
          <a:p>
            <a:pPr algn="just"/>
            <a:r>
              <a:rPr lang="en-US" sz="2400" i="1" dirty="0" smtClean="0">
                <a:solidFill>
                  <a:schemeClr val="tx1"/>
                </a:solidFill>
              </a:rPr>
              <a:t>The following figure illustrates the opening and closing operations.</a:t>
            </a:r>
          </a:p>
        </p:txBody>
      </p:sp>
      <p:pic>
        <p:nvPicPr>
          <p:cNvPr id="4" name="Picture 3"/>
          <p:cNvPicPr>
            <a:picLocks noChangeAspect="1"/>
          </p:cNvPicPr>
          <p:nvPr/>
        </p:nvPicPr>
        <p:blipFill>
          <a:blip r:embed="rId2"/>
          <a:stretch>
            <a:fillRect/>
          </a:stretch>
        </p:blipFill>
        <p:spPr>
          <a:xfrm>
            <a:off x="1295399" y="2438399"/>
            <a:ext cx="731977" cy="295975"/>
          </a:xfrm>
          <a:prstGeom prst="rect">
            <a:avLst/>
          </a:prstGeom>
        </p:spPr>
      </p:pic>
      <p:pic>
        <p:nvPicPr>
          <p:cNvPr id="5" name="Picture 4"/>
          <p:cNvPicPr>
            <a:picLocks noChangeAspect="1"/>
          </p:cNvPicPr>
          <p:nvPr/>
        </p:nvPicPr>
        <p:blipFill>
          <a:blip r:embed="rId3"/>
          <a:stretch>
            <a:fillRect/>
          </a:stretch>
        </p:blipFill>
        <p:spPr>
          <a:xfrm>
            <a:off x="2209800" y="2468879"/>
            <a:ext cx="5140157" cy="295975"/>
          </a:xfrm>
          <a:prstGeom prst="rect">
            <a:avLst/>
          </a:prstGeom>
        </p:spPr>
      </p:pic>
      <p:pic>
        <p:nvPicPr>
          <p:cNvPr id="6" name="Picture 5"/>
          <p:cNvPicPr>
            <a:picLocks noChangeAspect="1"/>
          </p:cNvPicPr>
          <p:nvPr/>
        </p:nvPicPr>
        <p:blipFill>
          <a:blip r:embed="rId4"/>
          <a:stretch>
            <a:fillRect/>
          </a:stretch>
        </p:blipFill>
        <p:spPr>
          <a:xfrm>
            <a:off x="935736" y="2916936"/>
            <a:ext cx="2212573" cy="250254"/>
          </a:xfrm>
          <a:prstGeom prst="rect">
            <a:avLst/>
          </a:prstGeom>
        </p:spPr>
      </p:pic>
      <p:pic>
        <p:nvPicPr>
          <p:cNvPr id="7" name="Picture 6"/>
          <p:cNvPicPr>
            <a:picLocks noChangeAspect="1"/>
          </p:cNvPicPr>
          <p:nvPr/>
        </p:nvPicPr>
        <p:blipFill>
          <a:blip r:embed="rId5"/>
          <a:stretch>
            <a:fillRect/>
          </a:stretch>
        </p:blipFill>
        <p:spPr>
          <a:xfrm>
            <a:off x="3136117" y="2917999"/>
            <a:ext cx="4130962" cy="249191"/>
          </a:xfrm>
          <a:prstGeom prst="rect">
            <a:avLst/>
          </a:prstGeom>
        </p:spPr>
      </p:pic>
      <p:pic>
        <p:nvPicPr>
          <p:cNvPr id="8" name="Picture 7"/>
          <p:cNvPicPr>
            <a:picLocks noChangeAspect="1"/>
          </p:cNvPicPr>
          <p:nvPr/>
        </p:nvPicPr>
        <p:blipFill>
          <a:blip r:embed="rId6"/>
          <a:stretch>
            <a:fillRect/>
          </a:stretch>
        </p:blipFill>
        <p:spPr>
          <a:xfrm>
            <a:off x="963168" y="3462923"/>
            <a:ext cx="3380232" cy="305858"/>
          </a:xfrm>
          <a:prstGeom prst="rect">
            <a:avLst/>
          </a:prstGeom>
        </p:spPr>
      </p:pic>
      <p:pic>
        <p:nvPicPr>
          <p:cNvPr id="9" name="Picture 8"/>
          <p:cNvPicPr>
            <a:picLocks noChangeAspect="1"/>
          </p:cNvPicPr>
          <p:nvPr/>
        </p:nvPicPr>
        <p:blipFill>
          <a:blip r:embed="rId7"/>
          <a:stretch>
            <a:fillRect/>
          </a:stretch>
        </p:blipFill>
        <p:spPr>
          <a:xfrm>
            <a:off x="4267200" y="3504749"/>
            <a:ext cx="3886544" cy="239281"/>
          </a:xfrm>
          <a:prstGeom prst="rect">
            <a:avLst/>
          </a:prstGeom>
        </p:spPr>
      </p:pic>
      <p:pic>
        <p:nvPicPr>
          <p:cNvPr id="10" name="Picture 9"/>
          <p:cNvPicPr>
            <a:picLocks noChangeAspect="1"/>
          </p:cNvPicPr>
          <p:nvPr/>
        </p:nvPicPr>
        <p:blipFill>
          <a:blip r:embed="rId8"/>
          <a:stretch>
            <a:fillRect/>
          </a:stretch>
        </p:blipFill>
        <p:spPr>
          <a:xfrm>
            <a:off x="993648" y="3931881"/>
            <a:ext cx="3765074" cy="269349"/>
          </a:xfrm>
          <a:prstGeom prst="rect">
            <a:avLst/>
          </a:prstGeom>
        </p:spPr>
      </p:pic>
      <p:pic>
        <p:nvPicPr>
          <p:cNvPr id="11" name="Picture 10"/>
          <p:cNvPicPr>
            <a:picLocks noChangeAspect="1"/>
          </p:cNvPicPr>
          <p:nvPr/>
        </p:nvPicPr>
        <p:blipFill>
          <a:blip r:embed="rId9"/>
          <a:stretch>
            <a:fillRect/>
          </a:stretch>
        </p:blipFill>
        <p:spPr>
          <a:xfrm>
            <a:off x="4789202" y="3938651"/>
            <a:ext cx="3024677" cy="275612"/>
          </a:xfrm>
          <a:prstGeom prst="rect">
            <a:avLst/>
          </a:prstGeom>
        </p:spPr>
      </p:pic>
      <p:pic>
        <p:nvPicPr>
          <p:cNvPr id="12" name="Picture 11"/>
          <p:cNvPicPr>
            <a:picLocks noChangeAspect="1"/>
          </p:cNvPicPr>
          <p:nvPr/>
        </p:nvPicPr>
        <p:blipFill>
          <a:blip r:embed="rId10"/>
          <a:stretch>
            <a:fillRect/>
          </a:stretch>
        </p:blipFill>
        <p:spPr>
          <a:xfrm>
            <a:off x="969937" y="4376756"/>
            <a:ext cx="4525955" cy="294707"/>
          </a:xfrm>
          <a:prstGeom prst="rect">
            <a:avLst/>
          </a:prstGeom>
        </p:spPr>
      </p:pic>
      <p:pic>
        <p:nvPicPr>
          <p:cNvPr id="13" name="Picture 12"/>
          <p:cNvPicPr>
            <a:picLocks noChangeAspect="1"/>
          </p:cNvPicPr>
          <p:nvPr/>
        </p:nvPicPr>
        <p:blipFill>
          <a:blip r:embed="rId11"/>
          <a:stretch>
            <a:fillRect/>
          </a:stretch>
        </p:blipFill>
        <p:spPr>
          <a:xfrm>
            <a:off x="5508084" y="4390438"/>
            <a:ext cx="2218419" cy="281025"/>
          </a:xfrm>
          <a:prstGeom prst="rect">
            <a:avLst/>
          </a:prstGeom>
        </p:spPr>
      </p:pic>
    </p:spTree>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8754" name="Text Box 2"/>
          <p:cNvSpPr txBox="1">
            <a:spLocks noChangeArrowheads="1"/>
          </p:cNvSpPr>
          <p:nvPr/>
        </p:nvSpPr>
        <p:spPr bwMode="auto">
          <a:xfrm>
            <a:off x="2590800" y="228600"/>
            <a:ext cx="3914853" cy="369332"/>
          </a:xfrm>
          <a:prstGeom prst="rect">
            <a:avLst/>
          </a:prstGeom>
          <a:noFill/>
          <a:ln w="9525">
            <a:noFill/>
            <a:miter lim="800000"/>
            <a:headEnd/>
            <a:tailEnd/>
          </a:ln>
          <a:effectLst>
            <a:outerShdw dist="35921" dir="2700000" algn="ctr" rotWithShape="0">
              <a:schemeClr val="folHlink"/>
            </a:outerShdw>
          </a:effectLst>
        </p:spPr>
        <p:txBody>
          <a:bodyPr wrap="none">
            <a:spAutoFit/>
          </a:bodyPr>
          <a:lstStyle/>
          <a:p>
            <a:pPr algn="ctr"/>
            <a:r>
              <a:rPr lang="en-US" dirty="0" smtClean="0">
                <a:solidFill>
                  <a:srgbClr val="FF0000"/>
                </a:solidFill>
                <a:latin typeface="Verdana" pitchFamily="34" charset="0"/>
              </a:rPr>
              <a:t>Morphological </a:t>
            </a:r>
            <a:r>
              <a:rPr lang="en-US" dirty="0">
                <a:solidFill>
                  <a:srgbClr val="FF0000"/>
                </a:solidFill>
                <a:latin typeface="Verdana" pitchFamily="34" charset="0"/>
              </a:rPr>
              <a:t>Image Processing</a:t>
            </a:r>
            <a:endParaRPr lang="en-US" dirty="0"/>
          </a:p>
        </p:txBody>
      </p:sp>
      <p:pic>
        <p:nvPicPr>
          <p:cNvPr id="4"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95400" y="914400"/>
            <a:ext cx="4385228" cy="5410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858000" y="1066800"/>
            <a:ext cx="1581150" cy="43671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8754" name="Text Box 2"/>
          <p:cNvSpPr txBox="1">
            <a:spLocks noChangeArrowheads="1"/>
          </p:cNvSpPr>
          <p:nvPr/>
        </p:nvSpPr>
        <p:spPr bwMode="auto">
          <a:xfrm>
            <a:off x="2590800" y="228600"/>
            <a:ext cx="3914853" cy="369332"/>
          </a:xfrm>
          <a:prstGeom prst="rect">
            <a:avLst/>
          </a:prstGeom>
          <a:noFill/>
          <a:ln w="9525">
            <a:noFill/>
            <a:miter lim="800000"/>
            <a:headEnd/>
            <a:tailEnd/>
          </a:ln>
          <a:effectLst>
            <a:outerShdw dist="35921" dir="2700000" algn="ctr" rotWithShape="0">
              <a:schemeClr val="folHlink"/>
            </a:outerShdw>
          </a:effectLst>
        </p:spPr>
        <p:txBody>
          <a:bodyPr wrap="none">
            <a:spAutoFit/>
          </a:bodyPr>
          <a:lstStyle/>
          <a:p>
            <a:pPr algn="ctr"/>
            <a:r>
              <a:rPr lang="en-US" dirty="0" smtClean="0">
                <a:solidFill>
                  <a:srgbClr val="FF0000"/>
                </a:solidFill>
                <a:latin typeface="Verdana" pitchFamily="34" charset="0"/>
              </a:rPr>
              <a:t>Morphological </a:t>
            </a:r>
            <a:r>
              <a:rPr lang="en-US" dirty="0">
                <a:solidFill>
                  <a:srgbClr val="FF0000"/>
                </a:solidFill>
                <a:latin typeface="Verdana" pitchFamily="34" charset="0"/>
              </a:rPr>
              <a:t>Image Processing</a:t>
            </a:r>
            <a:endParaRPr lang="en-US" dirty="0"/>
          </a:p>
        </p:txBody>
      </p:sp>
      <p:pic>
        <p:nvPicPr>
          <p:cNvPr id="2" name="Picture 1"/>
          <p:cNvPicPr>
            <a:picLocks noChangeAspect="1"/>
          </p:cNvPicPr>
          <p:nvPr/>
        </p:nvPicPr>
        <p:blipFill>
          <a:blip r:embed="rId3"/>
          <a:stretch>
            <a:fillRect/>
          </a:stretch>
        </p:blipFill>
        <p:spPr>
          <a:xfrm>
            <a:off x="1295400" y="1066800"/>
            <a:ext cx="2895600" cy="318917"/>
          </a:xfrm>
          <a:prstGeom prst="rect">
            <a:avLst/>
          </a:prstGeom>
        </p:spPr>
      </p:pic>
      <p:pic>
        <p:nvPicPr>
          <p:cNvPr id="3" name="Picture 2"/>
          <p:cNvPicPr>
            <a:picLocks noChangeAspect="1"/>
          </p:cNvPicPr>
          <p:nvPr/>
        </p:nvPicPr>
        <p:blipFill>
          <a:blip r:embed="rId4"/>
          <a:stretch>
            <a:fillRect/>
          </a:stretch>
        </p:blipFill>
        <p:spPr>
          <a:xfrm>
            <a:off x="4191000" y="1080917"/>
            <a:ext cx="3857210" cy="316030"/>
          </a:xfrm>
          <a:prstGeom prst="rect">
            <a:avLst/>
          </a:prstGeom>
        </p:spPr>
      </p:pic>
      <p:pic>
        <p:nvPicPr>
          <p:cNvPr id="6" name="Picture 5"/>
          <p:cNvPicPr>
            <a:picLocks noChangeAspect="1"/>
          </p:cNvPicPr>
          <p:nvPr/>
        </p:nvPicPr>
        <p:blipFill>
          <a:blip r:embed="rId5"/>
          <a:stretch>
            <a:fillRect/>
          </a:stretch>
        </p:blipFill>
        <p:spPr>
          <a:xfrm>
            <a:off x="1295399" y="1600200"/>
            <a:ext cx="4406787" cy="279732"/>
          </a:xfrm>
          <a:prstGeom prst="rect">
            <a:avLst/>
          </a:prstGeom>
        </p:spPr>
      </p:pic>
      <p:pic>
        <p:nvPicPr>
          <p:cNvPr id="7" name="Picture 6"/>
          <p:cNvPicPr>
            <a:picLocks noChangeAspect="1"/>
          </p:cNvPicPr>
          <p:nvPr/>
        </p:nvPicPr>
        <p:blipFill>
          <a:blip r:embed="rId6"/>
          <a:stretch>
            <a:fillRect/>
          </a:stretch>
        </p:blipFill>
        <p:spPr>
          <a:xfrm>
            <a:off x="5791200" y="1600200"/>
            <a:ext cx="838200" cy="238366"/>
          </a:xfrm>
          <a:prstGeom prst="rect">
            <a:avLst/>
          </a:prstGeom>
        </p:spPr>
      </p:pic>
      <p:pic>
        <p:nvPicPr>
          <p:cNvPr id="8" name="Picture 7"/>
          <p:cNvPicPr>
            <a:picLocks noChangeAspect="1"/>
          </p:cNvPicPr>
          <p:nvPr/>
        </p:nvPicPr>
        <p:blipFill>
          <a:blip r:embed="rId7"/>
          <a:stretch>
            <a:fillRect/>
          </a:stretch>
        </p:blipFill>
        <p:spPr>
          <a:xfrm>
            <a:off x="1143000" y="2209800"/>
            <a:ext cx="7022909" cy="304800"/>
          </a:xfrm>
          <a:prstGeom prst="rect">
            <a:avLst/>
          </a:prstGeom>
        </p:spPr>
      </p:pic>
      <p:pic>
        <p:nvPicPr>
          <p:cNvPr id="9" name="Picture 8"/>
          <p:cNvPicPr>
            <a:picLocks noChangeAspect="1"/>
          </p:cNvPicPr>
          <p:nvPr/>
        </p:nvPicPr>
        <p:blipFill>
          <a:blip r:embed="rId8"/>
          <a:stretch>
            <a:fillRect/>
          </a:stretch>
        </p:blipFill>
        <p:spPr>
          <a:xfrm>
            <a:off x="1115535" y="2697070"/>
            <a:ext cx="2782278" cy="274730"/>
          </a:xfrm>
          <a:prstGeom prst="rect">
            <a:avLst/>
          </a:prstGeom>
        </p:spPr>
      </p:pic>
    </p:spTree>
    <p:extLst>
      <p:ext uri="{BB962C8B-B14F-4D97-AF65-F5344CB8AC3E}">
        <p14:creationId xmlns:p14="http://schemas.microsoft.com/office/powerpoint/2010/main" val="756159874"/>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414129"/>
            <a:ext cx="7772400" cy="576471"/>
          </a:xfrm>
        </p:spPr>
        <p:txBody>
          <a:bodyPr>
            <a:normAutofit/>
          </a:bodyPr>
          <a:lstStyle/>
          <a:p>
            <a:r>
              <a:rPr lang="en-US" sz="2800" dirty="0" smtClean="0">
                <a:solidFill>
                  <a:srgbClr val="FF0000"/>
                </a:solidFill>
              </a:rPr>
              <a:t>Morphological Image Processing</a:t>
            </a:r>
            <a:endParaRPr lang="en-US" sz="2800" dirty="0">
              <a:solidFill>
                <a:srgbClr val="FF0000"/>
              </a:solidFill>
            </a:endParaRPr>
          </a:p>
        </p:txBody>
      </p:sp>
      <p:sp>
        <p:nvSpPr>
          <p:cNvPr id="3" name="Subtitle 2"/>
          <p:cNvSpPr>
            <a:spLocks noGrp="1"/>
          </p:cNvSpPr>
          <p:nvPr>
            <p:ph type="subTitle" idx="1"/>
          </p:nvPr>
        </p:nvSpPr>
        <p:spPr>
          <a:xfrm>
            <a:off x="914400" y="1447800"/>
            <a:ext cx="7391400" cy="4724400"/>
          </a:xfrm>
        </p:spPr>
        <p:txBody>
          <a:bodyPr>
            <a:normAutofit/>
          </a:bodyPr>
          <a:lstStyle/>
          <a:p>
            <a:pPr algn="just">
              <a:buFont typeface="Wingdings" pitchFamily="2" charset="2"/>
              <a:buChar char="ü"/>
            </a:pPr>
            <a:r>
              <a:rPr lang="en-US" sz="2400" dirty="0" smtClean="0">
                <a:solidFill>
                  <a:schemeClr val="tx1"/>
                </a:solidFill>
              </a:rPr>
              <a:t>Morphological operations can be used to construct filters similar in concept to the spatial filters.</a:t>
            </a:r>
          </a:p>
          <a:p>
            <a:pPr algn="just">
              <a:buFont typeface="Wingdings" pitchFamily="2" charset="2"/>
              <a:buChar char="ü"/>
            </a:pPr>
            <a:r>
              <a:rPr lang="en-US" sz="2400" dirty="0" smtClean="0">
                <a:solidFill>
                  <a:schemeClr val="tx1"/>
                </a:solidFill>
              </a:rPr>
              <a:t> The binary image shown in figure 9.11(a) shows a section of a fingerprint corrupted by noise.</a:t>
            </a:r>
          </a:p>
          <a:p>
            <a:pPr algn="just"/>
            <a:endParaRPr lang="en-US" sz="2400" dirty="0" smtClean="0">
              <a:solidFill>
                <a:schemeClr val="tx1"/>
              </a:solidFill>
            </a:endParaRPr>
          </a:p>
        </p:txBody>
      </p:sp>
      <p:pic>
        <p:nvPicPr>
          <p:cNvPr id="4" name="Picture 3"/>
          <p:cNvPicPr>
            <a:picLocks noChangeAspect="1"/>
          </p:cNvPicPr>
          <p:nvPr/>
        </p:nvPicPr>
        <p:blipFill>
          <a:blip r:embed="rId2"/>
          <a:stretch>
            <a:fillRect/>
          </a:stretch>
        </p:blipFill>
        <p:spPr>
          <a:xfrm>
            <a:off x="990599" y="3352800"/>
            <a:ext cx="4145913" cy="304800"/>
          </a:xfrm>
          <a:prstGeom prst="rect">
            <a:avLst/>
          </a:prstGeom>
        </p:spPr>
      </p:pic>
      <p:pic>
        <p:nvPicPr>
          <p:cNvPr id="5" name="Picture 4"/>
          <p:cNvPicPr>
            <a:picLocks noChangeAspect="1"/>
          </p:cNvPicPr>
          <p:nvPr/>
        </p:nvPicPr>
        <p:blipFill>
          <a:blip r:embed="rId3"/>
          <a:stretch>
            <a:fillRect/>
          </a:stretch>
        </p:blipFill>
        <p:spPr>
          <a:xfrm>
            <a:off x="5212711" y="3354033"/>
            <a:ext cx="2956090" cy="303567"/>
          </a:xfrm>
          <a:prstGeom prst="rect">
            <a:avLst/>
          </a:prstGeom>
        </p:spPr>
      </p:pic>
      <p:pic>
        <p:nvPicPr>
          <p:cNvPr id="6" name="Picture 5"/>
          <p:cNvPicPr>
            <a:picLocks noChangeAspect="1"/>
          </p:cNvPicPr>
          <p:nvPr/>
        </p:nvPicPr>
        <p:blipFill>
          <a:blip r:embed="rId4"/>
          <a:stretch>
            <a:fillRect/>
          </a:stretch>
        </p:blipFill>
        <p:spPr>
          <a:xfrm>
            <a:off x="914400" y="3800856"/>
            <a:ext cx="4916187" cy="313944"/>
          </a:xfrm>
          <a:prstGeom prst="rect">
            <a:avLst/>
          </a:prstGeom>
        </p:spPr>
      </p:pic>
      <p:pic>
        <p:nvPicPr>
          <p:cNvPr id="7" name="Picture 6"/>
          <p:cNvPicPr>
            <a:picLocks noChangeAspect="1"/>
          </p:cNvPicPr>
          <p:nvPr/>
        </p:nvPicPr>
        <p:blipFill>
          <a:blip r:embed="rId5"/>
          <a:stretch>
            <a:fillRect/>
          </a:stretch>
        </p:blipFill>
        <p:spPr>
          <a:xfrm>
            <a:off x="5772792" y="3834266"/>
            <a:ext cx="1295401" cy="247124"/>
          </a:xfrm>
          <a:prstGeom prst="rect">
            <a:avLst/>
          </a:prstGeom>
        </p:spPr>
      </p:pic>
      <p:pic>
        <p:nvPicPr>
          <p:cNvPr id="8" name="Picture 7"/>
          <p:cNvPicPr>
            <a:picLocks noChangeAspect="1"/>
          </p:cNvPicPr>
          <p:nvPr/>
        </p:nvPicPr>
        <p:blipFill>
          <a:blip r:embed="rId6"/>
          <a:stretch>
            <a:fillRect/>
          </a:stretch>
        </p:blipFill>
        <p:spPr>
          <a:xfrm>
            <a:off x="920496" y="4267200"/>
            <a:ext cx="6124480" cy="271390"/>
          </a:xfrm>
          <a:prstGeom prst="rect">
            <a:avLst/>
          </a:prstGeom>
        </p:spPr>
      </p:pic>
      <p:pic>
        <p:nvPicPr>
          <p:cNvPr id="9" name="Picture 8"/>
          <p:cNvPicPr>
            <a:picLocks noChangeAspect="1"/>
          </p:cNvPicPr>
          <p:nvPr/>
        </p:nvPicPr>
        <p:blipFill>
          <a:blip r:embed="rId7"/>
          <a:stretch>
            <a:fillRect/>
          </a:stretch>
        </p:blipFill>
        <p:spPr>
          <a:xfrm>
            <a:off x="6934200" y="4267200"/>
            <a:ext cx="2044984" cy="271390"/>
          </a:xfrm>
          <a:prstGeom prst="rect">
            <a:avLst/>
          </a:prstGeom>
        </p:spPr>
      </p:pic>
    </p:spTree>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02" name="Text Box 2"/>
          <p:cNvSpPr txBox="1">
            <a:spLocks noChangeArrowheads="1"/>
          </p:cNvSpPr>
          <p:nvPr/>
        </p:nvSpPr>
        <p:spPr bwMode="auto">
          <a:xfrm>
            <a:off x="2017713" y="500063"/>
            <a:ext cx="5118100" cy="822325"/>
          </a:xfrm>
          <a:prstGeom prst="rect">
            <a:avLst/>
          </a:prstGeom>
          <a:noFill/>
          <a:ln w="9525">
            <a:noFill/>
            <a:miter lim="800000"/>
            <a:headEnd/>
            <a:tailEnd/>
          </a:ln>
          <a:effectLst>
            <a:outerShdw dist="35921" dir="2700000" algn="ctr" rotWithShape="0">
              <a:schemeClr val="folHlink"/>
            </a:outerShdw>
          </a:effectLst>
        </p:spPr>
        <p:txBody>
          <a:bodyPr wrap="none">
            <a:spAutoFit/>
          </a:bodyPr>
          <a:lstStyle/>
          <a:p>
            <a:pPr algn="ctr"/>
            <a:r>
              <a:rPr lang="en-US">
                <a:solidFill>
                  <a:srgbClr val="FF0000"/>
                </a:solidFill>
                <a:latin typeface="Verdana" pitchFamily="34" charset="0"/>
              </a:rPr>
              <a:t>Chapter 9</a:t>
            </a:r>
          </a:p>
          <a:p>
            <a:pPr algn="ctr"/>
            <a:r>
              <a:rPr lang="en-US">
                <a:solidFill>
                  <a:srgbClr val="FF0000"/>
                </a:solidFill>
                <a:latin typeface="Verdana" pitchFamily="34" charset="0"/>
              </a:rPr>
              <a:t>Morphological Image Processing</a:t>
            </a:r>
            <a:endParaRPr lang="en-US"/>
          </a:p>
        </p:txBody>
      </p:sp>
      <p:pic>
        <p:nvPicPr>
          <p:cNvPr id="460803" name="Picture 3"/>
          <p:cNvPicPr>
            <a:picLocks noChangeAspect="1" noChangeArrowheads="1"/>
          </p:cNvPicPr>
          <p:nvPr/>
        </p:nvPicPr>
        <p:blipFill>
          <a:blip r:embed="rId2"/>
          <a:srcRect/>
          <a:stretch>
            <a:fillRect/>
          </a:stretch>
        </p:blipFill>
        <p:spPr bwMode="auto">
          <a:xfrm>
            <a:off x="1582738" y="1647825"/>
            <a:ext cx="6294437" cy="4640263"/>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414129"/>
            <a:ext cx="7772400" cy="576471"/>
          </a:xfrm>
        </p:spPr>
        <p:txBody>
          <a:bodyPr>
            <a:normAutofit/>
          </a:bodyPr>
          <a:lstStyle/>
          <a:p>
            <a:r>
              <a:rPr lang="en-US" sz="2800" dirty="0" smtClean="0">
                <a:solidFill>
                  <a:srgbClr val="FF0000"/>
                </a:solidFill>
              </a:rPr>
              <a:t>Morphological Image Processing</a:t>
            </a:r>
            <a:endParaRPr lang="en-US" sz="2800" dirty="0">
              <a:solidFill>
                <a:srgbClr val="FF0000"/>
              </a:solidFill>
            </a:endParaRPr>
          </a:p>
        </p:txBody>
      </p:sp>
      <p:sp>
        <p:nvSpPr>
          <p:cNvPr id="3" name="Subtitle 2"/>
          <p:cNvSpPr>
            <a:spLocks noGrp="1"/>
          </p:cNvSpPr>
          <p:nvPr>
            <p:ph type="subTitle" idx="1"/>
          </p:nvPr>
        </p:nvSpPr>
        <p:spPr>
          <a:xfrm>
            <a:off x="914400" y="1447800"/>
            <a:ext cx="7391400" cy="4724400"/>
          </a:xfrm>
        </p:spPr>
        <p:txBody>
          <a:bodyPr>
            <a:normAutofit/>
          </a:bodyPr>
          <a:lstStyle/>
          <a:p>
            <a:pPr algn="just"/>
            <a:r>
              <a:rPr lang="en-US" sz="2800" b="1" dirty="0" smtClean="0">
                <a:solidFill>
                  <a:schemeClr val="tx1"/>
                </a:solidFill>
              </a:rPr>
              <a:t>Some Basic Morphological Algorithms</a:t>
            </a:r>
          </a:p>
          <a:p>
            <a:pPr algn="just">
              <a:buFont typeface="Wingdings" pitchFamily="2" charset="2"/>
              <a:buChar char="ü"/>
            </a:pPr>
            <a:r>
              <a:rPr lang="en-US" sz="2400" dirty="0" smtClean="0">
                <a:solidFill>
                  <a:schemeClr val="tx1"/>
                </a:solidFill>
              </a:rPr>
              <a:t> When dealing with binary images, the principal application of morphology is extracting image components that are useful in the representation and description of shape.</a:t>
            </a:r>
          </a:p>
          <a:p>
            <a:pPr algn="just">
              <a:buFont typeface="Wingdings" pitchFamily="2" charset="2"/>
              <a:buChar char="ü"/>
            </a:pPr>
            <a:r>
              <a:rPr lang="en-US" sz="2400" i="1" dirty="0" smtClean="0">
                <a:solidFill>
                  <a:schemeClr val="tx1"/>
                </a:solidFill>
              </a:rPr>
              <a:t> </a:t>
            </a:r>
            <a:r>
              <a:rPr lang="en-US" sz="2400" dirty="0" smtClean="0">
                <a:solidFill>
                  <a:schemeClr val="tx1"/>
                </a:solidFill>
              </a:rPr>
              <a:t>Here, we consider morphological algorithms for </a:t>
            </a:r>
            <a:r>
              <a:rPr lang="en-US" sz="2400" b="1" dirty="0" smtClean="0">
                <a:solidFill>
                  <a:schemeClr val="tx1"/>
                </a:solidFill>
              </a:rPr>
              <a:t>extracting boundaries, region/hole filling, connected components, the convex hull, the skeleton of a region, Thinning, Thickening and Pruning.</a:t>
            </a:r>
            <a:endParaRPr lang="en-US" sz="2400" b="1" i="1" dirty="0" smtClean="0">
              <a:solidFill>
                <a:schemeClr val="tx1"/>
              </a:solidFill>
            </a:endParaRPr>
          </a:p>
        </p:txBody>
      </p:sp>
    </p:spTree>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414129"/>
            <a:ext cx="7772400" cy="576471"/>
          </a:xfrm>
        </p:spPr>
        <p:txBody>
          <a:bodyPr>
            <a:normAutofit/>
          </a:bodyPr>
          <a:lstStyle/>
          <a:p>
            <a:r>
              <a:rPr lang="en-US" sz="2800" dirty="0" smtClean="0">
                <a:solidFill>
                  <a:srgbClr val="FF0000"/>
                </a:solidFill>
              </a:rPr>
              <a:t>Morphological Image Processing</a:t>
            </a:r>
            <a:endParaRPr lang="en-US" sz="2800" dirty="0">
              <a:solidFill>
                <a:srgbClr val="FF0000"/>
              </a:solidFill>
            </a:endParaRPr>
          </a:p>
        </p:txBody>
      </p:sp>
      <p:sp>
        <p:nvSpPr>
          <p:cNvPr id="3" name="Subtitle 2"/>
          <p:cNvSpPr>
            <a:spLocks noGrp="1"/>
          </p:cNvSpPr>
          <p:nvPr>
            <p:ph type="subTitle" idx="1"/>
          </p:nvPr>
        </p:nvSpPr>
        <p:spPr>
          <a:xfrm>
            <a:off x="914400" y="1143000"/>
            <a:ext cx="7391400" cy="5029200"/>
          </a:xfrm>
        </p:spPr>
        <p:txBody>
          <a:bodyPr>
            <a:normAutofit/>
          </a:bodyPr>
          <a:lstStyle/>
          <a:p>
            <a:pPr algn="just"/>
            <a:r>
              <a:rPr lang="en-US" sz="2800" b="1" dirty="0" smtClean="0">
                <a:solidFill>
                  <a:schemeClr val="tx1"/>
                </a:solidFill>
              </a:rPr>
              <a:t>Boundary Extraction</a:t>
            </a:r>
          </a:p>
          <a:p>
            <a:pPr algn="just"/>
            <a:r>
              <a:rPr lang="en-US" sz="2400" i="1" dirty="0" smtClean="0">
                <a:solidFill>
                  <a:schemeClr val="tx1"/>
                </a:solidFill>
              </a:rPr>
              <a:t>                </a:t>
            </a:r>
          </a:p>
        </p:txBody>
      </p:sp>
      <p:pic>
        <p:nvPicPr>
          <p:cNvPr id="5" name="Picture 4"/>
          <p:cNvPicPr>
            <a:picLocks noChangeAspect="1"/>
          </p:cNvPicPr>
          <p:nvPr/>
        </p:nvPicPr>
        <p:blipFill>
          <a:blip r:embed="rId2"/>
          <a:stretch>
            <a:fillRect/>
          </a:stretch>
        </p:blipFill>
        <p:spPr>
          <a:xfrm>
            <a:off x="1311945" y="1752600"/>
            <a:ext cx="7196440" cy="381000"/>
          </a:xfrm>
          <a:prstGeom prst="rect">
            <a:avLst/>
          </a:prstGeom>
        </p:spPr>
      </p:pic>
      <p:pic>
        <p:nvPicPr>
          <p:cNvPr id="6" name="Picture 5"/>
          <p:cNvPicPr>
            <a:picLocks noChangeAspect="1"/>
          </p:cNvPicPr>
          <p:nvPr/>
        </p:nvPicPr>
        <p:blipFill>
          <a:blip r:embed="rId3"/>
          <a:stretch>
            <a:fillRect/>
          </a:stretch>
        </p:blipFill>
        <p:spPr>
          <a:xfrm>
            <a:off x="1143000" y="2171700"/>
            <a:ext cx="1828800" cy="319773"/>
          </a:xfrm>
          <a:prstGeom prst="rect">
            <a:avLst/>
          </a:prstGeom>
        </p:spPr>
      </p:pic>
      <p:pic>
        <p:nvPicPr>
          <p:cNvPr id="7" name="Picture 6"/>
          <p:cNvPicPr>
            <a:picLocks noChangeAspect="1"/>
          </p:cNvPicPr>
          <p:nvPr/>
        </p:nvPicPr>
        <p:blipFill>
          <a:blip r:embed="rId4"/>
          <a:stretch>
            <a:fillRect/>
          </a:stretch>
        </p:blipFill>
        <p:spPr>
          <a:xfrm>
            <a:off x="3048000" y="2207709"/>
            <a:ext cx="5321808" cy="283764"/>
          </a:xfrm>
          <a:prstGeom prst="rect">
            <a:avLst/>
          </a:prstGeom>
        </p:spPr>
      </p:pic>
      <p:pic>
        <p:nvPicPr>
          <p:cNvPr id="8" name="Picture 7"/>
          <p:cNvPicPr>
            <a:picLocks noChangeAspect="1"/>
          </p:cNvPicPr>
          <p:nvPr/>
        </p:nvPicPr>
        <p:blipFill>
          <a:blip r:embed="rId5"/>
          <a:stretch>
            <a:fillRect/>
          </a:stretch>
        </p:blipFill>
        <p:spPr>
          <a:xfrm>
            <a:off x="1143000" y="2617761"/>
            <a:ext cx="2903090" cy="277839"/>
          </a:xfrm>
          <a:prstGeom prst="rect">
            <a:avLst/>
          </a:prstGeom>
        </p:spPr>
      </p:pic>
      <p:pic>
        <p:nvPicPr>
          <p:cNvPr id="9" name="Picture 8"/>
          <p:cNvPicPr>
            <a:picLocks noChangeAspect="1"/>
          </p:cNvPicPr>
          <p:nvPr/>
        </p:nvPicPr>
        <p:blipFill>
          <a:blip r:embed="rId6"/>
          <a:stretch>
            <a:fillRect/>
          </a:stretch>
        </p:blipFill>
        <p:spPr>
          <a:xfrm>
            <a:off x="1752600" y="3084449"/>
            <a:ext cx="835150" cy="295311"/>
          </a:xfrm>
          <a:prstGeom prst="rect">
            <a:avLst/>
          </a:prstGeom>
        </p:spPr>
      </p:pic>
      <p:pic>
        <p:nvPicPr>
          <p:cNvPr id="10" name="Picture 9"/>
          <p:cNvPicPr>
            <a:picLocks noChangeAspect="1"/>
          </p:cNvPicPr>
          <p:nvPr/>
        </p:nvPicPr>
        <p:blipFill>
          <a:blip r:embed="rId7"/>
          <a:stretch>
            <a:fillRect/>
          </a:stretch>
        </p:blipFill>
        <p:spPr>
          <a:xfrm>
            <a:off x="2713527" y="3550653"/>
            <a:ext cx="5007722" cy="411747"/>
          </a:xfrm>
          <a:prstGeom prst="rect">
            <a:avLst/>
          </a:prstGeom>
        </p:spPr>
      </p:pic>
      <p:pic>
        <p:nvPicPr>
          <p:cNvPr id="11" name="Picture 10"/>
          <p:cNvPicPr>
            <a:picLocks noChangeAspect="1"/>
          </p:cNvPicPr>
          <p:nvPr/>
        </p:nvPicPr>
        <p:blipFill>
          <a:blip r:embed="rId8"/>
          <a:stretch>
            <a:fillRect/>
          </a:stretch>
        </p:blipFill>
        <p:spPr>
          <a:xfrm>
            <a:off x="2347200" y="4289007"/>
            <a:ext cx="4873688" cy="328446"/>
          </a:xfrm>
          <a:prstGeom prst="rect">
            <a:avLst/>
          </a:prstGeom>
        </p:spPr>
      </p:pic>
    </p:spTree>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4898" name="Text Box 2"/>
          <p:cNvSpPr txBox="1">
            <a:spLocks noChangeArrowheads="1"/>
          </p:cNvSpPr>
          <p:nvPr/>
        </p:nvSpPr>
        <p:spPr bwMode="auto">
          <a:xfrm>
            <a:off x="2619336" y="500063"/>
            <a:ext cx="3914853" cy="369332"/>
          </a:xfrm>
          <a:prstGeom prst="rect">
            <a:avLst/>
          </a:prstGeom>
          <a:noFill/>
          <a:ln w="9525">
            <a:noFill/>
            <a:miter lim="800000"/>
            <a:headEnd/>
            <a:tailEnd/>
          </a:ln>
          <a:effectLst>
            <a:outerShdw dist="35921" dir="2700000" algn="ctr" rotWithShape="0">
              <a:schemeClr val="folHlink"/>
            </a:outerShdw>
          </a:effectLst>
        </p:spPr>
        <p:txBody>
          <a:bodyPr wrap="none">
            <a:spAutoFit/>
          </a:bodyPr>
          <a:lstStyle/>
          <a:p>
            <a:pPr algn="ctr">
              <a:defRPr/>
            </a:pPr>
            <a:r>
              <a:rPr lang="en-US" dirty="0" smtClean="0">
                <a:solidFill>
                  <a:srgbClr val="FF0000"/>
                </a:solidFill>
                <a:latin typeface="Verdana" pitchFamily="34" charset="0"/>
              </a:rPr>
              <a:t>Morphological </a:t>
            </a:r>
            <a:r>
              <a:rPr lang="en-US" dirty="0">
                <a:solidFill>
                  <a:srgbClr val="FF0000"/>
                </a:solidFill>
                <a:latin typeface="Verdana" pitchFamily="34" charset="0"/>
              </a:rPr>
              <a:t>Image Processing</a:t>
            </a:r>
            <a:endParaRPr lang="en-US" dirty="0"/>
          </a:p>
        </p:txBody>
      </p:sp>
      <p:pic>
        <p:nvPicPr>
          <p:cNvPr id="15363" name="Picture 3"/>
          <p:cNvPicPr>
            <a:picLocks noChangeAspect="1" noChangeArrowheads="1"/>
          </p:cNvPicPr>
          <p:nvPr/>
        </p:nvPicPr>
        <p:blipFill>
          <a:blip r:embed="rId2"/>
          <a:srcRect/>
          <a:stretch>
            <a:fillRect/>
          </a:stretch>
        </p:blipFill>
        <p:spPr bwMode="auto">
          <a:xfrm>
            <a:off x="917503" y="1752600"/>
            <a:ext cx="6541418" cy="2209800"/>
          </a:xfrm>
          <a:prstGeom prst="rect">
            <a:avLst/>
          </a:prstGeom>
          <a:noFill/>
          <a:ln w="9525">
            <a:noFill/>
            <a:miter lim="800000"/>
            <a:headEnd/>
            <a:tailEnd/>
          </a:ln>
        </p:spPr>
      </p:pic>
      <p:pic>
        <p:nvPicPr>
          <p:cNvPr id="2" name="Picture 1"/>
          <p:cNvPicPr>
            <a:picLocks noChangeAspect="1"/>
          </p:cNvPicPr>
          <p:nvPr/>
        </p:nvPicPr>
        <p:blipFill>
          <a:blip r:embed="rId3"/>
          <a:stretch>
            <a:fillRect/>
          </a:stretch>
        </p:blipFill>
        <p:spPr>
          <a:xfrm>
            <a:off x="1143000" y="1066800"/>
            <a:ext cx="6343353" cy="304800"/>
          </a:xfrm>
          <a:prstGeom prst="rect">
            <a:avLst/>
          </a:prstGeom>
        </p:spPr>
      </p:pic>
      <p:pic>
        <p:nvPicPr>
          <p:cNvPr id="3" name="Picture 2"/>
          <p:cNvPicPr>
            <a:picLocks noChangeAspect="1"/>
          </p:cNvPicPr>
          <p:nvPr/>
        </p:nvPicPr>
        <p:blipFill>
          <a:blip r:embed="rId4"/>
          <a:stretch>
            <a:fillRect/>
          </a:stretch>
        </p:blipFill>
        <p:spPr>
          <a:xfrm>
            <a:off x="762000" y="4570350"/>
            <a:ext cx="1224927" cy="304800"/>
          </a:xfrm>
          <a:prstGeom prst="rect">
            <a:avLst/>
          </a:prstGeom>
        </p:spPr>
      </p:pic>
      <p:pic>
        <p:nvPicPr>
          <p:cNvPr id="4" name="Picture 3"/>
          <p:cNvPicPr>
            <a:picLocks noChangeAspect="1"/>
          </p:cNvPicPr>
          <p:nvPr/>
        </p:nvPicPr>
        <p:blipFill>
          <a:blip r:embed="rId5"/>
          <a:stretch>
            <a:fillRect/>
          </a:stretch>
        </p:blipFill>
        <p:spPr>
          <a:xfrm>
            <a:off x="1986927" y="4571583"/>
            <a:ext cx="5255271" cy="303567"/>
          </a:xfrm>
          <a:prstGeom prst="rect">
            <a:avLst/>
          </a:prstGeom>
        </p:spPr>
      </p:pic>
      <p:pic>
        <p:nvPicPr>
          <p:cNvPr id="5" name="Picture 4"/>
          <p:cNvPicPr>
            <a:picLocks noChangeAspect="1"/>
          </p:cNvPicPr>
          <p:nvPr/>
        </p:nvPicPr>
        <p:blipFill>
          <a:blip r:embed="rId6"/>
          <a:stretch>
            <a:fillRect/>
          </a:stretch>
        </p:blipFill>
        <p:spPr>
          <a:xfrm>
            <a:off x="762000" y="4951350"/>
            <a:ext cx="2887320" cy="304800"/>
          </a:xfrm>
          <a:prstGeom prst="rect">
            <a:avLst/>
          </a:prstGeom>
        </p:spPr>
      </p:pic>
      <p:pic>
        <p:nvPicPr>
          <p:cNvPr id="6" name="Picture 5"/>
          <p:cNvPicPr>
            <a:picLocks noChangeAspect="1"/>
          </p:cNvPicPr>
          <p:nvPr/>
        </p:nvPicPr>
        <p:blipFill>
          <a:blip r:embed="rId7"/>
          <a:stretch>
            <a:fillRect/>
          </a:stretch>
        </p:blipFill>
        <p:spPr>
          <a:xfrm>
            <a:off x="3700967" y="4951350"/>
            <a:ext cx="866651" cy="306450"/>
          </a:xfrm>
          <a:prstGeom prst="rect">
            <a:avLst/>
          </a:prstGeom>
        </p:spPr>
      </p:pic>
    </p:spTree>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414129"/>
            <a:ext cx="7772400" cy="576471"/>
          </a:xfrm>
        </p:spPr>
        <p:txBody>
          <a:bodyPr>
            <a:normAutofit/>
          </a:bodyPr>
          <a:lstStyle/>
          <a:p>
            <a:r>
              <a:rPr lang="en-US" sz="2800" dirty="0" smtClean="0">
                <a:solidFill>
                  <a:srgbClr val="FF0000"/>
                </a:solidFill>
              </a:rPr>
              <a:t>Morphological Image Processing</a:t>
            </a:r>
            <a:endParaRPr lang="en-US" sz="2800" dirty="0">
              <a:solidFill>
                <a:srgbClr val="FF0000"/>
              </a:solidFill>
            </a:endParaRPr>
          </a:p>
        </p:txBody>
      </p:sp>
      <p:sp>
        <p:nvSpPr>
          <p:cNvPr id="3" name="Subtitle 2"/>
          <p:cNvSpPr>
            <a:spLocks noGrp="1"/>
          </p:cNvSpPr>
          <p:nvPr>
            <p:ph type="subTitle" idx="1"/>
          </p:nvPr>
        </p:nvSpPr>
        <p:spPr>
          <a:xfrm>
            <a:off x="914400" y="990600"/>
            <a:ext cx="7391400" cy="5181600"/>
          </a:xfrm>
        </p:spPr>
        <p:txBody>
          <a:bodyPr>
            <a:normAutofit/>
          </a:bodyPr>
          <a:lstStyle/>
          <a:p>
            <a:pPr algn="just"/>
            <a:r>
              <a:rPr lang="en-US" sz="2800" b="1" dirty="0" smtClean="0">
                <a:solidFill>
                  <a:schemeClr val="tx1"/>
                </a:solidFill>
              </a:rPr>
              <a:t>Example 9.5: Boundary Extraction</a:t>
            </a:r>
          </a:p>
        </p:txBody>
      </p:sp>
      <p:pic>
        <p:nvPicPr>
          <p:cNvPr id="6" name="Picture 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3400" y="1752600"/>
            <a:ext cx="5711077" cy="3429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7" name="Picture 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806755" y="1828800"/>
            <a:ext cx="1645349" cy="26923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4" name="Picture 3"/>
          <p:cNvPicPr>
            <a:picLocks noChangeAspect="1"/>
          </p:cNvPicPr>
          <p:nvPr/>
        </p:nvPicPr>
        <p:blipFill>
          <a:blip r:embed="rId4"/>
          <a:stretch>
            <a:fillRect/>
          </a:stretch>
        </p:blipFill>
        <p:spPr>
          <a:xfrm>
            <a:off x="381000" y="5509666"/>
            <a:ext cx="8477232" cy="357734"/>
          </a:xfrm>
          <a:prstGeom prst="rect">
            <a:avLst/>
          </a:prstGeom>
        </p:spPr>
      </p:pic>
      <p:pic>
        <p:nvPicPr>
          <p:cNvPr id="8" name="Picture 7"/>
          <p:cNvPicPr>
            <a:picLocks noChangeAspect="1"/>
          </p:cNvPicPr>
          <p:nvPr/>
        </p:nvPicPr>
        <p:blipFill>
          <a:blip r:embed="rId5"/>
          <a:stretch>
            <a:fillRect/>
          </a:stretch>
        </p:blipFill>
        <p:spPr>
          <a:xfrm>
            <a:off x="417713" y="5943600"/>
            <a:ext cx="1452285" cy="251866"/>
          </a:xfrm>
          <a:prstGeom prst="rect">
            <a:avLst/>
          </a:prstGeom>
        </p:spPr>
      </p:pic>
    </p:spTree>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414129"/>
            <a:ext cx="7772400" cy="576471"/>
          </a:xfrm>
        </p:spPr>
        <p:txBody>
          <a:bodyPr>
            <a:normAutofit/>
          </a:bodyPr>
          <a:lstStyle/>
          <a:p>
            <a:r>
              <a:rPr lang="en-US" sz="2800" dirty="0" smtClean="0">
                <a:solidFill>
                  <a:srgbClr val="FF0000"/>
                </a:solidFill>
              </a:rPr>
              <a:t>Morphological Image Processing</a:t>
            </a:r>
            <a:endParaRPr lang="en-US" sz="2800" dirty="0">
              <a:solidFill>
                <a:srgbClr val="FF0000"/>
              </a:solidFill>
            </a:endParaRPr>
          </a:p>
        </p:txBody>
      </p:sp>
      <p:sp>
        <p:nvSpPr>
          <p:cNvPr id="3" name="Subtitle 2"/>
          <p:cNvSpPr>
            <a:spLocks noGrp="1"/>
          </p:cNvSpPr>
          <p:nvPr>
            <p:ph type="subTitle" idx="1"/>
          </p:nvPr>
        </p:nvSpPr>
        <p:spPr>
          <a:xfrm>
            <a:off x="914400" y="1447800"/>
            <a:ext cx="7391400" cy="4724400"/>
          </a:xfrm>
        </p:spPr>
        <p:txBody>
          <a:bodyPr>
            <a:normAutofit/>
          </a:bodyPr>
          <a:lstStyle/>
          <a:p>
            <a:pPr algn="just"/>
            <a:r>
              <a:rPr lang="en-US" sz="2800" b="1" dirty="0" smtClean="0">
                <a:solidFill>
                  <a:schemeClr val="tx1"/>
                </a:solidFill>
              </a:rPr>
              <a:t>Example 9.5: Boundary Extraction</a:t>
            </a:r>
          </a:p>
          <a:p>
            <a:pPr algn="just">
              <a:buFont typeface="Wingdings" pitchFamily="2" charset="2"/>
              <a:buChar char="ü"/>
            </a:pPr>
            <a:r>
              <a:rPr lang="en-US" sz="2400" dirty="0" smtClean="0">
                <a:solidFill>
                  <a:schemeClr val="tx1"/>
                </a:solidFill>
              </a:rPr>
              <a:t>In this example, binary 1’s are shown in white and 0’s in black, so the elements of the structuring element, which are 1’s, also are treated as white. Because of the structuring element used, the boundary shown in figure 9.14(b) is one pixel thick.</a:t>
            </a:r>
          </a:p>
        </p:txBody>
      </p:sp>
    </p:spTree>
    <p:extLst>
      <p:ext uri="{BB962C8B-B14F-4D97-AF65-F5344CB8AC3E}">
        <p14:creationId xmlns:p14="http://schemas.microsoft.com/office/powerpoint/2010/main" val="3289708680"/>
      </p:ext>
    </p:extLst>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414129"/>
            <a:ext cx="7772400" cy="576471"/>
          </a:xfrm>
        </p:spPr>
        <p:txBody>
          <a:bodyPr>
            <a:normAutofit/>
          </a:bodyPr>
          <a:lstStyle/>
          <a:p>
            <a:r>
              <a:rPr lang="en-US" sz="2800" dirty="0" smtClean="0">
                <a:solidFill>
                  <a:srgbClr val="FF0000"/>
                </a:solidFill>
              </a:rPr>
              <a:t>Morphological Image Processing</a:t>
            </a:r>
            <a:endParaRPr lang="en-US" sz="2800" dirty="0">
              <a:solidFill>
                <a:srgbClr val="FF0000"/>
              </a:solidFill>
            </a:endParaRPr>
          </a:p>
        </p:txBody>
      </p:sp>
      <p:sp>
        <p:nvSpPr>
          <p:cNvPr id="3" name="Subtitle 2"/>
          <p:cNvSpPr>
            <a:spLocks noGrp="1"/>
          </p:cNvSpPr>
          <p:nvPr>
            <p:ph type="subTitle" idx="1"/>
          </p:nvPr>
        </p:nvSpPr>
        <p:spPr>
          <a:xfrm>
            <a:off x="609600" y="1066800"/>
            <a:ext cx="7924800" cy="5105400"/>
          </a:xfrm>
        </p:spPr>
        <p:txBody>
          <a:bodyPr>
            <a:normAutofit/>
          </a:bodyPr>
          <a:lstStyle/>
          <a:p>
            <a:pPr algn="just"/>
            <a:r>
              <a:rPr lang="en-US" sz="2800" b="1" dirty="0" smtClean="0">
                <a:solidFill>
                  <a:schemeClr val="tx1"/>
                </a:solidFill>
              </a:rPr>
              <a:t>Hole Filling</a:t>
            </a:r>
          </a:p>
        </p:txBody>
      </p:sp>
      <p:pic>
        <p:nvPicPr>
          <p:cNvPr id="4" name="Picture 3"/>
          <p:cNvPicPr>
            <a:picLocks noChangeAspect="1"/>
          </p:cNvPicPr>
          <p:nvPr/>
        </p:nvPicPr>
        <p:blipFill>
          <a:blip r:embed="rId2"/>
          <a:stretch>
            <a:fillRect/>
          </a:stretch>
        </p:blipFill>
        <p:spPr>
          <a:xfrm>
            <a:off x="914400" y="1752600"/>
            <a:ext cx="6595770" cy="304800"/>
          </a:xfrm>
          <a:prstGeom prst="rect">
            <a:avLst/>
          </a:prstGeom>
        </p:spPr>
      </p:pic>
      <p:pic>
        <p:nvPicPr>
          <p:cNvPr id="5" name="Picture 4"/>
          <p:cNvPicPr>
            <a:picLocks noChangeAspect="1"/>
          </p:cNvPicPr>
          <p:nvPr/>
        </p:nvPicPr>
        <p:blipFill>
          <a:blip r:embed="rId3"/>
          <a:stretch>
            <a:fillRect/>
          </a:stretch>
        </p:blipFill>
        <p:spPr>
          <a:xfrm>
            <a:off x="762000" y="2161032"/>
            <a:ext cx="1812894" cy="353568"/>
          </a:xfrm>
          <a:prstGeom prst="rect">
            <a:avLst/>
          </a:prstGeom>
        </p:spPr>
      </p:pic>
      <p:pic>
        <p:nvPicPr>
          <p:cNvPr id="6" name="Picture 5"/>
          <p:cNvPicPr>
            <a:picLocks noChangeAspect="1"/>
          </p:cNvPicPr>
          <p:nvPr/>
        </p:nvPicPr>
        <p:blipFill>
          <a:blip r:embed="rId4"/>
          <a:stretch>
            <a:fillRect/>
          </a:stretch>
        </p:blipFill>
        <p:spPr>
          <a:xfrm>
            <a:off x="2608422" y="2210498"/>
            <a:ext cx="2942133" cy="304101"/>
          </a:xfrm>
          <a:prstGeom prst="rect">
            <a:avLst/>
          </a:prstGeom>
        </p:spPr>
      </p:pic>
      <p:pic>
        <p:nvPicPr>
          <p:cNvPr id="7" name="Picture 6"/>
          <p:cNvPicPr>
            <a:picLocks noChangeAspect="1"/>
          </p:cNvPicPr>
          <p:nvPr/>
        </p:nvPicPr>
        <p:blipFill>
          <a:blip r:embed="rId5"/>
          <a:stretch>
            <a:fillRect/>
          </a:stretch>
        </p:blipFill>
        <p:spPr>
          <a:xfrm>
            <a:off x="914400" y="2731008"/>
            <a:ext cx="7133325" cy="313944"/>
          </a:xfrm>
          <a:prstGeom prst="rect">
            <a:avLst/>
          </a:prstGeom>
        </p:spPr>
      </p:pic>
      <p:pic>
        <p:nvPicPr>
          <p:cNvPr id="8" name="Picture 7"/>
          <p:cNvPicPr>
            <a:picLocks noChangeAspect="1"/>
          </p:cNvPicPr>
          <p:nvPr/>
        </p:nvPicPr>
        <p:blipFill>
          <a:blip r:embed="rId6"/>
          <a:stretch>
            <a:fillRect/>
          </a:stretch>
        </p:blipFill>
        <p:spPr>
          <a:xfrm>
            <a:off x="761999" y="3200810"/>
            <a:ext cx="1222729" cy="228190"/>
          </a:xfrm>
          <a:prstGeom prst="rect">
            <a:avLst/>
          </a:prstGeom>
        </p:spPr>
      </p:pic>
      <p:pic>
        <p:nvPicPr>
          <p:cNvPr id="9" name="Picture 8"/>
          <p:cNvPicPr>
            <a:picLocks noChangeAspect="1"/>
          </p:cNvPicPr>
          <p:nvPr/>
        </p:nvPicPr>
        <p:blipFill>
          <a:blip r:embed="rId7"/>
          <a:stretch>
            <a:fillRect/>
          </a:stretch>
        </p:blipFill>
        <p:spPr>
          <a:xfrm>
            <a:off x="1905000" y="3188040"/>
            <a:ext cx="4959352" cy="253729"/>
          </a:xfrm>
          <a:prstGeom prst="rect">
            <a:avLst/>
          </a:prstGeom>
        </p:spPr>
      </p:pic>
      <p:pic>
        <p:nvPicPr>
          <p:cNvPr id="10" name="Picture 9"/>
          <p:cNvPicPr>
            <a:picLocks noChangeAspect="1"/>
          </p:cNvPicPr>
          <p:nvPr/>
        </p:nvPicPr>
        <p:blipFill>
          <a:blip r:embed="rId8"/>
          <a:stretch>
            <a:fillRect/>
          </a:stretch>
        </p:blipFill>
        <p:spPr>
          <a:xfrm>
            <a:off x="761999" y="3839100"/>
            <a:ext cx="3103928" cy="253773"/>
          </a:xfrm>
          <a:prstGeom prst="rect">
            <a:avLst/>
          </a:prstGeom>
        </p:spPr>
      </p:pic>
      <p:pic>
        <p:nvPicPr>
          <p:cNvPr id="11" name="Picture 10"/>
          <p:cNvPicPr>
            <a:picLocks noChangeAspect="1"/>
          </p:cNvPicPr>
          <p:nvPr/>
        </p:nvPicPr>
        <p:blipFill>
          <a:blip r:embed="rId9"/>
          <a:stretch>
            <a:fillRect/>
          </a:stretch>
        </p:blipFill>
        <p:spPr>
          <a:xfrm>
            <a:off x="3961250" y="3839100"/>
            <a:ext cx="3976146" cy="276109"/>
          </a:xfrm>
          <a:prstGeom prst="rect">
            <a:avLst/>
          </a:prstGeom>
        </p:spPr>
      </p:pic>
    </p:spTree>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8994" name="Text Box 2"/>
          <p:cNvSpPr txBox="1">
            <a:spLocks noChangeArrowheads="1"/>
          </p:cNvSpPr>
          <p:nvPr/>
        </p:nvSpPr>
        <p:spPr bwMode="auto">
          <a:xfrm>
            <a:off x="2619336" y="500063"/>
            <a:ext cx="3914853" cy="369332"/>
          </a:xfrm>
          <a:prstGeom prst="rect">
            <a:avLst/>
          </a:prstGeom>
          <a:noFill/>
          <a:ln w="9525">
            <a:noFill/>
            <a:miter lim="800000"/>
            <a:headEnd/>
            <a:tailEnd/>
          </a:ln>
          <a:effectLst>
            <a:outerShdw dist="35921" dir="2700000" algn="ctr" rotWithShape="0">
              <a:schemeClr val="folHlink"/>
            </a:outerShdw>
          </a:effectLst>
        </p:spPr>
        <p:txBody>
          <a:bodyPr wrap="none">
            <a:spAutoFit/>
          </a:bodyPr>
          <a:lstStyle/>
          <a:p>
            <a:pPr algn="ctr">
              <a:defRPr/>
            </a:pPr>
            <a:r>
              <a:rPr lang="en-US" dirty="0" smtClean="0">
                <a:solidFill>
                  <a:srgbClr val="FF0000"/>
                </a:solidFill>
                <a:latin typeface="Verdana" pitchFamily="34" charset="0"/>
              </a:rPr>
              <a:t>Morphological </a:t>
            </a:r>
            <a:r>
              <a:rPr lang="en-US" dirty="0">
                <a:solidFill>
                  <a:srgbClr val="FF0000"/>
                </a:solidFill>
                <a:latin typeface="Verdana" pitchFamily="34" charset="0"/>
              </a:rPr>
              <a:t>Image Processing</a:t>
            </a:r>
            <a:endParaRPr lang="en-US" dirty="0"/>
          </a:p>
        </p:txBody>
      </p:sp>
      <p:pic>
        <p:nvPicPr>
          <p:cNvPr id="4"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76400" y="1066799"/>
            <a:ext cx="3352800" cy="529045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00800" y="1371600"/>
            <a:ext cx="1524000" cy="412840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414129"/>
            <a:ext cx="7772400" cy="576471"/>
          </a:xfrm>
        </p:spPr>
        <p:txBody>
          <a:bodyPr>
            <a:normAutofit/>
          </a:bodyPr>
          <a:lstStyle/>
          <a:p>
            <a:r>
              <a:rPr lang="en-US" sz="2800" dirty="0" smtClean="0">
                <a:solidFill>
                  <a:srgbClr val="FF0000"/>
                </a:solidFill>
              </a:rPr>
              <a:t>Morphological Image Processing</a:t>
            </a:r>
            <a:endParaRPr lang="en-US" sz="2800" dirty="0">
              <a:solidFill>
                <a:srgbClr val="FF0000"/>
              </a:solidFill>
            </a:endParaRPr>
          </a:p>
        </p:txBody>
      </p:sp>
      <p:sp>
        <p:nvSpPr>
          <p:cNvPr id="3" name="Subtitle 2"/>
          <p:cNvSpPr>
            <a:spLocks noGrp="1"/>
          </p:cNvSpPr>
          <p:nvPr>
            <p:ph type="subTitle" idx="1"/>
          </p:nvPr>
        </p:nvSpPr>
        <p:spPr>
          <a:xfrm>
            <a:off x="609600" y="990600"/>
            <a:ext cx="7924800" cy="5181600"/>
          </a:xfrm>
        </p:spPr>
        <p:txBody>
          <a:bodyPr>
            <a:normAutofit/>
          </a:bodyPr>
          <a:lstStyle/>
          <a:p>
            <a:pPr algn="just"/>
            <a:r>
              <a:rPr lang="en-US" sz="2800" b="1" dirty="0" smtClean="0">
                <a:solidFill>
                  <a:schemeClr val="tx1"/>
                </a:solidFill>
              </a:rPr>
              <a:t>Hole Filling</a:t>
            </a:r>
          </a:p>
        </p:txBody>
      </p:sp>
      <p:pic>
        <p:nvPicPr>
          <p:cNvPr id="4" name="Picture 3"/>
          <p:cNvPicPr>
            <a:picLocks noChangeAspect="1"/>
          </p:cNvPicPr>
          <p:nvPr/>
        </p:nvPicPr>
        <p:blipFill>
          <a:blip r:embed="rId2"/>
          <a:stretch>
            <a:fillRect/>
          </a:stretch>
        </p:blipFill>
        <p:spPr>
          <a:xfrm>
            <a:off x="838200" y="1676400"/>
            <a:ext cx="3445104" cy="228600"/>
          </a:xfrm>
          <a:prstGeom prst="rect">
            <a:avLst/>
          </a:prstGeom>
        </p:spPr>
      </p:pic>
      <p:pic>
        <p:nvPicPr>
          <p:cNvPr id="5" name="Picture 4"/>
          <p:cNvPicPr>
            <a:picLocks noChangeAspect="1"/>
          </p:cNvPicPr>
          <p:nvPr/>
        </p:nvPicPr>
        <p:blipFill>
          <a:blip r:embed="rId3"/>
          <a:stretch>
            <a:fillRect/>
          </a:stretch>
        </p:blipFill>
        <p:spPr>
          <a:xfrm>
            <a:off x="4343400" y="1687945"/>
            <a:ext cx="3233064" cy="247535"/>
          </a:xfrm>
          <a:prstGeom prst="rect">
            <a:avLst/>
          </a:prstGeom>
        </p:spPr>
      </p:pic>
      <p:pic>
        <p:nvPicPr>
          <p:cNvPr id="6" name="Picture 5"/>
          <p:cNvPicPr>
            <a:picLocks noChangeAspect="1"/>
          </p:cNvPicPr>
          <p:nvPr/>
        </p:nvPicPr>
        <p:blipFill>
          <a:blip r:embed="rId4"/>
          <a:stretch>
            <a:fillRect/>
          </a:stretch>
        </p:blipFill>
        <p:spPr>
          <a:xfrm>
            <a:off x="7543800" y="1715733"/>
            <a:ext cx="611390" cy="219747"/>
          </a:xfrm>
          <a:prstGeom prst="rect">
            <a:avLst/>
          </a:prstGeom>
        </p:spPr>
      </p:pic>
      <p:pic>
        <p:nvPicPr>
          <p:cNvPr id="7" name="Picture 6"/>
          <p:cNvPicPr>
            <a:picLocks noChangeAspect="1"/>
          </p:cNvPicPr>
          <p:nvPr/>
        </p:nvPicPr>
        <p:blipFill>
          <a:blip r:embed="rId5"/>
          <a:stretch>
            <a:fillRect/>
          </a:stretch>
        </p:blipFill>
        <p:spPr>
          <a:xfrm>
            <a:off x="838200" y="2057400"/>
            <a:ext cx="7490911" cy="304800"/>
          </a:xfrm>
          <a:prstGeom prst="rect">
            <a:avLst/>
          </a:prstGeom>
        </p:spPr>
      </p:pic>
      <p:pic>
        <p:nvPicPr>
          <p:cNvPr id="8" name="Picture 7"/>
          <p:cNvPicPr>
            <a:picLocks noChangeAspect="1"/>
          </p:cNvPicPr>
          <p:nvPr/>
        </p:nvPicPr>
        <p:blipFill>
          <a:blip r:embed="rId6"/>
          <a:stretch>
            <a:fillRect/>
          </a:stretch>
        </p:blipFill>
        <p:spPr>
          <a:xfrm>
            <a:off x="838200" y="2514600"/>
            <a:ext cx="2028784" cy="228600"/>
          </a:xfrm>
          <a:prstGeom prst="rect">
            <a:avLst/>
          </a:prstGeom>
        </p:spPr>
      </p:pic>
      <p:pic>
        <p:nvPicPr>
          <p:cNvPr id="9" name="Picture 8"/>
          <p:cNvPicPr>
            <a:picLocks noChangeAspect="1"/>
          </p:cNvPicPr>
          <p:nvPr/>
        </p:nvPicPr>
        <p:blipFill>
          <a:blip r:embed="rId7"/>
          <a:stretch>
            <a:fillRect/>
          </a:stretch>
        </p:blipFill>
        <p:spPr>
          <a:xfrm>
            <a:off x="1219199" y="3048000"/>
            <a:ext cx="5502597" cy="271671"/>
          </a:xfrm>
          <a:prstGeom prst="rect">
            <a:avLst/>
          </a:prstGeom>
        </p:spPr>
      </p:pic>
      <p:pic>
        <p:nvPicPr>
          <p:cNvPr id="10" name="Picture 9"/>
          <p:cNvPicPr>
            <a:picLocks noChangeAspect="1"/>
          </p:cNvPicPr>
          <p:nvPr/>
        </p:nvPicPr>
        <p:blipFill>
          <a:blip r:embed="rId8"/>
          <a:stretch>
            <a:fillRect/>
          </a:stretch>
        </p:blipFill>
        <p:spPr>
          <a:xfrm>
            <a:off x="1600200" y="3859965"/>
            <a:ext cx="6329526" cy="451650"/>
          </a:xfrm>
          <a:prstGeom prst="rect">
            <a:avLst/>
          </a:prstGeom>
        </p:spPr>
      </p:pic>
      <p:pic>
        <p:nvPicPr>
          <p:cNvPr id="11" name="Picture 10"/>
          <p:cNvPicPr>
            <a:picLocks noChangeAspect="1"/>
          </p:cNvPicPr>
          <p:nvPr/>
        </p:nvPicPr>
        <p:blipFill>
          <a:blip r:embed="rId9"/>
          <a:stretch>
            <a:fillRect/>
          </a:stretch>
        </p:blipFill>
        <p:spPr>
          <a:xfrm>
            <a:off x="955046" y="4745352"/>
            <a:ext cx="7528764" cy="283848"/>
          </a:xfrm>
          <a:prstGeom prst="rect">
            <a:avLst/>
          </a:prstGeom>
        </p:spPr>
      </p:pic>
    </p:spTree>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414129"/>
            <a:ext cx="7772400" cy="576471"/>
          </a:xfrm>
        </p:spPr>
        <p:txBody>
          <a:bodyPr>
            <a:normAutofit/>
          </a:bodyPr>
          <a:lstStyle/>
          <a:p>
            <a:r>
              <a:rPr lang="en-US" sz="2800" dirty="0" smtClean="0">
                <a:solidFill>
                  <a:srgbClr val="FF0000"/>
                </a:solidFill>
              </a:rPr>
              <a:t>Morphological Image Processing</a:t>
            </a:r>
            <a:endParaRPr lang="en-US" sz="2800" dirty="0">
              <a:solidFill>
                <a:srgbClr val="FF0000"/>
              </a:solidFill>
            </a:endParaRPr>
          </a:p>
        </p:txBody>
      </p:sp>
      <p:sp>
        <p:nvSpPr>
          <p:cNvPr id="3" name="Subtitle 2"/>
          <p:cNvSpPr>
            <a:spLocks noGrp="1"/>
          </p:cNvSpPr>
          <p:nvPr>
            <p:ph type="subTitle" idx="1"/>
          </p:nvPr>
        </p:nvSpPr>
        <p:spPr>
          <a:xfrm>
            <a:off x="914400" y="1447800"/>
            <a:ext cx="7391400" cy="4724400"/>
          </a:xfrm>
        </p:spPr>
        <p:txBody>
          <a:bodyPr>
            <a:normAutofit/>
          </a:bodyPr>
          <a:lstStyle/>
          <a:p>
            <a:pPr algn="just"/>
            <a:r>
              <a:rPr lang="en-US" sz="2800" b="1" dirty="0" smtClean="0">
                <a:solidFill>
                  <a:schemeClr val="tx1"/>
                </a:solidFill>
              </a:rPr>
              <a:t>Example 9.6: Morphological </a:t>
            </a:r>
            <a:r>
              <a:rPr lang="en-US" sz="2800" b="1" dirty="0">
                <a:solidFill>
                  <a:schemeClr val="tx1"/>
                </a:solidFill>
              </a:rPr>
              <a:t>H</a:t>
            </a:r>
            <a:r>
              <a:rPr lang="en-US" sz="2800" b="1" dirty="0" smtClean="0">
                <a:solidFill>
                  <a:schemeClr val="tx1"/>
                </a:solidFill>
              </a:rPr>
              <a:t>ole Filling</a:t>
            </a:r>
          </a:p>
          <a:p>
            <a:pPr algn="just">
              <a:buFont typeface="Wingdings" pitchFamily="2" charset="2"/>
              <a:buChar char="ü"/>
            </a:pPr>
            <a:r>
              <a:rPr lang="en-US" sz="2400" i="1" dirty="0" smtClean="0">
                <a:solidFill>
                  <a:schemeClr val="tx1"/>
                </a:solidFill>
              </a:rPr>
              <a:t> </a:t>
            </a:r>
            <a:r>
              <a:rPr lang="en-US" sz="2400" dirty="0" smtClean="0">
                <a:solidFill>
                  <a:schemeClr val="tx1"/>
                </a:solidFill>
              </a:rPr>
              <a:t>The following figure 9.16(a) shows an image composed of white circles with black inner spots.</a:t>
            </a:r>
          </a:p>
          <a:p>
            <a:pPr algn="just">
              <a:buFont typeface="Wingdings" pitchFamily="2" charset="2"/>
              <a:buChar char="ü"/>
            </a:pPr>
            <a:r>
              <a:rPr lang="en-US" sz="2400" dirty="0" smtClean="0">
                <a:solidFill>
                  <a:schemeClr val="tx1"/>
                </a:solidFill>
              </a:rPr>
              <a:t> Figure 9.16(a) shows one point selected inside one of the spheres, and figure 9.16(b) shows the result of filling that component.</a:t>
            </a:r>
          </a:p>
          <a:p>
            <a:pPr algn="just">
              <a:buFont typeface="Wingdings" pitchFamily="2" charset="2"/>
              <a:buChar char="ü"/>
            </a:pPr>
            <a:r>
              <a:rPr lang="en-US" sz="2400" dirty="0" smtClean="0">
                <a:solidFill>
                  <a:schemeClr val="tx1"/>
                </a:solidFill>
              </a:rPr>
              <a:t> Figure 9.16 (c ) shows the result of filling all the spheres.</a:t>
            </a:r>
          </a:p>
        </p:txBody>
      </p:sp>
    </p:spTree>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42" name="Text Box 2"/>
          <p:cNvSpPr txBox="1">
            <a:spLocks noChangeArrowheads="1"/>
          </p:cNvSpPr>
          <p:nvPr/>
        </p:nvSpPr>
        <p:spPr bwMode="auto">
          <a:xfrm>
            <a:off x="2619336" y="500063"/>
            <a:ext cx="3914853" cy="369332"/>
          </a:xfrm>
          <a:prstGeom prst="rect">
            <a:avLst/>
          </a:prstGeom>
          <a:noFill/>
          <a:ln w="9525">
            <a:noFill/>
            <a:miter lim="800000"/>
            <a:headEnd/>
            <a:tailEnd/>
          </a:ln>
          <a:effectLst>
            <a:outerShdw dist="35921" dir="2700000" algn="ctr" rotWithShape="0">
              <a:schemeClr val="folHlink"/>
            </a:outerShdw>
          </a:effectLst>
        </p:spPr>
        <p:txBody>
          <a:bodyPr wrap="none">
            <a:spAutoFit/>
          </a:bodyPr>
          <a:lstStyle/>
          <a:p>
            <a:pPr algn="ctr">
              <a:defRPr/>
            </a:pPr>
            <a:r>
              <a:rPr lang="en-US" dirty="0" smtClean="0">
                <a:solidFill>
                  <a:srgbClr val="FF0000"/>
                </a:solidFill>
                <a:latin typeface="Verdana" pitchFamily="34" charset="0"/>
              </a:rPr>
              <a:t>Morphological </a:t>
            </a:r>
            <a:r>
              <a:rPr lang="en-US" dirty="0">
                <a:solidFill>
                  <a:srgbClr val="FF0000"/>
                </a:solidFill>
                <a:latin typeface="Verdana" pitchFamily="34" charset="0"/>
              </a:rPr>
              <a:t>Image Processing</a:t>
            </a:r>
            <a:endParaRPr lang="en-US" dirty="0"/>
          </a:p>
        </p:txBody>
      </p:sp>
      <p:pic>
        <p:nvPicPr>
          <p:cNvPr id="4"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62000" y="1295400"/>
            <a:ext cx="7505483" cy="2514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62000" y="3962400"/>
            <a:ext cx="7394917" cy="1219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414129"/>
            <a:ext cx="7772400" cy="576471"/>
          </a:xfrm>
        </p:spPr>
        <p:txBody>
          <a:bodyPr>
            <a:normAutofit/>
          </a:bodyPr>
          <a:lstStyle/>
          <a:p>
            <a:r>
              <a:rPr lang="en-US" sz="2800" dirty="0" smtClean="0">
                <a:solidFill>
                  <a:srgbClr val="FF0000"/>
                </a:solidFill>
              </a:rPr>
              <a:t>Morphological Image Processing</a:t>
            </a:r>
            <a:endParaRPr lang="en-US" sz="2800" dirty="0">
              <a:solidFill>
                <a:srgbClr val="FF0000"/>
              </a:solidFill>
            </a:endParaRPr>
          </a:p>
        </p:txBody>
      </p:sp>
      <p:sp>
        <p:nvSpPr>
          <p:cNvPr id="3" name="Subtitle 2"/>
          <p:cNvSpPr>
            <a:spLocks noGrp="1"/>
          </p:cNvSpPr>
          <p:nvPr>
            <p:ph type="subTitle" idx="1"/>
          </p:nvPr>
        </p:nvSpPr>
        <p:spPr>
          <a:xfrm>
            <a:off x="914400" y="1447800"/>
            <a:ext cx="7391400" cy="4724400"/>
          </a:xfrm>
        </p:spPr>
        <p:txBody>
          <a:bodyPr>
            <a:normAutofit/>
          </a:bodyPr>
          <a:lstStyle/>
          <a:p>
            <a:pPr algn="just"/>
            <a:r>
              <a:rPr lang="en-US" sz="2800" b="1" dirty="0" smtClean="0">
                <a:solidFill>
                  <a:schemeClr val="tx1"/>
                </a:solidFill>
              </a:rPr>
              <a:t>Extraction of connected components</a:t>
            </a:r>
          </a:p>
          <a:p>
            <a:pPr algn="just">
              <a:buFont typeface="Wingdings" pitchFamily="2" charset="2"/>
              <a:buChar char="ü"/>
            </a:pPr>
            <a:r>
              <a:rPr lang="en-US" sz="2400" i="1" dirty="0" smtClean="0">
                <a:solidFill>
                  <a:schemeClr val="tx1"/>
                </a:solidFill>
              </a:rPr>
              <a:t> </a:t>
            </a:r>
            <a:r>
              <a:rPr lang="en-US" sz="2400" dirty="0" smtClean="0">
                <a:solidFill>
                  <a:schemeClr val="tx1"/>
                </a:solidFill>
              </a:rPr>
              <a:t>Extraction of connected components in a binary image is central to many automated image analysis applications.</a:t>
            </a:r>
          </a:p>
        </p:txBody>
      </p:sp>
      <p:pic>
        <p:nvPicPr>
          <p:cNvPr id="5" name="Picture 4"/>
          <p:cNvPicPr>
            <a:picLocks noChangeAspect="1"/>
          </p:cNvPicPr>
          <p:nvPr/>
        </p:nvPicPr>
        <p:blipFill>
          <a:blip r:embed="rId2"/>
          <a:stretch>
            <a:fillRect/>
          </a:stretch>
        </p:blipFill>
        <p:spPr>
          <a:xfrm>
            <a:off x="914400" y="3429000"/>
            <a:ext cx="2971800" cy="376005"/>
          </a:xfrm>
          <a:prstGeom prst="rect">
            <a:avLst/>
          </a:prstGeom>
        </p:spPr>
      </p:pic>
      <p:pic>
        <p:nvPicPr>
          <p:cNvPr id="6" name="Picture 5"/>
          <p:cNvPicPr>
            <a:picLocks noChangeAspect="1"/>
          </p:cNvPicPr>
          <p:nvPr/>
        </p:nvPicPr>
        <p:blipFill>
          <a:blip r:embed="rId3"/>
          <a:stretch>
            <a:fillRect/>
          </a:stretch>
        </p:blipFill>
        <p:spPr>
          <a:xfrm>
            <a:off x="4006520" y="3505201"/>
            <a:ext cx="4166767" cy="299804"/>
          </a:xfrm>
          <a:prstGeom prst="rect">
            <a:avLst/>
          </a:prstGeom>
        </p:spPr>
      </p:pic>
      <p:pic>
        <p:nvPicPr>
          <p:cNvPr id="7" name="Picture 6"/>
          <p:cNvPicPr>
            <a:picLocks noChangeAspect="1"/>
          </p:cNvPicPr>
          <p:nvPr/>
        </p:nvPicPr>
        <p:blipFill>
          <a:blip r:embed="rId4"/>
          <a:stretch>
            <a:fillRect/>
          </a:stretch>
        </p:blipFill>
        <p:spPr>
          <a:xfrm>
            <a:off x="1029685" y="3886201"/>
            <a:ext cx="4532916" cy="287983"/>
          </a:xfrm>
          <a:prstGeom prst="rect">
            <a:avLst/>
          </a:prstGeom>
        </p:spPr>
      </p:pic>
      <p:pic>
        <p:nvPicPr>
          <p:cNvPr id="8" name="Picture 7"/>
          <p:cNvPicPr>
            <a:picLocks noChangeAspect="1"/>
          </p:cNvPicPr>
          <p:nvPr/>
        </p:nvPicPr>
        <p:blipFill>
          <a:blip r:embed="rId5"/>
          <a:stretch>
            <a:fillRect/>
          </a:stretch>
        </p:blipFill>
        <p:spPr>
          <a:xfrm>
            <a:off x="5565649" y="3892297"/>
            <a:ext cx="2652201" cy="311976"/>
          </a:xfrm>
          <a:prstGeom prst="rect">
            <a:avLst/>
          </a:prstGeom>
        </p:spPr>
      </p:pic>
      <p:pic>
        <p:nvPicPr>
          <p:cNvPr id="9" name="Picture 8"/>
          <p:cNvPicPr>
            <a:picLocks noChangeAspect="1"/>
          </p:cNvPicPr>
          <p:nvPr/>
        </p:nvPicPr>
        <p:blipFill>
          <a:blip r:embed="rId6"/>
          <a:stretch>
            <a:fillRect/>
          </a:stretch>
        </p:blipFill>
        <p:spPr>
          <a:xfrm>
            <a:off x="914400" y="4343401"/>
            <a:ext cx="6047182" cy="318072"/>
          </a:xfrm>
          <a:prstGeom prst="rect">
            <a:avLst/>
          </a:prstGeom>
        </p:spPr>
      </p:pic>
      <p:pic>
        <p:nvPicPr>
          <p:cNvPr id="10" name="Picture 9"/>
          <p:cNvPicPr>
            <a:picLocks noChangeAspect="1"/>
          </p:cNvPicPr>
          <p:nvPr/>
        </p:nvPicPr>
        <p:blipFill>
          <a:blip r:embed="rId7"/>
          <a:stretch>
            <a:fillRect/>
          </a:stretch>
        </p:blipFill>
        <p:spPr>
          <a:xfrm>
            <a:off x="6967677" y="4373489"/>
            <a:ext cx="1543129" cy="287984"/>
          </a:xfrm>
          <a:prstGeom prst="rect">
            <a:avLst/>
          </a:prstGeom>
        </p:spPr>
      </p:pic>
      <p:pic>
        <p:nvPicPr>
          <p:cNvPr id="11" name="Picture 10"/>
          <p:cNvPicPr>
            <a:picLocks noChangeAspect="1"/>
          </p:cNvPicPr>
          <p:nvPr/>
        </p:nvPicPr>
        <p:blipFill>
          <a:blip r:embed="rId8"/>
          <a:stretch>
            <a:fillRect/>
          </a:stretch>
        </p:blipFill>
        <p:spPr>
          <a:xfrm>
            <a:off x="914399" y="4800601"/>
            <a:ext cx="6912091" cy="318072"/>
          </a:xfrm>
          <a:prstGeom prst="rect">
            <a:avLst/>
          </a:prstGeom>
        </p:spPr>
      </p:pic>
      <p:pic>
        <p:nvPicPr>
          <p:cNvPr id="12" name="Picture 11"/>
          <p:cNvPicPr>
            <a:picLocks noChangeAspect="1"/>
          </p:cNvPicPr>
          <p:nvPr/>
        </p:nvPicPr>
        <p:blipFill>
          <a:blip r:embed="rId9"/>
          <a:stretch>
            <a:fillRect/>
          </a:stretch>
        </p:blipFill>
        <p:spPr>
          <a:xfrm>
            <a:off x="7903919" y="4834129"/>
            <a:ext cx="269368" cy="239383"/>
          </a:xfrm>
          <a:prstGeom prst="rect">
            <a:avLst/>
          </a:prstGeom>
        </p:spPr>
      </p:pic>
      <p:pic>
        <p:nvPicPr>
          <p:cNvPr id="15" name="Picture 14"/>
          <p:cNvPicPr>
            <a:picLocks noChangeAspect="1"/>
          </p:cNvPicPr>
          <p:nvPr/>
        </p:nvPicPr>
        <p:blipFill>
          <a:blip r:embed="rId10"/>
          <a:stretch>
            <a:fillRect/>
          </a:stretch>
        </p:blipFill>
        <p:spPr>
          <a:xfrm>
            <a:off x="914398" y="5200968"/>
            <a:ext cx="3876913" cy="280436"/>
          </a:xfrm>
          <a:prstGeom prst="rect">
            <a:avLst/>
          </a:prstGeom>
        </p:spPr>
      </p:pic>
    </p:spTree>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414129"/>
            <a:ext cx="7772400" cy="576471"/>
          </a:xfrm>
        </p:spPr>
        <p:txBody>
          <a:bodyPr>
            <a:normAutofit/>
          </a:bodyPr>
          <a:lstStyle/>
          <a:p>
            <a:r>
              <a:rPr lang="en-US" sz="2800" dirty="0" smtClean="0">
                <a:solidFill>
                  <a:srgbClr val="FF0000"/>
                </a:solidFill>
              </a:rPr>
              <a:t>Morphological Image Processing</a:t>
            </a:r>
            <a:endParaRPr lang="en-US" sz="2800" dirty="0">
              <a:solidFill>
                <a:srgbClr val="FF0000"/>
              </a:solidFill>
            </a:endParaRPr>
          </a:p>
        </p:txBody>
      </p:sp>
      <p:sp>
        <p:nvSpPr>
          <p:cNvPr id="3" name="Subtitle 2"/>
          <p:cNvSpPr>
            <a:spLocks noGrp="1"/>
          </p:cNvSpPr>
          <p:nvPr>
            <p:ph type="subTitle" idx="1"/>
          </p:nvPr>
        </p:nvSpPr>
        <p:spPr>
          <a:xfrm>
            <a:off x="304800" y="1143000"/>
            <a:ext cx="8001000" cy="5029200"/>
          </a:xfrm>
        </p:spPr>
        <p:txBody>
          <a:bodyPr>
            <a:normAutofit/>
          </a:bodyPr>
          <a:lstStyle/>
          <a:p>
            <a:pPr algn="just"/>
            <a:r>
              <a:rPr lang="en-US" sz="2800" b="1" dirty="0" smtClean="0">
                <a:solidFill>
                  <a:schemeClr val="tx1"/>
                </a:solidFill>
              </a:rPr>
              <a:t>Extraction of connected </a:t>
            </a:r>
            <a:r>
              <a:rPr lang="en-US" sz="2800" b="1" dirty="0" smtClean="0">
                <a:solidFill>
                  <a:schemeClr val="tx1"/>
                </a:solidFill>
              </a:rPr>
              <a:t>components</a:t>
            </a:r>
            <a:endParaRPr lang="en-US" sz="2800" b="1" dirty="0" smtClean="0">
              <a:solidFill>
                <a:schemeClr val="tx1"/>
              </a:solidFill>
            </a:endParaRPr>
          </a:p>
        </p:txBody>
      </p:sp>
      <p:pic>
        <p:nvPicPr>
          <p:cNvPr id="4" name="Picture 3"/>
          <p:cNvPicPr>
            <a:picLocks noChangeAspect="1"/>
          </p:cNvPicPr>
          <p:nvPr/>
        </p:nvPicPr>
        <p:blipFill>
          <a:blip r:embed="rId2"/>
          <a:stretch>
            <a:fillRect/>
          </a:stretch>
        </p:blipFill>
        <p:spPr>
          <a:xfrm>
            <a:off x="710183" y="1905000"/>
            <a:ext cx="3861817" cy="331753"/>
          </a:xfrm>
          <a:prstGeom prst="rect">
            <a:avLst/>
          </a:prstGeom>
        </p:spPr>
      </p:pic>
      <p:pic>
        <p:nvPicPr>
          <p:cNvPr id="13" name="Picture 12"/>
          <p:cNvPicPr>
            <a:picLocks noChangeAspect="1"/>
          </p:cNvPicPr>
          <p:nvPr/>
        </p:nvPicPr>
        <p:blipFill>
          <a:blip r:embed="rId3"/>
          <a:stretch>
            <a:fillRect/>
          </a:stretch>
        </p:blipFill>
        <p:spPr>
          <a:xfrm>
            <a:off x="4572000" y="1918476"/>
            <a:ext cx="3543529" cy="304800"/>
          </a:xfrm>
          <a:prstGeom prst="rect">
            <a:avLst/>
          </a:prstGeom>
        </p:spPr>
      </p:pic>
      <p:pic>
        <p:nvPicPr>
          <p:cNvPr id="14" name="Picture 13"/>
          <p:cNvPicPr>
            <a:picLocks noChangeAspect="1"/>
          </p:cNvPicPr>
          <p:nvPr/>
        </p:nvPicPr>
        <p:blipFill>
          <a:blip r:embed="rId4"/>
          <a:stretch>
            <a:fillRect/>
          </a:stretch>
        </p:blipFill>
        <p:spPr>
          <a:xfrm>
            <a:off x="710183" y="2375676"/>
            <a:ext cx="4038600" cy="253877"/>
          </a:xfrm>
          <a:prstGeom prst="rect">
            <a:avLst/>
          </a:prstGeom>
        </p:spPr>
      </p:pic>
      <p:pic>
        <p:nvPicPr>
          <p:cNvPr id="16" name="Picture 15"/>
          <p:cNvPicPr>
            <a:picLocks noChangeAspect="1"/>
          </p:cNvPicPr>
          <p:nvPr/>
        </p:nvPicPr>
        <p:blipFill>
          <a:blip r:embed="rId5"/>
          <a:stretch>
            <a:fillRect/>
          </a:stretch>
        </p:blipFill>
        <p:spPr>
          <a:xfrm>
            <a:off x="4715255" y="2399997"/>
            <a:ext cx="1828800" cy="260036"/>
          </a:xfrm>
          <a:prstGeom prst="rect">
            <a:avLst/>
          </a:prstGeom>
        </p:spPr>
      </p:pic>
      <p:pic>
        <p:nvPicPr>
          <p:cNvPr id="17" name="Picture 16"/>
          <p:cNvPicPr>
            <a:picLocks noChangeAspect="1"/>
          </p:cNvPicPr>
          <p:nvPr/>
        </p:nvPicPr>
        <p:blipFill>
          <a:blip r:embed="rId6"/>
          <a:stretch>
            <a:fillRect/>
          </a:stretch>
        </p:blipFill>
        <p:spPr>
          <a:xfrm>
            <a:off x="1828800" y="2998752"/>
            <a:ext cx="6233779" cy="430248"/>
          </a:xfrm>
          <a:prstGeom prst="rect">
            <a:avLst/>
          </a:prstGeom>
        </p:spPr>
      </p:pic>
      <p:pic>
        <p:nvPicPr>
          <p:cNvPr id="18" name="Picture 17"/>
          <p:cNvPicPr>
            <a:picLocks noChangeAspect="1"/>
          </p:cNvPicPr>
          <p:nvPr/>
        </p:nvPicPr>
        <p:blipFill>
          <a:blip r:embed="rId7"/>
          <a:stretch>
            <a:fillRect/>
          </a:stretch>
        </p:blipFill>
        <p:spPr>
          <a:xfrm>
            <a:off x="914400" y="3883408"/>
            <a:ext cx="5720346" cy="321068"/>
          </a:xfrm>
          <a:prstGeom prst="rect">
            <a:avLst/>
          </a:prstGeom>
        </p:spPr>
      </p:pic>
      <p:pic>
        <p:nvPicPr>
          <p:cNvPr id="19" name="Picture 18"/>
          <p:cNvPicPr>
            <a:picLocks noChangeAspect="1"/>
          </p:cNvPicPr>
          <p:nvPr/>
        </p:nvPicPr>
        <p:blipFill>
          <a:blip r:embed="rId8"/>
          <a:stretch>
            <a:fillRect/>
          </a:stretch>
        </p:blipFill>
        <p:spPr>
          <a:xfrm>
            <a:off x="832275" y="4605004"/>
            <a:ext cx="2336208" cy="365016"/>
          </a:xfrm>
          <a:prstGeom prst="rect">
            <a:avLst/>
          </a:prstGeom>
        </p:spPr>
      </p:pic>
      <p:pic>
        <p:nvPicPr>
          <p:cNvPr id="20" name="Picture 19"/>
          <p:cNvPicPr>
            <a:picLocks noChangeAspect="1"/>
          </p:cNvPicPr>
          <p:nvPr/>
        </p:nvPicPr>
        <p:blipFill>
          <a:blip r:embed="rId9"/>
          <a:stretch>
            <a:fillRect/>
          </a:stretch>
        </p:blipFill>
        <p:spPr>
          <a:xfrm>
            <a:off x="3118101" y="4646077"/>
            <a:ext cx="4944478" cy="318978"/>
          </a:xfrm>
          <a:prstGeom prst="rect">
            <a:avLst/>
          </a:prstGeom>
        </p:spPr>
      </p:pic>
      <p:pic>
        <p:nvPicPr>
          <p:cNvPr id="21" name="Picture 20"/>
          <p:cNvPicPr>
            <a:picLocks noChangeAspect="1"/>
          </p:cNvPicPr>
          <p:nvPr/>
        </p:nvPicPr>
        <p:blipFill>
          <a:blip r:embed="rId10"/>
          <a:stretch>
            <a:fillRect/>
          </a:stretch>
        </p:blipFill>
        <p:spPr>
          <a:xfrm>
            <a:off x="914399" y="5122420"/>
            <a:ext cx="3686423" cy="335911"/>
          </a:xfrm>
          <a:prstGeom prst="rect">
            <a:avLst/>
          </a:prstGeom>
        </p:spPr>
      </p:pic>
    </p:spTree>
    <p:extLst>
      <p:ext uri="{BB962C8B-B14F-4D97-AF65-F5344CB8AC3E}">
        <p14:creationId xmlns:p14="http://schemas.microsoft.com/office/powerpoint/2010/main" val="2102141054"/>
      </p:ext>
    </p:extLst>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3090" name="Text Box 2"/>
          <p:cNvSpPr txBox="1">
            <a:spLocks noChangeArrowheads="1"/>
          </p:cNvSpPr>
          <p:nvPr/>
        </p:nvSpPr>
        <p:spPr bwMode="auto">
          <a:xfrm>
            <a:off x="2438400" y="152400"/>
            <a:ext cx="4038600" cy="369332"/>
          </a:xfrm>
          <a:prstGeom prst="rect">
            <a:avLst/>
          </a:prstGeom>
          <a:noFill/>
          <a:ln w="9525">
            <a:noFill/>
            <a:miter lim="800000"/>
            <a:headEnd/>
            <a:tailEnd/>
          </a:ln>
          <a:effectLst>
            <a:outerShdw dist="35921" dir="2700000" algn="ctr" rotWithShape="0">
              <a:schemeClr val="folHlink"/>
            </a:outerShdw>
          </a:effectLst>
        </p:spPr>
        <p:txBody>
          <a:bodyPr wrap="square">
            <a:spAutoFit/>
          </a:bodyPr>
          <a:lstStyle/>
          <a:p>
            <a:pPr algn="ctr">
              <a:defRPr/>
            </a:pPr>
            <a:r>
              <a:rPr lang="en-US" dirty="0" smtClean="0">
                <a:solidFill>
                  <a:srgbClr val="FF0000"/>
                </a:solidFill>
                <a:latin typeface="Verdana" pitchFamily="34" charset="0"/>
              </a:rPr>
              <a:t>Morphological </a:t>
            </a:r>
            <a:r>
              <a:rPr lang="en-US" dirty="0">
                <a:solidFill>
                  <a:srgbClr val="FF0000"/>
                </a:solidFill>
                <a:latin typeface="Verdana" pitchFamily="34" charset="0"/>
              </a:rPr>
              <a:t>Image Processing</a:t>
            </a:r>
            <a:endParaRPr lang="en-US" dirty="0"/>
          </a:p>
        </p:txBody>
      </p:sp>
      <p:pic>
        <p:nvPicPr>
          <p:cNvPr id="4"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23999" y="552212"/>
            <a:ext cx="5098265" cy="42841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90600" y="4953000"/>
            <a:ext cx="6638321" cy="138160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414129"/>
            <a:ext cx="7772400" cy="576471"/>
          </a:xfrm>
        </p:spPr>
        <p:txBody>
          <a:bodyPr>
            <a:normAutofit/>
          </a:bodyPr>
          <a:lstStyle/>
          <a:p>
            <a:r>
              <a:rPr lang="en-US" sz="2800" dirty="0" smtClean="0">
                <a:solidFill>
                  <a:srgbClr val="FF0000"/>
                </a:solidFill>
              </a:rPr>
              <a:t>Morphological Image Processing</a:t>
            </a:r>
            <a:endParaRPr lang="en-US" sz="2800" dirty="0">
              <a:solidFill>
                <a:srgbClr val="FF0000"/>
              </a:solidFill>
            </a:endParaRPr>
          </a:p>
        </p:txBody>
      </p:sp>
      <p:sp>
        <p:nvSpPr>
          <p:cNvPr id="3" name="Subtitle 2"/>
          <p:cNvSpPr>
            <a:spLocks noGrp="1"/>
          </p:cNvSpPr>
          <p:nvPr>
            <p:ph type="subTitle" idx="1"/>
          </p:nvPr>
        </p:nvSpPr>
        <p:spPr>
          <a:xfrm>
            <a:off x="304800" y="990600"/>
            <a:ext cx="8001000" cy="5181600"/>
          </a:xfrm>
        </p:spPr>
        <p:txBody>
          <a:bodyPr>
            <a:normAutofit/>
          </a:bodyPr>
          <a:lstStyle/>
          <a:p>
            <a:pPr algn="just"/>
            <a:r>
              <a:rPr lang="en-US" sz="2800" b="1" dirty="0" smtClean="0">
                <a:solidFill>
                  <a:schemeClr val="tx1"/>
                </a:solidFill>
              </a:rPr>
              <a:t>Example 9.7: </a:t>
            </a:r>
            <a:r>
              <a:rPr lang="en-US" sz="2800" dirty="0" smtClean="0">
                <a:solidFill>
                  <a:schemeClr val="tx1"/>
                </a:solidFill>
              </a:rPr>
              <a:t>using connected components to detect foreign objects in packaged food.</a:t>
            </a:r>
            <a:endParaRPr lang="en-US" sz="2800" b="1" dirty="0" smtClean="0">
              <a:solidFill>
                <a:schemeClr val="tx1"/>
              </a:solidFill>
            </a:endParaRPr>
          </a:p>
        </p:txBody>
      </p:sp>
      <p:pic>
        <p:nvPicPr>
          <p:cNvPr id="15" name="Picture 1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64464" y="1887535"/>
            <a:ext cx="5310939" cy="47792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2" name="Picture 2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77000" y="1816608"/>
            <a:ext cx="1524000" cy="48501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082634538"/>
      </p:ext>
    </p:extLst>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414129"/>
            <a:ext cx="7772400" cy="576471"/>
          </a:xfrm>
        </p:spPr>
        <p:txBody>
          <a:bodyPr>
            <a:normAutofit/>
          </a:bodyPr>
          <a:lstStyle/>
          <a:p>
            <a:r>
              <a:rPr lang="en-US" sz="2800" dirty="0" smtClean="0">
                <a:solidFill>
                  <a:srgbClr val="FF0000"/>
                </a:solidFill>
              </a:rPr>
              <a:t>Morphological Image Processing</a:t>
            </a:r>
            <a:endParaRPr lang="en-US" sz="2800" dirty="0">
              <a:solidFill>
                <a:srgbClr val="FF0000"/>
              </a:solidFill>
            </a:endParaRPr>
          </a:p>
        </p:txBody>
      </p:sp>
      <p:sp>
        <p:nvSpPr>
          <p:cNvPr id="3" name="Subtitle 2"/>
          <p:cNvSpPr>
            <a:spLocks noGrp="1"/>
          </p:cNvSpPr>
          <p:nvPr>
            <p:ph type="subTitle" idx="1"/>
          </p:nvPr>
        </p:nvSpPr>
        <p:spPr>
          <a:xfrm>
            <a:off x="304800" y="990600"/>
            <a:ext cx="8001000" cy="5181600"/>
          </a:xfrm>
        </p:spPr>
        <p:txBody>
          <a:bodyPr>
            <a:normAutofit/>
          </a:bodyPr>
          <a:lstStyle/>
          <a:p>
            <a:pPr algn="just"/>
            <a:r>
              <a:rPr lang="en-US" sz="2800" b="1" dirty="0" smtClean="0">
                <a:solidFill>
                  <a:schemeClr val="tx1"/>
                </a:solidFill>
              </a:rPr>
              <a:t>Example 9.7:</a:t>
            </a:r>
            <a:endParaRPr lang="en-US" sz="2800" b="1" dirty="0" smtClean="0">
              <a:solidFill>
                <a:schemeClr val="tx1"/>
              </a:solidFill>
            </a:endParaRPr>
          </a:p>
        </p:txBody>
      </p:sp>
      <p:pic>
        <p:nvPicPr>
          <p:cNvPr id="4" name="Picture 3"/>
          <p:cNvPicPr>
            <a:picLocks noChangeAspect="1"/>
          </p:cNvPicPr>
          <p:nvPr/>
        </p:nvPicPr>
        <p:blipFill>
          <a:blip r:embed="rId2"/>
          <a:stretch>
            <a:fillRect/>
          </a:stretch>
        </p:blipFill>
        <p:spPr>
          <a:xfrm>
            <a:off x="990600" y="1676400"/>
            <a:ext cx="6365511" cy="274990"/>
          </a:xfrm>
          <a:prstGeom prst="rect">
            <a:avLst/>
          </a:prstGeom>
        </p:spPr>
      </p:pic>
      <p:pic>
        <p:nvPicPr>
          <p:cNvPr id="5" name="Picture 4"/>
          <p:cNvPicPr>
            <a:picLocks noChangeAspect="1"/>
          </p:cNvPicPr>
          <p:nvPr/>
        </p:nvPicPr>
        <p:blipFill>
          <a:blip r:embed="rId3"/>
          <a:stretch>
            <a:fillRect/>
          </a:stretch>
        </p:blipFill>
        <p:spPr>
          <a:xfrm>
            <a:off x="685801" y="2057400"/>
            <a:ext cx="1371600" cy="237873"/>
          </a:xfrm>
          <a:prstGeom prst="rect">
            <a:avLst/>
          </a:prstGeom>
        </p:spPr>
      </p:pic>
      <p:pic>
        <p:nvPicPr>
          <p:cNvPr id="7" name="Picture 6"/>
          <p:cNvPicPr>
            <a:picLocks noChangeAspect="1"/>
          </p:cNvPicPr>
          <p:nvPr/>
        </p:nvPicPr>
        <p:blipFill>
          <a:blip r:embed="rId4"/>
          <a:stretch>
            <a:fillRect/>
          </a:stretch>
        </p:blipFill>
        <p:spPr>
          <a:xfrm>
            <a:off x="2209800" y="2034442"/>
            <a:ext cx="5684612" cy="260831"/>
          </a:xfrm>
          <a:prstGeom prst="rect">
            <a:avLst/>
          </a:prstGeom>
        </p:spPr>
      </p:pic>
      <p:pic>
        <p:nvPicPr>
          <p:cNvPr id="8" name="Picture 7"/>
          <p:cNvPicPr>
            <a:picLocks noChangeAspect="1"/>
          </p:cNvPicPr>
          <p:nvPr/>
        </p:nvPicPr>
        <p:blipFill>
          <a:blip r:embed="rId5"/>
          <a:stretch>
            <a:fillRect/>
          </a:stretch>
        </p:blipFill>
        <p:spPr>
          <a:xfrm>
            <a:off x="685800" y="2422982"/>
            <a:ext cx="1524000" cy="263347"/>
          </a:xfrm>
          <a:prstGeom prst="rect">
            <a:avLst/>
          </a:prstGeom>
        </p:spPr>
      </p:pic>
      <p:pic>
        <p:nvPicPr>
          <p:cNvPr id="9" name="Picture 8"/>
          <p:cNvPicPr>
            <a:picLocks noChangeAspect="1"/>
          </p:cNvPicPr>
          <p:nvPr/>
        </p:nvPicPr>
        <p:blipFill>
          <a:blip r:embed="rId6"/>
          <a:stretch>
            <a:fillRect/>
          </a:stretch>
        </p:blipFill>
        <p:spPr>
          <a:xfrm>
            <a:off x="2286000" y="2396105"/>
            <a:ext cx="4765503" cy="263512"/>
          </a:xfrm>
          <a:prstGeom prst="rect">
            <a:avLst/>
          </a:prstGeom>
        </p:spPr>
      </p:pic>
      <p:pic>
        <p:nvPicPr>
          <p:cNvPr id="10" name="Picture 9"/>
          <p:cNvPicPr>
            <a:picLocks noChangeAspect="1"/>
          </p:cNvPicPr>
          <p:nvPr/>
        </p:nvPicPr>
        <p:blipFill>
          <a:blip r:embed="rId7"/>
          <a:stretch>
            <a:fillRect/>
          </a:stretch>
        </p:blipFill>
        <p:spPr>
          <a:xfrm>
            <a:off x="838200" y="3336160"/>
            <a:ext cx="6374587" cy="269991"/>
          </a:xfrm>
          <a:prstGeom prst="rect">
            <a:avLst/>
          </a:prstGeom>
        </p:spPr>
      </p:pic>
      <p:pic>
        <p:nvPicPr>
          <p:cNvPr id="11" name="Picture 10"/>
          <p:cNvPicPr>
            <a:picLocks noChangeAspect="1"/>
          </p:cNvPicPr>
          <p:nvPr/>
        </p:nvPicPr>
        <p:blipFill>
          <a:blip r:embed="rId8"/>
          <a:stretch>
            <a:fillRect/>
          </a:stretch>
        </p:blipFill>
        <p:spPr>
          <a:xfrm>
            <a:off x="806935" y="3750020"/>
            <a:ext cx="943171" cy="321154"/>
          </a:xfrm>
          <a:prstGeom prst="rect">
            <a:avLst/>
          </a:prstGeom>
        </p:spPr>
      </p:pic>
      <p:pic>
        <p:nvPicPr>
          <p:cNvPr id="12" name="Picture 11"/>
          <p:cNvPicPr>
            <a:picLocks noChangeAspect="1"/>
          </p:cNvPicPr>
          <p:nvPr/>
        </p:nvPicPr>
        <p:blipFill>
          <a:blip r:embed="rId9"/>
          <a:stretch>
            <a:fillRect/>
          </a:stretch>
        </p:blipFill>
        <p:spPr>
          <a:xfrm>
            <a:off x="1676400" y="3783925"/>
            <a:ext cx="4703373" cy="310499"/>
          </a:xfrm>
          <a:prstGeom prst="rect">
            <a:avLst/>
          </a:prstGeom>
        </p:spPr>
      </p:pic>
      <p:pic>
        <p:nvPicPr>
          <p:cNvPr id="13" name="Picture 12"/>
          <p:cNvPicPr>
            <a:picLocks noChangeAspect="1"/>
          </p:cNvPicPr>
          <p:nvPr/>
        </p:nvPicPr>
        <p:blipFill>
          <a:blip r:embed="rId10"/>
          <a:stretch>
            <a:fillRect/>
          </a:stretch>
        </p:blipFill>
        <p:spPr>
          <a:xfrm>
            <a:off x="6385869" y="3817404"/>
            <a:ext cx="2565823" cy="295583"/>
          </a:xfrm>
          <a:prstGeom prst="rect">
            <a:avLst/>
          </a:prstGeom>
        </p:spPr>
      </p:pic>
      <p:pic>
        <p:nvPicPr>
          <p:cNvPr id="14" name="Picture 13"/>
          <p:cNvPicPr>
            <a:picLocks noChangeAspect="1"/>
          </p:cNvPicPr>
          <p:nvPr/>
        </p:nvPicPr>
        <p:blipFill>
          <a:blip r:embed="rId11"/>
          <a:stretch>
            <a:fillRect/>
          </a:stretch>
        </p:blipFill>
        <p:spPr>
          <a:xfrm>
            <a:off x="838199" y="4217030"/>
            <a:ext cx="1219201" cy="268370"/>
          </a:xfrm>
          <a:prstGeom prst="rect">
            <a:avLst/>
          </a:prstGeom>
        </p:spPr>
      </p:pic>
      <p:pic>
        <p:nvPicPr>
          <p:cNvPr id="16" name="Picture 15"/>
          <p:cNvPicPr>
            <a:picLocks noChangeAspect="1"/>
          </p:cNvPicPr>
          <p:nvPr/>
        </p:nvPicPr>
        <p:blipFill>
          <a:blip r:embed="rId12"/>
          <a:stretch>
            <a:fillRect/>
          </a:stretch>
        </p:blipFill>
        <p:spPr>
          <a:xfrm>
            <a:off x="2086252" y="4187673"/>
            <a:ext cx="6752948" cy="285774"/>
          </a:xfrm>
          <a:prstGeom prst="rect">
            <a:avLst/>
          </a:prstGeom>
        </p:spPr>
      </p:pic>
      <p:pic>
        <p:nvPicPr>
          <p:cNvPr id="17" name="Picture 16"/>
          <p:cNvPicPr>
            <a:picLocks noChangeAspect="1"/>
          </p:cNvPicPr>
          <p:nvPr/>
        </p:nvPicPr>
        <p:blipFill>
          <a:blip r:embed="rId13"/>
          <a:stretch>
            <a:fillRect/>
          </a:stretch>
        </p:blipFill>
        <p:spPr>
          <a:xfrm>
            <a:off x="838199" y="4631256"/>
            <a:ext cx="1406024" cy="284263"/>
          </a:xfrm>
          <a:prstGeom prst="rect">
            <a:avLst/>
          </a:prstGeom>
        </p:spPr>
      </p:pic>
      <p:pic>
        <p:nvPicPr>
          <p:cNvPr id="18" name="Picture 17"/>
          <p:cNvPicPr>
            <a:picLocks noChangeAspect="1"/>
          </p:cNvPicPr>
          <p:nvPr/>
        </p:nvPicPr>
        <p:blipFill>
          <a:blip r:embed="rId14"/>
          <a:stretch>
            <a:fillRect/>
          </a:stretch>
        </p:blipFill>
        <p:spPr>
          <a:xfrm>
            <a:off x="2228088" y="4664457"/>
            <a:ext cx="3255786" cy="288543"/>
          </a:xfrm>
          <a:prstGeom prst="rect">
            <a:avLst/>
          </a:prstGeom>
        </p:spPr>
      </p:pic>
    </p:spTree>
    <p:extLst>
      <p:ext uri="{BB962C8B-B14F-4D97-AF65-F5344CB8AC3E}">
        <p14:creationId xmlns:p14="http://schemas.microsoft.com/office/powerpoint/2010/main" val="1854828931"/>
      </p:ext>
    </p:extLst>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762000" y="76200"/>
            <a:ext cx="7772400" cy="576471"/>
          </a:xfrm>
        </p:spPr>
        <p:txBody>
          <a:bodyPr>
            <a:normAutofit/>
          </a:bodyPr>
          <a:lstStyle/>
          <a:p>
            <a:r>
              <a:rPr lang="en-US" sz="2800" dirty="0" smtClean="0">
                <a:solidFill>
                  <a:srgbClr val="FF0000"/>
                </a:solidFill>
              </a:rPr>
              <a:t>Morphological Image Processing</a:t>
            </a:r>
            <a:endParaRPr lang="en-US" sz="2800" dirty="0">
              <a:solidFill>
                <a:srgbClr val="FF0000"/>
              </a:solidFill>
            </a:endParaRPr>
          </a:p>
        </p:txBody>
      </p:sp>
      <p:sp>
        <p:nvSpPr>
          <p:cNvPr id="3" name="Subtitle 2"/>
          <p:cNvSpPr>
            <a:spLocks noGrp="1"/>
          </p:cNvSpPr>
          <p:nvPr>
            <p:ph type="subTitle" idx="1"/>
          </p:nvPr>
        </p:nvSpPr>
        <p:spPr>
          <a:xfrm>
            <a:off x="304800" y="762000"/>
            <a:ext cx="8001000" cy="5181600"/>
          </a:xfrm>
        </p:spPr>
        <p:txBody>
          <a:bodyPr>
            <a:normAutofit/>
          </a:bodyPr>
          <a:lstStyle/>
          <a:p>
            <a:pPr algn="just"/>
            <a:r>
              <a:rPr lang="en-US" sz="2800" b="1" dirty="0" smtClean="0">
                <a:solidFill>
                  <a:schemeClr val="tx1"/>
                </a:solidFill>
              </a:rPr>
              <a:t>The Hit-or-Miss Transformation</a:t>
            </a:r>
            <a:endParaRPr lang="en-US" sz="2800" b="1" dirty="0" smtClean="0">
              <a:solidFill>
                <a:schemeClr val="tx1"/>
              </a:solidFill>
            </a:endParaRPr>
          </a:p>
        </p:txBody>
      </p:sp>
      <p:pic>
        <p:nvPicPr>
          <p:cNvPr id="6" name="Picture 5"/>
          <p:cNvPicPr>
            <a:picLocks noChangeAspect="1"/>
          </p:cNvPicPr>
          <p:nvPr/>
        </p:nvPicPr>
        <p:blipFill>
          <a:blip r:embed="rId2"/>
          <a:stretch>
            <a:fillRect/>
          </a:stretch>
        </p:blipFill>
        <p:spPr>
          <a:xfrm>
            <a:off x="685800" y="1524000"/>
            <a:ext cx="5791200" cy="288206"/>
          </a:xfrm>
          <a:prstGeom prst="rect">
            <a:avLst/>
          </a:prstGeom>
        </p:spPr>
      </p:pic>
      <p:pic>
        <p:nvPicPr>
          <p:cNvPr id="15" name="Picture 14"/>
          <p:cNvPicPr>
            <a:picLocks noChangeAspect="1"/>
          </p:cNvPicPr>
          <p:nvPr/>
        </p:nvPicPr>
        <p:blipFill>
          <a:blip r:embed="rId3"/>
          <a:stretch>
            <a:fillRect/>
          </a:stretch>
        </p:blipFill>
        <p:spPr>
          <a:xfrm>
            <a:off x="6513973" y="1563623"/>
            <a:ext cx="2035667" cy="263823"/>
          </a:xfrm>
          <a:prstGeom prst="rect">
            <a:avLst/>
          </a:prstGeom>
        </p:spPr>
      </p:pic>
      <p:pic>
        <p:nvPicPr>
          <p:cNvPr id="19" name="Picture 18"/>
          <p:cNvPicPr>
            <a:picLocks noChangeAspect="1"/>
          </p:cNvPicPr>
          <p:nvPr/>
        </p:nvPicPr>
        <p:blipFill>
          <a:blip r:embed="rId4"/>
          <a:stretch>
            <a:fillRect/>
          </a:stretch>
        </p:blipFill>
        <p:spPr>
          <a:xfrm>
            <a:off x="685800" y="1952014"/>
            <a:ext cx="6820220" cy="257785"/>
          </a:xfrm>
          <a:prstGeom prst="rect">
            <a:avLst/>
          </a:prstGeom>
        </p:spPr>
      </p:pic>
      <p:pic>
        <p:nvPicPr>
          <p:cNvPr id="20" name="Picture 19"/>
          <p:cNvPicPr>
            <a:picLocks noChangeAspect="1"/>
          </p:cNvPicPr>
          <p:nvPr/>
        </p:nvPicPr>
        <p:blipFill>
          <a:blip r:embed="rId5"/>
          <a:stretch>
            <a:fillRect/>
          </a:stretch>
        </p:blipFill>
        <p:spPr>
          <a:xfrm>
            <a:off x="771144" y="2290386"/>
            <a:ext cx="419735" cy="232095"/>
          </a:xfrm>
          <a:prstGeom prst="rect">
            <a:avLst/>
          </a:prstGeom>
        </p:spPr>
      </p:pic>
      <p:pic>
        <p:nvPicPr>
          <p:cNvPr id="21" name="Picture 20"/>
          <p:cNvPicPr>
            <a:picLocks noChangeAspect="1"/>
          </p:cNvPicPr>
          <p:nvPr/>
        </p:nvPicPr>
        <p:blipFill>
          <a:blip r:embed="rId6"/>
          <a:stretch>
            <a:fillRect/>
          </a:stretch>
        </p:blipFill>
        <p:spPr>
          <a:xfrm>
            <a:off x="1143000" y="2263912"/>
            <a:ext cx="5065776" cy="258569"/>
          </a:xfrm>
          <a:prstGeom prst="rect">
            <a:avLst/>
          </a:prstGeom>
        </p:spPr>
      </p:pic>
    </p:spTree>
    <p:extLst>
      <p:ext uri="{BB962C8B-B14F-4D97-AF65-F5344CB8AC3E}">
        <p14:creationId xmlns:p14="http://schemas.microsoft.com/office/powerpoint/2010/main" val="2086512836"/>
      </p:ext>
    </p:extLst>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762000" y="76200"/>
            <a:ext cx="7772400" cy="576471"/>
          </a:xfrm>
        </p:spPr>
        <p:txBody>
          <a:bodyPr>
            <a:normAutofit/>
          </a:bodyPr>
          <a:lstStyle/>
          <a:p>
            <a:r>
              <a:rPr lang="en-US" sz="2800" dirty="0" smtClean="0">
                <a:solidFill>
                  <a:srgbClr val="FF0000"/>
                </a:solidFill>
              </a:rPr>
              <a:t>Morphological Image Processing</a:t>
            </a:r>
            <a:endParaRPr lang="en-US" sz="2800" dirty="0">
              <a:solidFill>
                <a:srgbClr val="FF0000"/>
              </a:solidFill>
            </a:endParaRPr>
          </a:p>
        </p:txBody>
      </p:sp>
      <p:sp>
        <p:nvSpPr>
          <p:cNvPr id="3" name="Subtitle 2"/>
          <p:cNvSpPr>
            <a:spLocks noGrp="1"/>
          </p:cNvSpPr>
          <p:nvPr>
            <p:ph type="subTitle" idx="1"/>
          </p:nvPr>
        </p:nvSpPr>
        <p:spPr>
          <a:xfrm>
            <a:off x="304800" y="762000"/>
            <a:ext cx="8001000" cy="5715000"/>
          </a:xfrm>
        </p:spPr>
        <p:txBody>
          <a:bodyPr>
            <a:normAutofit/>
          </a:bodyPr>
          <a:lstStyle/>
          <a:p>
            <a:pPr algn="just"/>
            <a:endParaRPr lang="en-US" sz="2800" b="1" dirty="0" smtClean="0">
              <a:solidFill>
                <a:schemeClr val="tx1"/>
              </a:solidFill>
            </a:endParaRPr>
          </a:p>
        </p:txBody>
      </p:sp>
      <p:pic>
        <p:nvPicPr>
          <p:cNvPr id="9" name="Picture 8"/>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43000" y="623887"/>
            <a:ext cx="3627437" cy="59912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 name="Picture 9"/>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867400" y="914400"/>
            <a:ext cx="1524000" cy="48062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4094369640"/>
      </p:ext>
    </p:extLst>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762000" y="76200"/>
            <a:ext cx="7772400" cy="576471"/>
          </a:xfrm>
        </p:spPr>
        <p:txBody>
          <a:bodyPr>
            <a:normAutofit/>
          </a:bodyPr>
          <a:lstStyle/>
          <a:p>
            <a:r>
              <a:rPr lang="en-US" sz="2800" dirty="0" smtClean="0">
                <a:solidFill>
                  <a:srgbClr val="FF0000"/>
                </a:solidFill>
              </a:rPr>
              <a:t>Morphological Image Processing</a:t>
            </a:r>
            <a:endParaRPr lang="en-US" sz="2800" dirty="0">
              <a:solidFill>
                <a:srgbClr val="FF0000"/>
              </a:solidFill>
            </a:endParaRPr>
          </a:p>
        </p:txBody>
      </p:sp>
      <p:sp>
        <p:nvSpPr>
          <p:cNvPr id="3" name="Subtitle 2"/>
          <p:cNvSpPr>
            <a:spLocks noGrp="1"/>
          </p:cNvSpPr>
          <p:nvPr>
            <p:ph type="subTitle" idx="1"/>
          </p:nvPr>
        </p:nvSpPr>
        <p:spPr>
          <a:xfrm>
            <a:off x="304800" y="762000"/>
            <a:ext cx="8001000" cy="5715000"/>
          </a:xfrm>
        </p:spPr>
        <p:txBody>
          <a:bodyPr>
            <a:normAutofit/>
          </a:bodyPr>
          <a:lstStyle/>
          <a:p>
            <a:pPr algn="just"/>
            <a:r>
              <a:rPr lang="en-US" sz="2800" b="1" dirty="0" smtClean="0">
                <a:solidFill>
                  <a:schemeClr val="tx1"/>
                </a:solidFill>
              </a:rPr>
              <a:t>The Hit-or-Miss Transformation</a:t>
            </a:r>
            <a:endParaRPr lang="en-US" sz="2800" b="1" dirty="0" smtClean="0">
              <a:solidFill>
                <a:schemeClr val="tx1"/>
              </a:solidFill>
            </a:endParaRPr>
          </a:p>
        </p:txBody>
      </p:sp>
      <p:pic>
        <p:nvPicPr>
          <p:cNvPr id="4" name="Picture 3"/>
          <p:cNvPicPr>
            <a:picLocks noChangeAspect="1"/>
          </p:cNvPicPr>
          <p:nvPr/>
        </p:nvPicPr>
        <p:blipFill>
          <a:blip r:embed="rId2"/>
          <a:stretch>
            <a:fillRect/>
          </a:stretch>
        </p:blipFill>
        <p:spPr>
          <a:xfrm>
            <a:off x="914400" y="1600200"/>
            <a:ext cx="2668583" cy="304800"/>
          </a:xfrm>
          <a:prstGeom prst="rect">
            <a:avLst/>
          </a:prstGeom>
        </p:spPr>
      </p:pic>
      <p:pic>
        <p:nvPicPr>
          <p:cNvPr id="5" name="Picture 4"/>
          <p:cNvPicPr>
            <a:picLocks noChangeAspect="1"/>
          </p:cNvPicPr>
          <p:nvPr/>
        </p:nvPicPr>
        <p:blipFill>
          <a:blip r:embed="rId3"/>
          <a:stretch>
            <a:fillRect/>
          </a:stretch>
        </p:blipFill>
        <p:spPr>
          <a:xfrm>
            <a:off x="3651675" y="1627632"/>
            <a:ext cx="3834500" cy="277368"/>
          </a:xfrm>
          <a:prstGeom prst="rect">
            <a:avLst/>
          </a:prstGeom>
        </p:spPr>
      </p:pic>
      <p:pic>
        <p:nvPicPr>
          <p:cNvPr id="6" name="Picture 5"/>
          <p:cNvPicPr>
            <a:picLocks noChangeAspect="1"/>
          </p:cNvPicPr>
          <p:nvPr/>
        </p:nvPicPr>
        <p:blipFill>
          <a:blip r:embed="rId4"/>
          <a:stretch>
            <a:fillRect/>
          </a:stretch>
        </p:blipFill>
        <p:spPr>
          <a:xfrm>
            <a:off x="908304" y="1925158"/>
            <a:ext cx="3962401" cy="257209"/>
          </a:xfrm>
          <a:prstGeom prst="rect">
            <a:avLst/>
          </a:prstGeom>
        </p:spPr>
      </p:pic>
      <p:pic>
        <p:nvPicPr>
          <p:cNvPr id="7" name="Picture 6"/>
          <p:cNvPicPr>
            <a:picLocks noChangeAspect="1"/>
          </p:cNvPicPr>
          <p:nvPr/>
        </p:nvPicPr>
        <p:blipFill>
          <a:blip r:embed="rId5"/>
          <a:stretch>
            <a:fillRect/>
          </a:stretch>
        </p:blipFill>
        <p:spPr>
          <a:xfrm>
            <a:off x="877824" y="2232260"/>
            <a:ext cx="5189603" cy="283464"/>
          </a:xfrm>
          <a:prstGeom prst="rect">
            <a:avLst/>
          </a:prstGeom>
        </p:spPr>
      </p:pic>
      <p:pic>
        <p:nvPicPr>
          <p:cNvPr id="8" name="Picture 7"/>
          <p:cNvPicPr>
            <a:picLocks noChangeAspect="1"/>
          </p:cNvPicPr>
          <p:nvPr/>
        </p:nvPicPr>
        <p:blipFill>
          <a:blip r:embed="rId6"/>
          <a:stretch>
            <a:fillRect/>
          </a:stretch>
        </p:blipFill>
        <p:spPr>
          <a:xfrm>
            <a:off x="969264" y="2923991"/>
            <a:ext cx="2577117" cy="276409"/>
          </a:xfrm>
          <a:prstGeom prst="rect">
            <a:avLst/>
          </a:prstGeom>
        </p:spPr>
      </p:pic>
      <p:pic>
        <p:nvPicPr>
          <p:cNvPr id="11" name="Picture 10"/>
          <p:cNvPicPr>
            <a:picLocks noChangeAspect="1"/>
          </p:cNvPicPr>
          <p:nvPr/>
        </p:nvPicPr>
        <p:blipFill>
          <a:blip r:embed="rId7"/>
          <a:stretch>
            <a:fillRect/>
          </a:stretch>
        </p:blipFill>
        <p:spPr>
          <a:xfrm>
            <a:off x="3518949" y="2923991"/>
            <a:ext cx="4204428" cy="289372"/>
          </a:xfrm>
          <a:prstGeom prst="rect">
            <a:avLst/>
          </a:prstGeom>
        </p:spPr>
      </p:pic>
      <p:pic>
        <p:nvPicPr>
          <p:cNvPr id="12" name="Picture 11"/>
          <p:cNvPicPr>
            <a:picLocks noChangeAspect="1"/>
          </p:cNvPicPr>
          <p:nvPr/>
        </p:nvPicPr>
        <p:blipFill>
          <a:blip r:embed="rId8"/>
          <a:stretch>
            <a:fillRect/>
          </a:stretch>
        </p:blipFill>
        <p:spPr>
          <a:xfrm>
            <a:off x="877824" y="3608666"/>
            <a:ext cx="6970776" cy="332147"/>
          </a:xfrm>
          <a:prstGeom prst="rect">
            <a:avLst/>
          </a:prstGeom>
        </p:spPr>
      </p:pic>
      <p:pic>
        <p:nvPicPr>
          <p:cNvPr id="13" name="Picture 12"/>
          <p:cNvPicPr>
            <a:picLocks noChangeAspect="1"/>
          </p:cNvPicPr>
          <p:nvPr/>
        </p:nvPicPr>
        <p:blipFill>
          <a:blip r:embed="rId9"/>
          <a:stretch>
            <a:fillRect/>
          </a:stretch>
        </p:blipFill>
        <p:spPr>
          <a:xfrm>
            <a:off x="761999" y="4048962"/>
            <a:ext cx="1346345" cy="287154"/>
          </a:xfrm>
          <a:prstGeom prst="rect">
            <a:avLst/>
          </a:prstGeom>
        </p:spPr>
      </p:pic>
      <p:pic>
        <p:nvPicPr>
          <p:cNvPr id="14" name="Picture 13"/>
          <p:cNvPicPr>
            <a:picLocks noChangeAspect="1"/>
          </p:cNvPicPr>
          <p:nvPr/>
        </p:nvPicPr>
        <p:blipFill>
          <a:blip r:embed="rId10"/>
          <a:stretch>
            <a:fillRect/>
          </a:stretch>
        </p:blipFill>
        <p:spPr>
          <a:xfrm>
            <a:off x="2108344" y="4066991"/>
            <a:ext cx="3392683" cy="315003"/>
          </a:xfrm>
          <a:prstGeom prst="rect">
            <a:avLst/>
          </a:prstGeom>
        </p:spPr>
      </p:pic>
      <p:pic>
        <p:nvPicPr>
          <p:cNvPr id="15" name="Picture 14"/>
          <p:cNvPicPr>
            <a:picLocks noChangeAspect="1"/>
          </p:cNvPicPr>
          <p:nvPr/>
        </p:nvPicPr>
        <p:blipFill>
          <a:blip r:embed="rId11"/>
          <a:stretch>
            <a:fillRect/>
          </a:stretch>
        </p:blipFill>
        <p:spPr>
          <a:xfrm>
            <a:off x="740663" y="4706810"/>
            <a:ext cx="6136930" cy="322223"/>
          </a:xfrm>
          <a:prstGeom prst="rect">
            <a:avLst/>
          </a:prstGeom>
        </p:spPr>
      </p:pic>
      <p:pic>
        <p:nvPicPr>
          <p:cNvPr id="16" name="Picture 15"/>
          <p:cNvPicPr>
            <a:picLocks noChangeAspect="1"/>
          </p:cNvPicPr>
          <p:nvPr/>
        </p:nvPicPr>
        <p:blipFill>
          <a:blip r:embed="rId12"/>
          <a:stretch>
            <a:fillRect/>
          </a:stretch>
        </p:blipFill>
        <p:spPr>
          <a:xfrm>
            <a:off x="6920010" y="4668963"/>
            <a:ext cx="1422542" cy="353974"/>
          </a:xfrm>
          <a:prstGeom prst="rect">
            <a:avLst/>
          </a:prstGeom>
        </p:spPr>
      </p:pic>
      <p:pic>
        <p:nvPicPr>
          <p:cNvPr id="17" name="Picture 16"/>
          <p:cNvPicPr>
            <a:picLocks noChangeAspect="1"/>
          </p:cNvPicPr>
          <p:nvPr/>
        </p:nvPicPr>
        <p:blipFill>
          <a:blip r:embed="rId13"/>
          <a:stretch>
            <a:fillRect/>
          </a:stretch>
        </p:blipFill>
        <p:spPr>
          <a:xfrm>
            <a:off x="761998" y="5264960"/>
            <a:ext cx="6115595" cy="355076"/>
          </a:xfrm>
          <a:prstGeom prst="rect">
            <a:avLst/>
          </a:prstGeom>
        </p:spPr>
      </p:pic>
    </p:spTree>
    <p:extLst>
      <p:ext uri="{BB962C8B-B14F-4D97-AF65-F5344CB8AC3E}">
        <p14:creationId xmlns:p14="http://schemas.microsoft.com/office/powerpoint/2010/main" val="1185582370"/>
      </p:ext>
    </p:extLst>
  </p:cSld>
  <p:clrMapOvr>
    <a:masterClrMapping/>
  </p:clrMapOvr>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762000" y="76200"/>
            <a:ext cx="7772400" cy="576471"/>
          </a:xfrm>
        </p:spPr>
        <p:txBody>
          <a:bodyPr>
            <a:normAutofit/>
          </a:bodyPr>
          <a:lstStyle/>
          <a:p>
            <a:r>
              <a:rPr lang="en-US" sz="2800" dirty="0" smtClean="0">
                <a:solidFill>
                  <a:srgbClr val="FF0000"/>
                </a:solidFill>
              </a:rPr>
              <a:t>Morphological Image Processing</a:t>
            </a:r>
            <a:endParaRPr lang="en-US" sz="2800" dirty="0">
              <a:solidFill>
                <a:srgbClr val="FF0000"/>
              </a:solidFill>
            </a:endParaRPr>
          </a:p>
        </p:txBody>
      </p:sp>
      <p:sp>
        <p:nvSpPr>
          <p:cNvPr id="3" name="Subtitle 2"/>
          <p:cNvSpPr>
            <a:spLocks noGrp="1"/>
          </p:cNvSpPr>
          <p:nvPr>
            <p:ph type="subTitle" idx="1"/>
          </p:nvPr>
        </p:nvSpPr>
        <p:spPr>
          <a:xfrm>
            <a:off x="304800" y="762000"/>
            <a:ext cx="8001000" cy="5715000"/>
          </a:xfrm>
        </p:spPr>
        <p:txBody>
          <a:bodyPr>
            <a:normAutofit/>
          </a:bodyPr>
          <a:lstStyle/>
          <a:p>
            <a:pPr algn="just"/>
            <a:r>
              <a:rPr lang="en-US" sz="2800" b="1" dirty="0" smtClean="0">
                <a:solidFill>
                  <a:schemeClr val="tx1"/>
                </a:solidFill>
              </a:rPr>
              <a:t>The Hit-or-Miss Transformation</a:t>
            </a:r>
            <a:endParaRPr lang="en-US" sz="2800" b="1" dirty="0" smtClean="0">
              <a:solidFill>
                <a:schemeClr val="tx1"/>
              </a:solidFill>
            </a:endParaRPr>
          </a:p>
        </p:txBody>
      </p:sp>
      <p:pic>
        <p:nvPicPr>
          <p:cNvPr id="9" name="Picture 8"/>
          <p:cNvPicPr>
            <a:picLocks noChangeAspect="1"/>
          </p:cNvPicPr>
          <p:nvPr/>
        </p:nvPicPr>
        <p:blipFill>
          <a:blip r:embed="rId2"/>
          <a:stretch>
            <a:fillRect/>
          </a:stretch>
        </p:blipFill>
        <p:spPr>
          <a:xfrm>
            <a:off x="838201" y="1676400"/>
            <a:ext cx="1676400" cy="353938"/>
          </a:xfrm>
          <a:prstGeom prst="rect">
            <a:avLst/>
          </a:prstGeom>
        </p:spPr>
      </p:pic>
      <p:pic>
        <p:nvPicPr>
          <p:cNvPr id="10" name="Picture 9"/>
          <p:cNvPicPr>
            <a:picLocks noChangeAspect="1"/>
          </p:cNvPicPr>
          <p:nvPr/>
        </p:nvPicPr>
        <p:blipFill>
          <a:blip r:embed="rId3"/>
          <a:stretch>
            <a:fillRect/>
          </a:stretch>
        </p:blipFill>
        <p:spPr>
          <a:xfrm>
            <a:off x="2590800" y="1676400"/>
            <a:ext cx="3074216" cy="353938"/>
          </a:xfrm>
          <a:prstGeom prst="rect">
            <a:avLst/>
          </a:prstGeom>
        </p:spPr>
      </p:pic>
      <p:pic>
        <p:nvPicPr>
          <p:cNvPr id="18" name="Picture 17"/>
          <p:cNvPicPr>
            <a:picLocks noChangeAspect="1"/>
          </p:cNvPicPr>
          <p:nvPr/>
        </p:nvPicPr>
        <p:blipFill>
          <a:blip r:embed="rId4"/>
          <a:stretch>
            <a:fillRect/>
          </a:stretch>
        </p:blipFill>
        <p:spPr>
          <a:xfrm>
            <a:off x="835152" y="2209800"/>
            <a:ext cx="2732533" cy="304800"/>
          </a:xfrm>
          <a:prstGeom prst="rect">
            <a:avLst/>
          </a:prstGeom>
        </p:spPr>
      </p:pic>
      <p:pic>
        <p:nvPicPr>
          <p:cNvPr id="19" name="Picture 18"/>
          <p:cNvPicPr>
            <a:picLocks noChangeAspect="1"/>
          </p:cNvPicPr>
          <p:nvPr/>
        </p:nvPicPr>
        <p:blipFill>
          <a:blip r:embed="rId5"/>
          <a:stretch>
            <a:fillRect/>
          </a:stretch>
        </p:blipFill>
        <p:spPr>
          <a:xfrm>
            <a:off x="3711667" y="2235088"/>
            <a:ext cx="1873065" cy="254224"/>
          </a:xfrm>
          <a:prstGeom prst="rect">
            <a:avLst/>
          </a:prstGeom>
        </p:spPr>
      </p:pic>
      <p:pic>
        <p:nvPicPr>
          <p:cNvPr id="20" name="Picture 19"/>
          <p:cNvPicPr>
            <a:picLocks noChangeAspect="1"/>
          </p:cNvPicPr>
          <p:nvPr/>
        </p:nvPicPr>
        <p:blipFill>
          <a:blip r:embed="rId6"/>
          <a:stretch>
            <a:fillRect/>
          </a:stretch>
        </p:blipFill>
        <p:spPr>
          <a:xfrm>
            <a:off x="835152" y="2788050"/>
            <a:ext cx="1175269" cy="259950"/>
          </a:xfrm>
          <a:prstGeom prst="rect">
            <a:avLst/>
          </a:prstGeom>
        </p:spPr>
      </p:pic>
      <p:pic>
        <p:nvPicPr>
          <p:cNvPr id="21" name="Picture 20"/>
          <p:cNvPicPr>
            <a:picLocks noChangeAspect="1"/>
          </p:cNvPicPr>
          <p:nvPr/>
        </p:nvPicPr>
        <p:blipFill>
          <a:blip r:embed="rId7"/>
          <a:stretch>
            <a:fillRect/>
          </a:stretch>
        </p:blipFill>
        <p:spPr>
          <a:xfrm>
            <a:off x="2022613" y="2769594"/>
            <a:ext cx="6295379" cy="308886"/>
          </a:xfrm>
          <a:prstGeom prst="rect">
            <a:avLst/>
          </a:prstGeom>
        </p:spPr>
      </p:pic>
      <p:pic>
        <p:nvPicPr>
          <p:cNvPr id="22" name="Picture 21"/>
          <p:cNvPicPr>
            <a:picLocks noChangeAspect="1"/>
          </p:cNvPicPr>
          <p:nvPr/>
        </p:nvPicPr>
        <p:blipFill>
          <a:blip r:embed="rId8"/>
          <a:stretch>
            <a:fillRect/>
          </a:stretch>
        </p:blipFill>
        <p:spPr>
          <a:xfrm>
            <a:off x="856488" y="3243600"/>
            <a:ext cx="1353312" cy="275520"/>
          </a:xfrm>
          <a:prstGeom prst="rect">
            <a:avLst/>
          </a:prstGeom>
        </p:spPr>
      </p:pic>
      <p:pic>
        <p:nvPicPr>
          <p:cNvPr id="23" name="Picture 22"/>
          <p:cNvPicPr>
            <a:picLocks noChangeAspect="1"/>
          </p:cNvPicPr>
          <p:nvPr/>
        </p:nvPicPr>
        <p:blipFill>
          <a:blip r:embed="rId9"/>
          <a:stretch>
            <a:fillRect/>
          </a:stretch>
        </p:blipFill>
        <p:spPr>
          <a:xfrm>
            <a:off x="2363050" y="3228568"/>
            <a:ext cx="2697233" cy="283144"/>
          </a:xfrm>
          <a:prstGeom prst="rect">
            <a:avLst/>
          </a:prstGeom>
        </p:spPr>
      </p:pic>
      <p:pic>
        <p:nvPicPr>
          <p:cNvPr id="24" name="Picture 23"/>
          <p:cNvPicPr>
            <a:picLocks noChangeAspect="1"/>
          </p:cNvPicPr>
          <p:nvPr/>
        </p:nvPicPr>
        <p:blipFill>
          <a:blip r:embed="rId10"/>
          <a:stretch>
            <a:fillRect/>
          </a:stretch>
        </p:blipFill>
        <p:spPr>
          <a:xfrm>
            <a:off x="877946" y="3962400"/>
            <a:ext cx="5294254" cy="341106"/>
          </a:xfrm>
          <a:prstGeom prst="rect">
            <a:avLst/>
          </a:prstGeom>
        </p:spPr>
      </p:pic>
      <p:pic>
        <p:nvPicPr>
          <p:cNvPr id="25" name="Picture 24"/>
          <p:cNvPicPr>
            <a:picLocks noChangeAspect="1"/>
          </p:cNvPicPr>
          <p:nvPr/>
        </p:nvPicPr>
        <p:blipFill>
          <a:blip r:embed="rId11"/>
          <a:stretch>
            <a:fillRect/>
          </a:stretch>
        </p:blipFill>
        <p:spPr>
          <a:xfrm>
            <a:off x="6233911" y="4006016"/>
            <a:ext cx="2318777" cy="251775"/>
          </a:xfrm>
          <a:prstGeom prst="rect">
            <a:avLst/>
          </a:prstGeom>
        </p:spPr>
      </p:pic>
      <p:pic>
        <p:nvPicPr>
          <p:cNvPr id="26" name="Picture 25"/>
          <p:cNvPicPr>
            <a:picLocks noChangeAspect="1"/>
          </p:cNvPicPr>
          <p:nvPr/>
        </p:nvPicPr>
        <p:blipFill>
          <a:blip r:embed="rId12"/>
          <a:stretch>
            <a:fillRect/>
          </a:stretch>
        </p:blipFill>
        <p:spPr>
          <a:xfrm>
            <a:off x="835152" y="4403040"/>
            <a:ext cx="5066644" cy="297247"/>
          </a:xfrm>
          <a:prstGeom prst="rect">
            <a:avLst/>
          </a:prstGeom>
        </p:spPr>
      </p:pic>
      <p:pic>
        <p:nvPicPr>
          <p:cNvPr id="27" name="Picture 26"/>
          <p:cNvPicPr>
            <a:picLocks noChangeAspect="1"/>
          </p:cNvPicPr>
          <p:nvPr/>
        </p:nvPicPr>
        <p:blipFill>
          <a:blip r:embed="rId13"/>
          <a:stretch>
            <a:fillRect/>
          </a:stretch>
        </p:blipFill>
        <p:spPr>
          <a:xfrm>
            <a:off x="5907892" y="4413904"/>
            <a:ext cx="1891540" cy="275517"/>
          </a:xfrm>
          <a:prstGeom prst="rect">
            <a:avLst/>
          </a:prstGeom>
        </p:spPr>
      </p:pic>
    </p:spTree>
    <p:extLst>
      <p:ext uri="{BB962C8B-B14F-4D97-AF65-F5344CB8AC3E}">
        <p14:creationId xmlns:p14="http://schemas.microsoft.com/office/powerpoint/2010/main" val="3206583146"/>
      </p:ext>
    </p:extLst>
  </p:cSld>
  <p:clrMapOvr>
    <a:masterClrMapping/>
  </p:clrMapOvr>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762000" y="76200"/>
            <a:ext cx="7772400" cy="576471"/>
          </a:xfrm>
        </p:spPr>
        <p:txBody>
          <a:bodyPr>
            <a:normAutofit/>
          </a:bodyPr>
          <a:lstStyle/>
          <a:p>
            <a:r>
              <a:rPr lang="en-US" sz="2800" dirty="0" smtClean="0">
                <a:solidFill>
                  <a:srgbClr val="FF0000"/>
                </a:solidFill>
              </a:rPr>
              <a:t>Morphological Image Processing</a:t>
            </a:r>
            <a:endParaRPr lang="en-US" sz="2800" dirty="0">
              <a:solidFill>
                <a:srgbClr val="FF0000"/>
              </a:solidFill>
            </a:endParaRPr>
          </a:p>
        </p:txBody>
      </p:sp>
      <p:sp>
        <p:nvSpPr>
          <p:cNvPr id="3" name="Subtitle 2"/>
          <p:cNvSpPr>
            <a:spLocks noGrp="1"/>
          </p:cNvSpPr>
          <p:nvPr>
            <p:ph type="subTitle" idx="1"/>
          </p:nvPr>
        </p:nvSpPr>
        <p:spPr>
          <a:xfrm>
            <a:off x="304800" y="762000"/>
            <a:ext cx="8001000" cy="5715000"/>
          </a:xfrm>
        </p:spPr>
        <p:txBody>
          <a:bodyPr>
            <a:normAutofit/>
          </a:bodyPr>
          <a:lstStyle/>
          <a:p>
            <a:pPr algn="just"/>
            <a:r>
              <a:rPr lang="en-US" sz="2800" b="1" dirty="0" smtClean="0">
                <a:solidFill>
                  <a:schemeClr val="tx1"/>
                </a:solidFill>
              </a:rPr>
              <a:t>The Hit-or-Miss Transformation</a:t>
            </a:r>
            <a:endParaRPr lang="en-US" sz="2800" b="1" dirty="0" smtClean="0">
              <a:solidFill>
                <a:schemeClr val="tx1"/>
              </a:solidFill>
            </a:endParaRPr>
          </a:p>
        </p:txBody>
      </p:sp>
      <p:pic>
        <p:nvPicPr>
          <p:cNvPr id="4" name="Picture 3"/>
          <p:cNvPicPr>
            <a:picLocks noChangeAspect="1"/>
          </p:cNvPicPr>
          <p:nvPr/>
        </p:nvPicPr>
        <p:blipFill>
          <a:blip r:embed="rId2"/>
          <a:stretch>
            <a:fillRect/>
          </a:stretch>
        </p:blipFill>
        <p:spPr>
          <a:xfrm>
            <a:off x="1153500" y="1676400"/>
            <a:ext cx="6663582" cy="304800"/>
          </a:xfrm>
          <a:prstGeom prst="rect">
            <a:avLst/>
          </a:prstGeom>
        </p:spPr>
      </p:pic>
      <p:pic>
        <p:nvPicPr>
          <p:cNvPr id="5" name="Picture 4"/>
          <p:cNvPicPr>
            <a:picLocks noChangeAspect="1"/>
          </p:cNvPicPr>
          <p:nvPr/>
        </p:nvPicPr>
        <p:blipFill>
          <a:blip r:embed="rId3"/>
          <a:stretch>
            <a:fillRect/>
          </a:stretch>
        </p:blipFill>
        <p:spPr>
          <a:xfrm>
            <a:off x="990600" y="2072241"/>
            <a:ext cx="1479017" cy="289959"/>
          </a:xfrm>
          <a:prstGeom prst="rect">
            <a:avLst/>
          </a:prstGeom>
        </p:spPr>
      </p:pic>
      <p:pic>
        <p:nvPicPr>
          <p:cNvPr id="6" name="Picture 5"/>
          <p:cNvPicPr>
            <a:picLocks noChangeAspect="1"/>
          </p:cNvPicPr>
          <p:nvPr/>
        </p:nvPicPr>
        <p:blipFill>
          <a:blip r:embed="rId4"/>
          <a:stretch>
            <a:fillRect/>
          </a:stretch>
        </p:blipFill>
        <p:spPr>
          <a:xfrm>
            <a:off x="2469617" y="2102721"/>
            <a:ext cx="2178583" cy="276582"/>
          </a:xfrm>
          <a:prstGeom prst="rect">
            <a:avLst/>
          </a:prstGeom>
        </p:spPr>
      </p:pic>
      <p:pic>
        <p:nvPicPr>
          <p:cNvPr id="7" name="Picture 6"/>
          <p:cNvPicPr>
            <a:picLocks noChangeAspect="1"/>
          </p:cNvPicPr>
          <p:nvPr/>
        </p:nvPicPr>
        <p:blipFill>
          <a:blip r:embed="rId5"/>
          <a:stretch>
            <a:fillRect/>
          </a:stretch>
        </p:blipFill>
        <p:spPr>
          <a:xfrm>
            <a:off x="1021179" y="2751433"/>
            <a:ext cx="4428029" cy="220367"/>
          </a:xfrm>
          <a:prstGeom prst="rect">
            <a:avLst/>
          </a:prstGeom>
        </p:spPr>
      </p:pic>
      <p:pic>
        <p:nvPicPr>
          <p:cNvPr id="8" name="Picture 7"/>
          <p:cNvPicPr>
            <a:picLocks noChangeAspect="1"/>
          </p:cNvPicPr>
          <p:nvPr/>
        </p:nvPicPr>
        <p:blipFill>
          <a:blip r:embed="rId6"/>
          <a:stretch>
            <a:fillRect/>
          </a:stretch>
        </p:blipFill>
        <p:spPr>
          <a:xfrm>
            <a:off x="5449208" y="2739241"/>
            <a:ext cx="2623229" cy="214600"/>
          </a:xfrm>
          <a:prstGeom prst="rect">
            <a:avLst/>
          </a:prstGeom>
        </p:spPr>
      </p:pic>
      <p:pic>
        <p:nvPicPr>
          <p:cNvPr id="11" name="Picture 10"/>
          <p:cNvPicPr>
            <a:picLocks noChangeAspect="1"/>
          </p:cNvPicPr>
          <p:nvPr/>
        </p:nvPicPr>
        <p:blipFill>
          <a:blip r:embed="rId7"/>
          <a:stretch>
            <a:fillRect/>
          </a:stretch>
        </p:blipFill>
        <p:spPr>
          <a:xfrm>
            <a:off x="1021179" y="3081129"/>
            <a:ext cx="4312821" cy="250058"/>
          </a:xfrm>
          <a:prstGeom prst="rect">
            <a:avLst/>
          </a:prstGeom>
        </p:spPr>
      </p:pic>
      <p:pic>
        <p:nvPicPr>
          <p:cNvPr id="12" name="Picture 11"/>
          <p:cNvPicPr>
            <a:picLocks noChangeAspect="1"/>
          </p:cNvPicPr>
          <p:nvPr/>
        </p:nvPicPr>
        <p:blipFill>
          <a:blip r:embed="rId8"/>
          <a:stretch>
            <a:fillRect/>
          </a:stretch>
        </p:blipFill>
        <p:spPr>
          <a:xfrm>
            <a:off x="1011936" y="3505565"/>
            <a:ext cx="6968942" cy="236467"/>
          </a:xfrm>
          <a:prstGeom prst="rect">
            <a:avLst/>
          </a:prstGeom>
        </p:spPr>
      </p:pic>
      <p:pic>
        <p:nvPicPr>
          <p:cNvPr id="13" name="Picture 12"/>
          <p:cNvPicPr>
            <a:picLocks noChangeAspect="1"/>
          </p:cNvPicPr>
          <p:nvPr/>
        </p:nvPicPr>
        <p:blipFill>
          <a:blip r:embed="rId9"/>
          <a:stretch>
            <a:fillRect/>
          </a:stretch>
        </p:blipFill>
        <p:spPr>
          <a:xfrm>
            <a:off x="1031729" y="3960749"/>
            <a:ext cx="4073671" cy="285091"/>
          </a:xfrm>
          <a:prstGeom prst="rect">
            <a:avLst/>
          </a:prstGeom>
        </p:spPr>
      </p:pic>
      <p:pic>
        <p:nvPicPr>
          <p:cNvPr id="14" name="Picture 13"/>
          <p:cNvPicPr>
            <a:picLocks noChangeAspect="1"/>
          </p:cNvPicPr>
          <p:nvPr/>
        </p:nvPicPr>
        <p:blipFill>
          <a:blip r:embed="rId10"/>
          <a:stretch>
            <a:fillRect/>
          </a:stretch>
        </p:blipFill>
        <p:spPr>
          <a:xfrm>
            <a:off x="1021178" y="4650012"/>
            <a:ext cx="6683231" cy="281070"/>
          </a:xfrm>
          <a:prstGeom prst="rect">
            <a:avLst/>
          </a:prstGeom>
        </p:spPr>
      </p:pic>
      <p:pic>
        <p:nvPicPr>
          <p:cNvPr id="15" name="Picture 14"/>
          <p:cNvPicPr>
            <a:picLocks noChangeAspect="1"/>
          </p:cNvPicPr>
          <p:nvPr/>
        </p:nvPicPr>
        <p:blipFill>
          <a:blip r:embed="rId11"/>
          <a:stretch>
            <a:fillRect/>
          </a:stretch>
        </p:blipFill>
        <p:spPr>
          <a:xfrm>
            <a:off x="7687815" y="4699373"/>
            <a:ext cx="769243" cy="231709"/>
          </a:xfrm>
          <a:prstGeom prst="rect">
            <a:avLst/>
          </a:prstGeom>
        </p:spPr>
      </p:pic>
      <p:pic>
        <p:nvPicPr>
          <p:cNvPr id="16" name="Picture 15"/>
          <p:cNvPicPr>
            <a:picLocks noChangeAspect="1"/>
          </p:cNvPicPr>
          <p:nvPr/>
        </p:nvPicPr>
        <p:blipFill>
          <a:blip r:embed="rId12"/>
          <a:stretch>
            <a:fillRect/>
          </a:stretch>
        </p:blipFill>
        <p:spPr>
          <a:xfrm>
            <a:off x="1031729" y="5173787"/>
            <a:ext cx="5967530" cy="312613"/>
          </a:xfrm>
          <a:prstGeom prst="rect">
            <a:avLst/>
          </a:prstGeom>
        </p:spPr>
      </p:pic>
      <p:pic>
        <p:nvPicPr>
          <p:cNvPr id="17" name="Picture 16"/>
          <p:cNvPicPr>
            <a:picLocks noChangeAspect="1"/>
          </p:cNvPicPr>
          <p:nvPr/>
        </p:nvPicPr>
        <p:blipFill>
          <a:blip r:embed="rId13"/>
          <a:stretch>
            <a:fillRect/>
          </a:stretch>
        </p:blipFill>
        <p:spPr>
          <a:xfrm>
            <a:off x="1659626" y="5599354"/>
            <a:ext cx="4918842" cy="420445"/>
          </a:xfrm>
          <a:prstGeom prst="rect">
            <a:avLst/>
          </a:prstGeom>
        </p:spPr>
      </p:pic>
    </p:spTree>
    <p:extLst>
      <p:ext uri="{BB962C8B-B14F-4D97-AF65-F5344CB8AC3E}">
        <p14:creationId xmlns:p14="http://schemas.microsoft.com/office/powerpoint/2010/main" val="4092564333"/>
      </p:ext>
    </p:extLst>
  </p:cSld>
  <p:clrMapOvr>
    <a:masterClrMapping/>
  </p:clrMapOvr>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762000" y="76200"/>
            <a:ext cx="7772400" cy="576471"/>
          </a:xfrm>
        </p:spPr>
        <p:txBody>
          <a:bodyPr>
            <a:normAutofit/>
          </a:bodyPr>
          <a:lstStyle/>
          <a:p>
            <a:r>
              <a:rPr lang="en-US" sz="2800" dirty="0" smtClean="0">
                <a:solidFill>
                  <a:srgbClr val="FF0000"/>
                </a:solidFill>
              </a:rPr>
              <a:t>Morphological Image Processing</a:t>
            </a:r>
            <a:endParaRPr lang="en-US" sz="2800" dirty="0">
              <a:solidFill>
                <a:srgbClr val="FF0000"/>
              </a:solidFill>
            </a:endParaRPr>
          </a:p>
        </p:txBody>
      </p:sp>
      <p:sp>
        <p:nvSpPr>
          <p:cNvPr id="3" name="Subtitle 2"/>
          <p:cNvSpPr>
            <a:spLocks noGrp="1"/>
          </p:cNvSpPr>
          <p:nvPr>
            <p:ph type="subTitle" idx="1"/>
          </p:nvPr>
        </p:nvSpPr>
        <p:spPr>
          <a:xfrm>
            <a:off x="304800" y="762000"/>
            <a:ext cx="8001000" cy="5715000"/>
          </a:xfrm>
        </p:spPr>
        <p:txBody>
          <a:bodyPr>
            <a:normAutofit/>
          </a:bodyPr>
          <a:lstStyle/>
          <a:p>
            <a:pPr algn="just"/>
            <a:r>
              <a:rPr lang="en-US" sz="2800" b="1" dirty="0" smtClean="0">
                <a:solidFill>
                  <a:schemeClr val="tx1"/>
                </a:solidFill>
              </a:rPr>
              <a:t>Home work:</a:t>
            </a:r>
          </a:p>
          <a:p>
            <a:pPr marL="514350" indent="-514350" algn="just">
              <a:buAutoNum type="arabicPeriod"/>
            </a:pPr>
            <a:r>
              <a:rPr lang="en-US" sz="2800" b="1" dirty="0" smtClean="0">
                <a:solidFill>
                  <a:schemeClr val="tx1"/>
                </a:solidFill>
              </a:rPr>
              <a:t>Thinning</a:t>
            </a:r>
          </a:p>
          <a:p>
            <a:pPr marL="514350" indent="-514350" algn="just">
              <a:buAutoNum type="arabicPeriod"/>
            </a:pPr>
            <a:r>
              <a:rPr lang="en-US" sz="2800" b="1" dirty="0" smtClean="0">
                <a:solidFill>
                  <a:schemeClr val="tx1"/>
                </a:solidFill>
              </a:rPr>
              <a:t>Pruning</a:t>
            </a:r>
            <a:endParaRPr lang="en-US" sz="2800" b="1" dirty="0" smtClean="0">
              <a:solidFill>
                <a:schemeClr val="tx1"/>
              </a:solidFill>
            </a:endParaRPr>
          </a:p>
        </p:txBody>
      </p:sp>
    </p:spTree>
    <p:extLst>
      <p:ext uri="{BB962C8B-B14F-4D97-AF65-F5344CB8AC3E}">
        <p14:creationId xmlns:p14="http://schemas.microsoft.com/office/powerpoint/2010/main" val="588205622"/>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1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22391</TotalTime>
  <Words>897</Words>
  <Application>Microsoft Office PowerPoint</Application>
  <PresentationFormat>On-screen Show (4:3)</PresentationFormat>
  <Paragraphs>132</Paragraphs>
  <Slides>59</Slides>
  <Notes>2</Notes>
  <HiddenSlides>0</HiddenSlides>
  <MMClips>0</MMClips>
  <ScaleCrop>false</ScaleCrop>
  <HeadingPairs>
    <vt:vector size="6" baseType="variant">
      <vt:variant>
        <vt:lpstr>Fonts Used</vt:lpstr>
      </vt:variant>
      <vt:variant>
        <vt:i4>4</vt:i4>
      </vt:variant>
      <vt:variant>
        <vt:lpstr>Theme</vt:lpstr>
      </vt:variant>
      <vt:variant>
        <vt:i4>2</vt:i4>
      </vt:variant>
      <vt:variant>
        <vt:lpstr>Slide Titles</vt:lpstr>
      </vt:variant>
      <vt:variant>
        <vt:i4>59</vt:i4>
      </vt:variant>
    </vt:vector>
  </HeadingPairs>
  <TitlesOfParts>
    <vt:vector size="65" baseType="lpstr">
      <vt:lpstr>Arial</vt:lpstr>
      <vt:lpstr>Calibri</vt:lpstr>
      <vt:lpstr>Verdana</vt:lpstr>
      <vt:lpstr>Wingdings</vt:lpstr>
      <vt:lpstr>Office Theme</vt:lpstr>
      <vt:lpstr>1_Office Theme</vt:lpstr>
      <vt:lpstr>Morphological Image Processing</vt:lpstr>
      <vt:lpstr>PowerPoint Presentation</vt:lpstr>
      <vt:lpstr>PowerPoint Presentation</vt:lpstr>
      <vt:lpstr>PowerPoint Presentation</vt:lpstr>
      <vt:lpstr>Morphological Image Processing</vt:lpstr>
      <vt:lpstr>PowerPoint Presentation</vt:lpstr>
      <vt:lpstr>Morphological Image Processing</vt:lpstr>
      <vt:lpstr>PowerPoint Presentation</vt:lpstr>
      <vt:lpstr>PowerPoint Presentation</vt:lpstr>
      <vt:lpstr>PowerPoint Presentation</vt:lpstr>
      <vt:lpstr>PowerPoint Presentation</vt:lpstr>
      <vt:lpstr>PowerPoint Presentation</vt:lpstr>
      <vt:lpstr>PowerPoint Presentation</vt:lpstr>
      <vt:lpstr>Morphological Image Processing</vt:lpstr>
      <vt:lpstr>Morphological Image Processing</vt:lpstr>
      <vt:lpstr>Morphological Image Processing</vt:lpstr>
      <vt:lpstr>Morphological Image Processing</vt:lpstr>
      <vt:lpstr>PowerPoint Presentation</vt:lpstr>
      <vt:lpstr>Morphological Image Processing</vt:lpstr>
      <vt:lpstr>Morphological Image Processing</vt:lpstr>
      <vt:lpstr>Morphological Image Processing</vt:lpstr>
      <vt:lpstr>Morphological Image Processing</vt:lpstr>
      <vt:lpstr>Morphological Image Processing</vt:lpstr>
      <vt:lpstr>Morphological Image Processing</vt:lpstr>
      <vt:lpstr>Morphological Image Processing</vt:lpstr>
      <vt:lpstr>Morphological Image Processing</vt:lpstr>
      <vt:lpstr>Morphological Image Processing</vt:lpstr>
      <vt:lpstr>Morphological Image Processing</vt:lpstr>
      <vt:lpstr>Morphological Image Processing</vt:lpstr>
      <vt:lpstr>Morphological Image Processing</vt:lpstr>
      <vt:lpstr>Morphological Image Processing</vt:lpstr>
      <vt:lpstr>Morphological Image Processing</vt:lpstr>
      <vt:lpstr>Morphological Image Processing</vt:lpstr>
      <vt:lpstr>Morphological Image Processing</vt:lpstr>
      <vt:lpstr>PowerPoint Presentation</vt:lpstr>
      <vt:lpstr>PowerPoint Presentation</vt:lpstr>
      <vt:lpstr>Morphological Image Processing</vt:lpstr>
      <vt:lpstr>PowerPoint Presentation</vt:lpstr>
      <vt:lpstr>Morphological Image Processing</vt:lpstr>
      <vt:lpstr>Morphological Image Processing</vt:lpstr>
      <vt:lpstr>PowerPoint Presentation</vt:lpstr>
      <vt:lpstr>Morphological Image Processing</vt:lpstr>
      <vt:lpstr>Morphological Image Processing</vt:lpstr>
      <vt:lpstr>Morphological Image Processing</vt:lpstr>
      <vt:lpstr>PowerPoint Presentation</vt:lpstr>
      <vt:lpstr>Morphological Image Processing</vt:lpstr>
      <vt:lpstr>Morphological Image Processing</vt:lpstr>
      <vt:lpstr>PowerPoint Presentation</vt:lpstr>
      <vt:lpstr>Morphological Image Processing</vt:lpstr>
      <vt:lpstr>Morphological Image Processing</vt:lpstr>
      <vt:lpstr>PowerPoint Presentation</vt:lpstr>
      <vt:lpstr>Morphological Image Processing</vt:lpstr>
      <vt:lpstr>Morphological Image Processing</vt:lpstr>
      <vt:lpstr>Morphological Image Processing</vt:lpstr>
      <vt:lpstr>Morphological Image Processing</vt:lpstr>
      <vt:lpstr>Morphological Image Processing</vt:lpstr>
      <vt:lpstr>Morphological Image Processing</vt:lpstr>
      <vt:lpstr>Morphological Image Processing</vt:lpstr>
      <vt:lpstr>Morphological Image Processing</vt:lpstr>
    </vt:vector>
  </TitlesOfParts>
  <Company>CSE</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Image Compression</dc:title>
  <dc:creator>Kamal</dc:creator>
  <cp:lastModifiedBy>Windows User</cp:lastModifiedBy>
  <cp:revision>81</cp:revision>
  <dcterms:created xsi:type="dcterms:W3CDTF">2015-01-14T02:53:46Z</dcterms:created>
  <dcterms:modified xsi:type="dcterms:W3CDTF">2022-12-24T16:22:17Z</dcterms:modified>
</cp:coreProperties>
</file>