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9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82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6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1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1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3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68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71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70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89605-0C27-4E4C-A161-56BCBB998A5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82793-8A29-4216-AD2A-8D450A3EF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9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11" Type="http://schemas.openxmlformats.org/officeDocument/2006/relationships/image" Target="../media/image19.emf"/><Relationship Id="rId5" Type="http://schemas.openxmlformats.org/officeDocument/2006/relationships/image" Target="../media/image13.emf"/><Relationship Id="rId10" Type="http://schemas.openxmlformats.org/officeDocument/2006/relationships/image" Target="../media/image18.emf"/><Relationship Id="rId4" Type="http://schemas.openxmlformats.org/officeDocument/2006/relationships/image" Target="../media/image12.emf"/><Relationship Id="rId9" Type="http://schemas.openxmlformats.org/officeDocument/2006/relationships/image" Target="../media/image1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image" Target="../media/image32.emf"/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12" Type="http://schemas.openxmlformats.org/officeDocument/2006/relationships/image" Target="../media/image31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11" Type="http://schemas.openxmlformats.org/officeDocument/2006/relationships/image" Target="../media/image30.emf"/><Relationship Id="rId5" Type="http://schemas.openxmlformats.org/officeDocument/2006/relationships/image" Target="../media/image24.emf"/><Relationship Id="rId10" Type="http://schemas.openxmlformats.org/officeDocument/2006/relationships/image" Target="../media/image29.emf"/><Relationship Id="rId4" Type="http://schemas.openxmlformats.org/officeDocument/2006/relationships/image" Target="../media/image23.emf"/><Relationship Id="rId9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7" Type="http://schemas.openxmlformats.org/officeDocument/2006/relationships/image" Target="../media/image38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5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emf"/><Relationship Id="rId11" Type="http://schemas.openxmlformats.org/officeDocument/2006/relationships/image" Target="../media/image49.emf"/><Relationship Id="rId5" Type="http://schemas.openxmlformats.org/officeDocument/2006/relationships/image" Target="../media/image43.emf"/><Relationship Id="rId10" Type="http://schemas.openxmlformats.org/officeDocument/2006/relationships/image" Target="../media/image48.emf"/><Relationship Id="rId4" Type="http://schemas.openxmlformats.org/officeDocument/2006/relationships/image" Target="../media/image42.emf"/><Relationship Id="rId9" Type="http://schemas.openxmlformats.org/officeDocument/2006/relationships/image" Target="../media/image4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image" Target="../media/image61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12" Type="http://schemas.openxmlformats.org/officeDocument/2006/relationships/image" Target="../media/image60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emf"/><Relationship Id="rId11" Type="http://schemas.openxmlformats.org/officeDocument/2006/relationships/image" Target="../media/image59.emf"/><Relationship Id="rId5" Type="http://schemas.openxmlformats.org/officeDocument/2006/relationships/image" Target="../media/image53.emf"/><Relationship Id="rId10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image" Target="../media/image57.emf"/><Relationship Id="rId14" Type="http://schemas.openxmlformats.org/officeDocument/2006/relationships/image" Target="../media/image6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12" Type="http://schemas.openxmlformats.org/officeDocument/2006/relationships/image" Target="../media/image83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emf"/><Relationship Id="rId11" Type="http://schemas.openxmlformats.org/officeDocument/2006/relationships/image" Target="../media/image82.emf"/><Relationship Id="rId5" Type="http://schemas.openxmlformats.org/officeDocument/2006/relationships/image" Target="../media/image76.emf"/><Relationship Id="rId10" Type="http://schemas.openxmlformats.org/officeDocument/2006/relationships/image" Target="../media/image81.emf"/><Relationship Id="rId4" Type="http://schemas.openxmlformats.org/officeDocument/2006/relationships/image" Target="../media/image75.emf"/><Relationship Id="rId9" Type="http://schemas.openxmlformats.org/officeDocument/2006/relationships/image" Target="../media/image8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7" Type="http://schemas.openxmlformats.org/officeDocument/2006/relationships/image" Target="../media/image92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emf"/><Relationship Id="rId5" Type="http://schemas.openxmlformats.org/officeDocument/2006/relationships/image" Target="../media/image90.emf"/><Relationship Id="rId4" Type="http://schemas.openxmlformats.org/officeDocument/2006/relationships/image" Target="../media/image8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Color Fundamentals: </a:t>
            </a:r>
            <a:endParaRPr lang="en-US" sz="3200" dirty="0">
              <a:solidFill>
                <a:srgbClr val="C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When a beam of sunlight passes through a glass prism, the emerging beam of light is not white but consists instead of a continuous spectrum of colors ranging from violet at one end to red at the other.</a:t>
            </a: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5830" y="3011472"/>
            <a:ext cx="6386042" cy="2598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689" y="5960073"/>
            <a:ext cx="8501448" cy="3767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689" y="6387612"/>
            <a:ext cx="7304725" cy="38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6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389888"/>
            <a:ext cx="2814608" cy="4023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881848"/>
            <a:ext cx="4736365" cy="43158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77" y="5968551"/>
            <a:ext cx="8040833" cy="41396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472" y="2699957"/>
            <a:ext cx="9070702" cy="316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2432" y="1424649"/>
            <a:ext cx="6022466" cy="367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4189" y="1880390"/>
            <a:ext cx="4050324" cy="41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2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759" y="1122404"/>
            <a:ext cx="8186281" cy="4183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265" y="1166300"/>
            <a:ext cx="1818177" cy="3744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2623" y="1753166"/>
            <a:ext cx="1825704" cy="39567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775" y="1753166"/>
            <a:ext cx="7070606" cy="3909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623" y="2283440"/>
            <a:ext cx="3004169" cy="39575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735" y="2333606"/>
            <a:ext cx="6707790" cy="322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7759" y="3342006"/>
            <a:ext cx="3897745" cy="45149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5505" y="3331473"/>
            <a:ext cx="5202936" cy="4193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7759" y="3867582"/>
            <a:ext cx="7286760" cy="4575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8925" y="3927237"/>
            <a:ext cx="3114911" cy="33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4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544" y="1117092"/>
            <a:ext cx="7296912" cy="5282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897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015" y="1278345"/>
            <a:ext cx="7162221" cy="4498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015" y="1945857"/>
            <a:ext cx="8483407" cy="449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014" y="2613369"/>
            <a:ext cx="4177506" cy="4640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2639" y="2641869"/>
            <a:ext cx="6031194" cy="4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647" y="3613442"/>
            <a:ext cx="5966691" cy="51964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0678" y="3812715"/>
            <a:ext cx="3678602" cy="3203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3560" y="3780544"/>
            <a:ext cx="756199" cy="3421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9646" y="4195280"/>
            <a:ext cx="2381173" cy="39500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5221" y="4273805"/>
            <a:ext cx="6902233" cy="3952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66482" y="4392783"/>
            <a:ext cx="390748" cy="19446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9646" y="4809817"/>
            <a:ext cx="9675524" cy="3748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9646" y="5250938"/>
            <a:ext cx="1834216" cy="3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6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49" y="1056006"/>
            <a:ext cx="10299372" cy="40703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57" y="1609092"/>
            <a:ext cx="10726178" cy="40258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57" y="3759746"/>
            <a:ext cx="3994865" cy="42820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222" y="3796322"/>
            <a:ext cx="7416719" cy="46569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213" y="4272718"/>
            <a:ext cx="402336" cy="32894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49" y="4311525"/>
            <a:ext cx="5324445" cy="34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5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752" y="832104"/>
            <a:ext cx="5696329" cy="557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77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45" y="1101726"/>
            <a:ext cx="8963541" cy="35217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144" y="1637018"/>
            <a:ext cx="4319205" cy="4478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648" y="2267954"/>
            <a:ext cx="1422744" cy="4248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392" y="2332837"/>
            <a:ext cx="6075464" cy="3599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3827" y="3104261"/>
            <a:ext cx="5009669" cy="46746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7454" y="3665298"/>
            <a:ext cx="9152083" cy="40378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0472" y="4475970"/>
            <a:ext cx="2275464" cy="4131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5936" y="4447097"/>
            <a:ext cx="6696948" cy="45744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0472" y="5259217"/>
            <a:ext cx="5139362" cy="43749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6917" y="5783124"/>
            <a:ext cx="6937754" cy="39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9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033" y="1428026"/>
            <a:ext cx="4412597" cy="4099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478" y="1455458"/>
            <a:ext cx="5965225" cy="3617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3032" y="1837944"/>
            <a:ext cx="3752523" cy="41148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55" y="1920941"/>
            <a:ext cx="2786229" cy="35435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472" y="2503642"/>
            <a:ext cx="7276584" cy="36757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043" y="2987034"/>
            <a:ext cx="7574266" cy="32309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1309" y="2943208"/>
            <a:ext cx="2045251" cy="41264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9" y="3419272"/>
            <a:ext cx="6839712" cy="3765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2768" y="4263129"/>
            <a:ext cx="8623594" cy="4551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0471" y="5044253"/>
            <a:ext cx="2435879" cy="41471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6350" y="5070123"/>
            <a:ext cx="7296562" cy="35800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3031" y="5637735"/>
            <a:ext cx="2015113" cy="348211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8690" y="5611155"/>
            <a:ext cx="7827772" cy="41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79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851" y="1083256"/>
            <a:ext cx="5505879" cy="24920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867" y="3826456"/>
            <a:ext cx="5291304" cy="5970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51" y="4574106"/>
            <a:ext cx="6327704" cy="59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2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Color Models:</a:t>
            </a:r>
          </a:p>
          <a:p>
            <a:pPr algn="l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37844"/>
            <a:ext cx="10780776" cy="3832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876" y="1665482"/>
            <a:ext cx="958520" cy="327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48" y="2185665"/>
            <a:ext cx="5728638" cy="3563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3172968"/>
            <a:ext cx="7626096" cy="37330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780" y="3172967"/>
            <a:ext cx="2187816" cy="3733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5" y="3763120"/>
            <a:ext cx="9271479" cy="414084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099" y="4305280"/>
            <a:ext cx="4733226" cy="2552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116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Color Models:</a:t>
            </a:r>
          </a:p>
          <a:p>
            <a:pPr algn="l"/>
            <a:r>
              <a:rPr lang="en-US" dirty="0" smtClean="0"/>
              <a:t>Most color models are used – </a:t>
            </a:r>
            <a:r>
              <a:rPr lang="en-US" dirty="0" err="1" smtClean="0"/>
              <a:t>i</a:t>
            </a:r>
            <a:r>
              <a:rPr lang="en-US" dirty="0" smtClean="0"/>
              <a:t>) Hardware oriented (color monitors and printers)</a:t>
            </a:r>
          </a:p>
          <a:p>
            <a:pPr algn="l"/>
            <a:r>
              <a:rPr lang="en-US" dirty="0" smtClean="0"/>
              <a:t>ii) applications oriented (color graphics for animations)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28" y="2817914"/>
            <a:ext cx="4388202" cy="3184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121" y="2888412"/>
            <a:ext cx="3018319" cy="3028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80" y="3355848"/>
            <a:ext cx="7491776" cy="4289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4197" y="3450598"/>
            <a:ext cx="1128105" cy="33417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5" y="3932147"/>
            <a:ext cx="5522977" cy="37344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03" y="4653690"/>
            <a:ext cx="4035680" cy="43037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8187" y="4686985"/>
            <a:ext cx="6841967" cy="363782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803" y="5158284"/>
            <a:ext cx="3252894" cy="33726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76" y="5791804"/>
            <a:ext cx="5389016" cy="32234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7316" y="5791804"/>
            <a:ext cx="4270248" cy="33478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0654" y="6248943"/>
            <a:ext cx="6163152" cy="40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1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RGB Color Model: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803" y="2723368"/>
            <a:ext cx="7022112" cy="378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06" y="1681175"/>
            <a:ext cx="8360309" cy="467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359" y="6415378"/>
            <a:ext cx="3827441" cy="2597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8800" y="6424602"/>
            <a:ext cx="1040971" cy="23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4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C00000"/>
                </a:solidFill>
              </a:rPr>
              <a:t>RGB Color Model:</a:t>
            </a:r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pPr algn="l"/>
            <a:endParaRPr lang="en-US" dirty="0"/>
          </a:p>
          <a:p>
            <a:pPr algn="l"/>
            <a:r>
              <a:rPr lang="en-US" dirty="0" smtClean="0"/>
              <a:t>So, RGB color pixel is said to have a depth of 24 bits ( 3 image planes times the number of bits per plane).</a:t>
            </a:r>
          </a:p>
          <a:p>
            <a:pPr algn="l"/>
            <a:endParaRPr lang="en-US" dirty="0"/>
          </a:p>
          <a:p>
            <a:pPr algn="l"/>
            <a:r>
              <a:rPr lang="en-US" dirty="0" smtClean="0"/>
              <a:t>The term </a:t>
            </a:r>
            <a:r>
              <a:rPr lang="en-US" b="1" dirty="0" smtClean="0"/>
              <a:t>full-color</a:t>
            </a:r>
            <a:r>
              <a:rPr lang="en-US" dirty="0" smtClean="0"/>
              <a:t> image is used often to denote a 24-bit RGB color image.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43" y="1729778"/>
            <a:ext cx="6532787" cy="38248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930" y="1782046"/>
            <a:ext cx="4417196" cy="3485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43" y="2743200"/>
            <a:ext cx="5140145" cy="3730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79" y="2761488"/>
            <a:ext cx="5809839" cy="3646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06" y="5176572"/>
            <a:ext cx="2390649" cy="30982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8655" y="5159312"/>
            <a:ext cx="6054723" cy="3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58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589" y="1508125"/>
            <a:ext cx="7904877" cy="3127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184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mtClean="0">
                <a:solidFill>
                  <a:srgbClr val="C00000"/>
                </a:solidFill>
              </a:rPr>
              <a:t>We</a:t>
            </a:r>
            <a:r>
              <a:rPr lang="en-US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will also study the </a:t>
            </a:r>
            <a:r>
              <a:rPr lang="en-US" smtClean="0">
                <a:solidFill>
                  <a:srgbClr val="C00000"/>
                </a:solidFill>
              </a:rPr>
              <a:t>following </a:t>
            </a:r>
            <a:r>
              <a:rPr lang="en-US" smtClean="0">
                <a:solidFill>
                  <a:srgbClr val="C00000"/>
                </a:solidFill>
              </a:rPr>
              <a:t>topics</a:t>
            </a:r>
            <a:endParaRPr lang="en-US" dirty="0">
              <a:solidFill>
                <a:srgbClr val="C00000"/>
              </a:solidFill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1" dirty="0" smtClean="0"/>
              <a:t>The CMY and  CMYK Colors Models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2800" b="1" dirty="0"/>
              <a:t> </a:t>
            </a:r>
            <a:r>
              <a:rPr lang="en-US" sz="2800" b="1" dirty="0" smtClean="0"/>
              <a:t>The HSI Color Model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 smtClean="0"/>
              <a:t> Converting colors from RGB to HIS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800" dirty="0"/>
              <a:t> </a:t>
            </a:r>
            <a:r>
              <a:rPr lang="en-US" sz="2800" dirty="0" smtClean="0"/>
              <a:t>Converting colors from HSI to RGB</a:t>
            </a:r>
          </a:p>
          <a:p>
            <a:pPr algn="l"/>
            <a:endParaRPr lang="en-US" sz="2800" dirty="0" smtClean="0"/>
          </a:p>
          <a:p>
            <a:pPr algn="l"/>
            <a:r>
              <a:rPr lang="en-US" sz="3200" b="1" dirty="0" smtClean="0"/>
              <a:t>Basics of Full Color Image Processing</a:t>
            </a:r>
          </a:p>
          <a:p>
            <a:pPr algn="l"/>
            <a:r>
              <a:rPr lang="en-US" sz="3200" b="1" dirty="0" smtClean="0"/>
              <a:t>Color Transformations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3200" dirty="0"/>
              <a:t> </a:t>
            </a:r>
            <a:r>
              <a:rPr lang="en-US" sz="3200" dirty="0" smtClean="0"/>
              <a:t>Formulations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3200" dirty="0"/>
              <a:t> </a:t>
            </a:r>
            <a:r>
              <a:rPr lang="en-US" sz="3200" dirty="0" smtClean="0"/>
              <a:t>Histogram Processing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877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0472" y="134811"/>
            <a:ext cx="9144000" cy="697293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rgbClr val="FF0000"/>
                </a:solidFill>
                <a:latin typeface="Verdana" panose="020B0604030504040204" pitchFamily="34" charset="0"/>
              </a:rPr>
              <a:t>Color Image Processing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996696"/>
            <a:ext cx="11411712" cy="5513832"/>
          </a:xfrm>
        </p:spPr>
        <p:txBody>
          <a:bodyPr/>
          <a:lstStyle/>
          <a:p>
            <a:pPr algn="l"/>
            <a:r>
              <a:rPr lang="en-US" sz="3200" b="1" dirty="0" smtClean="0"/>
              <a:t>Color Image smoothing</a:t>
            </a:r>
          </a:p>
          <a:p>
            <a:pPr algn="l"/>
            <a:r>
              <a:rPr lang="en-US" sz="3200" b="1" dirty="0" smtClean="0"/>
              <a:t>Color Image sharpening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86922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226</Words>
  <Application>Microsoft Office PowerPoint</Application>
  <PresentationFormat>Widescreen</PresentationFormat>
  <Paragraphs>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Wingdings</vt:lpstr>
      <vt:lpstr>Office Theme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  <vt:lpstr>Color Image Processing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Image Processing</dc:title>
  <dc:creator>Windows User</dc:creator>
  <cp:lastModifiedBy>kamal Sir</cp:lastModifiedBy>
  <cp:revision>27</cp:revision>
  <dcterms:created xsi:type="dcterms:W3CDTF">2022-11-15T03:12:21Z</dcterms:created>
  <dcterms:modified xsi:type="dcterms:W3CDTF">2026-05-17T06:01:10Z</dcterms:modified>
</cp:coreProperties>
</file>